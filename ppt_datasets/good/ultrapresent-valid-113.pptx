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1fkCqN/html2pptx-bg-1786387450020-4826e18d48e1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/tmp/html2pptx-1fkCqN/html2pptx-bg-1786387450560-38aea7c9df7a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762000" y="857250"/>
            <a:ext cx="79667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100"/>
              </a:spcAft>
              <a:buNone/>
            </a:pPr>
            <a:r>
              <a:rPr lang="en-US" sz="135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TECHNICAL BRIEFING · COMMUNIGATE PRO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762000" y="1323975"/>
            <a:ext cx="796671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spcAft>
                <a:spcPts val="1950"/>
              </a:spcAft>
              <a:buNone/>
            </a:pPr>
            <a:r>
              <a:rPr lang="en-US" sz="37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Unlocking the Power of Open Standard-Based APIs</a:t>
            </a:r>
            <a:endParaRPr lang="en-US" sz="3750" dirty="0"/>
          </a:p>
        </p:txBody>
      </p:sp>
      <p:sp>
        <p:nvSpPr>
          <p:cNvPr id="7" name="Text 3"/>
          <p:cNvSpPr/>
          <p:nvPr/>
        </p:nvSpPr>
        <p:spPr>
          <a:xfrm>
            <a:off x="762000" y="2638425"/>
            <a:ext cx="7966710" cy="607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92"/>
              </a:lnSpc>
              <a:buNone/>
            </a:pPr>
            <a:r>
              <a:rPr lang="en-US" sz="16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Enhancing User Experience on CommuniGate Pro Server Infrastructure through CalDAV, CardDAV, IMAP, and XMPP.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762000" y="5972175"/>
            <a:ext cx="216230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AUDIENCE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Network &amp; System Administrators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3262908" y="5972175"/>
            <a:ext cx="288353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FOCUS</a:t>
            </a:r>
            <a:endParaRPr lang="en-US" sz="1125" dirty="0"/>
          </a:p>
          <a:p>
            <a:pPr algn="l" indent="0" marL="0">
              <a:buNone/>
            </a:pPr>
            <a:r>
              <a:rPr lang="en-US" sz="112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Interoperability · Scalability · Future-Proofing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8425607" y="5962650"/>
            <a:ext cx="764977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9285833" y="5962650"/>
            <a:ext cx="861268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0242352" y="5962650"/>
            <a:ext cx="619125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10956727" y="5962650"/>
            <a:ext cx="663773" cy="323850"/>
          </a:xfrm>
          <a:prstGeom prst="roundRect">
            <a:avLst>
              <a:gd name="adj" fmla="val 2938235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33350" tIns="76200" rIns="133350" bIns="762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tml2pptx-KaQvhI/html2pptx-bg-1786387451478-442bad6ede17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15800" y="0"/>
            <a:ext cx="762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533400"/>
            <a:ext cx="110368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WHY IT MATTERS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85800" y="819150"/>
            <a:ext cx="87439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Standards Are the Backbone of Modern Communications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85800" y="186690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85800" y="2324100"/>
            <a:ext cx="3454301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933450" y="2343150"/>
            <a:ext cx="2959001" cy="0"/>
          </a:xfrm>
          <a:prstGeom prst="line">
            <a:avLst/>
          </a:prstGeom>
          <a:noFill/>
          <a:ln w="38100">
            <a:solidFill>
              <a:srgbClr val="1A73C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3450" y="2628900"/>
            <a:ext cx="30181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933450" y="2847975"/>
            <a:ext cx="30181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Interoperability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33450" y="3209925"/>
            <a:ext cx="3018181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Vendor-neutral protocols let administrators mix clients, devices, and servers without lock-in, so users choose the tools that fit their workflow.</a:t>
            </a:r>
            <a:endParaRPr lang="en-US" sz="1125" dirty="0"/>
          </a:p>
        </p:txBody>
      </p:sp>
      <p:sp>
        <p:nvSpPr>
          <p:cNvPr id="12" name="Text 9"/>
          <p:cNvSpPr/>
          <p:nvPr/>
        </p:nvSpPr>
        <p:spPr>
          <a:xfrm>
            <a:off x="4368701" y="2324100"/>
            <a:ext cx="3454450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4616351" y="2343150"/>
            <a:ext cx="2959150" cy="0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6351" y="2628900"/>
            <a:ext cx="301833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4616351" y="2847975"/>
            <a:ext cx="301833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Scalability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616351" y="3209925"/>
            <a:ext cx="3018333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RFC-defined behaviors scale predictably across millions of mailboxes, supporting horizontal growth and clustered CommuniGate Pro deployments.</a:t>
            </a:r>
            <a:endParaRPr lang="en-US" sz="1125" dirty="0"/>
          </a:p>
        </p:txBody>
      </p:sp>
      <p:sp>
        <p:nvSpPr>
          <p:cNvPr id="17" name="Text 14"/>
          <p:cNvSpPr/>
          <p:nvPr/>
        </p:nvSpPr>
        <p:spPr>
          <a:xfrm>
            <a:off x="8051750" y="2324100"/>
            <a:ext cx="3454301" cy="2038350"/>
          </a:xfrm>
          <a:prstGeom prst="roundRect">
            <a:avLst>
              <a:gd name="adj" fmla="val 65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2545">
                <a:alpha val="7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8299400" y="2343150"/>
            <a:ext cx="2959001" cy="0"/>
          </a:xfrm>
          <a:prstGeom prst="line">
            <a:avLst/>
          </a:prstGeom>
          <a:noFill/>
          <a:ln w="38100">
            <a:solidFill>
              <a:srgbClr val="FFB43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99400" y="2628900"/>
            <a:ext cx="30181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8299400" y="2847975"/>
            <a:ext cx="301818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Future-Proofing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8299400" y="3209925"/>
            <a:ext cx="301818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Standards evolve in the open. New clients and platforms integrate without rewrites, protecting investments as the ecosystem changes.</a:t>
            </a:r>
            <a:endParaRPr lang="en-US" sz="1125" dirty="0"/>
          </a:p>
        </p:txBody>
      </p:sp>
      <p:sp>
        <p:nvSpPr>
          <p:cNvPr id="22" name="Shape 19"/>
          <p:cNvSpPr/>
          <p:nvPr/>
        </p:nvSpPr>
        <p:spPr>
          <a:xfrm>
            <a:off x="685800" y="6310312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5800" y="6305550"/>
            <a:ext cx="11036808" cy="285750"/>
          </a:xfrm>
          <a:prstGeom prst="rect">
            <a:avLst/>
          </a:prstGeom>
          <a:noFill/>
          <a:ln/>
        </p:spPr>
        <p:txBody>
          <a:bodyPr wrap="square" lIns="0" tIns="13335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Open Standard-Based APIs</a:t>
            </a:r>
            <a:endParaRPr lang="en-US" sz="975" dirty="0"/>
          </a:p>
          <a:p>
            <a:pPr algn="l" indent="0" marL="0">
              <a:buNone/>
            </a:pP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</a:t>
            </a:r>
            <a:pPr algn="l" indent="0" marL="0">
              <a:buNone/>
            </a:pPr>
            <a:r>
              <a:rPr lang="en-US" sz="97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02 / 10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tml2pptx-ei75YV/html2pptx-bg-1786387452504-3ae91fcd54f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381500" cy="685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1000" y="571500"/>
            <a:ext cx="36918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PLATFORM OVERVIEW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381000" y="847725"/>
            <a:ext cx="3691890" cy="764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9"/>
              </a:lnSpc>
              <a:spcAft>
                <a:spcPts val="1350"/>
              </a:spcAft>
              <a:buNone/>
            </a:pPr>
            <a:r>
              <a:rPr lang="en-US" sz="25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The CommuniGate Pro API Ecosystem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381000" y="1783259"/>
            <a:ext cx="36918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unified messaging and groupware platform exposing open, RFC-defined APIs that any standards-based client can consume natively.</a:t>
            </a:r>
            <a:endParaRPr lang="en-US" sz="1125" dirty="0"/>
          </a:p>
        </p:txBody>
      </p:sp>
      <p:sp>
        <p:nvSpPr>
          <p:cNvPr id="7" name="Text 4"/>
          <p:cNvSpPr/>
          <p:nvPr/>
        </p:nvSpPr>
        <p:spPr>
          <a:xfrm>
            <a:off x="381000" y="6296025"/>
            <a:ext cx="274478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platform · Four open APIs · Unlimited clients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4857750" y="571500"/>
            <a:ext cx="689800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APIs Exposed by CommuniGate Pro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57750" y="962025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057775" y="1143000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CALENDAR · RFC 4791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57775" y="1314450"/>
            <a:ext cx="29535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5057775" y="1619250"/>
            <a:ext cx="2953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Calendar and task access for native macOS, iOS, Android, and Outlook clients.</a:t>
            </a:r>
            <a:endParaRPr lang="en-US" sz="975" dirty="0"/>
          </a:p>
        </p:txBody>
      </p:sp>
      <p:sp>
        <p:nvSpPr>
          <p:cNvPr id="13" name="Text 10"/>
          <p:cNvSpPr/>
          <p:nvPr/>
        </p:nvSpPr>
        <p:spPr>
          <a:xfrm>
            <a:off x="8324850" y="962025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524875" y="1143000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CONTACTS · RFC 6352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524875" y="1314450"/>
            <a:ext cx="29535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524875" y="1619250"/>
            <a:ext cx="2953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Address book synchronization across desktop and mobile address books.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4857750" y="2343150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057775" y="2524125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MAIL · RFC 3501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057775" y="2695575"/>
            <a:ext cx="29535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5057775" y="3000375"/>
            <a:ext cx="2953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Server-side mailbox access with search, flags, and concurrent sessions.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8324850" y="2343150"/>
            <a:ext cx="3295650" cy="1209675"/>
          </a:xfrm>
          <a:prstGeom prst="roundRect">
            <a:avLst>
              <a:gd name="adj" fmla="val 9449"/>
            </a:avLst>
          </a:prstGeom>
          <a:solidFill>
            <a:srgbClr val="F8FAFC"/>
          </a:solidFill>
          <a:ln w="9525">
            <a:solidFill>
              <a:srgbClr val="E2E8F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8524875" y="2524125"/>
            <a:ext cx="295351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MESSAGING · RFC 6120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524875" y="2695575"/>
            <a:ext cx="295351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450"/>
              </a:spcAft>
              <a:buNone/>
            </a:pPr>
            <a:r>
              <a:rPr lang="en-US" sz="16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8524875" y="3000375"/>
            <a:ext cx="295351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Real-time presence and instant messaging federated across domains.</a:t>
            </a:r>
            <a:endParaRPr lang="en-US" sz="975" dirty="0"/>
          </a:p>
        </p:txBody>
      </p:sp>
      <p:sp>
        <p:nvSpPr>
          <p:cNvPr id="25" name="Text 22"/>
          <p:cNvSpPr/>
          <p:nvPr/>
        </p:nvSpPr>
        <p:spPr>
          <a:xfrm>
            <a:off x="4857750" y="3762375"/>
            <a:ext cx="6762750" cy="704850"/>
          </a:xfrm>
          <a:prstGeom prst="roundRect">
            <a:avLst>
              <a:gd name="adj" fmla="val 10811"/>
            </a:avLst>
          </a:prstGeom>
          <a:solidFill>
            <a:srgbClr val="EAF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4876800" y="3914775"/>
            <a:ext cx="0" cy="400050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86350" y="3914775"/>
            <a:ext cx="64705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All four protocols are delivered as modules of the CommuniGate Pro HTTP and TCP stacks —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server, one identity store, one administrative UI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.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270903" y="6515100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694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CALENDAR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694221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 — Calendar Access for Every Client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4791 / 6638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49598"/>
            <a:ext cx="55979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82973"/>
            <a:ext cx="5597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 exposes CommuniGate Pro calendars and tasks over HTTP so users see the same events and reminders on any device, in real time, without proprietary sync agents.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702123"/>
            <a:ext cx="5488186" cy="1938337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/>
          <a:lstStyle/>
          <a:p>
            <a:pPr algn="l" marL="266700" indent="-266700">
              <a:lnSpc>
                <a:spcPts val="1744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Native client support:</a:t>
            </a:r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Apple Calendar, Outlook, Thunderbird, Android (via DAVx5).</a:t>
            </a:r>
            <a:endParaRPr lang="en-US" sz="1125" dirty="0"/>
          </a:p>
          <a:p>
            <a:pPr algn="l" marL="266700" indent="-266700">
              <a:lnSpc>
                <a:spcPts val="1744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Shared calendars:</a:t>
            </a:r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delegated team and resource calendars with fine-grained ACLs.</a:t>
            </a:r>
            <a:endParaRPr lang="en-US" sz="1125" dirty="0"/>
          </a:p>
          <a:p>
            <a:pPr algn="l" marL="266700" indent="-266700">
              <a:lnSpc>
                <a:spcPts val="1744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Invitations:</a:t>
            </a:r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iMIP/iTIP scheduling for cross-organizational meetings.</a:t>
            </a:r>
            <a:endParaRPr lang="en-US" sz="1125" dirty="0"/>
          </a:p>
          <a:p>
            <a:pPr algn="l" marL="266700" indent="-266700">
              <a:lnSpc>
                <a:spcPts val="1744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Push updates:</a:t>
            </a:r>
            <a:pPr algn="l" indent="0" marL="0">
              <a:lnSpc>
                <a:spcPts val="1744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real-time notifications via CalDAV sync reports.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516886" y="1549598"/>
            <a:ext cx="4989314" cy="2781300"/>
          </a:xfrm>
          <a:prstGeom prst="roundRect">
            <a:avLst>
              <a:gd name="adj" fmla="val 4795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783586" y="1797248"/>
            <a:ext cx="4545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ADMINISTRATOR UX WINS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783586" y="2082998"/>
            <a:ext cx="45450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Zero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783586" y="2463998"/>
            <a:ext cx="4545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client-side connectors to deploy or maintain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783586" y="2778323"/>
            <a:ext cx="45450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50"/>
              </a:spcAft>
              <a:buNone/>
            </a:pPr>
            <a:r>
              <a:rPr lang="en-US" sz="22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1:1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783586" y="3159323"/>
            <a:ext cx="45450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350"/>
              </a:spcAft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identity and ACL model shared with mail and IM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783586" y="3473648"/>
            <a:ext cx="45450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SAMPLE ENDPOINT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3586" y="3759398"/>
            <a:ext cx="4455914" cy="323850"/>
          </a:xfrm>
          <a:prstGeom prst="roundRect">
            <a:avLst>
              <a:gd name="adj" fmla="val 17647"/>
            </a:avLst>
          </a:prstGeom>
          <a:solidFill>
            <a:srgbClr val="2EC5F3">
              <a:alpha val="12000"/>
            </a:srgbClr>
          </a:solidFill>
          <a:ln/>
        </p:spPr>
        <p:txBody>
          <a:bodyPr wrap="square" lIns="114300" tIns="95250" rIns="114300" bIns="95250" rtlCol="0" anchor="ctr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900" dirty="0">
                <a:solidFill>
                  <a:srgbClr val="CDEB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https://mail.example.com/CalDAV/principals/jdoe/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CalDAV Module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65277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CONTACTS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65277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 — One Address Book Everywhere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612636" y="476250"/>
            <a:ext cx="893564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755511" y="561975"/>
            <a:ext cx="6199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6352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30548"/>
            <a:ext cx="5362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44873"/>
            <a:ext cx="5362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 synchronizes contact folders over HTTP using vCard, so users keep a single, consistent address book across desktop, mobile, and webmail — with offline edits reconciled on reconnect.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664023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704850" y="2816423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" y="2816423"/>
            <a:ext cx="2224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Universal vCard 3/4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95350" y="3016448"/>
            <a:ext cx="22248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Standard records work in macOS Contacts, iOS, Android, and Outlook.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3381375" y="2664023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400425" y="2816423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90925" y="2816423"/>
            <a:ext cx="2224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Per-folder ACLs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590925" y="3016448"/>
            <a:ext cx="22248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Share personal, team, and global address lists with controlled access.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85800" y="3661172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704850" y="3813572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5350" y="3813572"/>
            <a:ext cx="2224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Multi-device sync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95350" y="4013597"/>
            <a:ext cx="22248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Conflicts resolved server-side; no duplicate entries.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3381375" y="3661172"/>
            <a:ext cx="2562225" cy="863798"/>
          </a:xfrm>
          <a:prstGeom prst="roundRect">
            <a:avLst>
              <a:gd name="adj" fmla="val 11027"/>
            </a:avLst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3400425" y="3813572"/>
            <a:ext cx="0" cy="558998"/>
          </a:xfrm>
          <a:prstGeom prst="line">
            <a:avLst/>
          </a:prstGeom>
          <a:noFill/>
          <a:ln w="38100">
            <a:solidFill>
              <a:srgbClr val="2EC5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90925" y="3813572"/>
            <a:ext cx="22248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Search &amp; filter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90925" y="4013597"/>
            <a:ext cx="2224850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Server-side queries keep large directories responsive.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6248400" y="1530548"/>
            <a:ext cx="5257800" cy="2657475"/>
          </a:xfrm>
          <a:prstGeom prst="roundRect">
            <a:avLst>
              <a:gd name="adj" fmla="val 5018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496050" y="1759148"/>
            <a:ext cx="48577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IMPACT AT A GLANCE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6496050" y="21020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589663" y="2054423"/>
            <a:ext cx="8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6896100" y="2054423"/>
            <a:ext cx="19444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User adds a contact on phone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6496050" y="257829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589663" y="2530673"/>
            <a:ext cx="8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6896100" y="2530673"/>
            <a:ext cx="29536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 pushes vCard to CommuniGate Pro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6496050" y="305454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589663" y="3006923"/>
            <a:ext cx="8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6896100" y="3006923"/>
            <a:ext cx="2730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Desktop and webmail see update instantly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6496050" y="3530798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589663" y="3483173"/>
            <a:ext cx="810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125" dirty="0"/>
          </a:p>
        </p:txBody>
      </p:sp>
      <p:sp>
        <p:nvSpPr>
          <p:cNvPr id="39" name="Text 37"/>
          <p:cNvSpPr/>
          <p:nvPr/>
        </p:nvSpPr>
        <p:spPr>
          <a:xfrm>
            <a:off x="6896100" y="3483173"/>
            <a:ext cx="25653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Admin manages one identity, one policy</a:t>
            </a:r>
            <a:endParaRPr lang="en-US" sz="1125" dirty="0"/>
          </a:p>
        </p:txBody>
      </p:sp>
      <p:sp>
        <p:nvSpPr>
          <p:cNvPr id="40" name="Shape 38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CardDAV Module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76250"/>
            <a:ext cx="726385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MAIL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714375"/>
            <a:ext cx="726385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 — Reliable Mailbox Access at Scale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D3DDE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3501 / 9051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1530548"/>
            <a:ext cx="510746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85800" y="1844873"/>
            <a:ext cx="510746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 gives users live, server-resident mailbox access from any client, with rich search, flags, and concurrent sessions — the foundation of every modern mail experience.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685800" y="2664023"/>
            <a:ext cx="5007322" cy="1681163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/>
          <a:lstStyle/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Multi-client access: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webmail, desktop, and mobile share one mailbox state.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Server-side search: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fast queries without downloading full mailboxes.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Flags &amp; threads: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read, flagged, and labeled state stays in sync.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Concurrency: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many sessions per user without data loss.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5997922" y="1530548"/>
            <a:ext cx="56184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impact for administrators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997922" y="1844873"/>
            <a:ext cx="5508278" cy="2338239"/>
          </a:xfrm>
          <a:prstGeom prst="roundRect">
            <a:avLst>
              <a:gd name="adj" fmla="val 5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28600" dist="76200" dir="5400000">
              <a:srgbClr val="0b2545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97922" y="1844873"/>
            <a:ext cx="5508278" cy="460028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188422" y="1978223"/>
            <a:ext cx="196116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111133" y="1978223"/>
            <a:ext cx="326865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BENEFIT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8422" y="2309664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88422" y="2447776"/>
            <a:ext cx="196116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IDLE push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11133" y="2447776"/>
            <a:ext cx="326865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Real-time notifications on mobile and desktop.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8422" y="2779216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88422" y="2917329"/>
            <a:ext cx="196116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QUOTA extension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111133" y="2917329"/>
            <a:ext cx="326865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Clients show storage usage before send.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8422" y="3248769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88422" y="3386882"/>
            <a:ext cx="196116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LIST extensions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111133" y="3386882"/>
            <a:ext cx="326865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Hierarchical folders render correctly everywhere.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8422" y="3718322"/>
            <a:ext cx="5127278" cy="0"/>
          </a:xfrm>
          <a:prstGeom prst="line">
            <a:avLst/>
          </a:prstGeom>
          <a:noFill/>
          <a:ln w="9525">
            <a:solidFill>
              <a:srgbClr val="EEF2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88422" y="3856434"/>
            <a:ext cx="1961165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UTF-8 search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11133" y="3856434"/>
            <a:ext cx="3268659" cy="193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International mailboxes are searchable natively.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IMAP Module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7dylBc/html2pptx-bg-1786387456331-c2186a0619739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76250"/>
            <a:ext cx="71328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 · REAL-TIME MESSAGING</a:t>
            </a:r>
            <a:endParaRPr lang="en-US" sz="975" dirty="0"/>
          </a:p>
        </p:txBody>
      </p:sp>
      <p:sp>
        <p:nvSpPr>
          <p:cNvPr id="4" name="Text 1"/>
          <p:cNvSpPr/>
          <p:nvPr/>
        </p:nvSpPr>
        <p:spPr>
          <a:xfrm>
            <a:off x="685800" y="714375"/>
            <a:ext cx="713284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 — Presence, Chat, and Federation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685800" y="1282898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0204847" y="476250"/>
            <a:ext cx="1301353" cy="323850"/>
          </a:xfrm>
          <a:prstGeom prst="roundRect">
            <a:avLst>
              <a:gd name="adj" fmla="val 293823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10347722" y="561975"/>
            <a:ext cx="1035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RFC 6120 / 6121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1549598"/>
            <a:ext cx="53629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What it delivers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1863923"/>
            <a:ext cx="53629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 provides real-time presence and instant messaging on CommuniGate Pro, with native server-to-server federation that lets users chat securely across organizations and domains.</a:t>
            </a:r>
            <a:endParaRPr lang="en-US" sz="1125" dirty="0"/>
          </a:p>
        </p:txBody>
      </p:sp>
      <p:sp>
        <p:nvSpPr>
          <p:cNvPr id="10" name="Text 7"/>
          <p:cNvSpPr/>
          <p:nvPr/>
        </p:nvSpPr>
        <p:spPr>
          <a:xfrm>
            <a:off x="685800" y="2683073"/>
            <a:ext cx="5257800" cy="1466850"/>
          </a:xfrm>
          <a:prstGeom prst="rect">
            <a:avLst/>
          </a:prstGeom>
          <a:noFill/>
          <a:ln/>
        </p:spPr>
        <p:txBody>
          <a:bodyPr wrap="square" lIns="0" tIns="76200" rIns="0" bIns="76200" rtlCol="0" anchor="t"/>
          <a:lstStyle/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Presence: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live availability status shared across all clients.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1:1 and group chat: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server-hosted rooms with full audit trails.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Federation: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S2S dialback and TLS for cross-domain messaging.</a:t>
            </a:r>
            <a:endParaRPr lang="en-US" sz="1125" dirty="0"/>
          </a:p>
          <a:p>
            <a:pPr algn="l" marL="247650" indent="-247650">
              <a:lnSpc>
                <a:spcPts val="1688"/>
              </a:lnSpc>
              <a:buSzPct val="100000"/>
              <a:buChar char="•"/>
            </a:pPr>
            <a:r>
              <a:rPr lang="en-US" sz="1200" b="1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Extensions: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XEPs for file transfer, MUC, pubsub, and CARbons.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6248400" y="1549598"/>
            <a:ext cx="5257800" cy="2556272"/>
          </a:xfrm>
          <a:prstGeom prst="roundRect">
            <a:avLst>
              <a:gd name="adj" fmla="val 521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05575" y="1787723"/>
            <a:ext cx="483831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UX WINS DELIVERED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6505575" y="2082998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657975" y="2216348"/>
            <a:ext cx="2040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Multi-device sync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6657975" y="2416373"/>
            <a:ext cx="204025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Message CARbons keep all clients in step.</a:t>
            </a:r>
            <a:endParaRPr lang="en-US" sz="975" dirty="0"/>
          </a:p>
        </p:txBody>
      </p:sp>
      <p:sp>
        <p:nvSpPr>
          <p:cNvPr id="16" name="Text 13"/>
          <p:cNvSpPr/>
          <p:nvPr/>
        </p:nvSpPr>
        <p:spPr>
          <a:xfrm>
            <a:off x="8943975" y="2082998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9096375" y="2216348"/>
            <a:ext cx="2040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Offline delivery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9096375" y="2416373"/>
            <a:ext cx="204025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Messages stored server-side and delivered on reconnect.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6505575" y="3042047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657975" y="3175397"/>
            <a:ext cx="2040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End-to-end TLS</a:t>
            </a:r>
            <a:endParaRPr lang="en-US" sz="1125" dirty="0"/>
          </a:p>
        </p:txBody>
      </p:sp>
      <p:sp>
        <p:nvSpPr>
          <p:cNvPr id="21" name="Text 18"/>
          <p:cNvSpPr/>
          <p:nvPr/>
        </p:nvSpPr>
        <p:spPr>
          <a:xfrm>
            <a:off x="6657975" y="3375422"/>
            <a:ext cx="204025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Mandatory encryption on C2S and S2S links.</a:t>
            </a:r>
            <a:endParaRPr lang="en-US" sz="975" dirty="0"/>
          </a:p>
        </p:txBody>
      </p:sp>
      <p:sp>
        <p:nvSpPr>
          <p:cNvPr id="22" name="Text 19"/>
          <p:cNvSpPr/>
          <p:nvPr/>
        </p:nvSpPr>
        <p:spPr>
          <a:xfrm>
            <a:off x="8943975" y="3042047"/>
            <a:ext cx="2305050" cy="825698"/>
          </a:xfrm>
          <a:prstGeom prst="roundRect">
            <a:avLst>
              <a:gd name="adj" fmla="val 11536"/>
            </a:avLst>
          </a:prstGeom>
          <a:solidFill>
            <a:srgbClr val="2EC5F3">
              <a:alpha val="8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9096375" y="3175397"/>
            <a:ext cx="204025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identity</a:t>
            </a:r>
            <a:endParaRPr lang="en-US" sz="1125" dirty="0"/>
          </a:p>
        </p:txBody>
      </p:sp>
      <p:sp>
        <p:nvSpPr>
          <p:cNvPr id="24" name="Text 21"/>
          <p:cNvSpPr/>
          <p:nvPr/>
        </p:nvSpPr>
        <p:spPr>
          <a:xfrm>
            <a:off x="9096375" y="3375422"/>
            <a:ext cx="2040255" cy="358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4"/>
              </a:lnSpc>
              <a:buNone/>
            </a:pPr>
            <a:r>
              <a:rPr lang="en-US" sz="97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Same jdoe@example.com used for mail, calendar, and chat.</a:t>
            </a:r>
            <a:endParaRPr lang="en-US" sz="975" dirty="0"/>
          </a:p>
        </p:txBody>
      </p:sp>
      <p:sp>
        <p:nvSpPr>
          <p:cNvPr id="25" name="Shape 22"/>
          <p:cNvSpPr/>
          <p:nvPr/>
        </p:nvSpPr>
        <p:spPr>
          <a:xfrm>
            <a:off x="685800" y="6376988"/>
            <a:ext cx="108204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85800" y="6372225"/>
            <a:ext cx="11036808" cy="257175"/>
          </a:xfrm>
          <a:prstGeom prst="rect">
            <a:avLst/>
          </a:prstGeom>
          <a:noFill/>
          <a:ln/>
        </p:spPr>
        <p:txBody>
          <a:bodyPr wrap="square" lIns="0" tIns="11430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XMPP Module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FB3D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1036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IMPLEMENTATION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695325"/>
            <a:ext cx="11036808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From Plan to Production in Five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222921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432471"/>
            <a:ext cx="874395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B7A94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 pragmatic rollout path grounded in real CommuniGate Pro administrative practice.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914400" y="1994446"/>
            <a:ext cx="28575" cy="4600575"/>
          </a:xfrm>
          <a:prstGeom prst="roundRect">
            <a:avLst>
              <a:gd name="adj" fmla="val 66667"/>
            </a:avLst>
          </a:prstGeom>
          <a:solidFill>
            <a:srgbClr val="D3DDE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85800" y="186109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73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76151" y="1999208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90650" y="186109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81150" y="1994446"/>
            <a:ext cx="9929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ENABLE API ACCESS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81150" y="2165896"/>
            <a:ext cx="9929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Turn on the protocol modules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581150" y="2394496"/>
            <a:ext cx="9929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Activate CalDAV, CardDAV, IMAP, and XMPP in the HTTP/TCP listener configs; enforce TLS and strong ciphers.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286122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76151" y="2999333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2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390650" y="2861221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581150" y="2994571"/>
            <a:ext cx="9929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SELECT CLIENT LIBRARIES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81150" y="3166021"/>
            <a:ext cx="9929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Choose RFC-compliant SDKs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1581150" y="3394621"/>
            <a:ext cx="9929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Pick mature libraries (e.g. curl/requests, libcurl, slixmpp, vobject) that honor authentication, ACLs, and UTF-8.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5800" y="386134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FFB43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76151" y="3999458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3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390650" y="386134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581150" y="3994696"/>
            <a:ext cx="9929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BUILD INTEGRATIONS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81150" y="4166146"/>
            <a:ext cx="9929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Wire users, provisioning, and apps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1581150" y="4394746"/>
            <a:ext cx="9929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Map identities, set up SSO where possible, automate account provisioning, and expose only the needed scopes.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85800" y="4861471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76151" y="4999583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4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390650" y="4861471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581150" y="4994821"/>
            <a:ext cx="9929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THOROUGHLY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81150" y="5166271"/>
            <a:ext cx="9929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Validate clients and load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1581150" y="5394871"/>
            <a:ext cx="9929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Run conformance and load tests; verify multi-device sync, federation, failover, and backup/restore.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5861596"/>
            <a:ext cx="476250" cy="476250"/>
          </a:xfrm>
          <a:prstGeom prst="roundRect">
            <a:avLst>
              <a:gd name="adj" fmla="val 192000"/>
            </a:avLst>
          </a:prstGeom>
          <a:solidFill>
            <a:srgbClr val="1A73C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76151" y="5999708"/>
            <a:ext cx="973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5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1390650" y="5861596"/>
            <a:ext cx="10115550" cy="866775"/>
          </a:xfrm>
          <a:prstGeom prst="roundRect">
            <a:avLst>
              <a:gd name="adj" fmla="val 13187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581150" y="5994946"/>
            <a:ext cx="992924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MONITOR &amp; ITERATE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581150" y="6166396"/>
            <a:ext cx="9929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75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 and tune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1581150" y="6394996"/>
            <a:ext cx="992924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module metrics, audit logs, and UX feedback; tune quotas, timeouts, and cluster sizing as usage grows.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85800" y="64150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6410325"/>
            <a:ext cx="11036808" cy="238125"/>
          </a:xfrm>
          <a:prstGeom prst="rect">
            <a:avLst/>
          </a:prstGeom>
          <a:noFill/>
          <a:ln/>
        </p:spPr>
        <p:txBody>
          <a:bodyPr wrap="square" lIns="0" tIns="9525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Implementation Roadmap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85800" y="457200"/>
            <a:ext cx="1103680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b="1" dirty="0">
                <a:solidFill>
                  <a:srgbClr val="1A73C2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BEST PRACTICES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695325"/>
            <a:ext cx="11036808" cy="394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7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Real-World Practices That Hold Up at Scale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222921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489621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95350" y="166107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AF6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999976" y="1755130"/>
            <a:ext cx="175031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1466850" y="1661071"/>
            <a:ext cx="4420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Secure by default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6850" y="1870621"/>
            <a:ext cx="442055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Enforce TLS 1.2+, OCSP, strong ciphers, and app-specific passwords with per-protocol scopes.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6181725" y="1489621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391275" y="1661071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EF3D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517481" y="1755130"/>
            <a:ext cx="13115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ID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6962775" y="1661071"/>
            <a:ext cx="4420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One identity source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62775" y="1870621"/>
            <a:ext cx="442055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Bind all four APIs to the CommuniGate Pro directory; avoid shadow accounts that drift from policy.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685800" y="2599283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95350" y="2770733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E6F7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89409" y="2864793"/>
            <a:ext cx="1967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QA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1466850" y="2770733"/>
            <a:ext cx="4420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Test before trust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6850" y="2980283"/>
            <a:ext cx="442055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Validate every new client with conformance suites; capture baseline metrics before production rollout.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6181725" y="2599283"/>
            <a:ext cx="5324475" cy="938213"/>
          </a:xfrm>
          <a:prstGeom prst="roundRect">
            <a:avLst>
              <a:gd name="adj" fmla="val 121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71450" dist="57150" dir="5400000">
              <a:srgbClr val="0b2545">
                <a:alpha val="5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91275" y="2770733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0E9F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85334" y="2864793"/>
            <a:ext cx="196739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b="1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962775" y="2770733"/>
            <a:ext cx="442055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Observe everything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2775" y="2980283"/>
            <a:ext cx="442055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013" dirty="0">
                <a:solidFill>
                  <a:srgbClr val="3C4A6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Instrument module logs, queues, and sync latency; alert on authentication failures and ACL changes.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685800" y="3747046"/>
            <a:ext cx="10820400" cy="504825"/>
          </a:xfrm>
          <a:prstGeom prst="roundRect">
            <a:avLst>
              <a:gd name="adj" fmla="val 22642"/>
            </a:avLst>
          </a:prstGeom>
          <a:solidFill>
            <a:srgbClr val="0B254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95350" y="3928021"/>
            <a:ext cx="144654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FUTURE-PROOFING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2484983" y="3899446"/>
            <a:ext cx="89293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Track RFCs and XEPs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and apply module updates in a staging cluster first — open standards evolve, and your integrations should evolve with them.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6415088"/>
            <a:ext cx="10820400" cy="0"/>
          </a:xfrm>
          <a:prstGeom prst="line">
            <a:avLst/>
          </a:prstGeom>
          <a:noFill/>
          <a:ln w="9525">
            <a:solidFill>
              <a:srgbClr val="E2E8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6410325"/>
            <a:ext cx="11036808" cy="238125"/>
          </a:xfrm>
          <a:prstGeom prst="rect">
            <a:avLst/>
          </a:prstGeom>
          <a:noFill/>
          <a:ln/>
        </p:spPr>
        <p:txBody>
          <a:bodyPr wrap="square" lIns="0" tIns="9525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CommuniGate Pro · Best Practices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8B9BB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fSgd6h/html2pptx-bg-1786387459189-904f839008e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2EC5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762000" y="666750"/>
            <a:ext cx="108813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05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KEY TAKEAWAYS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762000" y="971550"/>
            <a:ext cx="9521190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95"/>
              </a:lnSpc>
              <a:spcAft>
                <a:spcPts val="1650"/>
              </a:spcAft>
              <a:buNone/>
            </a:pPr>
            <a:r>
              <a:rPr lang="en-US" sz="3300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Open APIs Turn CommuniGate Pro Into a Universal UX Layer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762000" y="2144911"/>
            <a:ext cx="854964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spcAft>
                <a:spcPts val="2250"/>
              </a:spcAft>
              <a:buNone/>
            </a:pPr>
            <a:r>
              <a:rPr lang="en-US" sz="13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CalDAV, CardDAV, IMAP, and XMPP give every user a consistent, native experience across devices — while giving administrators one platform, one identity store, and a future-proof integration path.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62000" y="2961977"/>
            <a:ext cx="3441650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962025" y="3142952"/>
            <a:ext cx="31024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ADOPT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62025" y="3390602"/>
            <a:ext cx="31024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Enable all four protocol modules and bind them to the shared directory.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375100" y="2961977"/>
            <a:ext cx="3441650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4575125" y="3142952"/>
            <a:ext cx="31024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INTEGRATE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5125" y="3390602"/>
            <a:ext cx="310243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Use RFC-compliant libraries and automate provisioning with scoped credentials.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988201" y="2961977"/>
            <a:ext cx="3441799" cy="1009650"/>
          </a:xfrm>
          <a:prstGeom prst="roundRect">
            <a:avLst>
              <a:gd name="adj" fmla="val 11321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188226" y="3142952"/>
            <a:ext cx="31025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EC5F3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EVOLVE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188226" y="3390602"/>
            <a:ext cx="3102584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Monitor, test, and update as standards advance — no vendor lock-in, no rewrites.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62000" y="5853112"/>
            <a:ext cx="1066800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2000" y="6096000"/>
            <a:ext cx="768754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Next step:</a:t>
            </a:r>
            <a:pPr algn="l" indent="0" marL="0">
              <a:buNone/>
            </a:pPr>
            <a:r>
              <a:rPr lang="en-US" sz="1125" dirty="0">
                <a:solidFill>
                  <a:srgbClr val="C9D8EE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 audit your CommuniGate Pro modules, enable missing APIs in staging, and pilot one new client this quarter.</a:t>
            </a:r>
            <a:endParaRPr lang="en-US" sz="1125" dirty="0"/>
          </a:p>
        </p:txBody>
      </p:sp>
      <p:sp>
        <p:nvSpPr>
          <p:cNvPr id="18" name="Text 15"/>
          <p:cNvSpPr/>
          <p:nvPr/>
        </p:nvSpPr>
        <p:spPr>
          <a:xfrm>
            <a:off x="8437513" y="6029325"/>
            <a:ext cx="711696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CalDAV</a:t>
            </a:r>
            <a:endParaRPr lang="en-US" sz="975" dirty="0"/>
          </a:p>
        </p:txBody>
      </p:sp>
      <p:sp>
        <p:nvSpPr>
          <p:cNvPr id="19" name="Text 16"/>
          <p:cNvSpPr/>
          <p:nvPr/>
        </p:nvSpPr>
        <p:spPr>
          <a:xfrm>
            <a:off x="9244459" y="6029325"/>
            <a:ext cx="801142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CardDAV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10140851" y="6029325"/>
            <a:ext cx="576263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IMAP</a:t>
            </a:r>
            <a:endParaRPr lang="en-US" sz="975" dirty="0"/>
          </a:p>
        </p:txBody>
      </p:sp>
      <p:sp>
        <p:nvSpPr>
          <p:cNvPr id="21" name="Text 18"/>
          <p:cNvSpPr/>
          <p:nvPr/>
        </p:nvSpPr>
        <p:spPr>
          <a:xfrm>
            <a:off x="10812363" y="6029325"/>
            <a:ext cx="617637" cy="295275"/>
          </a:xfrm>
          <a:prstGeom prst="roundRect">
            <a:avLst>
              <a:gd name="adj" fmla="val 3222581"/>
            </a:avLst>
          </a:prstGeom>
          <a:solidFill>
            <a:srgbClr val="2EC5F3">
              <a:alpha val="14000"/>
            </a:srgbClr>
          </a:solidFill>
          <a:ln w="9525">
            <a:solidFill>
              <a:srgbClr val="2EC5F3"/>
            </a:solidFill>
          </a:ln>
        </p:spPr>
        <p:txBody>
          <a:bodyPr wrap="square" lIns="123825" tIns="66675" rIns="123825" bIns="66675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CDEBFF"/>
                </a:solidFill>
                <a:latin typeface="Liberation Sans" pitchFamily="34" charset="0"/>
                <a:ea typeface="Liberation Sans" pitchFamily="34" charset="-122"/>
                <a:cs typeface="Liberation Sans" pitchFamily="34" charset="-120"/>
              </a:rPr>
              <a:t>XMPP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2026-08-10T18:44:19Z</dcterms:created>
  <dcterms:modified xsi:type="dcterms:W3CDTF">2026-08-10T18:44:19Z</dcterms:modified>
</cp:coreProperties>
</file>