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SK0Se4/html2pptx-bg-1786385819758-fe7dac9b1231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Image 1" descr="/tmp/html2pptx-SK0Se4/html2pptx-bg-1786385819980-3f1861af9c8bc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1047750"/>
            <a:ext cx="1619399" cy="361950"/>
          </a:xfrm>
          <a:prstGeom prst="roundRect">
            <a:avLst>
              <a:gd name="adj" fmla="val 52632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904875" y="1114425"/>
            <a:ext cx="1360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果園合理化施肥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62000" y="1695450"/>
            <a:ext cx="7620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62000" y="1905000"/>
            <a:ext cx="680085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spcAft>
                <a:spcPts val="18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麻豆紅柚
</a:t>
            </a:r>
            <a:pPr algn="l" indent="0" marL="0">
              <a:lnSpc>
                <a:spcPts val="5760"/>
              </a:lnSpc>
              <a:spcAft>
                <a:spcPts val="1800"/>
              </a:spcAft>
              <a:buNone/>
            </a:pPr>
            <a:r>
              <a:rPr lang="en-US" sz="48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合理化施肥</a:t>
            </a:r>
            <a:pPr algn="l" indent="0" marL="0">
              <a:lnSpc>
                <a:spcPts val="5760"/>
              </a:lnSpc>
              <a:spcAft>
                <a:spcPts val="18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762000" y="3596580"/>
            <a:ext cx="602361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FFFFFF">
                    <a:alpha val="88000"/>
                  </a:srgbClr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依果樹株齡、產量、土壤質地與肥力狀況，適時、適期、適量進行肥培與土壤管理，維護土壤生產力，提升果實產量與品質。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62000" y="6096000"/>
            <a:ext cx="21762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臺南區農業改良場｜合理化施肥推廣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685288" y="6057900"/>
            <a:ext cx="1779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文／圖 ■ 卓家榮、張汶肇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772" y="657225"/>
            <a:ext cx="2647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14450" y="657225"/>
            <a:ext cx="1428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合理化施肥概論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229850" y="685800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麻豆紅柚合理化施肥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1238250"/>
            <a:ext cx="10881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33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為什麼需要合理化施肥？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952119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果園合理化的土壤及肥培管理，可提供適合作物生長的健康環境，避免土壤生產力衰退及對環境造成衝擊，並提昇作物的產量及品質，達到降低生產成本之目的。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3048000"/>
            <a:ext cx="2509838" cy="3124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52500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076" y="3318570"/>
            <a:ext cx="2138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株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2500" y="3810000"/>
            <a:ext cx="21714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適株齡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2500" y="4181475"/>
            <a:ext cx="21714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依果樹株齡、產量與樹勢強弱調整施肥種類與用量。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81388" y="3048000"/>
            <a:ext cx="2509838" cy="3124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671888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1888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7464" y="3318570"/>
            <a:ext cx="2138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71888" y="3810000"/>
            <a:ext cx="21714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適地力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71888" y="4181475"/>
            <a:ext cx="21714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考量土壤質地、肥力狀況與 pH 值，配合作物生育需求調整。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00775" y="3048000"/>
            <a:ext cx="2509838" cy="3124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91275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275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6851" y="3318570"/>
            <a:ext cx="2138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時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391275" y="3810000"/>
            <a:ext cx="21714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適時期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91275" y="4181475"/>
            <a:ext cx="21714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配合生育期分階段施肥：禮肥、基肥、春肥、夏肥、催甜肥。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20163" y="3048000"/>
            <a:ext cx="2509838" cy="3124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110663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10663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196239" y="3318570"/>
            <a:ext cx="2138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110663" y="3810000"/>
            <a:ext cx="21714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適用量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10663" y="4181475"/>
            <a:ext cx="21714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以最少施肥量達到最高生產量及品質，提升投資報酬率。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vJeQAS/html2pptx-bg-1786385821510-5d159331b1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0" y="0"/>
            <a:ext cx="2095500" cy="857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350" y="552450"/>
            <a:ext cx="738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採樣方法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29850" y="571500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正確土壤及葉片採樣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952500"/>
            <a:ext cx="314797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土壤與葉片採樣方法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62000" y="148590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000" y="1809750"/>
            <a:ext cx="800249" cy="257175"/>
          </a:xfrm>
          <a:prstGeom prst="roundRect">
            <a:avLst>
              <a:gd name="adj" fmla="val 14815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6300" y="1847850"/>
            <a:ext cx="583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採樣時期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762000" y="2200275"/>
            <a:ext cx="52463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8月下旬 — 9月上旬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2600325"/>
            <a:ext cx="5143500" cy="108168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81050" y="2752725"/>
            <a:ext cx="0" cy="776883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0600" y="2752725"/>
            <a:ext cx="4818888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果實採收前為葉片養分最穩定期，</a:t>
            </a:r>
            <a:pPr algn="l" indent="0" marL="0">
              <a:lnSpc>
                <a:spcPts val="2040"/>
              </a:lnSpc>
              <a:buNone/>
            </a:pPr>
            <a:r>
              <a:rPr lang="en-US" sz="12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太早或太遲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進行葉片採樣，葉片營養成分都有變化，不易診斷。同時進行土壤採樣，送交農業試驗所或改良場分析。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3853458"/>
            <a:ext cx="800249" cy="257175"/>
          </a:xfrm>
          <a:prstGeom prst="roundRect">
            <a:avLst>
              <a:gd name="adj" fmla="val 14815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76300" y="3891558"/>
            <a:ext cx="583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採樣原則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762000" y="4243983"/>
            <a:ext cx="52463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代表性與隨機性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4644033"/>
            <a:ext cx="5143500" cy="82272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81050" y="4796433"/>
            <a:ext cx="0" cy="517922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0600" y="4796433"/>
            <a:ext cx="481888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避開邊際果樹、罹病樹與施肥處；全園逢機選取正常植株，循 U 字形路徑採樣，方能代表果園實際狀況。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29300" y="1809750"/>
            <a:ext cx="5600700" cy="4476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057900" y="2038350"/>
            <a:ext cx="52463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葉片採樣五要點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057900" y="2400300"/>
            <a:ext cx="5143500" cy="136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9550" indent="-2095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當年生未結果春梢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，自頂端算起第三或第四片葉。</a:t>
            </a:r>
            <a:endParaRPr lang="en-US" sz="1050" dirty="0"/>
          </a:p>
          <a:p>
            <a:pPr algn="l" marL="209550" indent="-2095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每樹自東、西、南、北方位肩高處各採一葉，每樹共四葉。</a:t>
            </a:r>
            <a:endParaRPr lang="en-US" sz="1050" dirty="0"/>
          </a:p>
          <a:p>
            <a:pPr algn="l" marL="209550" indent="-2095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全園視面積大小共採 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50~100 葉</a:t>
            </a:r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混合為一樣品。</a:t>
            </a:r>
            <a:endParaRPr lang="en-US" sz="1050" dirty="0"/>
          </a:p>
          <a:p>
            <a:pPr algn="l" marL="209550" indent="-2095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葉片立即裝入塑膠袋，註明姓名、園址、品種與採集日期，當日送驗。</a:t>
            </a:r>
            <a:endParaRPr lang="en-US" sz="1050" dirty="0"/>
          </a:p>
          <a:p>
            <a:pPr algn="l" marL="209550" indent="-209550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不可誤採夏秋梢、結果枝或抽新梢的春梢葉，以免診斷錯誤。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738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採樣方法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63250" y="571500"/>
            <a:ext cx="680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土壤採樣法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314797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土壤分層採樣與混合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48590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4381500" cy="419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9650" y="2152650"/>
            <a:ext cx="39639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採樣部位與深度</a:t>
            </a:r>
            <a:endParaRPr lang="en-US" sz="1500" dirty="0"/>
          </a:p>
        </p:txBody>
      </p:sp>
      <p:pic>
        <p:nvPicPr>
          <p:cNvPr id="10" name="Image 0" descr="/tmp/html2pptx-JKtj2d/html2pptx-bg-1786385822328-8fb19c7302c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2600325"/>
            <a:ext cx="3886200" cy="1504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1100" y="3105150"/>
            <a:ext cx="12241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~ 20 公分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181100" y="3409950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表土層｜與樹冠直下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95775" y="3105150"/>
            <a:ext cx="43719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🌱</a:t>
            </a:r>
            <a:endParaRPr lang="en-US" sz="2700" dirty="0"/>
          </a:p>
        </p:txBody>
      </p:sp>
      <p:pic>
        <p:nvPicPr>
          <p:cNvPr id="14" name="Image 1" descr="/tmp/html2pptx-JKtj2d/html2pptx-bg-1786385822424-1f36213fb0cf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4238625"/>
            <a:ext cx="3886200" cy="15049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1100" y="4743450"/>
            <a:ext cx="12036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~ 40 公分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181100" y="5048250"/>
            <a:ext cx="1203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底土層｜分層採土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295775" y="4743450"/>
            <a:ext cx="43719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🌳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1009650" y="5876925"/>
            <a:ext cx="39639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於樹冠外圍直下方採土，避免採集到施肥處。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5524500" y="1905000"/>
            <a:ext cx="60236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土壤採樣流程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24500" y="233362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650855" y="2390775"/>
            <a:ext cx="91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019800" y="2333625"/>
            <a:ext cx="551840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準備兩個容器，分別標明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0~20 公分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與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20~40 公分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5524500" y="280987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650855" y="2867025"/>
            <a:ext cx="91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019800" y="2809875"/>
            <a:ext cx="551840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於樹冠外圍直下方，拔除土表雜草後，以土鑽、鋤頭或圓鍬依深度分別採土，分盛於兩容器。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5524500" y="34290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650855" y="3486150"/>
            <a:ext cx="91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019800" y="3429000"/>
            <a:ext cx="551840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全園分散採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6~12 處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（避免採到施肥處），按深度分別裝入容器，充分混合成兩個樣品。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5524500" y="404812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650855" y="4105275"/>
            <a:ext cx="91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019800" y="4048125"/>
            <a:ext cx="551840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每樣品混合均勻後約留取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 公克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，裝入標示深度、姓名、園址、品種之塑膠袋。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762000" y="6200775"/>
            <a:ext cx="10668000" cy="371475"/>
          </a:xfrm>
          <a:prstGeom prst="rect">
            <a:avLst/>
          </a:prstGeom>
          <a:solidFill>
            <a:srgbClr val="FFF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781050" y="6296025"/>
            <a:ext cx="0" cy="180975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52500" y="6296025"/>
            <a:ext cx="10531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注意：園內每個採樣點及土層上、下所採的土量應該相近，以提高分析代表性。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1107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土壤理化改良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6987" y="571500"/>
            <a:ext cx="7884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 pH 改良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414639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優質果園首重土壤 pH 改良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48590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54406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強酸性土壤的影響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314575"/>
            <a:ext cx="5440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 pH 低於 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屬強酸性，原因包括土壤本身屬酸性土、石灰質受雨水淋洗流失，或連續使用生理酸性肥料。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" y="2962275"/>
            <a:ext cx="5440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酸性土壤易造成植株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缺鈣、缺鎂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，影響果實品質；鐵、鋁、錳溶解增多形成毒害；磷易與鐵、鋁結合成不溶性化合物，無法被植株吸收。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3648075"/>
            <a:ext cx="54406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改良資材選擇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4057650"/>
            <a:ext cx="5440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未缺鎂果園：施用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石灰石粉、蚵殼粉或矽酸爐渣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  <a:p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缺鎂果園：施用</a:t>
            </a:r>
            <a:endParaRPr lang="en-US" sz="1125" dirty="0"/>
          </a:p>
          <a:p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白雲石粉</a:t>
            </a:r>
            <a:pPr algn="l" indent="0" marL="0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（含氧化鎂 10~16%），同時補充鈣與鎂。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286500" y="1905000"/>
            <a:ext cx="51435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96050" y="2114550"/>
            <a:ext cx="48188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土壤酸鹼值對應施用量</a:t>
            </a:r>
            <a:endParaRPr lang="en-US" sz="1350" dirty="0"/>
          </a:p>
        </p:txBody>
      </p:sp>
      <p:pic>
        <p:nvPicPr>
          <p:cNvPr id="15" name="Image 0" descr="/tmp/html2pptx-jXQanL/html2pptx-bg-1786385823371-b8af13e4a16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050" y="2533650"/>
            <a:ext cx="4724400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13340" y="2457450"/>
            <a:ext cx="19050" cy="457200"/>
          </a:xfrm>
          <a:prstGeom prst="rect">
            <a:avLst/>
          </a:prstGeom>
          <a:solidFill>
            <a:srgbClr val="1F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758708" y="2352675"/>
            <a:ext cx="334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5.0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8621911" y="2457450"/>
            <a:ext cx="19050" cy="457200"/>
          </a:xfrm>
          <a:prstGeom prst="rect">
            <a:avLst/>
          </a:prstGeom>
          <a:solidFill>
            <a:srgbClr val="1F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467279" y="2352675"/>
            <a:ext cx="334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5.5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9236125" y="2457450"/>
            <a:ext cx="19050" cy="457200"/>
          </a:xfrm>
          <a:prstGeom prst="rect">
            <a:avLst/>
          </a:prstGeom>
          <a:solidFill>
            <a:srgbClr val="1F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9081492" y="2352675"/>
            <a:ext cx="334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6.0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496050" y="3152775"/>
            <a:ext cx="386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4.5 強酸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8099971" y="3152775"/>
            <a:ext cx="14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9470975" y="3152775"/>
            <a:ext cx="386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6.5 適宜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074896" y="3152775"/>
            <a:ext cx="14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7.5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286500" y="3790950"/>
            <a:ext cx="5143500" cy="15716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305550" y="3962400"/>
            <a:ext cx="0" cy="1228725"/>
          </a:xfrm>
          <a:prstGeom prst="line">
            <a:avLst/>
          </a:prstGeom>
          <a:noFill/>
          <a:ln w="38100">
            <a:solidFill>
              <a:srgbClr val="B145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4150" y="3962400"/>
            <a:ext cx="478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每年冬季休眠期施用量（每分地）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34150" y="4586288"/>
            <a:ext cx="46863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534150" y="4343400"/>
            <a:ext cx="12863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5.0 以下（強酸性）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10725448" y="4343400"/>
            <a:ext cx="504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150 公斤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6534150" y="4891088"/>
            <a:ext cx="46863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6534150" y="4648200"/>
            <a:ext cx="6759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5.0 ~ 6.0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0725448" y="4648200"/>
            <a:ext cx="504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公斤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6534150" y="4953000"/>
            <a:ext cx="6548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超過 6.0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0725001" y="4953000"/>
            <a:ext cx="5053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停止施用</a:t>
            </a:r>
            <a:endParaRPr lang="en-US" sz="975" dirty="0"/>
          </a:p>
        </p:txBody>
      </p:sp>
      <p:pic>
        <p:nvPicPr>
          <p:cNvPr id="37" name="Image 1" descr="/tmp/html2pptx-jXQanL/html2pptx-bg-1786385823506-a7ee9aaaec1eb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5334000"/>
            <a:ext cx="20955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923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施肥推薦量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59218" y="571500"/>
            <a:ext cx="20101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1｜麻豆紅柚施肥三要素推薦量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45195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三要素推薦量（公克 / 株 / 年）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000" y="1409700"/>
            <a:ext cx="3128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依樹齡與產量分級，並換算為台肥複合肥料參考用量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69545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000250"/>
            <a:ext cx="10668000" cy="3771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3450" y="2171700"/>
          <a:ext cx="9144000" cy="914400"/>
        </p:xfrm>
        <a:graphic>
          <a:graphicData uri="http://schemas.openxmlformats.org/drawingml/2006/table">
            <a:tbl>
              <a:tblPr/>
              <a:tblGrid>
                <a:gridCol w="1815193"/>
                <a:gridCol w="1815193"/>
                <a:gridCol w="1043946"/>
                <a:gridCol w="2825384"/>
                <a:gridCol w="2825384"/>
              </a:tblGrid>
              <a:tr h="33860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樹齡或產量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三要素用量（公克/株/年）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換算成台肥43號或5號複合肥料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氮素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磷酐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氧化鉀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vMerge="1">
                  <a:tcPr/>
                </a:tc>
              </a:tr>
              <a:tr h="343377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幼年樹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1~3年生｜75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75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75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500（43號）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5年生｜150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1,000（43號）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343377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成年樹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(年產量)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20公斤/株｜300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225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1,875（5號）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40公斤/株｜500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375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3,125（5號）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60公斤/株｜600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3,750（5號）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90公斤/株｜800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5,000（5號）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120公斤/株｜1000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750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6,250（5號）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150公斤/株｜1200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900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7,500（5號）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6126659"/>
            <a:ext cx="10668000" cy="540841"/>
          </a:xfrm>
          <a:prstGeom prst="rect">
            <a:avLst/>
          </a:prstGeom>
          <a:solidFill>
            <a:srgbClr val="FFF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81050" y="6221909"/>
            <a:ext cx="0" cy="350341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3450" y="6221909"/>
            <a:ext cx="10570464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63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註：（1）坡地、砂質或礫質地施肥量宜</a:t>
            </a:r>
            <a:pPr algn="l" indent="0" marL="0">
              <a:lnSpc>
                <a:spcPts val="1380"/>
              </a:lnSpc>
              <a:buNone/>
            </a:pPr>
            <a:r>
              <a:rPr lang="en-US" sz="863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增加 30~40%</a:t>
            </a:r>
            <a:pPr algn="l" indent="0" marL="0">
              <a:lnSpc>
                <a:spcPts val="1380"/>
              </a:lnSpc>
              <a:buNone/>
            </a:pPr>
            <a:r>
              <a:rPr lang="en-US" sz="863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；粘質壤土可酌減 20~30%。（2）草生栽培於春、夏肥追施氮肥 20~30%。（3）肥沃土壤春肥及果實發育期建議改用</a:t>
            </a:r>
            <a:pPr algn="l" indent="0" marL="0">
              <a:lnSpc>
                <a:spcPts val="1380"/>
              </a:lnSpc>
              <a:buNone/>
            </a:pPr>
            <a:r>
              <a:rPr lang="en-US" sz="863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台肥2號</a:t>
            </a:r>
            <a:pPr algn="l" indent="0" marL="0">
              <a:lnSpc>
                <a:spcPts val="1380"/>
              </a:lnSpc>
              <a:buNone/>
            </a:pPr>
            <a:r>
              <a:rPr lang="en-US" sz="863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複合肥料，避免氮過多影響花芽分化。（4）4~8月雨量豐沛時，果實發育期氮肥宜減施或免施。</a:t>
            </a:r>
            <a:endParaRPr lang="en-US" sz="8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avCzwD/html2pptx-bg-1786385826332-1177f56fd48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0" y="0"/>
            <a:ext cx="22860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350" y="552450"/>
            <a:ext cx="923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施肥推薦量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325868" y="571500"/>
            <a:ext cx="21462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2｜葉片元素適宜及過量濃度範圍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952500"/>
            <a:ext cx="24873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葉片營養診斷標準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000" y="1371600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麻豆紅柚葉片各種元素之適宜及過量濃度範圍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2000" y="165735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62000" y="1905000"/>
            <a:ext cx="10668000" cy="1866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3450" y="2076450"/>
          <a:ext cx="9144000" cy="914400"/>
        </p:xfrm>
        <a:graphic>
          <a:graphicData uri="http://schemas.openxmlformats.org/drawingml/2006/table">
            <a:tbl>
              <a:tblPr/>
              <a:tblGrid>
                <a:gridCol w="938402"/>
                <a:gridCol w="938402"/>
                <a:gridCol w="938402"/>
                <a:gridCol w="938402"/>
                <a:gridCol w="938402"/>
                <a:gridCol w="938402"/>
                <a:gridCol w="938700"/>
                <a:gridCol w="938700"/>
                <a:gridCol w="938700"/>
                <a:gridCol w="938700"/>
                <a:gridCol w="939890"/>
              </a:tblGrid>
              <a:tr h="3009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元素別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氮 N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磷 P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鉀 K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鈣 Ca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鎂 Mg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鐵 Fe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錳 Mn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銅 Cu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鋅 Zn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硼 B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</a:tr>
              <a:tr h="3057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單位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%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ppm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57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適宜下限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2.2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0.12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1.4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0.26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57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適宜上限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2.58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0.18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1.7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16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57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過量臨界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3.5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0.30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2.3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6.0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en-US" sz="9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892623" y="647223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102173" y="6448425"/>
            <a:ext cx="7579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適宜濃度範圍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4073872" y="647223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145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283422" y="6448425"/>
            <a:ext cx="15157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過量臨界值（超過即有害）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5998071" y="6448425"/>
            <a:ext cx="33673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採樣：8月下旬~9月上旬，春梢第3~4葉，每園50~100葉混合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1107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土壤理化改良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63100" y="571500"/>
            <a:ext cx="1904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土壤有機質增加可提高施肥效果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42942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有機質肥料：土壤改良的關鍵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000" y="146685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714500"/>
            <a:ext cx="10668000" cy="7200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050" y="1847850"/>
            <a:ext cx="0" cy="45333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1847850"/>
            <a:ext cx="10453878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台灣高溫多雨，有機質加速分解，一般果園有機質含量偏低。施用有機肥可被微生物分解供作物吸收，</a:t>
            </a:r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促進土壤團粒構造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，改善排水通氣性，並增加保水保肥能力，間接提高根群對各種養分吸收率。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2571750"/>
            <a:ext cx="5229225" cy="164603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52500" y="2590800"/>
            <a:ext cx="4848225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2800350"/>
            <a:ext cx="4945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腐熟堆肥｜可多量使用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2500" y="3143250"/>
            <a:ext cx="49451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含碳（纖維）較高的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腐熟堆肥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，有機質含量達 60%，氮、磷、鉀含量約 1%。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952500" y="3437930"/>
            <a:ext cx="49451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成株每年可施用 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公斤以上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，安全且可改善土壤理化性。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952500" y="3732609"/>
            <a:ext cx="49451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建議選購氮含量 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2% 以下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之堆肥，避免影響果實品質。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6200775" y="2571750"/>
            <a:ext cx="5229225" cy="164603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91275" y="2590800"/>
            <a:ext cx="4848225" cy="0"/>
          </a:xfrm>
          <a:prstGeom prst="line">
            <a:avLst/>
          </a:prstGeom>
          <a:noFill/>
          <a:ln w="38100">
            <a:solidFill>
              <a:srgbClr val="B145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275" y="2800350"/>
            <a:ext cx="4945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豆粕類有機物｜少量混用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91275" y="3143250"/>
            <a:ext cx="49451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含氮較高之豆粕類：大豆粕含氮 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7.5%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、花生粕 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6.5%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6391275" y="3437930"/>
            <a:ext cx="49451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每株僅能少量 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3~5 公斤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混合使用，避免大量施用。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391275" y="3732609"/>
            <a:ext cx="494519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過量恐因發酵熱（達 50℃以上）及有機酸過高而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傷害根系</a:t>
            </a:r>
            <a:pPr algn="l" indent="0" marL="0">
              <a:lnSpc>
                <a:spcPts val="1721"/>
              </a:lnSpc>
              <a:spcAft>
                <a:spcPts val="600"/>
              </a:spcAft>
              <a:buNone/>
            </a:pPr>
            <a:r>
              <a:rPr lang="en-US" sz="1013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762000" y="5581650"/>
            <a:ext cx="10668000" cy="704850"/>
          </a:xfrm>
          <a:prstGeom prst="rect">
            <a:avLst/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0600" y="5695950"/>
            <a:ext cx="33227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有機肥施用量參考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0600" y="5924550"/>
            <a:ext cx="33227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冬季期｜穴施、溝施或環施於樹冠下周圍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75975" y="5719763"/>
            <a:ext cx="763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3~5 年生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75975" y="5900738"/>
            <a:ext cx="763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20~30 kg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59891" y="5719763"/>
            <a:ext cx="763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5~10 年生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59891" y="5900738"/>
            <a:ext cx="763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30~50 kg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342796" y="5719763"/>
            <a:ext cx="8668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年生以上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42796" y="5900738"/>
            <a:ext cx="8668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50~100 kg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1292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施肥時期與方法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2986" y="571500"/>
            <a:ext cx="18635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3｜施肥時期及分配率（%）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264261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施肥時期與分配率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000" y="146685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2026890" cy="131564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95350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085975"/>
            <a:ext cx="931218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90600" y="2114550"/>
            <a:ext cx="755532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9月中~10月初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895350" y="2422922"/>
            <a:ext cx="17953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禮肥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95350" y="2718197"/>
            <a:ext cx="1795394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採收後視樹勢酌施，氮比例較高之複合肥料（台肥1號或5號）。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2922240" y="1905000"/>
            <a:ext cx="2026890" cy="131564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55590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5590" y="2085975"/>
            <a:ext cx="640110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50840" y="2114550"/>
            <a:ext cx="458602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11~12月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3055590" y="2422922"/>
            <a:ext cx="17953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基肥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3055590" y="2718197"/>
            <a:ext cx="1795394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有機肥為主、化肥為輔，深施30~50公分，可併用土壤改良劑。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5082480" y="1905000"/>
            <a:ext cx="2026890" cy="131564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15830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5830" y="2085975"/>
            <a:ext cx="507950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11080" y="2114550"/>
            <a:ext cx="323799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3~4月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5215830" y="2422922"/>
            <a:ext cx="17953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春肥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5215830" y="2718197"/>
            <a:ext cx="1795394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幼果期，台肥5號或43號，雨後撒施樹冠下周圍。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7242721" y="1905000"/>
            <a:ext cx="2026890" cy="131564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376071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6071" y="2085975"/>
            <a:ext cx="865138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71321" y="2114550"/>
            <a:ext cx="688131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6月底~7月初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7376071" y="2422922"/>
            <a:ext cx="17953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夏肥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376071" y="2718197"/>
            <a:ext cx="1795394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中果期，高磷鉀為主（台肥25、43、47號或5號即溶）。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9402961" y="1905000"/>
            <a:ext cx="2026890" cy="131564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536311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36311" y="2085975"/>
            <a:ext cx="951161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631561" y="2114550"/>
            <a:ext cx="775874" cy="184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採收前1.5個月</a:t>
            </a:r>
            <a:endParaRPr lang="en-US" sz="938" dirty="0"/>
          </a:p>
        </p:txBody>
      </p:sp>
      <p:sp>
        <p:nvSpPr>
          <p:cNvPr id="36" name="Text 34"/>
          <p:cNvSpPr/>
          <p:nvPr/>
        </p:nvSpPr>
        <p:spPr>
          <a:xfrm>
            <a:off x="9536311" y="2422922"/>
            <a:ext cx="17953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催甜肥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536311" y="2718197"/>
            <a:ext cx="1795394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磷酸一鉀+氯化鉀 或 台肥6號即溶，稀釋灌施或噴施。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762000" y="3619500"/>
            <a:ext cx="10668000" cy="2857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33450" y="3752850"/>
            <a:ext cx="10531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3：麻豆紅柚施肥時期及分配率（%）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3450" y="4076700"/>
          <a:ext cx="9144000" cy="914400"/>
        </p:xfrm>
        <a:graphic>
          <a:graphicData uri="http://schemas.openxmlformats.org/drawingml/2006/table">
            <a:tbl>
              <a:tblPr/>
              <a:tblGrid>
                <a:gridCol w="2489359"/>
                <a:gridCol w="2856628"/>
                <a:gridCol w="2489491"/>
                <a:gridCol w="2489623"/>
              </a:tblGrid>
              <a:tr h="319759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肥料別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基肥（11~12月）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追肥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hMerge="1">
                  <a:tcPr/>
                </a:tc>
              </a:tr>
              <a:tr h="32453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春肥（3~4月）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夏肥（6~7月）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有機肥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全量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氮肥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磷肥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全量或50%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0或50%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鉀肥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40%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鎂肥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全量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762000" y="6305550"/>
            <a:ext cx="10668000" cy="323850"/>
          </a:xfrm>
          <a:prstGeom prst="rect">
            <a:avLst/>
          </a:prstGeom>
          <a:solidFill>
            <a:srgbClr val="FFF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781050" y="6381750"/>
            <a:ext cx="0" cy="17145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3450" y="6381750"/>
            <a:ext cx="105704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後期氮肥控制尤為關鍵：著果量少、生長勢旺或幼年株若氮肥過量，將萌生過多夏秋梢，造成果皮增厚、轉色不佳、糖度降低，影響貯運。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Am16bZ/html2pptx-bg-1786385830891-c7352a1c178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0" y="0"/>
            <a:ext cx="26670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350" y="552450"/>
            <a:ext cx="738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施肥方法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29850" y="571500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施肥方法五種｜結語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952500"/>
            <a:ext cx="231228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施肥方法與結語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62000" y="1466850"/>
            <a:ext cx="571500" cy="38100"/>
          </a:xfrm>
          <a:prstGeom prst="rect">
            <a:avLst/>
          </a:prstGeom>
          <a:solidFill>
            <a:srgbClr val="FFD9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000" y="1809750"/>
            <a:ext cx="2026890" cy="266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76300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392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24769" y="2038796"/>
            <a:ext cx="10322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58317" y="2438400"/>
            <a:ext cx="18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溝施法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6300" y="2743200"/>
            <a:ext cx="183425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樹冠邊緣處開溝，寬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30~40公分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，深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20~30公分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，將有機肥、改良劑與部分化肥一併施入後覆土。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2240" y="1809750"/>
            <a:ext cx="2026890" cy="266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36540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416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885009" y="2038796"/>
            <a:ext cx="10322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018557" y="2438400"/>
            <a:ext cx="18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穴施法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036540" y="2743200"/>
            <a:ext cx="183425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樹冠四周鑽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5~8穴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，直徑 15~20 公分，深 40~50 公分，基肥全量施入並覆土。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82480" y="1809750"/>
            <a:ext cx="2026890" cy="266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196780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2440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45250" y="2038796"/>
            <a:ext cx="10322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178798" y="2438400"/>
            <a:ext cx="18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環施法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196780" y="2743200"/>
            <a:ext cx="183425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適宜幼樹（1~3年生），樹冠周圍環狀開溝，寬 20~30 公分，深 15~20 公分，施入基肥並覆土。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42721" y="1809750"/>
            <a:ext cx="2026890" cy="266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7357021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8464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05490" y="2038796"/>
            <a:ext cx="10322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7339038" y="2438400"/>
            <a:ext cx="18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放射狀法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57021" y="2743200"/>
            <a:ext cx="183425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以樹幹為中心，向外開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4~6條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施肥溝；近樹幹處開淺溝，漸往外越深越寬。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402961" y="1809750"/>
            <a:ext cx="2027039" cy="266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9517261" y="1828800"/>
            <a:ext cx="1798439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45030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0365879" y="2038796"/>
            <a:ext cx="103227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499277" y="2438400"/>
            <a:ext cx="183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撒施法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517261" y="2743200"/>
            <a:ext cx="1834408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用於春、夏肥，撒施於樹冠下周圍。須配合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水分管理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，太乾或大雨均不宜。</a:t>
            </a:r>
            <a:endParaRPr lang="en-US" sz="900" dirty="0"/>
          </a:p>
        </p:txBody>
      </p:sp>
      <p:pic>
        <p:nvPicPr>
          <p:cNvPr id="39" name="Image 1" descr="/tmp/html2pptx-Am16bZ/html2pptx-bg-1786385831030-0730e14f69bb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505450"/>
            <a:ext cx="10668000" cy="8763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009650" y="5676900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FFD96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1185267" y="5753100"/>
            <a:ext cx="1858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2100" dirty="0"/>
          </a:p>
        </p:txBody>
      </p:sp>
      <p:sp>
        <p:nvSpPr>
          <p:cNvPr id="42" name="Text 38"/>
          <p:cNvSpPr/>
          <p:nvPr/>
        </p:nvSpPr>
        <p:spPr>
          <a:xfrm>
            <a:off x="1771650" y="5697885"/>
            <a:ext cx="95989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合理化施肥｜降本、增產、提質</a:t>
            </a:r>
            <a:endParaRPr lang="en-US" sz="1350" dirty="0"/>
          </a:p>
        </p:txBody>
      </p:sp>
      <p:sp>
        <p:nvSpPr>
          <p:cNvPr id="43" name="Text 39"/>
          <p:cNvSpPr/>
          <p:nvPr/>
        </p:nvSpPr>
        <p:spPr>
          <a:xfrm>
            <a:off x="1771650" y="5983635"/>
            <a:ext cx="95989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以土壤與葉片診斷為依據，配合株齡、產量與氣候調整時機、用量與方法，方能以最少施肥量達到最高產量與品質，並維護土壤永續生產力。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2026-08-10T18:17:11Z</dcterms:created>
  <dcterms:modified xsi:type="dcterms:W3CDTF">2026-08-10T18:17:11Z</dcterms:modified>
</cp:coreProperties>
</file>