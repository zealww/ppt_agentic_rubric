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6.png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0" y="3048000"/>
            <a:ext cx="3429000" cy="3429000"/>
          </a:xfrm>
          <a:prstGeom prst="roundRect">
            <a:avLst>
              <a:gd name="adj" fmla="val 26667"/>
            </a:avLst>
          </a:prstGeom>
          <a:solidFill>
            <a:srgbClr val="FFFFFF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2000" y="323850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FFD166">
              <a:alpha val="1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7250" y="762000"/>
            <a:ext cx="2114699" cy="495300"/>
          </a:xfrm>
          <a:prstGeom prst="roundRect">
            <a:avLst>
              <a:gd name="adj" fmla="val 1921154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lIns="171450" tIns="76200" rIns="171450" bIns="76200" rtlCol="0" anchor="ctr"/>
          <a:lstStyle/>
          <a:p>
            <a:pPr marL="0" indent="0" algn="l">
              <a:spcAft>
                <a:spcPts val="27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零基础也能看懂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57250" y="1600200"/>
            <a:ext cx="10687050" cy="28914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0"/>
              </a:lnSpc>
              <a:spcAft>
                <a:spcPts val="2250"/>
              </a:spcAft>
              <a:buNone/>
            </a:pPr>
            <a:r>
              <a:rPr lang="en-US" sz="66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个税报税 &amp;
</a:t>
            </a:r>
            <a:r>
              <a:rPr lang="en-US" sz="6600" b="1" dirty="0">
                <a:solidFill>
                  <a:srgbClr val="FFD166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赡养老人扣除</a:t>
            </a:r>
            <a:endParaRPr lang="en-US" sz="6600" dirty="0"/>
          </a:p>
          <a:p>
            <a:pPr marL="0" indent="0" algn="l">
              <a:lnSpc>
                <a:spcPts val="7590"/>
              </a:lnSpc>
              <a:spcAft>
                <a:spcPts val="2250"/>
              </a:spcAft>
              <a:buNone/>
            </a:pPr>
            <a:r>
              <a:rPr lang="en-US" sz="66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入门指南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57250" y="4777383"/>
            <a:ext cx="9521190" cy="1028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dirty="0">
                <a:solidFill>
                  <a:srgbClr val="FFFFFF">
                    <a:alpha val="92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用大讲清楚：报税么、怎报、赡养一笔。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7250" y="5981700"/>
            <a:ext cx="4319147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面向第一次报税的新手 · 中国大陆 · 2026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239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1588" y="814388"/>
            <a:ext cx="307708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90650" y="533400"/>
            <a:ext cx="7461656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第一课 · 概念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90650" y="781050"/>
            <a:ext cx="7461656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什么是个人所得税？为什么要报税？</a:t>
            </a:r>
            <a:endParaRPr lang="en-US" sz="3600" dirty="0"/>
          </a:p>
        </p:txBody>
      </p:sp>
      <p:pic>
        <p:nvPicPr>
          <p:cNvPr id="6" name="Image 0" descr="/tmp/html2pptx-5sLHlk/html2pptx-bg-1786380974814-9f737b0dca74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250" y="533400"/>
            <a:ext cx="1905000" cy="190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714500"/>
            <a:ext cx="5267325" cy="2167533"/>
          </a:xfrm>
          <a:prstGeom prst="roundRect">
            <a:avLst>
              <a:gd name="adj" fmla="val 966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09550" dist="57150" dir="5400000" algn="bl" rotWithShape="0">
              <a:srgbClr val="0F5132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00125" y="2028825"/>
            <a:ext cx="473144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💰</a:t>
            </a:r>
            <a:r>
              <a:rPr lang="en-US" sz="2250" dirty="0">
                <a:solidFill>
                  <a:srgbClr val="1987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什么是个人所得税？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00125" y="2600325"/>
            <a:ext cx="4731449" cy="10054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你挣从你挣的钱里</a:t>
            </a:r>
            <a:r>
              <a:rPr lang="en-US" sz="16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抽一小部分</a:t>
            </a: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当作国家运，这就是「税」。</a:t>
            </a:r>
            <a:endParaRPr lang="en-US" sz="1650" dirty="0"/>
          </a:p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工资、奖金、费、做兼职……这些收入都要算。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238875" y="1714500"/>
            <a:ext cx="5267325" cy="2167533"/>
          </a:xfrm>
          <a:prstGeom prst="roundRect">
            <a:avLst>
              <a:gd name="adj" fmla="val 966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09550" dist="57150" dir="5400000" algn="bl" rotWithShape="0">
              <a:srgbClr val="0F5132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553200" y="2028825"/>
            <a:ext cx="4731449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📋</a:t>
            </a:r>
            <a:r>
              <a:rPr lang="en-US" sz="2250" dirty="0">
                <a:solidFill>
                  <a:srgbClr val="19875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什么是「报税」？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553200" y="2600325"/>
            <a:ext cx="4731449" cy="10054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就是</a:t>
            </a:r>
            <a:r>
              <a:rPr lang="en-US" sz="16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把去年了多少钱、该交多少税，自己跟国家算一遍账</a:t>
            </a: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650" dirty="0"/>
          </a:p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多交退给你，少交补上，谁吃亏。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85800" y="4091583"/>
            <a:ext cx="10820400" cy="704850"/>
          </a:xfrm>
          <a:prstGeom prst="roundRect">
            <a:avLst>
              <a:gd name="adj" fmla="val 24324"/>
            </a:avLst>
          </a:prstGeom>
          <a:solidFill>
            <a:srgbClr val="FFF7E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23900" y="4301133"/>
            <a:ext cx="0" cy="285750"/>
          </a:xfrm>
          <a:prstGeom prst="line">
            <a:avLst/>
          </a:prstGeom>
          <a:noFill/>
          <a:ln w="762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9650" y="4301133"/>
            <a:ext cx="10453878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为什么每年都要报一次？</a:t>
            </a:r>
            <a:r>
              <a:rPr lang="en-US" sz="15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因为平是按月帮你预扣的，可能扣多可能扣少。一年结束</a:t>
            </a:r>
            <a:r>
              <a:rPr lang="en-US" sz="157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</a:t>
            </a:r>
            <a:r>
              <a:rPr lang="en-US" sz="15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，把账算清。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5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239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1588" y="814388"/>
            <a:ext cx="307708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90650" y="533400"/>
            <a:ext cx="652896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8E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第二课 · 时间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90650" y="781050"/>
            <a:ext cx="6528968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什么时候要报税？记住这四个月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57307" y="533400"/>
            <a:ext cx="3048893" cy="514350"/>
          </a:xfrm>
          <a:prstGeom prst="roundRect">
            <a:avLst>
              <a:gd name="adj" fmla="val 25926"/>
            </a:avLst>
          </a:prstGeom>
          <a:solidFill>
            <a:srgbClr val="FFF7E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485882" y="666750"/>
            <a:ext cx="0" cy="247650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04957" y="666750"/>
            <a:ext cx="266295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⚠ 逾期未报：可能要补税 + 滞纳金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6300" y="2400300"/>
            <a:ext cx="10439400" cy="133350"/>
          </a:xfrm>
          <a:prstGeom prst="roundRect">
            <a:avLst>
              <a:gd name="adj" fmla="val 7135714"/>
            </a:avLst>
          </a:prstGeom>
          <a:solidFill>
            <a:srgbClr val="FFFFFF">
              <a:alpha val="1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/tmp/html2pptx-Hhg6iz/html2pptx-bg-1786380979625-d5d9cca22fd5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400300"/>
            <a:ext cx="10439400" cy="133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6300" y="24669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D166"/>
          </a:solidFill>
          <a:ln w="38100">
            <a:solidFill>
              <a:srgbClr val="0F513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67200" y="24669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D166"/>
          </a:solidFill>
          <a:ln w="38100">
            <a:solidFill>
              <a:srgbClr val="0F513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658100" y="24669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D166"/>
          </a:solidFill>
          <a:ln w="38100">
            <a:solidFill>
              <a:srgbClr val="0F513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1049000" y="24669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D166"/>
          </a:solidFill>
          <a:ln w="38100">
            <a:solidFill>
              <a:srgbClr val="0F513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57250" y="2886075"/>
            <a:ext cx="194310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D166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3月1日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857250" y="3295650"/>
            <a:ext cx="194310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50"/>
              </a:spcBef>
              <a:buNone/>
            </a:pPr>
            <a:r>
              <a:rPr lang="en-US" sz="1350" dirty="0">
                <a:solidFill>
                  <a:srgbClr val="E6F4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开预约办理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701951" y="2886075"/>
            <a:ext cx="194310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D166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3月21日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3701951" y="3295650"/>
            <a:ext cx="194310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50"/>
              </a:spcBef>
              <a:buNone/>
            </a:pPr>
            <a:r>
              <a:rPr lang="en-US" sz="1350" dirty="0">
                <a:solidFill>
                  <a:srgbClr val="E6F4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预期结束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546652" y="2886075"/>
            <a:ext cx="194310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D166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4月起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6546652" y="3295650"/>
            <a:ext cx="194310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50"/>
              </a:spcBef>
              <a:buNone/>
            </a:pPr>
            <a:r>
              <a:rPr lang="en-US" sz="1350" dirty="0">
                <a:solidFill>
                  <a:srgbClr val="E6F4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可直申报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391352" y="2886075"/>
            <a:ext cx="194310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D166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6月30日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9391352" y="3295650"/>
            <a:ext cx="194310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50"/>
              </a:spcBef>
              <a:buNone/>
            </a:pPr>
            <a:r>
              <a:rPr lang="en-US" sz="1350" dirty="0">
                <a:solidFill>
                  <a:srgbClr val="E6F4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截办理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85800" y="4114800"/>
            <a:ext cx="3454301" cy="1369516"/>
          </a:xfrm>
          <a:prstGeom prst="roundRect">
            <a:avLst>
              <a:gd name="adj" fmla="val 125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923925" y="4333875"/>
            <a:ext cx="303761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📅 办理时段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923925" y="4733925"/>
            <a:ext cx="3037612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每年 </a:t>
            </a:r>
            <a:r>
              <a:rPr lang="en-US" sz="1350" b="1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3月1日 — 6月30日</a:t>
            </a: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，办理上一年度的汇算。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368701" y="4114800"/>
            <a:ext cx="3454450" cy="1369516"/>
          </a:xfrm>
          <a:prstGeom prst="roundRect">
            <a:avLst>
              <a:gd name="adj" fmla="val 125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606826" y="4333875"/>
            <a:ext cx="3037764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⚡ 早去要预约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4606826" y="4733925"/>
            <a:ext cx="3037764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3月1日—3月20日办理的，要在 APP 上提前预约具一天。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8051750" y="4114800"/>
            <a:ext cx="3454301" cy="1369516"/>
          </a:xfrm>
          <a:prstGeom prst="roundRect">
            <a:avLst>
              <a:gd name="adj" fmla="val 125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289875" y="4333875"/>
            <a:ext cx="303761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✅ 不用办的情况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8289875" y="4733925"/>
            <a:ext cx="3037612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全年收入 ≤ 12 万、补税 ≤ 400 元，且无，可免办。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14388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1588" y="904875"/>
            <a:ext cx="307708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90650" y="476250"/>
            <a:ext cx="4022217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第三课 · 准备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90650" y="723900"/>
            <a:ext cx="4022217" cy="628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报税前要准备什么？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390650" y="1409700"/>
            <a:ext cx="4022217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15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东西不齐，APP 也填不动。先把这些备好。</a:t>
            </a:r>
            <a:endParaRPr lang="en-US" sz="1500" dirty="0"/>
          </a:p>
        </p:txBody>
      </p:sp>
      <p:pic>
        <p:nvPicPr>
          <p:cNvPr id="7" name="Image 0" descr="/tmp/html2pptx-6od0hm/html2pptx-bg-1786380984911-f91a036b2d1e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0" y="533400"/>
            <a:ext cx="1047750" cy="1047750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685800" y="2047875"/>
            <a:ext cx="2547938" cy="2105323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71450" dist="57150" dir="5400000" algn="bl" rotWithShape="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904875" y="22669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1065014" y="2351038"/>
            <a:ext cx="100647" cy="2509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5"/>
              </a:lnSpc>
              <a:buNone/>
            </a:pPr>
            <a:r>
              <a:rPr lang="en-US" sz="127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</a:t>
            </a:r>
            <a:endParaRPr lang="en-US" sz="1275" dirty="0"/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904875" y="2819400"/>
            <a:ext cx="2151983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下个税 APP</a:t>
            </a:r>
            <a:endParaRPr lang="en-US" sz="1650" dirty="0"/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904875" y="3200400"/>
            <a:ext cx="2151983" cy="7527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应用市场搜「个人所得」，下载官方 APP，注并实名登录。</a:t>
            </a:r>
            <a:endParaRPr lang="en-US" sz="1275" dirty="0"/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3443288" y="2047875"/>
            <a:ext cx="2547938" cy="2105323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71450" dist="57150" dir="5400000" algn="bl" rotWithShape="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3662362" y="22669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3822502" y="2351038"/>
            <a:ext cx="100647" cy="2509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5"/>
              </a:lnSpc>
              <a:buNone/>
            </a:pPr>
            <a:r>
              <a:rPr lang="en-US" sz="127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</a:t>
            </a:r>
            <a:endParaRPr lang="en-US" sz="1275" dirty="0"/>
          </a:p>
        </p:txBody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3662362" y="2819400"/>
            <a:ext cx="2151983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查收入记录</a:t>
            </a:r>
            <a:endParaRPr lang="en-US" sz="1650" dirty="0"/>
          </a:p>
        </p:txBody>
      </p:sp>
      <p:sp>
        <p:nvSpPr>
          <p:cNvPr id="17" name="Text 14"/>
          <p:cNvSpPr/>
          <p:nvPr>
            <p:custDataLst>
              <p:tags r:id="rId11"/>
            </p:custDataLst>
          </p:nvPr>
        </p:nvSpPr>
        <p:spPr>
          <a:xfrm>
            <a:off x="3662362" y="3200400"/>
            <a:ext cx="2151983" cy="7527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 APP「收入纳税明细」里看上一年的资、稿酬劳务费等。</a:t>
            </a:r>
            <a:endParaRPr lang="en-US" sz="1275" dirty="0"/>
          </a:p>
        </p:txBody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6200775" y="2047875"/>
            <a:ext cx="2547938" cy="2105323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71450" dist="57150" dir="5400000" algn="bl" rotWithShape="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>
            <p:custDataLst>
              <p:tags r:id="rId13"/>
            </p:custDataLst>
          </p:nvPr>
        </p:nvSpPr>
        <p:spPr>
          <a:xfrm>
            <a:off x="6419850" y="22669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>
            <p:custDataLst>
              <p:tags r:id="rId14"/>
            </p:custDataLst>
          </p:nvPr>
        </p:nvSpPr>
        <p:spPr>
          <a:xfrm>
            <a:off x="6579989" y="2351038"/>
            <a:ext cx="100647" cy="2509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5"/>
              </a:lnSpc>
              <a:buNone/>
            </a:pPr>
            <a:r>
              <a:rPr lang="en-US" sz="127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</a:t>
            </a:r>
            <a:endParaRPr lang="en-US" sz="1275" dirty="0"/>
          </a:p>
        </p:txBody>
      </p:sp>
      <p:sp>
        <p:nvSpPr>
          <p:cNvPr id="21" name="Text 18"/>
          <p:cNvSpPr/>
          <p:nvPr>
            <p:custDataLst>
              <p:tags r:id="rId15"/>
            </p:custDataLst>
          </p:nvPr>
        </p:nvSpPr>
        <p:spPr>
          <a:xfrm>
            <a:off x="6419850" y="2819400"/>
            <a:ext cx="2151983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备好银行卡</a:t>
            </a:r>
            <a:endParaRPr lang="en-US" sz="1650" dirty="0"/>
          </a:p>
        </p:txBody>
      </p:sp>
      <p:sp>
        <p:nvSpPr>
          <p:cNvPr id="22" name="Text 19"/>
          <p:cNvSpPr/>
          <p:nvPr>
            <p:custDataLst>
              <p:tags r:id="rId16"/>
            </p:custDataLst>
          </p:nvPr>
        </p:nvSpPr>
        <p:spPr>
          <a:xfrm>
            <a:off x="6419850" y="3200400"/>
            <a:ext cx="2151983" cy="5018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一张本人行卡，用来收税或扣补税。建议 I 类账户。</a:t>
            </a:r>
            <a:endParaRPr lang="en-US" sz="1275" dirty="0"/>
          </a:p>
        </p:txBody>
      </p:sp>
      <p:sp>
        <p:nvSpPr>
          <p:cNvPr id="23" name="Text 20"/>
          <p:cNvSpPr/>
          <p:nvPr>
            <p:custDataLst>
              <p:tags r:id="rId17"/>
            </p:custDataLst>
          </p:nvPr>
        </p:nvSpPr>
        <p:spPr>
          <a:xfrm>
            <a:off x="8958263" y="2047875"/>
            <a:ext cx="2547938" cy="2105323"/>
          </a:xfrm>
          <a:prstGeom prst="roundRect">
            <a:avLst>
              <a:gd name="adj" fmla="val 81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71450" dist="57150" dir="5400000" algn="bl" rotWithShape="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>
            <p:custDataLst>
              <p:tags r:id="rId18"/>
            </p:custDataLst>
          </p:nvPr>
        </p:nvSpPr>
        <p:spPr>
          <a:xfrm>
            <a:off x="9177338" y="22669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>
            <p:custDataLst>
              <p:tags r:id="rId19"/>
            </p:custDataLst>
          </p:nvPr>
        </p:nvSpPr>
        <p:spPr>
          <a:xfrm>
            <a:off x="9337477" y="2351038"/>
            <a:ext cx="100647" cy="2509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5"/>
              </a:lnSpc>
              <a:buNone/>
            </a:pPr>
            <a:r>
              <a:rPr lang="en-US" sz="127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4</a:t>
            </a:r>
            <a:endParaRPr lang="en-US" sz="1275" dirty="0"/>
          </a:p>
        </p:txBody>
      </p:sp>
      <p:sp>
        <p:nvSpPr>
          <p:cNvPr id="26" name="Text 23"/>
          <p:cNvSpPr/>
          <p:nvPr>
            <p:custDataLst>
              <p:tags r:id="rId20"/>
            </p:custDataLst>
          </p:nvPr>
        </p:nvSpPr>
        <p:spPr>
          <a:xfrm>
            <a:off x="9177338" y="2819400"/>
            <a:ext cx="2151983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填专项附加扣除</a:t>
            </a:r>
            <a:endParaRPr lang="en-US" sz="1650" dirty="0"/>
          </a:p>
        </p:txBody>
      </p:sp>
      <p:sp>
        <p:nvSpPr>
          <p:cNvPr id="27" name="Text 24"/>
          <p:cNvSpPr/>
          <p:nvPr>
            <p:custDataLst>
              <p:tags r:id="rId21"/>
            </p:custDataLst>
          </p:nvPr>
        </p:nvSpPr>
        <p:spPr>
          <a:xfrm>
            <a:off x="9177338" y="3200400"/>
            <a:ext cx="2151983" cy="5018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5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有老人赡养、有娃养、有贷房租……先填好申报。</a:t>
            </a:r>
            <a:endParaRPr lang="en-US" sz="1275" dirty="0"/>
          </a:p>
        </p:txBody>
      </p:sp>
      <p:sp>
        <p:nvSpPr>
          <p:cNvPr id="28" name="Text 25"/>
          <p:cNvSpPr/>
          <p:nvPr/>
        </p:nvSpPr>
        <p:spPr>
          <a:xfrm>
            <a:off x="685800" y="4400848"/>
            <a:ext cx="10820400" cy="600075"/>
          </a:xfrm>
          <a:prstGeom prst="roundRect">
            <a:avLst>
              <a:gd name="adj" fmla="val 19048"/>
            </a:avLst>
          </a:prstGeom>
          <a:solidFill>
            <a:srgbClr val="E6F4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723900" y="4572298"/>
            <a:ext cx="0" cy="257175"/>
          </a:xfrm>
          <a:prstGeom prst="line">
            <a:avLst/>
          </a:prstGeom>
          <a:noFill/>
          <a:ln w="76200">
            <a:solidFill>
              <a:srgbClr val="19875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90600" y="4572298"/>
            <a:ext cx="10492740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小提醒：</a:t>
            </a:r>
            <a:r>
              <a:rPr lang="en-US" sz="1425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如果对资入有疑问，可先找司 HR 核对，再去 AP 申报，避填错。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381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7288" y="728663"/>
            <a:ext cx="307708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76350" y="476250"/>
            <a:ext cx="683971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92400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第四课 · 赡养老人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276350" y="723900"/>
            <a:ext cx="6839712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7C2D1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「赡养老人专项附加扣除」是什么？</a:t>
            </a:r>
            <a:endParaRPr lang="en-US" sz="3300" dirty="0"/>
          </a:p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571500" y="1543050"/>
            <a:ext cx="5627787" cy="1649462"/>
          </a:xfrm>
          <a:prstGeom prst="roundRect">
            <a:avLst>
              <a:gd name="adj" fmla="val 10394"/>
            </a:avLst>
          </a:prstGeom>
          <a:solidFill>
            <a:srgbClr val="FFFFFF"/>
          </a:solidFill>
          <a:effectLst>
            <a:outerShdw blurRad="133350" dist="38100" dir="5400000" algn="bl" rotWithShape="0">
              <a:srgbClr val="7C2D12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609600" y="1752600"/>
            <a:ext cx="0" cy="1230362"/>
          </a:xfrm>
          <a:prstGeom prst="line">
            <a:avLst/>
          </a:prstGeom>
          <a:noFill/>
          <a:ln w="762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895350" y="1752600"/>
            <a:ext cx="515741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❓ 听到的「赡养费」到底是啥？</a:t>
            </a:r>
            <a:endParaRPr lang="en-US" sz="165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895350" y="2114550"/>
            <a:ext cx="5157412" cy="8684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报税时大家说的「养费」，其实是指</a:t>
            </a: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「赡养老人专项附加扣除」</a:t>
            </a: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——就是你赡父母花的，可以按固定额从你的应税收入里</a:t>
            </a: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减掉</a:t>
            </a: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，从而少交点税。</a:t>
            </a:r>
            <a:endParaRPr lang="en-US" sz="1425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571500" y="3344912"/>
            <a:ext cx="5627787" cy="1359991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effectLst>
            <a:outerShdw blurRad="133350" dist="38100" dir="5400000" algn="bl" rotWithShape="0">
              <a:srgbClr val="7C2D12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609600" y="3554462"/>
            <a:ext cx="0" cy="940891"/>
          </a:xfrm>
          <a:prstGeom prst="line">
            <a:avLst/>
          </a:prstGeom>
          <a:noFill/>
          <a:ln w="762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895350" y="3554462"/>
            <a:ext cx="515741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❓ 谁能扣？赡养谁算？</a:t>
            </a:r>
            <a:endParaRPr lang="en-US" sz="165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895350" y="3916412"/>
            <a:ext cx="5157412" cy="5789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纳税人人赡养</a:t>
            </a: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年满 60 周岁</a:t>
            </a: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的父母，以及女均已世的祖父母、外祖父母。</a:t>
            </a:r>
            <a:endParaRPr lang="en-US" sz="1425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571500" y="4857304"/>
            <a:ext cx="5627787" cy="1359991"/>
          </a:xfrm>
          <a:prstGeom prst="roundRect">
            <a:avLst>
              <a:gd name="adj" fmla="val 12607"/>
            </a:avLst>
          </a:prstGeom>
          <a:solidFill>
            <a:srgbClr val="FFFFFF"/>
          </a:solidFill>
          <a:effectLst>
            <a:outerShdw blurRad="133350" dist="38100" dir="5400000" algn="bl" rotWithShape="0">
              <a:srgbClr val="7C2D12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609600" y="5066854"/>
            <a:ext cx="0" cy="940891"/>
          </a:xfrm>
          <a:prstGeom prst="line">
            <a:avLst/>
          </a:prstGeom>
          <a:noFill/>
          <a:ln w="762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895350" y="5066854"/>
            <a:ext cx="5157412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❓ 不是给父母的钱直接抵税</a:t>
            </a:r>
            <a:endParaRPr lang="en-US" sz="1650" dirty="0"/>
          </a:p>
        </p:txBody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895350" y="5428804"/>
            <a:ext cx="5157412" cy="5789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注意：它</a:t>
            </a: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</a:t>
            </a: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按你际给了母多少钱算，而是给你一个</a:t>
            </a:r>
            <a:r>
              <a:rPr lang="en-US" sz="142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固定额度</a:t>
            </a: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，直接应收入。</a:t>
            </a:r>
            <a:endParaRPr lang="en-US" sz="1425" dirty="0"/>
          </a:p>
        </p:txBody>
      </p:sp>
      <p:pic>
        <p:nvPicPr>
          <p:cNvPr id="18" name="Image 0" descr="/tmp/html2pptx-E9MBRM/html2pptx-bg-1786380988985-b2f8f0329a1b1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04087" y="1543050"/>
            <a:ext cx="5116413" cy="2667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52923" y="4286250"/>
            <a:ext cx="521874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125" dirty="0">
                <a:solidFill>
                  <a:srgbClr val="92400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图：照顾父母 · 来源：699pic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6504087" y="4581525"/>
            <a:ext cx="5116413" cy="823913"/>
          </a:xfrm>
          <a:prstGeom prst="roundRect">
            <a:avLst>
              <a:gd name="adj" fmla="val 18497"/>
            </a:avLst>
          </a:prstGeom>
          <a:solidFill>
            <a:srgbClr val="7C2D1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75537" y="4714875"/>
            <a:ext cx="4868984" cy="5572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275" dirty="0">
                <a:solidFill>
                  <a:srgbClr val="FFF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简单说：</a:t>
            </a:r>
            <a:r>
              <a:rPr 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你养父#</a:t>
            </a:r>
            <a:r>
              <a:rPr lang="zh-CN" alt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￥</a:t>
            </a:r>
            <a:r>
              <a:rPr 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母 → 国家让你@#</a:t>
            </a:r>
            <a:r>
              <a:rPr lang="zh-CN" alt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￥</a:t>
            </a:r>
            <a:r>
              <a:rPr lang="en-US" sz="16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少交税</a:t>
            </a:r>
            <a:endParaRPr lang="en-US" sz="1275" dirty="0"/>
          </a:p>
          <a:p>
            <a:pPr marL="0" indent="0" algn="l">
              <a:lnSpc>
                <a:spcPts val="2475"/>
              </a:lnSpc>
              <a:buNone/>
            </a:pPr>
            <a:r>
              <a:rPr lang="en-US" sz="1275" dirty="0">
                <a:solidFill>
                  <a:srgbClr val="FFF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不是@$#报销，是定额税，每年最多减 36000 元的应税收入。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80486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2538" y="895350"/>
            <a:ext cx="307708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71600" y="476250"/>
            <a:ext cx="446913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第五课 · 扣除标准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0" y="723900"/>
            <a:ext cx="4469130" cy="628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7C2D1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赡养老人：能扣多少？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371600" y="1390650"/>
            <a:ext cx="4469130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5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 2023 年起标准提高，按是否独生子女区分。</a:t>
            </a:r>
            <a:endParaRPr lang="en-US" sz="1500" dirty="0"/>
          </a:p>
        </p:txBody>
      </p:sp>
      <p:sp>
        <p:nvSpPr>
          <p:cNvPr id="7" name="Text 5"/>
          <p:cNvSpPr/>
          <p:nvPr>
            <p:custDataLst>
              <p:tags r:id="rId1"/>
            </p:custDataLst>
          </p:nvPr>
        </p:nvSpPr>
        <p:spPr>
          <a:xfrm>
            <a:off x="666750" y="1952625"/>
            <a:ext cx="5295900" cy="2856309"/>
          </a:xfrm>
          <a:prstGeom prst="roundRect">
            <a:avLst>
              <a:gd name="adj" fmla="val 73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71450" dist="57150" dir="5400000" algn="bl" rotWithShape="0">
              <a:srgbClr val="7C2D12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981075" y="2247900"/>
            <a:ext cx="1652439" cy="352425"/>
          </a:xfrm>
          <a:prstGeom prst="roundRect">
            <a:avLst>
              <a:gd name="adj" fmla="val 2700000"/>
            </a:avLst>
          </a:prstGeom>
          <a:solidFill>
            <a:srgbClr val="E6F4EA"/>
          </a:solidFill>
        </p:spPr>
        <p:txBody>
          <a:bodyPr wrap="square" lIns="152400" tIns="57150" rIns="152400" bIns="57150" rtlCol="0" anchor="ctr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75" b="1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情形 A · 独生子女</a:t>
            </a:r>
            <a:endParaRPr lang="en-US" sz="1275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981075" y="2752725"/>
            <a:ext cx="476059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210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一个人赡养父母</a:t>
            </a:r>
            <a:endParaRPr lang="en-US" sz="21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981075" y="3267075"/>
            <a:ext cx="4760595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B45309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3000</a:t>
            </a:r>
            <a:r>
              <a:rPr lang="en-US" sz="1950" dirty="0">
                <a:solidFill>
                  <a:srgbClr val="6B7280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 元 / 月</a:t>
            </a:r>
            <a:endParaRPr lang="en-US" sz="48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981075" y="3952875"/>
            <a:ext cx="4760595" cy="5607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独生子女#@$按每月 </a:t>
            </a:r>
            <a:r>
              <a:rPr lang="en-US" sz="1425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3000 元</a:t>
            </a: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定额扣除，全年合计 </a:t>
            </a:r>
            <a:r>
              <a:rPr lang="en-US" sz="1425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36000 元</a:t>
            </a: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，一个人全额享受。</a:t>
            </a:r>
            <a:endParaRPr lang="en-US" sz="1425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6229350" y="1952625"/>
            <a:ext cx="5295900" cy="2856309"/>
          </a:xfrm>
          <a:prstGeom prst="roundRect">
            <a:avLst>
              <a:gd name="adj" fmla="val 73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71450" dist="57150" dir="5400000" algn="bl" rotWithShape="0">
              <a:srgbClr val="7C2D12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6543675" y="2247900"/>
            <a:ext cx="1820763" cy="352425"/>
          </a:xfrm>
          <a:prstGeom prst="roundRect">
            <a:avLst>
              <a:gd name="adj" fmla="val 2700000"/>
            </a:avLst>
          </a:prstGeom>
          <a:solidFill>
            <a:srgbClr val="FFF7E6"/>
          </a:solidFill>
        </p:spPr>
        <p:txBody>
          <a:bodyPr wrap="square" lIns="152400" tIns="57150" rIns="152400" bIns="57150" rtlCol="0" anchor="ctr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75" b="1" dirty="0">
                <a:solidFill>
                  <a:srgbClr val="92400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情形 B · 非独生子女</a:t>
            </a:r>
            <a:endParaRPr lang="en-US" sz="1275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6543675" y="2752725"/>
            <a:ext cx="476059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210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兄弟姐妹一起分摊</a:t>
            </a:r>
            <a:endParaRPr lang="en-US" sz="21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6543675" y="3267075"/>
            <a:ext cx="4760595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B45309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≤1500</a:t>
            </a:r>
            <a:r>
              <a:rPr lang="en-US" sz="1950" dirty="0">
                <a:solidFill>
                  <a:srgbClr val="6B7280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 元 / 人 / 月</a:t>
            </a:r>
            <a:endParaRPr lang="en-US" sz="4800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6543675" y="3952875"/>
            <a:ext cx="4760595" cy="5607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3000 元/月的额度@$#由兄弟姐妹</a:t>
            </a: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分摊</a:t>
            </a: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，每人#@$最多 </a:t>
            </a:r>
            <a:r>
              <a:rPr lang="en-US" sz="1425" b="1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1500 元/月</a:t>
            </a:r>
            <a:r>
              <a:rPr lang="en-US" sz="14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，不能一人独占。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666750" y="5056584"/>
            <a:ext cx="10858500" cy="552450"/>
          </a:xfrm>
          <a:prstGeom prst="roundRect">
            <a:avLst>
              <a:gd name="adj" fmla="val 20690"/>
            </a:avLst>
          </a:prstGeom>
          <a:solidFill>
            <a:srgbClr val="E6F4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04850" y="5208984"/>
            <a:ext cx="0" cy="247650"/>
          </a:xfrm>
          <a:prstGeom prst="line">
            <a:avLst/>
          </a:prstGeom>
          <a:noFill/>
          <a:ln w="7620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500" y="5208984"/>
            <a:ext cx="1057046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</a:t>
            </a:r>
            <a:r>
              <a:rPr lang="en-US" sz="1350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被赡养人@$#只要</a:t>
            </a:r>
            <a:r>
              <a:rPr lang="en-US" sz="13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年满 60 岁</a:t>
            </a:r>
            <a:r>
              <a:rPr lang="en-US" sz="1350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即可。一位父母434满 60，多个子女也只能2#@$共享 3000 元/月的额度；</a:t>
            </a:r>
            <a:r>
              <a:rPr lang="en-US" sz="13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</a:t>
            </a:r>
            <a:r>
              <a:rPr lang="en-US" sz="1350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每个@#$老人各给 3000。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5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795338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2538" y="885825"/>
            <a:ext cx="307708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71600" y="476250"/>
            <a:ext cx="610710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8E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第六课 · 分摊方式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0" y="723900"/>
            <a:ext cx="6107103" cy="628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非独生子女：3000 元怎么分？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371600" y="1390650"/>
            <a:ext cx="6107103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425" dirty="0">
                <a:solidFill>
                  <a:srgbClr val="C8E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三种分摊方式，每人上限都是 1500 元/月。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66750" y="1933575"/>
            <a:ext cx="3479750" cy="2977158"/>
          </a:xfrm>
          <a:prstGeom prst="roundRect">
            <a:avLst>
              <a:gd name="adj" fmla="val 575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04875" y="21717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14871" y="2305496"/>
            <a:ext cx="115523" cy="265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b="1" dirty="0">
                <a:solidFill>
                  <a:srgbClr val="F1F5F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04875" y="2838450"/>
            <a:ext cx="3063570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4875" y="3267075"/>
            <a:ext cx="3063570" cy="265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兄弟姐@$#妹之间@#$</a:t>
            </a:r>
            <a:r>
              <a:rPr lang="en-US" sz="1350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平均分</a:t>
            </a: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，最省事。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04875" y="3666083"/>
            <a:ext cx="3003500" cy="494258"/>
          </a:xfrm>
          <a:prstGeom prst="roundRect">
            <a:avLst>
              <a:gd name="adj" fmla="val 23126"/>
            </a:avLst>
          </a:prstGeom>
          <a:solidFill>
            <a:srgbClr val="000000">
              <a:alpha val="1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38225" y="3780383"/>
            <a:ext cx="2791536" cy="265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例：3 个子女各 1000 元/月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56050" y="1933575"/>
            <a:ext cx="3479750" cy="2977158"/>
          </a:xfrm>
          <a:prstGeom prst="roundRect">
            <a:avLst>
              <a:gd name="adj" fmla="val 575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94175" y="21717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1195" y="2305496"/>
            <a:ext cx="121596" cy="265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b="1" dirty="0">
                <a:solidFill>
                  <a:srgbClr val="F1F5F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B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94175" y="2838450"/>
            <a:ext cx="3063570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约定分摊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94175" y="3267075"/>
            <a:ext cx="3063570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兄弟姐#@$妹</a:t>
            </a:r>
            <a:r>
              <a:rPr lang="en-US" sz="1350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自@$#己商量</a:t>
            </a: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怎么分，签个书面约定。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94175" y="3931741"/>
            <a:ext cx="3003500" cy="759916"/>
          </a:xfrm>
          <a:prstGeom prst="roundRect">
            <a:avLst>
              <a:gd name="adj" fmla="val 15041"/>
            </a:avLst>
          </a:prstGeom>
          <a:solidFill>
            <a:srgbClr val="000000">
              <a:alpha val="1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27525" y="4046041"/>
            <a:ext cx="2791536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例：大哥 1500 + 二姐 1000 + 小弟 500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45351" y="1933575"/>
            <a:ext cx="3479899" cy="2977158"/>
          </a:xfrm>
          <a:prstGeom prst="roundRect">
            <a:avLst>
              <a:gd name="adj" fmla="val 575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83476" y="21717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92877" y="2305496"/>
            <a:ext cx="116738" cy="265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b="1" dirty="0">
                <a:solidFill>
                  <a:srgbClr val="F1F5F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C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83476" y="2838450"/>
            <a:ext cx="3063722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指定分摊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83476" y="3267075"/>
            <a:ext cx="3063722" cy="265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</a:t>
            </a:r>
            <a:r>
              <a:rPr lang="en-US" sz="1350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被赡养@$#的老人</a:t>
            </a: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指定谁分多少。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83476" y="3666083"/>
            <a:ext cx="3003649" cy="759916"/>
          </a:xfrm>
          <a:prstGeom prst="roundRect">
            <a:avLst>
              <a:gd name="adj" fmla="val 15041"/>
            </a:avLst>
          </a:prstGeom>
          <a:solidFill>
            <a:srgbClr val="000000">
              <a:alpha val="1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16826" y="3780383"/>
            <a:ext cx="2791688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例：父母指定大儿子扣 1500，二儿子扣 1500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6750" y="5158383"/>
            <a:ext cx="10858500" cy="552450"/>
          </a:xfrm>
          <a:prstGeom prst="roundRect">
            <a:avLst>
              <a:gd name="adj" fmla="val 24138"/>
            </a:avLst>
          </a:prstGeom>
          <a:solidFill>
            <a:srgbClr val="FFF7E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04850" y="5310783"/>
            <a:ext cx="0" cy="247650"/>
          </a:xfrm>
          <a:prstGeom prst="line">
            <a:avLst/>
          </a:prstGeom>
          <a:noFill/>
          <a:ln w="762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2500" y="5310783"/>
            <a:ext cx="1057046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📌 三种方式</a:t>
            </a:r>
            <a:r>
              <a:rPr lang="en-US" sz="13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都遵@#$循</a:t>
            </a:r>
            <a:r>
              <a:rPr lang="en-US" sz="1350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每人 ≤ 1500 元/月、合计 ≤ 3@$#000 元/月。约定/指定分摊@#$须</a:t>
            </a:r>
            <a:r>
              <a:rPr lang="en-US" sz="13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书面留存</a:t>
            </a:r>
            <a:r>
              <a:rPr lang="en-US" sz="1350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备查，且一个纳$@#税年度内</a:t>
            </a:r>
            <a:r>
              <a:rPr lang="en-US" sz="135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不能改</a:t>
            </a:r>
            <a:r>
              <a:rPr lang="en-US" sz="1350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72866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7288" y="819150"/>
            <a:ext cx="307708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76350" y="438150"/>
            <a:ext cx="401447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第七课 · 全景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276350" y="685800"/>
            <a:ext cx="4014475" cy="581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7 项专项附加扣除一览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276350" y="1304925"/>
            <a:ext cx="401447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赡养老人只是其中一项。看看你还能再扣哪些？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1762125"/>
            <a:ext cx="2647950" cy="1501378"/>
          </a:xfrm>
          <a:prstGeom prst="roundRect">
            <a:avLst>
              <a:gd name="adj" fmla="val 8882"/>
            </a:avLst>
          </a:prstGeom>
          <a:solidFill>
            <a:srgbClr val="FFF7E6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1924050"/>
            <a:ext cx="2370582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0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👴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33425" y="2340173"/>
            <a:ext cx="237058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赡养老人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33425" y="2635448"/>
            <a:ext cx="2370582" cy="207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父母≥60 @$#岁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33425" y="2899767"/>
            <a:ext cx="2370582" cy="2208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3000 元/月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71850" y="1762125"/>
            <a:ext cx="264795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33775" y="1924050"/>
            <a:ext cx="2370582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0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👶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533775" y="2340173"/>
            <a:ext cx="237058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岁以下婴幼儿照护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3533775" y="2635448"/>
            <a:ext cx="2370582" cy="207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每个婴幼@$#儿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533775" y="2899767"/>
            <a:ext cx="2370582" cy="2208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2000 元/月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762125"/>
            <a:ext cx="264795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34125" y="1924050"/>
            <a:ext cx="2370582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0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🎒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334125" y="2340173"/>
            <a:ext cx="237058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子女教育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6334125" y="2635448"/>
            <a:ext cx="2370582" cy="207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岁至全日制#@$学历教育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334125" y="2899767"/>
            <a:ext cx="2370582" cy="2208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2000 元/月/孩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72550" y="1762125"/>
            <a:ext cx="264795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134475" y="1924050"/>
            <a:ext cx="2370582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0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📚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34475" y="2340173"/>
            <a:ext cx="2370582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继续教育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9134475" y="2635448"/>
            <a:ext cx="2370582" cy="207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学历教@#$育或职业证书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134475" y="2899767"/>
            <a:ext cx="2370582" cy="2208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400 元/月 或 3600 元/年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" y="3415903"/>
            <a:ext cx="358140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33425" y="3577828"/>
            <a:ext cx="3322701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0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🏥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733425" y="3993952"/>
            <a:ext cx="3322701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大病医疗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733425" y="4289227"/>
            <a:ext cx="3322701" cy="207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自付超 1$#@$.5 万部分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733425" y="4553545"/>
            <a:ext cx="3322701" cy="2208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最高 8 万元/年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05300" y="3415903"/>
            <a:ext cx="358140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67225" y="3577828"/>
            <a:ext cx="3322701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0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🏠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4467225" y="3993952"/>
            <a:ext cx="3322701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住房贷款利息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4467225" y="4289227"/>
            <a:ext cx="3322701" cy="207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首套@#$房贷，最长 22343240 月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4467225" y="4553545"/>
            <a:ext cx="3322701" cy="2208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 元/月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39100" y="3415903"/>
            <a:ext cx="3581400" cy="1501378"/>
          </a:xfrm>
          <a:prstGeom prst="roundRect">
            <a:avLst>
              <a:gd name="adj" fmla="val 8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01025" y="3577828"/>
            <a:ext cx="3322701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0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🔑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8201025" y="3993952"/>
            <a:ext cx="3322701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425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住房租金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8201025" y="4289227"/>
            <a:ext cx="3322701" cy="207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无房且在工作@#$地租房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8201025" y="4553545"/>
            <a:ext cx="3322701" cy="2208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800/1100/1500 元/月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1500" y="5088731"/>
            <a:ext cx="11049000" cy="504825"/>
          </a:xfrm>
          <a:prstGeom prst="roundRect">
            <a:avLst>
              <a:gd name="adj" fmla="val 22642"/>
            </a:avLst>
          </a:prstGeom>
          <a:solidFill>
            <a:srgbClr val="E6F4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9600" y="5222081"/>
            <a:ext cx="0" cy="238125"/>
          </a:xfrm>
          <a:prstGeom prst="line">
            <a:avLst/>
          </a:prstGeom>
          <a:noFill/>
          <a:ln w="76200">
            <a:solidFill>
              <a:srgbClr val="1987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8200" y="5222081"/>
            <a:ext cx="10803636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📌 </a:t>
            </a:r>
            <a:r>
              <a:rPr lang="en-US" sz="1275" b="1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房贷利息 与 房租 只能二选一</a:t>
            </a:r>
            <a:r>
              <a:rPr lang="en-US" sz="1275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；</a:t>
            </a:r>
            <a:r>
              <a:rPr lang="en-US" sz="1275" b="1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赡养老人</a:t>
            </a:r>
            <a:r>
              <a:rPr lang="en-US" sz="1275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父@#$母双方@$#只要有一位@#$满 60 岁即可享受，</a:t>
            </a:r>
            <a:r>
              <a:rPr lang="en-US" sz="1275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不是按人数 × 3000</a:t>
            </a:r>
            <a:r>
              <a:rPr lang="en-US" sz="1275" dirty="0">
                <a:solidFill>
                  <a:srgbClr val="1453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7810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2538" y="871538"/>
            <a:ext cx="307708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71600" y="476250"/>
            <a:ext cx="484348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第八课 · 实操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0" y="723900"/>
            <a:ext cx="484348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手机 APP 报税：5 步走完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484348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3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跟着步骤点，整个过程大概 10 分钟。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6750" y="1924050"/>
            <a:ext cx="2064990" cy="1552575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14300" dist="38100" dir="5400000" algn="bl" rotWithShape="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18196" y="2105025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54693" y="2178844"/>
            <a:ext cx="88806" cy="2143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811264" y="2562225"/>
            <a:ext cx="177596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登录 APP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1264" y="2886075"/>
            <a:ext cx="1775963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打开「个人所@#$得税」APP，实名登录。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2607766" y="2547938"/>
            <a:ext cx="213893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→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865090" y="1924050"/>
            <a:ext cx="2064990" cy="1552575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14300" dist="38100" dir="5400000" algn="bl" rotWithShape="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16536" y="2105025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53034" y="2178844"/>
            <a:ext cx="88806" cy="2143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009604" y="2562225"/>
            <a:ext cx="177596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填专项附加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09604" y="2886075"/>
            <a:ext cx="1775963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先填好赡养老人、@#$房贷等扣除信息。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4806107" y="2547938"/>
            <a:ext cx="213893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→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063430" y="1924050"/>
            <a:ext cx="2064990" cy="1552575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14300" dist="38100" dir="5400000" algn="bl" rotWithShape="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14876" y="2105025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51374" y="2178844"/>
            <a:ext cx="88806" cy="2143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207944" y="2562225"/>
            <a:ext cx="177596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进入汇算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07944" y="2886075"/>
            <a:ext cx="1775963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首页点「综合所得年@#$度汇算」。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7004447" y="2547938"/>
            <a:ext cx="213893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→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261771" y="1924050"/>
            <a:ext cx="2064990" cy="1552575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14300" dist="38100" dir="5400000" algn="bl" rotWithShape="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13216" y="2105025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249714" y="2178844"/>
            <a:ext cx="88806" cy="2143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4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7406284" y="2562225"/>
            <a:ext cx="1775963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核对数据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406284" y="2886075"/>
            <a:ext cx="1775963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核对收入、扣除#@$、税款，确认无误。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202787" y="2547938"/>
            <a:ext cx="213893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875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→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460111" y="1924050"/>
            <a:ext cx="2065139" cy="1552575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14300" dist="38100" dir="5400000" algn="bl" rotWithShape="0">
              <a:srgbClr val="0F5132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311705" y="2105025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19875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448203" y="2178844"/>
            <a:ext cx="88806" cy="2143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5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604623" y="2562225"/>
            <a:ext cx="177611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提交申报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604623" y="2886075"/>
            <a:ext cx="1776115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提交后%$%#@申请退税 或 缴纳补税。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666750" y="3781425"/>
            <a:ext cx="10858500" cy="1009650"/>
          </a:xfrm>
          <a:prstGeom prst="roundRect">
            <a:avLst>
              <a:gd name="adj" fmla="val 16981"/>
            </a:avLst>
          </a:prstGeom>
          <a:solidFill>
            <a:srgbClr val="0F513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33450" y="3971925"/>
            <a:ext cx="3829425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🎯 最后两种结果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33450" y="4343400"/>
            <a:ext cx="3829425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预扣多了 → </a:t>
            </a: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退税#@%到银行卡</a:t>
            </a: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；预扣少了 → </a:t>
            </a: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补税款</a:t>
            </a: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886950" y="4062412"/>
            <a:ext cx="1371600" cy="447675"/>
          </a:xfrm>
          <a:prstGeom prst="roundRect">
            <a:avLst>
              <a:gd name="adj" fmla="val 25532"/>
            </a:avLst>
          </a:prstGeom>
          <a:solidFill>
            <a:srgbClr val="FFD1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058400" y="4157663"/>
            <a:ext cx="1049274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5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没绑卡先绑卡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5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6381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D1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2538" y="728663"/>
            <a:ext cx="307708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5132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71600" y="476250"/>
            <a:ext cx="437364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C8E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第九课 · 避坑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0" y="723900"/>
            <a:ext cx="4373645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常见误区 &amp; 实用小贴士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66750" y="1543050"/>
            <a:ext cx="5798046" cy="814388"/>
          </a:xfrm>
          <a:prstGeom prst="roundRect">
            <a:avLst>
              <a:gd name="adj" fmla="val 1637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7725" y="1685925"/>
            <a:ext cx="554481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❌ 误区 1：我不上班就不用报税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7725" y="1971675"/>
            <a:ext cx="5544818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</a:t>
            </a:r>
            <a:r>
              <a:rPr lang="en-US" sz="1275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综合所得</a:t>
            </a: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（稿酬、劳务费、#@$经营所得等）就要算，不只看工资。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66750" y="2471738"/>
            <a:ext cx="5798046" cy="1057275"/>
          </a:xfrm>
          <a:prstGeom prst="roundRect">
            <a:avLst>
              <a:gd name="adj" fmla="val 1261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2614613"/>
            <a:ext cx="554481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❌ 误区 2：赡养费 = 给父母的钱全抵税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7725" y="2900363"/>
            <a:ext cx="5544818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不是！是</a:t>
            </a:r>
            <a:r>
              <a:rPr lang="en-US" sz="1275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固@#$</a:t>
            </a: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独生 ≤1500/人/月），与实际给多少无关。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66750" y="3643313"/>
            <a:ext cx="5798046" cy="814388"/>
          </a:xfrm>
          <a:prstGeom prst="roundRect">
            <a:avLst>
              <a:gd name="adj" fmla="val 1637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7725" y="3786188"/>
            <a:ext cx="554481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❌ 误区 3：兄弟几个都能各扣 3000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7725" y="4071938"/>
            <a:ext cx="5544818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非独生子女</a:t>
            </a:r>
            <a:r>
              <a:rPr lang="en-US" sz="1275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</a:t>
            </a: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30@#$00/月额度，每人 ≤1500，不能各自独立享受。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66750" y="4572000"/>
            <a:ext cx="5798046" cy="814388"/>
          </a:xfrm>
          <a:prstGeom prst="roundRect">
            <a:avLst>
              <a:gd name="adj" fmla="val 1637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47725" y="4714875"/>
            <a:ext cx="554481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❌ 误区 4：退税就是赚到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7725" y="5000625"/>
            <a:ext cx="5544818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退的是</a:t>
            </a:r>
            <a:r>
              <a:rPr lang="en-US" sz="1275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自己@#$多交的</a:t>
            </a:r>
            <a:r>
              <a:rPr lang="en-US" sz="1275" dirty="0">
                <a:solidFill>
                  <a:srgbClr val="F1F5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，不是国家补@#$贴。如实申报，别虚构扣除。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6693396" y="1543050"/>
            <a:ext cx="4831854" cy="3957638"/>
          </a:xfrm>
          <a:prstGeom prst="roundRect">
            <a:avLst>
              <a:gd name="adj" fmla="val 4332"/>
            </a:avLst>
          </a:prstGeom>
          <a:solidFill>
            <a:srgbClr val="FFF7E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21996" y="1752600"/>
            <a:ext cx="4462147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8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💡 5 个小贴士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21996" y="2219325"/>
            <a:ext cx="4374654" cy="1826121"/>
          </a:xfrm>
          <a:prstGeom prst="rect">
            <a:avLst/>
          </a:prstGeom>
          <a:noFill/>
        </p:spPr>
        <p:txBody>
          <a:bodyPr wrap="square" lIns="0" tIns="57150" rIns="0" bIns="57150" rtlCol="0" anchor="t"/>
          <a:lstStyle/>
          <a:p>
            <a:pPr marL="247650" indent="-247650" algn="l">
              <a:lnSpc>
                <a:spcPts val="1975"/>
              </a:lnSpc>
              <a:buSzPct val="100000"/>
              <a:buChar char="✓"/>
            </a:pPr>
            <a:r>
              <a:rPr lang="en-US" sz="12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月 1—20 日办理要在 APP 上提前预约。</a:t>
            </a:r>
            <a:endParaRPr lang="en-US" sz="1275" dirty="0"/>
          </a:p>
          <a:p>
            <a:pPr marL="247650" indent="-247650" algn="l">
              <a:lnSpc>
                <a:spcPts val="1975"/>
              </a:lnSpc>
              <a:buSzPct val="100000"/>
              <a:buChar char="✓"/>
            </a:pPr>
            <a:r>
              <a:rPr lang="en-US" sz="12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扣除信息一年内@$#只能选一种分摊方式，不能改。</a:t>
            </a:r>
            <a:endParaRPr lang="en-US" sz="1275" dirty="0"/>
          </a:p>
          <a:p>
            <a:pPr marL="247650" indent="-247650" algn="l">
              <a:lnSpc>
                <a:spcPts val="1975"/>
              </a:lnSpc>
              <a:buSzPct val="100000"/>
              <a:buChar char="✓"/>
            </a:pPr>
            <a:r>
              <a:rPr lang="en-US" sz="12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父母只要@#$有一位满 60 岁，就能开始扣。</a:t>
            </a:r>
            <a:endParaRPr lang="en-US" sz="1275" dirty="0"/>
          </a:p>
          <a:p>
            <a:pPr marL="247650" indent="-247650" algn="l">
              <a:lnSpc>
                <a:spcPts val="1975"/>
              </a:lnSpc>
              <a:buSzPct val="100000"/>
              <a:buChar char="✓"/>
            </a:pPr>
            <a:r>
              <a:rPr lang="en-US" sz="12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约定/指定@#$分摊须留书面协议备查。</a:t>
            </a:r>
            <a:endParaRPr lang="en-US" sz="1275" dirty="0"/>
          </a:p>
          <a:p>
            <a:pPr marL="247650" indent="-247650" algn="l">
              <a:lnSpc>
                <a:spcPts val="1975"/>
              </a:lnSpc>
              <a:buSzPct val="100000"/>
              <a:buChar char="✓"/>
            </a:pPr>
            <a:r>
              <a:rPr lang="en-US" sz="12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有疑问可拨打 12366 纳税服</a:t>
            </a:r>
            <a:r>
              <a:rPr lang="en-US" sz="1275" dirty="0">
                <a:solidFill>
                  <a:srgbClr val="7C2D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eweqwd务热线。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666750" y="6205538"/>
            <a:ext cx="108585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6750" y="6343650"/>
            <a:ext cx="467877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8E6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本课件仅供入$#@门参考，具体以最新税法及@#$「个人所得税」APP 为准。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48701" y="6343650"/>
            <a:ext cx="17100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1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祝你报税顺利，少踩坑！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2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3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4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5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6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7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8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9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10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11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12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13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14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15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16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17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18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19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20.xml><?xml version="1.0" encoding="utf-8"?>
<p:tagLst xmlns:p="http://schemas.openxmlformats.org/presentationml/2006/main">
  <p:tag name="KSO_WM_DIAGRAM_VIRTUALLY_FRAME" val="{&quot;height&quot;:165.77346456692914,&quot;left&quot;:54,&quot;top&quot;:161.25,&quot;width&quot;:852.0000787401575}"/>
</p:tagLst>
</file>

<file path=ppt/tags/tag21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22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23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24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25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26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27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28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29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30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31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32.xml><?xml version="1.0" encoding="utf-8"?>
<p:tagLst xmlns:p="http://schemas.openxmlformats.org/presentationml/2006/main">
  <p:tag name="KSO_WM_DIAGRAM_VIRTUALLY_FRAME" val="{&quot;height&quot;:368.0507874015748,&quot;left&quot;:45,&quot;top&quot;:121.5,&quot;width&quot;:443.1328346456693}"/>
</p:tagLst>
</file>

<file path=ppt/tags/tag33.xml><?xml version="1.0" encoding="utf-8"?>
<p:tagLst xmlns:p="http://schemas.openxmlformats.org/presentationml/2006/main">
  <p:tag name="KSO_WM_DIAGRAM_VIRTUALLY_FRAME" val="{&quot;height&quot;:224.90622047244096,&quot;left&quot;:52.5,&quot;top&quot;:153.75,&quot;width&quot;:855}"/>
</p:tagLst>
</file>

<file path=ppt/tags/tag34.xml><?xml version="1.0" encoding="utf-8"?>
<p:tagLst xmlns:p="http://schemas.openxmlformats.org/presentationml/2006/main">
  <p:tag name="KSO_WM_DIAGRAM_VIRTUALLY_FRAME" val="{&quot;height&quot;:224.90622047244096,&quot;left&quot;:52.5,&quot;top&quot;:153.75,&quot;width&quot;:855}"/>
</p:tagLst>
</file>

<file path=ppt/tags/tag35.xml><?xml version="1.0" encoding="utf-8"?>
<p:tagLst xmlns:p="http://schemas.openxmlformats.org/presentationml/2006/main">
  <p:tag name="KSO_WM_DIAGRAM_VIRTUALLY_FRAME" val="{&quot;height&quot;:224.90622047244096,&quot;left&quot;:52.5,&quot;top&quot;:153.75,&quot;width&quot;:855}"/>
</p:tagLst>
</file>

<file path=ppt/tags/tag36.xml><?xml version="1.0" encoding="utf-8"?>
<p:tagLst xmlns:p="http://schemas.openxmlformats.org/presentationml/2006/main">
  <p:tag name="KSO_WM_DIAGRAM_VIRTUALLY_FRAME" val="{&quot;height&quot;:224.90622047244096,&quot;left&quot;:52.5,&quot;top&quot;:153.75,&quot;width&quot;:855}"/>
</p:tagLst>
</file>

<file path=ppt/tags/tag37.xml><?xml version="1.0" encoding="utf-8"?>
<p:tagLst xmlns:p="http://schemas.openxmlformats.org/presentationml/2006/main">
  <p:tag name="KSO_WM_DIAGRAM_VIRTUALLY_FRAME" val="{&quot;height&quot;:224.90622047244096,&quot;left&quot;:52.5,&quot;top&quot;:153.75,&quot;width&quot;:855}"/>
</p:tagLst>
</file>

<file path=ppt/tags/tag38.xml><?xml version="1.0" encoding="utf-8"?>
<p:tagLst xmlns:p="http://schemas.openxmlformats.org/presentationml/2006/main">
  <p:tag name="KSO_WM_DIAGRAM_VIRTUALLY_FRAME" val="{&quot;height&quot;:224.90622047244096,&quot;left&quot;:52.5,&quot;top&quot;:153.75,&quot;width&quot;:855}"/>
</p:tagLst>
</file>

<file path=ppt/tags/tag39.xml><?xml version="1.0" encoding="utf-8"?>
<p:tagLst xmlns:p="http://schemas.openxmlformats.org/presentationml/2006/main">
  <p:tag name="KSO_WM_DIAGRAM_VIRTUALLY_FRAME" val="{&quot;height&quot;:224.90622047244096,&quot;left&quot;:52.5,&quot;top&quot;:153.75,&quot;width&quot;:855}"/>
</p:tagLst>
</file>

<file path=ppt/tags/tag40.xml><?xml version="1.0" encoding="utf-8"?>
<p:tagLst xmlns:p="http://schemas.openxmlformats.org/presentationml/2006/main">
  <p:tag name="KSO_WM_DIAGRAM_VIRTUALLY_FRAME" val="{&quot;height&quot;:224.90622047244096,&quot;left&quot;:52.5,&quot;top&quot;:153.75,&quot;width&quot;:855}"/>
</p:tagLst>
</file>

<file path=ppt/tags/tag41.xml><?xml version="1.0" encoding="utf-8"?>
<p:tagLst xmlns:p="http://schemas.openxmlformats.org/presentationml/2006/main">
  <p:tag name="KSO_WM_DIAGRAM_VIRTUALLY_FRAME" val="{&quot;height&quot;:224.90622047244096,&quot;left&quot;:52.5,&quot;top&quot;:153.75,&quot;width&quot;:855}"/>
</p:tagLst>
</file>

<file path=ppt/tags/tag42.xml><?xml version="1.0" encoding="utf-8"?>
<p:tagLst xmlns:p="http://schemas.openxmlformats.org/presentationml/2006/main">
  <p:tag name="KSO_WM_DIAGRAM_VIRTUALLY_FRAME" val="{&quot;height&quot;:224.90622047244096,&quot;left&quot;:52.5,&quot;top&quot;:153.75,&quot;width&quot;:85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2400</Words>
  <Application>WPS 演示</Application>
  <PresentationFormat>On-screen Show (16:9)</PresentationFormat>
  <Paragraphs>332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Noto Sans CJK SC Black</vt:lpstr>
      <vt:lpstr>Noto Sans CJK SC Black</vt:lpstr>
      <vt:lpstr>Noto Sans CJK SC Black</vt:lpstr>
      <vt:lpstr>Noto Sans CJK SC Medium</vt:lpstr>
      <vt:lpstr>Noto Sans CJK SC Medium</vt:lpstr>
      <vt:lpstr>Noto Sans CJK SC Medium</vt:lpstr>
      <vt:lpstr>Noto Color Emoji</vt:lpstr>
      <vt:lpstr>Noto Color Emoji</vt:lpstr>
      <vt:lpstr>Noto Color Emoji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DeepPresenter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creator>DeepPresenter</dc:creator>
  <cp:lastModifiedBy>陌路</cp:lastModifiedBy>
  <cp:revision>2</cp:revision>
  <dcterms:created xsi:type="dcterms:W3CDTF">2026-08-10T16:56:00Z</dcterms:created>
  <dcterms:modified xsi:type="dcterms:W3CDTF">2026-08-17T08:00:36Z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9DEFBC38455E4A818F8E0DFE9A13AFDD_12</vt:lpwstr>
  </property>
  <property fmtid="{D5CDD505-2E9C-101B-9397-08002B2CF9AE}" pid="3" name="KSOProductBuildVer">
    <vt:lpwstr>2052-12.1.0.28022</vt:lpwstr>
  </property>
</Properties>
</file>