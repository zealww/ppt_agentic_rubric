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6" Type="http://schemas.openxmlformats.org/officeDocument/2006/relationships/notesSlide" Target="../notesSlides/notesSlide2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2" Type="http://schemas.openxmlformats.org/officeDocument/2006/relationships/notesSlide" Target="../notesSlides/notesSlide9.xml"/><Relationship Id="rId31" Type="http://schemas.openxmlformats.org/officeDocument/2006/relationships/slideLayout" Target="../slideLayouts/slideLayout1.xml"/><Relationship Id="rId30" Type="http://schemas.openxmlformats.org/officeDocument/2006/relationships/tags" Target="../tags/tag54.xml"/><Relationship Id="rId3" Type="http://schemas.openxmlformats.org/officeDocument/2006/relationships/tags" Target="../tags/tag27.xml"/><Relationship Id="rId29" Type="http://schemas.openxmlformats.org/officeDocument/2006/relationships/tags" Target="../tags/tag53.xml"/><Relationship Id="rId28" Type="http://schemas.openxmlformats.org/officeDocument/2006/relationships/tags" Target="../tags/tag52.xml"/><Relationship Id="rId27" Type="http://schemas.openxmlformats.org/officeDocument/2006/relationships/tags" Target="../tags/tag51.xml"/><Relationship Id="rId26" Type="http://schemas.openxmlformats.org/officeDocument/2006/relationships/tags" Target="../tags/tag50.xml"/><Relationship Id="rId25" Type="http://schemas.openxmlformats.org/officeDocument/2006/relationships/tags" Target="../tags/tag49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26.xml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62.xml"/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4" Type="http://schemas.openxmlformats.org/officeDocument/2006/relationships/notesSlide" Target="../notesSlides/notesSlide10.xml"/><Relationship Id="rId33" Type="http://schemas.openxmlformats.org/officeDocument/2006/relationships/slideLayout" Target="../slideLayouts/slideLayout1.xml"/><Relationship Id="rId32" Type="http://schemas.openxmlformats.org/officeDocument/2006/relationships/image" Target="../media/image11.png"/><Relationship Id="rId31" Type="http://schemas.openxmlformats.org/officeDocument/2006/relationships/tags" Target="../tags/tag84.xml"/><Relationship Id="rId30" Type="http://schemas.openxmlformats.org/officeDocument/2006/relationships/tags" Target="../tags/tag83.xml"/><Relationship Id="rId3" Type="http://schemas.openxmlformats.org/officeDocument/2006/relationships/tags" Target="../tags/tag56.xml"/><Relationship Id="rId29" Type="http://schemas.openxmlformats.org/officeDocument/2006/relationships/tags" Target="../tags/tag82.xml"/><Relationship Id="rId28" Type="http://schemas.openxmlformats.org/officeDocument/2006/relationships/tags" Target="../tags/tag81.xml"/><Relationship Id="rId27" Type="http://schemas.openxmlformats.org/officeDocument/2006/relationships/tags" Target="../tags/tag80.xml"/><Relationship Id="rId26" Type="http://schemas.openxmlformats.org/officeDocument/2006/relationships/tags" Target="../tags/tag79.xml"/><Relationship Id="rId25" Type="http://schemas.openxmlformats.org/officeDocument/2006/relationships/tags" Target="../tags/tag78.xml"/><Relationship Id="rId24" Type="http://schemas.openxmlformats.org/officeDocument/2006/relationships/tags" Target="../tags/tag77.xml"/><Relationship Id="rId23" Type="http://schemas.openxmlformats.org/officeDocument/2006/relationships/tags" Target="../tags/tag76.xml"/><Relationship Id="rId22" Type="http://schemas.openxmlformats.org/officeDocument/2006/relationships/tags" Target="../tags/tag75.xml"/><Relationship Id="rId21" Type="http://schemas.openxmlformats.org/officeDocument/2006/relationships/tags" Target="../tags/tag74.xml"/><Relationship Id="rId20" Type="http://schemas.openxmlformats.org/officeDocument/2006/relationships/tags" Target="../tags/tag73.xml"/><Relationship Id="rId2" Type="http://schemas.openxmlformats.org/officeDocument/2006/relationships/tags" Target="../tags/tag55.xml"/><Relationship Id="rId19" Type="http://schemas.openxmlformats.org/officeDocument/2006/relationships/tags" Target="../tags/tag72.xml"/><Relationship Id="rId18" Type="http://schemas.openxmlformats.org/officeDocument/2006/relationships/tags" Target="../tags/tag71.xml"/><Relationship Id="rId17" Type="http://schemas.openxmlformats.org/officeDocument/2006/relationships/tags" Target="../tags/tag70.xml"/><Relationship Id="rId16" Type="http://schemas.openxmlformats.org/officeDocument/2006/relationships/tags" Target="../tags/tag69.xml"/><Relationship Id="rId15" Type="http://schemas.openxmlformats.org/officeDocument/2006/relationships/tags" Target="../tags/tag68.xml"/><Relationship Id="rId14" Type="http://schemas.openxmlformats.org/officeDocument/2006/relationships/tags" Target="../tags/tag67.xml"/><Relationship Id="rId13" Type="http://schemas.openxmlformats.org/officeDocument/2006/relationships/tags" Target="../tags/tag66.xml"/><Relationship Id="rId12" Type="http://schemas.openxmlformats.org/officeDocument/2006/relationships/tags" Target="../tags/tag65.xml"/><Relationship Id="rId11" Type="http://schemas.openxmlformats.org/officeDocument/2006/relationships/tags" Target="../tags/tag64.xml"/><Relationship Id="rId10" Type="http://schemas.openxmlformats.org/officeDocument/2006/relationships/tags" Target="../tags/tag63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SK0Se4/html2pptx-bg-1786385819758-fe7dac9b1231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3" name="Image 1" descr="/tmp/html2pptx-SK0Se4/html2pptx-bg-1786385819980-3f1861af9c8bc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62000" y="1047750"/>
            <a:ext cx="1619399" cy="361950"/>
          </a:xfrm>
          <a:prstGeom prst="roundRect">
            <a:avLst>
              <a:gd name="adj" fmla="val 52632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/>
          <p:cNvSpPr/>
          <p:nvPr/>
        </p:nvSpPr>
        <p:spPr>
          <a:xfrm>
            <a:off x="904875" y="1114425"/>
            <a:ext cx="1360322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D9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果園合dasd理化施肥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762000" y="1695450"/>
            <a:ext cx="762000" cy="38100"/>
          </a:xfrm>
          <a:prstGeom prst="rect">
            <a:avLst/>
          </a:prstGeom>
          <a:solidFill>
            <a:srgbClr val="FFD96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762000" y="1905000"/>
            <a:ext cx="6800850" cy="14629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5760"/>
              </a:lnSpc>
              <a:spcAft>
                <a:spcPts val="1800"/>
              </a:spcAft>
              <a:buNone/>
            </a:pPr>
            <a:r>
              <a:rPr lang="en-US" sz="48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麻豆dasda紅柚
</a:t>
            </a:r>
            <a:r>
              <a:rPr lang="en-US" sz="4800" b="1" dirty="0">
                <a:solidFill>
                  <a:srgbClr val="FFD9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合理化施肥dsa</a:t>
            </a:r>
            <a:r>
              <a:rPr lang="en-US" sz="4800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</a:t>
            </a:r>
            <a:endParaRPr lang="en-US" sz="4800" dirty="0"/>
          </a:p>
        </p:txBody>
      </p:sp>
      <p:sp>
        <p:nvSpPr>
          <p:cNvPr id="8" name="Text 4"/>
          <p:cNvSpPr/>
          <p:nvPr/>
        </p:nvSpPr>
        <p:spPr>
          <a:xfrm>
            <a:off x="762000" y="3596580"/>
            <a:ext cx="6023610" cy="6703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1650" dirty="0">
                <a:solidFill>
                  <a:srgbClr val="FFFFFF">
                    <a:alpha val="88000"/>
                  </a:srgbClr>
                </a:solidFill>
                <a:latin typeface="Noto Sans CJK SC Light" pitchFamily="34" charset="0"/>
                <a:ea typeface="Noto Sans CJK SC Light" pitchFamily="34" charset="-122"/>
                <a:cs typeface="Noto Sans CJK SC Light" pitchFamily="34" charset="-120"/>
              </a:rPr>
              <a:t>依果樹株齡、產量、土壤質das地與肥力sa狀況，適時、適期、適量進行肥培與土壤管理，維護土壤生產力，提升果實產量與品質。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762000" y="6096000"/>
            <a:ext cx="2176272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臺南區農業改良場｜合理化施肥推廣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9685288" y="6057900"/>
            <a:ext cx="177960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D9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文／圖 ■ 卓家榮、張汶肇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71500"/>
            <a:ext cx="419100" cy="419100"/>
          </a:xfrm>
          <a:prstGeom prst="roundRect">
            <a:avLst>
              <a:gd name="adj" fmla="val 218182"/>
            </a:avLst>
          </a:prstGeom>
          <a:solidFill>
            <a:srgbClr val="2D5A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41772" y="657225"/>
            <a:ext cx="264747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1314450" y="657225"/>
            <a:ext cx="1428179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50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合理化施肥概論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0229850" y="685800"/>
            <a:ext cx="1224153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麻豆紅柚合理化施肥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2000" y="1238250"/>
            <a:ext cx="10881360" cy="609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3300" b="1" dirty="0">
                <a:solidFill>
                  <a:srgbClr val="1F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為什麼需要dasd合理化施肥？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762000" y="1962150"/>
            <a:ext cx="9521190" cy="58281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果園合理化的土壤wq及肥培管理，可提供適dad合作物生長的健康環境，避免土壤生產力衰退及對環境造成衝擊，並提昇作物的產量及品質，達到dsa降低生產成本之目的。</a:t>
            </a:r>
            <a:endParaRPr lang="en-US" sz="1350" dirty="0"/>
          </a:p>
        </p:txBody>
      </p:sp>
      <p:sp>
        <p:nvSpPr>
          <p:cNvPr id="8" name="Text 6"/>
          <p:cNvSpPr/>
          <p:nvPr>
            <p:custDataLst>
              <p:tags r:id="rId1"/>
            </p:custDataLst>
          </p:nvPr>
        </p:nvSpPr>
        <p:spPr>
          <a:xfrm>
            <a:off x="762000" y="3048000"/>
            <a:ext cx="2509838" cy="3124200"/>
          </a:xfrm>
          <a:prstGeom prst="rect">
            <a:avLst/>
          </a:prstGeom>
          <a:solidFill>
            <a:srgbClr val="FFFFFF"/>
          </a:solidFill>
          <a:effectLst>
            <a:outerShdw blurRad="9525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952500" y="3067050"/>
            <a:ext cx="2128838" cy="0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952500" y="32956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8F0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1038076" y="3318570"/>
            <a:ext cx="213893" cy="3351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株</a:t>
            </a:r>
            <a:endParaRPr lang="en-US" sz="1650" dirty="0"/>
          </a:p>
        </p:txBody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952500" y="3810000"/>
            <a:ext cx="2171414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適株dsa齡</a:t>
            </a:r>
            <a:endParaRPr lang="en-US" sz="1500" dirty="0"/>
          </a:p>
        </p:txBody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952500" y="4181475"/>
            <a:ext cx="2171414" cy="4265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依果樹株齡、產量與樹勢das強弱調整施肥種類與用量。</a:t>
            </a:r>
            <a:endParaRPr lang="en-US" sz="1050" dirty="0"/>
          </a:p>
        </p:txBody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3481388" y="3048000"/>
            <a:ext cx="2509838" cy="3124200"/>
          </a:xfrm>
          <a:prstGeom prst="rect">
            <a:avLst/>
          </a:prstGeom>
          <a:solidFill>
            <a:srgbClr val="FFFFFF"/>
          </a:solidFill>
          <a:effectLst>
            <a:outerShdw blurRad="9525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>
            <p:custDataLst>
              <p:tags r:id="rId8"/>
            </p:custDataLst>
          </p:nvPr>
        </p:nvSpPr>
        <p:spPr>
          <a:xfrm>
            <a:off x="3671888" y="3067050"/>
            <a:ext cx="2128838" cy="0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3671888" y="32956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8F0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3757464" y="3318570"/>
            <a:ext cx="213893" cy="3351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土</a:t>
            </a:r>
            <a:endParaRPr lang="en-US" sz="1650" dirty="0"/>
          </a:p>
        </p:txBody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3671888" y="3810000"/>
            <a:ext cx="2171414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da適地力</a:t>
            </a:r>
            <a:endParaRPr lang="en-US" sz="1500" dirty="0"/>
          </a:p>
        </p:txBody>
      </p:sp>
      <p:sp>
        <p:nvSpPr>
          <p:cNvPr id="19" name="Text 17"/>
          <p:cNvSpPr/>
          <p:nvPr>
            <p:custDataLst>
              <p:tags r:id="rId12"/>
            </p:custDataLst>
          </p:nvPr>
        </p:nvSpPr>
        <p:spPr>
          <a:xfrm>
            <a:off x="3671888" y="4181475"/>
            <a:ext cx="2171414" cy="4265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考量土d壤質地、肥力狀況與 pH 值，配合作物生育需求調整。</a:t>
            </a:r>
            <a:endParaRPr lang="en-US" sz="1050" dirty="0"/>
          </a:p>
        </p:txBody>
      </p:sp>
      <p:sp>
        <p:nvSpPr>
          <p:cNvPr id="20" name="Text 18"/>
          <p:cNvSpPr/>
          <p:nvPr>
            <p:custDataLst>
              <p:tags r:id="rId13"/>
            </p:custDataLst>
          </p:nvPr>
        </p:nvSpPr>
        <p:spPr>
          <a:xfrm>
            <a:off x="6200775" y="3048000"/>
            <a:ext cx="2509838" cy="3124200"/>
          </a:xfrm>
          <a:prstGeom prst="rect">
            <a:avLst/>
          </a:prstGeom>
          <a:solidFill>
            <a:srgbClr val="FFFFFF"/>
          </a:solidFill>
          <a:effectLst>
            <a:outerShdw blurRad="9525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>
            <p:custDataLst>
              <p:tags r:id="rId14"/>
            </p:custDataLst>
          </p:nvPr>
        </p:nvSpPr>
        <p:spPr>
          <a:xfrm>
            <a:off x="6391275" y="3067050"/>
            <a:ext cx="2128838" cy="0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6391275" y="32956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8F0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>
            <p:custDataLst>
              <p:tags r:id="rId16"/>
            </p:custDataLst>
          </p:nvPr>
        </p:nvSpPr>
        <p:spPr>
          <a:xfrm>
            <a:off x="6476851" y="3318570"/>
            <a:ext cx="213893" cy="3351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時</a:t>
            </a:r>
            <a:endParaRPr lang="en-US" sz="1650" dirty="0"/>
          </a:p>
        </p:txBody>
      </p:sp>
      <p:sp>
        <p:nvSpPr>
          <p:cNvPr id="24" name="Text 22"/>
          <p:cNvSpPr/>
          <p:nvPr>
            <p:custDataLst>
              <p:tags r:id="rId17"/>
            </p:custDataLst>
          </p:nvPr>
        </p:nvSpPr>
        <p:spPr>
          <a:xfrm>
            <a:off x="6391275" y="3810000"/>
            <a:ext cx="2171414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適時sda期</a:t>
            </a:r>
            <a:endParaRPr lang="en-US" sz="1500" dirty="0"/>
          </a:p>
        </p:txBody>
      </p:sp>
      <p:sp>
        <p:nvSpPr>
          <p:cNvPr id="25" name="Text 23"/>
          <p:cNvSpPr/>
          <p:nvPr>
            <p:custDataLst>
              <p:tags r:id="rId18"/>
            </p:custDataLst>
          </p:nvPr>
        </p:nvSpPr>
        <p:spPr>
          <a:xfrm>
            <a:off x="6391275" y="4181475"/>
            <a:ext cx="2171414" cy="4265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配合生育期dsa分階段施肥：禮肥、基肥、春肥、夏肥、催甜肥。</a:t>
            </a:r>
            <a:endParaRPr lang="en-US" sz="1050" dirty="0"/>
          </a:p>
        </p:txBody>
      </p:sp>
      <p:sp>
        <p:nvSpPr>
          <p:cNvPr id="26" name="Text 24"/>
          <p:cNvSpPr/>
          <p:nvPr>
            <p:custDataLst>
              <p:tags r:id="rId19"/>
            </p:custDataLst>
          </p:nvPr>
        </p:nvSpPr>
        <p:spPr>
          <a:xfrm>
            <a:off x="8920163" y="3048000"/>
            <a:ext cx="2509838" cy="3124200"/>
          </a:xfrm>
          <a:prstGeom prst="rect">
            <a:avLst/>
          </a:prstGeom>
          <a:solidFill>
            <a:srgbClr val="FFFFFF"/>
          </a:solidFill>
          <a:effectLst>
            <a:outerShdw blurRad="9525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>
            <p:custDataLst>
              <p:tags r:id="rId20"/>
            </p:custDataLst>
          </p:nvPr>
        </p:nvSpPr>
        <p:spPr>
          <a:xfrm>
            <a:off x="9110663" y="3067050"/>
            <a:ext cx="2128838" cy="0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28" name="Text 26"/>
          <p:cNvSpPr/>
          <p:nvPr>
            <p:custDataLst>
              <p:tags r:id="rId21"/>
            </p:custDataLst>
          </p:nvPr>
        </p:nvSpPr>
        <p:spPr>
          <a:xfrm>
            <a:off x="9110663" y="3295650"/>
            <a:ext cx="381000" cy="381000"/>
          </a:xfrm>
          <a:prstGeom prst="roundRect">
            <a:avLst>
              <a:gd name="adj" fmla="val 20000"/>
            </a:avLst>
          </a:prstGeom>
          <a:solidFill>
            <a:srgbClr val="E8F0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>
            <p:custDataLst>
              <p:tags r:id="rId22"/>
            </p:custDataLst>
          </p:nvPr>
        </p:nvSpPr>
        <p:spPr>
          <a:xfrm>
            <a:off x="9196239" y="3318570"/>
            <a:ext cx="213893" cy="33516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1650" dirty="0">
                <a:solidFill>
                  <a:srgbClr val="4A4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</a:t>
            </a:r>
            <a:endParaRPr lang="en-US" sz="1650" dirty="0"/>
          </a:p>
        </p:txBody>
      </p:sp>
      <p:sp>
        <p:nvSpPr>
          <p:cNvPr id="30" name="Text 28"/>
          <p:cNvSpPr/>
          <p:nvPr>
            <p:custDataLst>
              <p:tags r:id="rId23"/>
            </p:custDataLst>
          </p:nvPr>
        </p:nvSpPr>
        <p:spPr>
          <a:xfrm>
            <a:off x="9110663" y="3810000"/>
            <a:ext cx="2171414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15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適用dsad量</a:t>
            </a:r>
            <a:endParaRPr lang="en-US" sz="1500" dirty="0"/>
          </a:p>
        </p:txBody>
      </p:sp>
      <p:sp>
        <p:nvSpPr>
          <p:cNvPr id="31" name="Text 29"/>
          <p:cNvSpPr/>
          <p:nvPr>
            <p:custDataLst>
              <p:tags r:id="rId24"/>
            </p:custDataLst>
          </p:nvPr>
        </p:nvSpPr>
        <p:spPr>
          <a:xfrm>
            <a:off x="9110663" y="4181475"/>
            <a:ext cx="2171414" cy="4265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以最少施肥dasd量達到最高生產量及品質，提升投資報酬率。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2D5A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vJeQAS/html2pptx-bg-1786385821510-5d159331b1a3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4500" y="0"/>
            <a:ext cx="2095500" cy="8572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4762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2D5A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833884" y="552450"/>
            <a:ext cx="241825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76350" y="552450"/>
            <a:ext cx="73853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採樣方法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229850" y="571500"/>
            <a:ext cx="1224153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正確土壤及葉片採樣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62000" y="952500"/>
            <a:ext cx="3147974" cy="495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土壤與葉片採樣方法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762000" y="1485900"/>
            <a:ext cx="571500" cy="38100"/>
          </a:xfrm>
          <a:prstGeom prst="rect">
            <a:avLst/>
          </a:prstGeom>
          <a:solidFill>
            <a:srgbClr val="FFD96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762000" y="1809750"/>
            <a:ext cx="800249" cy="257175"/>
          </a:xfrm>
          <a:prstGeom prst="roundRect">
            <a:avLst>
              <a:gd name="adj" fmla="val 14815"/>
            </a:avLst>
          </a:prstGeom>
          <a:solidFill>
            <a:srgbClr val="2D5A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76300" y="1847850"/>
            <a:ext cx="58308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FFD9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採樣dwq時期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762000" y="2200275"/>
            <a:ext cx="524637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50"/>
              </a:spcBef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8月下旬 — 9月qwd上旬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762000" y="2600325"/>
            <a:ext cx="5143500" cy="1081683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781050" y="2752725"/>
            <a:ext cx="0" cy="776883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90600" y="2752725"/>
            <a:ext cx="4818888" cy="77688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果實採收前為葉片養分最穩qwdq定期，</a:t>
            </a:r>
            <a:r>
              <a:rPr lang="en-US" sz="1200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太早或太遲</a:t>
            </a:r>
            <a:r>
              <a:rPr lang="en-US" sz="12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進行葉片採樣，葉片營養成分都有變化，不易診斷。同時ddwq進行土壤採樣，送交農業試驗所或改良場分析。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62000" y="3853458"/>
            <a:ext cx="800249" cy="257175"/>
          </a:xfrm>
          <a:prstGeom prst="roundRect">
            <a:avLst>
              <a:gd name="adj" fmla="val 14815"/>
            </a:avLst>
          </a:prstGeom>
          <a:solidFill>
            <a:srgbClr val="2D5A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876300" y="3891558"/>
            <a:ext cx="58308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FFD9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採樣dwq原則</a:t>
            </a:r>
            <a:endParaRPr lang="en-US" sz="975" dirty="0"/>
          </a:p>
        </p:txBody>
      </p:sp>
      <p:sp>
        <p:nvSpPr>
          <p:cNvPr id="17" name="Text 14"/>
          <p:cNvSpPr/>
          <p:nvPr/>
        </p:nvSpPr>
        <p:spPr>
          <a:xfrm>
            <a:off x="762000" y="4243983"/>
            <a:ext cx="5246370" cy="3048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50"/>
              </a:spcBef>
              <a:spcAft>
                <a:spcPts val="600"/>
              </a:spcAft>
              <a:buNone/>
            </a:pPr>
            <a:r>
              <a:rPr lang="en-US" sz="165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代表性與隨qdw機性</a:t>
            </a:r>
            <a:endParaRPr lang="en-US" sz="1650" dirty="0"/>
          </a:p>
        </p:txBody>
      </p:sp>
      <p:sp>
        <p:nvSpPr>
          <p:cNvPr id="18" name="Text 15"/>
          <p:cNvSpPr/>
          <p:nvPr/>
        </p:nvSpPr>
        <p:spPr>
          <a:xfrm>
            <a:off x="762000" y="4644033"/>
            <a:ext cx="5143500" cy="822722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6"/>
          <p:cNvSpPr/>
          <p:nvPr/>
        </p:nvSpPr>
        <p:spPr>
          <a:xfrm>
            <a:off x="781050" y="4796433"/>
            <a:ext cx="0" cy="517922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90600" y="4796433"/>
            <a:ext cx="4818888" cy="51792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避開邊際果樹、罹病樹與施肥dqw處；全園逢機選取正常植株，循 U 字形路徑採樣，方能代表果園實際狀況。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829300" y="1809750"/>
            <a:ext cx="5600700" cy="4476750"/>
          </a:xfrm>
          <a:prstGeom prst="rect">
            <a:avLst/>
          </a:prstGeom>
          <a:solidFill>
            <a:srgbClr val="FFFFFF"/>
          </a:solidFill>
          <a:effectLst>
            <a:outerShdw blurRad="95250" dist="19050" dir="5400000" algn="bl" rotWithShape="0">
              <a:srgbClr val="000000">
                <a:alpha val="5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6057900" y="2038350"/>
            <a:ext cx="5246370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900"/>
              </a:spcAft>
              <a:buNone/>
            </a:pPr>
            <a:r>
              <a:rPr lang="en-US" sz="135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葉片採樣五要點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057900" y="2400300"/>
            <a:ext cx="5143500" cy="136192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spcAft>
                <a:spcPts val="450"/>
              </a:spcAft>
              <a:buSzPct val="100000"/>
              <a:buNone/>
            </a:pPr>
            <a:r>
              <a:rPr lang="en-US" sz="105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採</a:t>
            </a:r>
            <a:r>
              <a:rPr lang="en-US" sz="1200" dirty="0">
                <a:solidFill>
                  <a:srgbClr val="1F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當年生未結果春梢</a:t>
            </a:r>
            <a:r>
              <a:rPr lang="en-US" sz="105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，自頂dwq端算起第三或第四片葉。</a:t>
            </a:r>
            <a:endParaRPr lang="en-US" sz="1050" dirty="0"/>
          </a:p>
          <a:p>
            <a:pPr marL="209550" indent="-209550" algn="l">
              <a:lnSpc>
                <a:spcPts val="1785"/>
              </a:lnSpc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每樹自東、西、dwqd南、北方位肩高處各採一葉，每樹共四葉。</a:t>
            </a:r>
            <a:endParaRPr lang="en-US" sz="1050" dirty="0"/>
          </a:p>
          <a:p>
            <a:pPr marL="0" indent="0" algn="l">
              <a:lnSpc>
                <a:spcPts val="1785"/>
              </a:lnSpc>
              <a:spcAft>
                <a:spcPts val="450"/>
              </a:spcAft>
              <a:buSzPct val="100000"/>
              <a:buNone/>
            </a:pPr>
            <a:r>
              <a:rPr lang="en-US" sz="105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全園視面積大dwq小共採 </a:t>
            </a:r>
            <a:r>
              <a:rPr lang="en-US" sz="1200" dirty="0">
                <a:solidFill>
                  <a:srgbClr val="1F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50~100 葉</a:t>
            </a:r>
            <a:r>
              <a:rPr lang="en-US" sz="105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混合為一dwq樣品。</a:t>
            </a:r>
            <a:endParaRPr lang="en-US" sz="1050" dirty="0"/>
          </a:p>
          <a:p>
            <a:pPr marL="209550" indent="-209550" algn="l">
              <a:lnSpc>
                <a:spcPts val="1785"/>
              </a:lnSpc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葉片立即裝入wq塑膠袋，註明姓wq名、園址、品種與採集日期，當日送驗。</a:t>
            </a:r>
            <a:endParaRPr lang="en-US" sz="1050" dirty="0"/>
          </a:p>
          <a:p>
            <a:pPr marL="209550" indent="-209550" algn="l">
              <a:lnSpc>
                <a:spcPts val="1785"/>
              </a:lnSpc>
              <a:spcAft>
                <a:spcPts val="450"/>
              </a:spcAft>
              <a:buSzPct val="100000"/>
              <a:buChar char="•"/>
            </a:pPr>
            <a:r>
              <a:rPr lang="en-US" sz="105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不可誤採夏秋梢、結果枝或抽新梢的dwq春梢葉，以免診斷錯誤。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2D5A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3884" y="552450"/>
            <a:ext cx="241825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76350" y="552450"/>
            <a:ext cx="73853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採樣方法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763250" y="571500"/>
            <a:ext cx="68008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土壤採樣法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2000" y="952500"/>
            <a:ext cx="3147974" cy="495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土壤分層採樣與混合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485900"/>
            <a:ext cx="571500" cy="38100"/>
          </a:xfrm>
          <a:prstGeom prst="rect">
            <a:avLst/>
          </a:prstGeom>
          <a:solidFill>
            <a:srgbClr val="FFD96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2000" y="1905000"/>
            <a:ext cx="4381500" cy="4191000"/>
          </a:xfrm>
          <a:prstGeom prst="rect">
            <a:avLst/>
          </a:prstGeom>
          <a:solidFill>
            <a:srgbClr val="FFFFFF"/>
          </a:solidFill>
          <a:effectLst>
            <a:outerShdw blurRad="133350" dist="38100" dir="5400000" algn="bl" rotWithShape="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09650" y="2152650"/>
            <a:ext cx="3963924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350"/>
              </a:spcAft>
              <a:buNone/>
            </a:pPr>
            <a:r>
              <a:rPr lang="en-US" sz="15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採樣部位與深度</a:t>
            </a:r>
            <a:endParaRPr lang="en-US" sz="1500" dirty="0"/>
          </a:p>
        </p:txBody>
      </p:sp>
      <p:pic>
        <p:nvPicPr>
          <p:cNvPr id="10" name="Image 0" descr="/tmp/html2pptx-JKtj2d/html2pptx-bg-1786385822328-8fb19c7302cdf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650" y="2600325"/>
            <a:ext cx="3886200" cy="150495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181100" y="3084195"/>
            <a:ext cx="1436370" cy="32575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 ~ 20 公分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181100" y="3409950"/>
            <a:ext cx="1224153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92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表土層｜與樹冠dddsad直下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295775" y="3105150"/>
            <a:ext cx="437198" cy="495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dirty="0">
                <a:solidFill>
                  <a:srgbClr val="FFFFFF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🌱</a:t>
            </a:r>
            <a:endParaRPr lang="en-US" sz="2700" dirty="0"/>
          </a:p>
        </p:txBody>
      </p:sp>
      <p:pic>
        <p:nvPicPr>
          <p:cNvPr id="14" name="Image 1" descr="/tmp/html2pptx-JKtj2d/html2pptx-bg-1786385822424-1f36213fb0cf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" y="4238625"/>
            <a:ext cx="3886200" cy="150495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181100" y="4678680"/>
            <a:ext cx="1450975" cy="36957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 ~ 40 公分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1181100" y="5048250"/>
            <a:ext cx="1203659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FFFFF">
                    <a:alpha val="92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底土層｜分dsa層採土dsad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295775" y="4743450"/>
            <a:ext cx="437198" cy="495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dirty="0">
                <a:solidFill>
                  <a:srgbClr val="FFFFFF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🌳</a:t>
            </a:r>
            <a:endParaRPr lang="en-US" sz="2700" dirty="0"/>
          </a:p>
        </p:txBody>
      </p:sp>
      <p:sp>
        <p:nvSpPr>
          <p:cNvPr id="18" name="Text 14"/>
          <p:cNvSpPr/>
          <p:nvPr/>
        </p:nvSpPr>
        <p:spPr>
          <a:xfrm>
            <a:off x="1009650" y="5876925"/>
            <a:ext cx="3963924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00"/>
              </a:spcBef>
              <a:buNone/>
            </a:pPr>
            <a:r>
              <a:rPr lang="en-US" sz="975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於樹冠外圍直下方採土，避免採集到施肥處。</a:t>
            </a:r>
            <a:endParaRPr lang="en-US" sz="975" dirty="0"/>
          </a:p>
        </p:txBody>
      </p:sp>
      <p:sp>
        <p:nvSpPr>
          <p:cNvPr id="19" name="Text 15"/>
          <p:cNvSpPr/>
          <p:nvPr/>
        </p:nvSpPr>
        <p:spPr>
          <a:xfrm>
            <a:off x="5524500" y="1905000"/>
            <a:ext cx="6023610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200"/>
              </a:spcAft>
              <a:buNone/>
            </a:pPr>
            <a:r>
              <a:rPr lang="en-US" sz="15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土壤採樣流程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524500" y="2333625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2D5A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5650855" y="2390775"/>
            <a:ext cx="91842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9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019800" y="2333625"/>
            <a:ext cx="5518404" cy="242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5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準備兩個容器，分adsdads別標明 </a:t>
            </a:r>
            <a:r>
              <a:rPr lang="en-US" sz="1125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0~20 公分</a:t>
            </a:r>
            <a:r>
              <a:rPr lang="en-US" sz="112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與 </a:t>
            </a:r>
            <a:r>
              <a:rPr lang="en-US" sz="1125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20~40 公分</a:t>
            </a:r>
            <a:r>
              <a:rPr lang="en-US" sz="112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125" dirty="0"/>
          </a:p>
        </p:txBody>
      </p:sp>
      <p:sp>
        <p:nvSpPr>
          <p:cNvPr id="23" name="Text 19"/>
          <p:cNvSpPr/>
          <p:nvPr/>
        </p:nvSpPr>
        <p:spPr>
          <a:xfrm>
            <a:off x="5524500" y="2809875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2D5A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5650855" y="2867025"/>
            <a:ext cx="91842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9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019800" y="2809875"/>
            <a:ext cx="5518404" cy="485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5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於樹冠外圍直下方，拔sa除土表雜草後，以土鑽、鋤頭或圓鍬依深度分別採土，分盛於兩容器。dasd</a:t>
            </a:r>
            <a:endParaRPr lang="en-US" sz="1125" dirty="0"/>
          </a:p>
        </p:txBody>
      </p:sp>
      <p:sp>
        <p:nvSpPr>
          <p:cNvPr id="26" name="Text 22"/>
          <p:cNvSpPr/>
          <p:nvPr/>
        </p:nvSpPr>
        <p:spPr>
          <a:xfrm>
            <a:off x="5524500" y="3429000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2D5A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3"/>
          <p:cNvSpPr/>
          <p:nvPr/>
        </p:nvSpPr>
        <p:spPr>
          <a:xfrm>
            <a:off x="5650855" y="3486150"/>
            <a:ext cx="91842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9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200" dirty="0"/>
          </a:p>
        </p:txBody>
      </p:sp>
      <p:sp>
        <p:nvSpPr>
          <p:cNvPr id="28" name="Text 24"/>
          <p:cNvSpPr/>
          <p:nvPr/>
        </p:nvSpPr>
        <p:spPr>
          <a:xfrm>
            <a:off x="6019800" y="3429000"/>
            <a:ext cx="5518404" cy="4857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5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全園分散採 </a:t>
            </a:r>
            <a:r>
              <a:rPr lang="en-US" sz="1125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6~12 處</a:t>
            </a:r>
            <a:r>
              <a:rPr lang="en-US" sz="112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（避免dads採到施肥處ds），按深度分別裝入容器，充分混合成兩個樣品。</a:t>
            </a:r>
            <a:endParaRPr lang="en-US" sz="1125" dirty="0"/>
          </a:p>
        </p:txBody>
      </p:sp>
      <p:sp>
        <p:nvSpPr>
          <p:cNvPr id="29" name="Text 25"/>
          <p:cNvSpPr/>
          <p:nvPr/>
        </p:nvSpPr>
        <p:spPr>
          <a:xfrm>
            <a:off x="5524500" y="4048125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2D5A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6"/>
          <p:cNvSpPr/>
          <p:nvPr/>
        </p:nvSpPr>
        <p:spPr>
          <a:xfrm>
            <a:off x="5650855" y="4105275"/>
            <a:ext cx="91842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D9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6019800" y="4048125"/>
            <a:ext cx="5518404" cy="24288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15"/>
              </a:lnSpc>
              <a:buNone/>
            </a:pPr>
            <a:r>
              <a:rPr lang="en-US" sz="112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每樣品混合均dasd勻後約留取 </a:t>
            </a:r>
            <a:r>
              <a:rPr lang="en-US" sz="1125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600 公克</a:t>
            </a:r>
            <a:r>
              <a:rPr lang="en-US" sz="112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，裝入da標示深度、姓名、asdasd園址、品種之塑膠袋。</a:t>
            </a:r>
            <a:endParaRPr lang="en-US" sz="1125" dirty="0"/>
          </a:p>
        </p:txBody>
      </p:sp>
      <p:sp>
        <p:nvSpPr>
          <p:cNvPr id="32" name="Text 28"/>
          <p:cNvSpPr/>
          <p:nvPr/>
        </p:nvSpPr>
        <p:spPr>
          <a:xfrm>
            <a:off x="762000" y="6200775"/>
            <a:ext cx="10668000" cy="371475"/>
          </a:xfrm>
          <a:prstGeom prst="rect">
            <a:avLst/>
          </a:prstGeom>
          <a:solidFill>
            <a:srgbClr val="FFF4D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29"/>
          <p:cNvSpPr/>
          <p:nvPr/>
        </p:nvSpPr>
        <p:spPr>
          <a:xfrm>
            <a:off x="781050" y="6296025"/>
            <a:ext cx="0" cy="180975"/>
          </a:xfrm>
          <a:prstGeom prst="line">
            <a:avLst/>
          </a:prstGeom>
          <a:noFill/>
          <a:ln w="38100">
            <a:solidFill>
              <a:srgbClr val="FFD966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952500" y="6296025"/>
            <a:ext cx="1053160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5A4A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注意：園內每個採樣點及土層上、下所採的土量應該相近，以提高分析代表性。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2D5A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3884" y="552450"/>
            <a:ext cx="241825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76350" y="552450"/>
            <a:ext cx="1107719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土壤理化改良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656987" y="571500"/>
            <a:ext cx="788474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土壤 pH 改良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2000" y="952500"/>
            <a:ext cx="4146393" cy="4953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優質果園首重土壤 pH 改良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62000" y="1485900"/>
            <a:ext cx="571500" cy="38100"/>
          </a:xfrm>
          <a:prstGeom prst="rect">
            <a:avLst/>
          </a:prstGeom>
          <a:solidFill>
            <a:srgbClr val="FFD96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2000" y="1905000"/>
            <a:ext cx="5440680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50"/>
              </a:spcAft>
              <a:buNone/>
            </a:pPr>
            <a:r>
              <a:rPr lang="en-US" sz="15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強酸性土dasd壤的影響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62000" y="2314575"/>
            <a:ext cx="5440680" cy="514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土壤 pH 低於 </a:t>
            </a:r>
            <a:r>
              <a:rPr lang="en-US" sz="1125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5.5</a:t>
            </a:r>
            <a:r>
              <a:rPr lang="en-US" sz="112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 屬強酸性，原因包括土壤本身屬酸性土、石灰質受雨水淋洗流失，或連續使用生理dsa酸性肥料。sasda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762000" y="2962275"/>
            <a:ext cx="5440680" cy="514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酸性土壤易造成植株</a:t>
            </a:r>
            <a:r>
              <a:rPr lang="en-US" sz="1125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缺dsad鈣、缺鎂</a:t>
            </a:r>
            <a:r>
              <a:rPr lang="en-US" sz="112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，影ddasd響果實品質sdadasdd；鐵、鋁、錳溶解增多形成毒害dasd；磷易與鐵、dasd鋁結合成不溶性化合物，無法被植株吸收。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762000" y="3648075"/>
            <a:ext cx="5440680" cy="2762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350"/>
              </a:spcBef>
              <a:spcAft>
                <a:spcPts val="1050"/>
              </a:spcAft>
              <a:buNone/>
            </a:pPr>
            <a:r>
              <a:rPr lang="en-US" sz="15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改良資材選擇dsa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62000" y="4057650"/>
            <a:ext cx="5440680" cy="5143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25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未缺鎂果園：施用</a:t>
            </a:r>
            <a:r>
              <a:rPr lang="en-US" sz="1125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石灰石粉、蚵das殼粉或矽酸爐渣</a:t>
            </a:r>
            <a:r>
              <a:rPr lang="en-US" sz="112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125" dirty="0"/>
          </a:p>
          <a:p>
            <a:pPr marL="0" indent="0" algn="l">
              <a:lnSpc>
                <a:spcPts val="2025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缺鎂果園dsa：施用</a:t>
            </a:r>
            <a:endParaRPr lang="en-US" sz="1125" dirty="0"/>
          </a:p>
          <a:p>
            <a:pPr marL="0" indent="0" algn="l">
              <a:lnSpc>
                <a:spcPts val="2025"/>
              </a:lnSpc>
              <a:spcAft>
                <a:spcPts val="1050"/>
              </a:spcAft>
              <a:buNone/>
            </a:pPr>
            <a:r>
              <a:rPr lang="en-US" sz="1125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白雲石粉</a:t>
            </a:r>
            <a:r>
              <a:rPr lang="en-US" sz="112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（含氧化鎂dsad 10~16%），同時dsa補充鈣與鎂。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6286500" y="1905000"/>
            <a:ext cx="5143500" cy="17145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effectLst>
            <a:outerShdw blurRad="133350" dist="38100" dir="5400000" algn="bl" rotWithShape="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496050" y="2114550"/>
            <a:ext cx="4818888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350"/>
              </a:spcAft>
              <a:buNone/>
            </a:pPr>
            <a:r>
              <a:rPr lang="en-US" sz="135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土壤酸鹼值dsa對應施用量</a:t>
            </a:r>
            <a:endParaRPr lang="en-US" sz="1350" dirty="0"/>
          </a:p>
        </p:txBody>
      </p:sp>
      <p:pic>
        <p:nvPicPr>
          <p:cNvPr id="15" name="Image 0" descr="/tmp/html2pptx-jXQanL/html2pptx-bg-1786385823371-b8af13e4a16e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6050" y="2533650"/>
            <a:ext cx="4724400" cy="3048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7913340" y="2457450"/>
            <a:ext cx="19050" cy="457200"/>
          </a:xfrm>
          <a:prstGeom prst="rect">
            <a:avLst/>
          </a:prstGeom>
          <a:solidFill>
            <a:srgbClr val="1F3A2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758708" y="2352675"/>
            <a:ext cx="33488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1F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5.0</a:t>
            </a:r>
            <a:endParaRPr lang="en-US" sz="825" dirty="0"/>
          </a:p>
        </p:txBody>
      </p:sp>
      <p:sp>
        <p:nvSpPr>
          <p:cNvPr id="18" name="Text 15"/>
          <p:cNvSpPr/>
          <p:nvPr/>
        </p:nvSpPr>
        <p:spPr>
          <a:xfrm>
            <a:off x="8621911" y="2457450"/>
            <a:ext cx="19050" cy="457200"/>
          </a:xfrm>
          <a:prstGeom prst="rect">
            <a:avLst/>
          </a:prstGeom>
          <a:solidFill>
            <a:srgbClr val="1F3A2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8467279" y="2352675"/>
            <a:ext cx="33488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1F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5.5</a:t>
            </a:r>
            <a:endParaRPr lang="en-US" sz="825" dirty="0"/>
          </a:p>
        </p:txBody>
      </p:sp>
      <p:sp>
        <p:nvSpPr>
          <p:cNvPr id="20" name="Text 17"/>
          <p:cNvSpPr/>
          <p:nvPr/>
        </p:nvSpPr>
        <p:spPr>
          <a:xfrm>
            <a:off x="9236125" y="2457450"/>
            <a:ext cx="19050" cy="457200"/>
          </a:xfrm>
          <a:prstGeom prst="rect">
            <a:avLst/>
          </a:prstGeom>
          <a:solidFill>
            <a:srgbClr val="1F3A2A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9081492" y="2352675"/>
            <a:ext cx="334881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b="1" dirty="0">
                <a:solidFill>
                  <a:srgbClr val="1F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6.0</a:t>
            </a:r>
            <a:endParaRPr lang="en-US" sz="825" dirty="0"/>
          </a:p>
        </p:txBody>
      </p:sp>
      <p:sp>
        <p:nvSpPr>
          <p:cNvPr id="22" name="Text 19"/>
          <p:cNvSpPr/>
          <p:nvPr/>
        </p:nvSpPr>
        <p:spPr>
          <a:xfrm>
            <a:off x="6496050" y="3152775"/>
            <a:ext cx="38603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4.5 強酸</a:t>
            </a:r>
            <a:endParaRPr lang="en-US" sz="825" dirty="0"/>
          </a:p>
        </p:txBody>
      </p:sp>
      <p:sp>
        <p:nvSpPr>
          <p:cNvPr id="23" name="Text 20"/>
          <p:cNvSpPr/>
          <p:nvPr/>
        </p:nvSpPr>
        <p:spPr>
          <a:xfrm>
            <a:off x="8099971" y="3152775"/>
            <a:ext cx="14846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5.5</a:t>
            </a:r>
            <a:endParaRPr lang="en-US" sz="825" dirty="0"/>
          </a:p>
        </p:txBody>
      </p:sp>
      <p:sp>
        <p:nvSpPr>
          <p:cNvPr id="24" name="Text 21"/>
          <p:cNvSpPr/>
          <p:nvPr/>
        </p:nvSpPr>
        <p:spPr>
          <a:xfrm>
            <a:off x="9470975" y="3152775"/>
            <a:ext cx="386039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6.5 適宜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11074896" y="3152775"/>
            <a:ext cx="148465" cy="152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825"/>
              </a:spcBef>
              <a:spcAft>
                <a:spcPts val="825"/>
              </a:spcAft>
              <a:buNone/>
            </a:pPr>
            <a:r>
              <a:rPr lang="en-US" sz="825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7.5</a:t>
            </a:r>
            <a:endParaRPr lang="en-US" sz="825" dirty="0"/>
          </a:p>
        </p:txBody>
      </p:sp>
      <p:sp>
        <p:nvSpPr>
          <p:cNvPr id="26" name="Text 23"/>
          <p:cNvSpPr/>
          <p:nvPr/>
        </p:nvSpPr>
        <p:spPr>
          <a:xfrm>
            <a:off x="6286500" y="3790950"/>
            <a:ext cx="5143500" cy="1571625"/>
          </a:xfrm>
          <a:prstGeom prst="rect">
            <a:avLst/>
          </a:prstGeom>
          <a:solidFill>
            <a:srgbClr val="FFFFFF"/>
          </a:solidFill>
          <a:effectLst>
            <a:outerShdw blurRad="133350" dist="38100" dir="5400000" algn="bl" rotWithShape="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6305550" y="3962400"/>
            <a:ext cx="0" cy="1228725"/>
          </a:xfrm>
          <a:prstGeom prst="line">
            <a:avLst/>
          </a:prstGeom>
          <a:noFill/>
          <a:ln w="38100">
            <a:solidFill>
              <a:srgbClr val="B1451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534150" y="3962400"/>
            <a:ext cx="478002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每年冬季休眠dsa期施用量（每分地）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534150" y="4586288"/>
            <a:ext cx="46863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dash"/>
          </a:ln>
        </p:spPr>
      </p:sp>
      <p:sp>
        <p:nvSpPr>
          <p:cNvPr id="30" name="Text 27"/>
          <p:cNvSpPr/>
          <p:nvPr/>
        </p:nvSpPr>
        <p:spPr>
          <a:xfrm>
            <a:off x="6534150" y="4343400"/>
            <a:ext cx="1286393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5.0 以下（das強酸性）</a:t>
            </a:r>
            <a:endParaRPr lang="en-US" sz="975" dirty="0"/>
          </a:p>
        </p:txBody>
      </p:sp>
      <p:sp>
        <p:nvSpPr>
          <p:cNvPr id="31" name="Text 28"/>
          <p:cNvSpPr/>
          <p:nvPr/>
        </p:nvSpPr>
        <p:spPr>
          <a:xfrm>
            <a:off x="10725448" y="4343400"/>
            <a:ext cx="50490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150 公斤</a:t>
            </a:r>
            <a:endParaRPr lang="en-US" sz="975" dirty="0"/>
          </a:p>
        </p:txBody>
      </p:sp>
      <p:sp>
        <p:nvSpPr>
          <p:cNvPr id="32" name="Shape 29"/>
          <p:cNvSpPr/>
          <p:nvPr/>
        </p:nvSpPr>
        <p:spPr>
          <a:xfrm>
            <a:off x="6534150" y="4891088"/>
            <a:ext cx="4686300" cy="0"/>
          </a:xfrm>
          <a:prstGeom prst="line">
            <a:avLst/>
          </a:prstGeom>
          <a:noFill/>
          <a:ln w="9525">
            <a:solidFill>
              <a:srgbClr val="DDDDDD"/>
            </a:solidFill>
            <a:prstDash val="dash"/>
          </a:ln>
        </p:spPr>
      </p:sp>
      <p:sp>
        <p:nvSpPr>
          <p:cNvPr id="33" name="Text 30"/>
          <p:cNvSpPr/>
          <p:nvPr/>
        </p:nvSpPr>
        <p:spPr>
          <a:xfrm>
            <a:off x="6534150" y="4648200"/>
            <a:ext cx="675986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5.0 ~ 6.0</a:t>
            </a:r>
            <a:endParaRPr lang="en-US" sz="975" dirty="0"/>
          </a:p>
        </p:txBody>
      </p:sp>
      <p:sp>
        <p:nvSpPr>
          <p:cNvPr id="34" name="Text 31"/>
          <p:cNvSpPr/>
          <p:nvPr/>
        </p:nvSpPr>
        <p:spPr>
          <a:xfrm>
            <a:off x="10725448" y="4648200"/>
            <a:ext cx="50490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100 公斤</a:t>
            </a:r>
            <a:endParaRPr lang="en-US" sz="975" dirty="0"/>
          </a:p>
        </p:txBody>
      </p:sp>
      <p:sp>
        <p:nvSpPr>
          <p:cNvPr id="35" name="Text 32"/>
          <p:cNvSpPr/>
          <p:nvPr/>
        </p:nvSpPr>
        <p:spPr>
          <a:xfrm>
            <a:off x="6534150" y="4953000"/>
            <a:ext cx="654885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pH 超過 6.0</a:t>
            </a:r>
            <a:endParaRPr lang="en-US" sz="975" dirty="0"/>
          </a:p>
        </p:txBody>
      </p:sp>
      <p:sp>
        <p:nvSpPr>
          <p:cNvPr id="36" name="Text 33"/>
          <p:cNvSpPr/>
          <p:nvPr/>
        </p:nvSpPr>
        <p:spPr>
          <a:xfrm>
            <a:off x="10725001" y="4953000"/>
            <a:ext cx="505358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停止施用</a:t>
            </a:r>
            <a:endParaRPr lang="en-US" sz="975" dirty="0"/>
          </a:p>
        </p:txBody>
      </p:sp>
      <p:pic>
        <p:nvPicPr>
          <p:cNvPr id="37" name="Image 1" descr="/tmp/html2pptx-jXQanL/html2pptx-bg-1786385823506-a7ee9aaaec1eb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96500" y="5334000"/>
            <a:ext cx="2095500" cy="152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2D5A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3884" y="552450"/>
            <a:ext cx="241825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76350" y="552450"/>
            <a:ext cx="923124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施肥推薦量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459218" y="571500"/>
            <a:ext cx="2010198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 1｜麻豆紅柚施肥三要素推薦量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2000" y="952500"/>
            <a:ext cx="4519529" cy="4667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F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三要素推薦量（公克 / 株 / 年）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762000" y="1409700"/>
            <a:ext cx="3128391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dsa依樹齡與產量分級，並換算為台sadad肥複合肥料參考用量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62000" y="1695450"/>
            <a:ext cx="571500" cy="38100"/>
          </a:xfrm>
          <a:prstGeom prst="rect">
            <a:avLst/>
          </a:prstGeom>
          <a:solidFill>
            <a:srgbClr val="FFD96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62000" y="2000250"/>
            <a:ext cx="10668000" cy="3771900"/>
          </a:xfrm>
          <a:prstGeom prst="rect">
            <a:avLst/>
          </a:prstGeom>
          <a:solidFill>
            <a:srgbClr val="FFFFFF"/>
          </a:solidFill>
          <a:effectLst>
            <a:outerShdw blurRad="133350" dist="38100" dir="5400000" algn="bl" rotWithShape="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933450" y="2171700"/>
          <a:ext cx="10325100" cy="3429001"/>
        </p:xfrm>
        <a:graphic>
          <a:graphicData uri="http://schemas.openxmlformats.org/drawingml/2006/table">
            <a:tbl>
              <a:tblPr/>
              <a:tblGrid>
                <a:gridCol w="1815193"/>
                <a:gridCol w="1815193"/>
                <a:gridCol w="1043946"/>
                <a:gridCol w="2825384"/>
                <a:gridCol w="2825384"/>
              </a:tblGrid>
              <a:tr h="338608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樹齡或產dsa量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三要素用量（d公克/株/年）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換d算d成台d肥43sa號或5號複合肥料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</a:tr>
              <a:tr h="343377">
                <a:tc vMerge="1"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d氮素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82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磷酐ds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82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氧d化d鉀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8259"/>
                    </a:solidFill>
                  </a:tcPr>
                </a:tc>
                <a:tc vMerge="1">
                  <a:tcPr/>
                </a:tc>
              </a:tr>
              <a:tr h="343377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幼dsa年樹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1~3ds生｜75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75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75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500（43號）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343377">
                <a:tc vMerge="1"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5年生｜150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150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150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1,00dsa0（43號）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0"/>
                    </a:solidFill>
                  </a:tcPr>
                </a:tc>
              </a:tr>
              <a:tr h="343377">
                <a:tc rowSpan="6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成年asd樹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(ds年產量)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20公斤/株｜300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150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225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1,875（5號）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3377">
                <a:tc vMerge="1"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40公斤/株｜500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250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375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3,125（5號）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3377">
                <a:tc vMerge="1"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60公斤/株｜600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300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450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3,750（5號）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3377">
                <a:tc vMerge="1"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90公斤/株｜800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400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600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5,000（5號）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3377">
                <a:tc vMerge="1"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120公斤/株｜1000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500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750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6,250（5號）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43377">
                <a:tc vMerge="1"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150公斤/株｜1200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600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900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7,500（5號）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57150" marR="5715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762000" y="6126659"/>
            <a:ext cx="10668000" cy="540841"/>
          </a:xfrm>
          <a:prstGeom prst="rect">
            <a:avLst/>
          </a:prstGeom>
          <a:solidFill>
            <a:srgbClr val="FFF4D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781050" y="6221909"/>
            <a:ext cx="0" cy="350341"/>
          </a:xfrm>
          <a:prstGeom prst="line">
            <a:avLst/>
          </a:prstGeom>
          <a:noFill/>
          <a:ln w="38100">
            <a:solidFill>
              <a:srgbClr val="FFD9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3450" y="6221909"/>
            <a:ext cx="10570464" cy="350341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0"/>
              </a:lnSpc>
              <a:buNone/>
            </a:pPr>
            <a:r>
              <a:rPr lang="en-US" sz="865" dirty="0">
                <a:solidFill>
                  <a:srgbClr val="5A4A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註：（1）坡地、砂質或礫質地施肥量宜</a:t>
            </a:r>
            <a:r>
              <a:rPr lang="en-US" sz="865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增加 30~40%</a:t>
            </a:r>
            <a:r>
              <a:rPr lang="en-US" sz="865" dirty="0">
                <a:solidFill>
                  <a:srgbClr val="5A4A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；粘質壤土可酌減 20~30%。（2）草生栽培於春、夏肥追施氮肥 20~30%。（3）肥沃土壤春肥及果實發育期建議改用</a:t>
            </a:r>
            <a:r>
              <a:rPr lang="en-US" sz="865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台肥2號</a:t>
            </a:r>
            <a:r>
              <a:rPr lang="en-US" sz="865" dirty="0">
                <a:solidFill>
                  <a:srgbClr val="5A4A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複合肥料，避免氮過多影響花芽分化。（4）4~8月雨量豐沛時，果實發育期氮肥宜減施或免施。</a:t>
            </a:r>
            <a:endParaRPr lang="en-US" sz="86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avCzwD/html2pptx-bg-1786385826332-1177f56fd482a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0" y="0"/>
            <a:ext cx="2286000" cy="952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4762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2D5A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833884" y="552450"/>
            <a:ext cx="241825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76350" y="552450"/>
            <a:ext cx="923124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施肥推薦量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9325868" y="571500"/>
            <a:ext cx="2146215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 2｜葉片元素適宜及過量濃度範圍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62000" y="937260"/>
            <a:ext cx="4098925" cy="33591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葉片營養診斷dsad標準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762000" y="1353820"/>
            <a:ext cx="3487420" cy="208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6666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d麻豆紅柚葉片各種元素之sadaddsadads適宜及過量濃度範圍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62000" y="1657350"/>
            <a:ext cx="571500" cy="38100"/>
          </a:xfrm>
          <a:prstGeom prst="rect">
            <a:avLst/>
          </a:prstGeom>
          <a:solidFill>
            <a:srgbClr val="FFD96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762000" y="1905000"/>
            <a:ext cx="10668000" cy="1866900"/>
          </a:xfrm>
          <a:prstGeom prst="rect">
            <a:avLst/>
          </a:prstGeom>
          <a:solidFill>
            <a:srgbClr val="FFFFFF"/>
          </a:solidFill>
          <a:effectLst>
            <a:outerShdw blurRad="133350" dist="38100" dir="5400000" algn="bl" rotWithShape="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/>
        </p:nvGraphicFramePr>
        <p:xfrm>
          <a:off x="933450" y="2076450"/>
          <a:ext cx="10325102" cy="1523998"/>
        </p:xfrm>
        <a:graphic>
          <a:graphicData uri="http://schemas.openxmlformats.org/drawingml/2006/table">
            <a:tbl>
              <a:tblPr/>
              <a:tblGrid>
                <a:gridCol w="938402"/>
                <a:gridCol w="938402"/>
                <a:gridCol w="938402"/>
                <a:gridCol w="938402"/>
                <a:gridCol w="938402"/>
                <a:gridCol w="938402"/>
                <a:gridCol w="938700"/>
                <a:gridCol w="938700"/>
                <a:gridCol w="938700"/>
                <a:gridCol w="938700"/>
                <a:gridCol w="939890"/>
              </a:tblGrid>
              <a:tr h="30097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元素別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氮dsa N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磷 P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鉀s K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鈣 sCa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鎂 Mgaas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鐵 Feasd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錳 Mndsad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銅 Cusa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鋅 Zasn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硼 dsaB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</a:tr>
              <a:tr h="3057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單位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8259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%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825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ppm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8259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057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適宜dd下限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2.2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0.12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1.4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2.5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0.26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60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25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5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25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25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57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latin typeface="Noto Sans CJK SC" pitchFamily="34" charset="0"/>
                          <a:ea typeface="Noto Sans CJK SC" pitchFamily="34" charset="0"/>
                          <a:cs typeface="Noto Sans CJK SC" pitchFamily="34" charset="0"/>
                        </a:rPr>
                        <a:t>d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2.58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0.18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1.7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4.5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0.50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120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200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16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100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150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0575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過d量臨界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3.5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0.30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2.3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6.0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1.0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250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300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50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200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200</a:t>
                      </a:r>
                      <a:endParaRPr lang="en-US" sz="900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38100" marR="381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2892623" y="6472238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2D5A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3102173" y="6448425"/>
            <a:ext cx="757961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4A4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適宜濃度範圍</a:t>
            </a:r>
            <a:endParaRPr lang="en-US" sz="975" dirty="0"/>
          </a:p>
        </p:txBody>
      </p:sp>
      <p:sp>
        <p:nvSpPr>
          <p:cNvPr id="14" name="Text 10"/>
          <p:cNvSpPr/>
          <p:nvPr/>
        </p:nvSpPr>
        <p:spPr>
          <a:xfrm>
            <a:off x="4073872" y="6472238"/>
            <a:ext cx="133350" cy="133350"/>
          </a:xfrm>
          <a:prstGeom prst="roundRect">
            <a:avLst>
              <a:gd name="adj" fmla="val 21429"/>
            </a:avLst>
          </a:prstGeom>
          <a:solidFill>
            <a:srgbClr val="B1451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1"/>
          <p:cNvSpPr/>
          <p:nvPr/>
        </p:nvSpPr>
        <p:spPr>
          <a:xfrm>
            <a:off x="4283422" y="6448425"/>
            <a:ext cx="1515770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4A4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過量臨界值（超過即有害）</a:t>
            </a:r>
            <a:endParaRPr lang="en-US" sz="975" dirty="0"/>
          </a:p>
        </p:txBody>
      </p:sp>
      <p:sp>
        <p:nvSpPr>
          <p:cNvPr id="16" name="Text 12"/>
          <p:cNvSpPr/>
          <p:nvPr/>
        </p:nvSpPr>
        <p:spPr>
          <a:xfrm>
            <a:off x="5998071" y="6448425"/>
            <a:ext cx="3367332" cy="18097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75" dirty="0">
                <a:solidFill>
                  <a:srgbClr val="4A4A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採樣：8月下旬~9月上旬，春梢第3~4葉，每園50~100葉混合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2D5A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3884" y="552450"/>
            <a:ext cx="241825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76350" y="552450"/>
            <a:ext cx="1107719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土壤理化改良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563100" y="571500"/>
            <a:ext cx="1904238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土壤有機質增加可提高施肥效果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2000" y="952500"/>
            <a:ext cx="4294251" cy="4667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F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有機質肥料：土壤改良的關鍵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762000" y="1466850"/>
            <a:ext cx="571500" cy="38100"/>
          </a:xfrm>
          <a:prstGeom prst="rect">
            <a:avLst/>
          </a:prstGeom>
          <a:solidFill>
            <a:srgbClr val="FFD96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62000" y="1714500"/>
            <a:ext cx="10668000" cy="720030"/>
          </a:xfrm>
          <a:prstGeom prst="rect">
            <a:avLst/>
          </a:prstGeom>
          <a:solidFill>
            <a:srgbClr val="FFFFFF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781050" y="1847850"/>
            <a:ext cx="0" cy="453330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0600" y="1847850"/>
            <a:ext cx="10453878" cy="45333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85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台灣高溫多雨，有dsad機質加速分解，一般果園有機質含量偏低。dsad施用有機肥可dsad被微生物分解供作物吸收，</a:t>
            </a:r>
            <a:r>
              <a:rPr lang="en-US" sz="1050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促進土壤團粒構造</a:t>
            </a:r>
            <a:r>
              <a:rPr lang="en-US" sz="105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，改善排水通氣性，並增加保水保肥能力，間接提高根群對各種養分吸dasd收率。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2000" y="2571750"/>
            <a:ext cx="5229225" cy="1646039"/>
          </a:xfrm>
          <a:prstGeom prst="rect">
            <a:avLst/>
          </a:prstGeom>
          <a:solidFill>
            <a:srgbClr val="FFFFFF"/>
          </a:solidFill>
          <a:effectLst>
            <a:outerShdw blurRad="9525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952500" y="2590800"/>
            <a:ext cx="4848225" cy="0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2500" y="2800350"/>
            <a:ext cx="4945190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asdsa腐熟堆肥｜可多量使用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952500" y="3143250"/>
            <a:ext cx="4945190" cy="218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0"/>
              </a:lnSpc>
              <a:spcAft>
                <a:spcPts val="600"/>
              </a:spcAft>
              <a:buNone/>
            </a:pPr>
            <a:r>
              <a:rPr lang="en-US" sz="101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含碳（纖維）較asdasd高的</a:t>
            </a:r>
            <a:r>
              <a:rPr lang="en-US" sz="1015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腐熟堆肥</a:t>
            </a:r>
            <a:r>
              <a:rPr lang="en-US" sz="101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，有機質含量達 60%，氮、磷、鉀含量約 1%。</a:t>
            </a:r>
            <a:endParaRPr lang="en-US" sz="1015" dirty="0"/>
          </a:p>
        </p:txBody>
      </p:sp>
      <p:sp>
        <p:nvSpPr>
          <p:cNvPr id="15" name="Text 13"/>
          <p:cNvSpPr/>
          <p:nvPr/>
        </p:nvSpPr>
        <p:spPr>
          <a:xfrm>
            <a:off x="952500" y="3437930"/>
            <a:ext cx="4945190" cy="218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0"/>
              </a:lnSpc>
              <a:spcAft>
                <a:spcPts val="600"/>
              </a:spcAft>
              <a:buNone/>
            </a:pPr>
            <a:r>
              <a:rPr lang="en-US" sz="101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成株每年可d施用 </a:t>
            </a:r>
            <a:r>
              <a:rPr lang="en-US" sz="1015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 公斤以上</a:t>
            </a:r>
            <a:r>
              <a:rPr lang="en-US" sz="101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，安全dsad且可改善土壤理化性。</a:t>
            </a:r>
            <a:endParaRPr lang="en-US" sz="1015" dirty="0"/>
          </a:p>
        </p:txBody>
      </p:sp>
      <p:sp>
        <p:nvSpPr>
          <p:cNvPr id="16" name="Text 14"/>
          <p:cNvSpPr/>
          <p:nvPr/>
        </p:nvSpPr>
        <p:spPr>
          <a:xfrm>
            <a:off x="952500" y="3732609"/>
            <a:ext cx="4945190" cy="218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0"/>
              </a:lnSpc>
              <a:spcAft>
                <a:spcPts val="600"/>
              </a:spcAft>
              <a:buNone/>
            </a:pPr>
            <a:r>
              <a:rPr lang="en-US" sz="101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建議選購氮含sadasd量 </a:t>
            </a:r>
            <a:r>
              <a:rPr lang="en-US" sz="1015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2% 以下</a:t>
            </a:r>
            <a:r>
              <a:rPr lang="en-US" sz="101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之堆肥，避免影響果實品質。</a:t>
            </a:r>
            <a:endParaRPr lang="en-US" sz="1015" dirty="0"/>
          </a:p>
        </p:txBody>
      </p:sp>
      <p:sp>
        <p:nvSpPr>
          <p:cNvPr id="17" name="Text 15"/>
          <p:cNvSpPr/>
          <p:nvPr/>
        </p:nvSpPr>
        <p:spPr>
          <a:xfrm>
            <a:off x="6200775" y="2571750"/>
            <a:ext cx="5229225" cy="1646039"/>
          </a:xfrm>
          <a:prstGeom prst="rect">
            <a:avLst/>
          </a:prstGeom>
          <a:solidFill>
            <a:srgbClr val="FFFFFF"/>
          </a:solidFill>
          <a:effectLst>
            <a:outerShdw blurRad="9525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91275" y="2590800"/>
            <a:ext cx="4848225" cy="0"/>
          </a:xfrm>
          <a:prstGeom prst="line">
            <a:avLst/>
          </a:prstGeom>
          <a:noFill/>
          <a:ln w="38100">
            <a:solidFill>
              <a:srgbClr val="B1451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91275" y="2800350"/>
            <a:ext cx="4945190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1350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dsa豆粕類有機物｜少量混用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91275" y="3143250"/>
            <a:ext cx="4945190" cy="218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0"/>
              </a:lnSpc>
              <a:spcAft>
                <a:spcPts val="600"/>
              </a:spcAft>
              <a:buNone/>
            </a:pPr>
            <a:r>
              <a:rPr lang="en-US" sz="101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含氮較高之豆dsad粕類：大豆粕含氮 </a:t>
            </a:r>
            <a:r>
              <a:rPr lang="en-US" sz="1015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7.5%</a:t>
            </a:r>
            <a:r>
              <a:rPr lang="en-US" sz="101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、asd花生粕 </a:t>
            </a:r>
            <a:r>
              <a:rPr lang="en-US" sz="1015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6.5%</a:t>
            </a:r>
            <a:r>
              <a:rPr lang="en-US" sz="101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015" dirty="0"/>
          </a:p>
        </p:txBody>
      </p:sp>
      <p:sp>
        <p:nvSpPr>
          <p:cNvPr id="21" name="Text 19"/>
          <p:cNvSpPr/>
          <p:nvPr/>
        </p:nvSpPr>
        <p:spPr>
          <a:xfrm>
            <a:off x="6391275" y="3437930"/>
            <a:ext cx="4945190" cy="218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0"/>
              </a:lnSpc>
              <a:spcAft>
                <a:spcPts val="600"/>
              </a:spcAft>
              <a:buNone/>
            </a:pPr>
            <a:r>
              <a:rPr lang="en-US" sz="101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dasd每株僅能少量 </a:t>
            </a:r>
            <a:r>
              <a:rPr lang="en-US" sz="1015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3~5 公斤</a:t>
            </a:r>
            <a:r>
              <a:rPr lang="en-US" sz="101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混合使用，避免dsad大量施用。</a:t>
            </a:r>
            <a:endParaRPr lang="en-US" sz="1015" dirty="0"/>
          </a:p>
        </p:txBody>
      </p:sp>
      <p:sp>
        <p:nvSpPr>
          <p:cNvPr id="22" name="Text 20"/>
          <p:cNvSpPr/>
          <p:nvPr/>
        </p:nvSpPr>
        <p:spPr>
          <a:xfrm>
            <a:off x="6391275" y="3732609"/>
            <a:ext cx="4945190" cy="2184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20"/>
              </a:lnSpc>
              <a:spcAft>
                <a:spcPts val="600"/>
              </a:spcAft>
              <a:buNone/>
            </a:pPr>
            <a:r>
              <a:rPr lang="en-US" sz="101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過量恐因發酵熱dsa（達 50℃以上）及daa有機酸過高而addd</a:t>
            </a:r>
            <a:r>
              <a:rPr lang="en-US" sz="1015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傷害根系</a:t>
            </a:r>
            <a:r>
              <a:rPr lang="en-US" sz="1015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。</a:t>
            </a:r>
            <a:endParaRPr lang="en-US" sz="1015" dirty="0"/>
          </a:p>
        </p:txBody>
      </p:sp>
      <p:sp>
        <p:nvSpPr>
          <p:cNvPr id="23" name="Text 21"/>
          <p:cNvSpPr/>
          <p:nvPr/>
        </p:nvSpPr>
        <p:spPr>
          <a:xfrm>
            <a:off x="762000" y="5581650"/>
            <a:ext cx="10668000" cy="704850"/>
          </a:xfrm>
          <a:prstGeom prst="rect">
            <a:avLst/>
          </a:prstGeom>
          <a:solidFill>
            <a:srgbClr val="2D5A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990600" y="5695950"/>
            <a:ext cx="3322701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FFD9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有機肥施用量參考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90600" y="5924550"/>
            <a:ext cx="3322701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300"/>
              </a:spcBef>
              <a:buNone/>
            </a:pPr>
            <a:r>
              <a:rPr lang="en-US" sz="1350" b="1" dirty="0">
                <a:solidFill>
                  <a:srgbClr val="FFD9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冬季期｜穴施、溝dsad施或環施於樹冠下周圍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775975" y="5719763"/>
            <a:ext cx="763578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3~das5 年生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75975" y="5900738"/>
            <a:ext cx="763578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5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20~30 kg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8059891" y="5719763"/>
            <a:ext cx="763578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5~dsa10 年生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059891" y="5900738"/>
            <a:ext cx="763578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5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30~50 kg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10342796" y="5719763"/>
            <a:ext cx="866805" cy="1619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>
                    <a:alpha val="70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ds年生以上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342796" y="5900738"/>
            <a:ext cx="866805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50"/>
              </a:spcBef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50~100 kg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762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2D5A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33884" y="552450"/>
            <a:ext cx="241825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276350" y="552450"/>
            <a:ext cx="1292313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施肥時期與方法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602986" y="571500"/>
            <a:ext cx="1863554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 3｜施肥時期及分配率（%）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62000" y="952500"/>
            <a:ext cx="2642616" cy="4667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F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施肥時期與分配率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762000" y="1466850"/>
            <a:ext cx="571500" cy="38100"/>
          </a:xfrm>
          <a:prstGeom prst="rect">
            <a:avLst/>
          </a:prstGeom>
          <a:solidFill>
            <a:srgbClr val="FFD96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>
            <p:custDataLst>
              <p:tags r:id="rId1"/>
            </p:custDataLst>
          </p:nvPr>
        </p:nvSpPr>
        <p:spPr>
          <a:xfrm>
            <a:off x="762000" y="1905000"/>
            <a:ext cx="2026890" cy="1315641"/>
          </a:xfrm>
          <a:prstGeom prst="rect">
            <a:avLst/>
          </a:prstGeom>
          <a:solidFill>
            <a:srgbClr val="FFFFFF"/>
          </a:solidFill>
          <a:effectLst>
            <a:outerShdw blurRad="9525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Shape 7"/>
          <p:cNvSpPr/>
          <p:nvPr>
            <p:custDataLst>
              <p:tags r:id="rId2"/>
            </p:custDataLst>
          </p:nvPr>
        </p:nvSpPr>
        <p:spPr>
          <a:xfrm>
            <a:off x="895350" y="1924050"/>
            <a:ext cx="1760190" cy="0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895350" y="2085975"/>
            <a:ext cx="931218" cy="241697"/>
          </a:xfrm>
          <a:prstGeom prst="roundRect">
            <a:avLst>
              <a:gd name="adj" fmla="val 11823"/>
            </a:avLst>
          </a:prstGeom>
          <a:solidFill>
            <a:srgbClr val="2D5A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990600" y="2114550"/>
            <a:ext cx="755532" cy="1845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5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9月中~10月初</a:t>
            </a:r>
            <a:endParaRPr lang="en-US" sz="940" dirty="0"/>
          </a:p>
        </p:txBody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895350" y="2422922"/>
            <a:ext cx="1795394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禮肥</a:t>
            </a:r>
            <a:endParaRPr lang="en-US" sz="1275" dirty="0"/>
          </a:p>
        </p:txBody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895350" y="2718197"/>
            <a:ext cx="1795394" cy="3690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5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採收後視樹勢酌施asddsadw台肥1號或5號）。</a:t>
            </a:r>
            <a:endParaRPr lang="en-US" sz="940" dirty="0"/>
          </a:p>
        </p:txBody>
      </p:sp>
      <p:sp>
        <p:nvSpPr>
          <p:cNvPr id="14" name="Text 12"/>
          <p:cNvSpPr/>
          <p:nvPr>
            <p:custDataLst>
              <p:tags r:id="rId7"/>
            </p:custDataLst>
          </p:nvPr>
        </p:nvSpPr>
        <p:spPr>
          <a:xfrm>
            <a:off x="2922240" y="1905000"/>
            <a:ext cx="2026890" cy="1315641"/>
          </a:xfrm>
          <a:prstGeom prst="rect">
            <a:avLst/>
          </a:prstGeom>
          <a:solidFill>
            <a:srgbClr val="FFFFFF"/>
          </a:solidFill>
          <a:effectLst>
            <a:outerShdw blurRad="9525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>
            <p:custDataLst>
              <p:tags r:id="rId8"/>
            </p:custDataLst>
          </p:nvPr>
        </p:nvSpPr>
        <p:spPr>
          <a:xfrm>
            <a:off x="3055590" y="1924050"/>
            <a:ext cx="1760190" cy="0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16" name="Text 14"/>
          <p:cNvSpPr/>
          <p:nvPr>
            <p:custDataLst>
              <p:tags r:id="rId9"/>
            </p:custDataLst>
          </p:nvPr>
        </p:nvSpPr>
        <p:spPr>
          <a:xfrm>
            <a:off x="3055590" y="2085975"/>
            <a:ext cx="640110" cy="241697"/>
          </a:xfrm>
          <a:prstGeom prst="roundRect">
            <a:avLst>
              <a:gd name="adj" fmla="val 11823"/>
            </a:avLst>
          </a:prstGeom>
          <a:solidFill>
            <a:srgbClr val="2D5A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>
            <p:custDataLst>
              <p:tags r:id="rId10"/>
            </p:custDataLst>
          </p:nvPr>
        </p:nvSpPr>
        <p:spPr>
          <a:xfrm>
            <a:off x="3150840" y="2114550"/>
            <a:ext cx="458602" cy="1845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5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11~12月</a:t>
            </a:r>
            <a:endParaRPr lang="en-US" sz="940" dirty="0"/>
          </a:p>
        </p:txBody>
      </p:sp>
      <p:sp>
        <p:nvSpPr>
          <p:cNvPr id="18" name="Text 16"/>
          <p:cNvSpPr/>
          <p:nvPr>
            <p:custDataLst>
              <p:tags r:id="rId11"/>
            </p:custDataLst>
          </p:nvPr>
        </p:nvSpPr>
        <p:spPr>
          <a:xfrm>
            <a:off x="3055590" y="2422922"/>
            <a:ext cx="1795394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基肥</a:t>
            </a:r>
            <a:endParaRPr lang="en-US" sz="1275" dirty="0"/>
          </a:p>
        </p:txBody>
      </p:sp>
      <p:sp>
        <p:nvSpPr>
          <p:cNvPr id="19" name="Text 17"/>
          <p:cNvSpPr/>
          <p:nvPr>
            <p:custDataLst>
              <p:tags r:id="rId12"/>
            </p:custDataLst>
          </p:nvPr>
        </p:nvSpPr>
        <p:spPr>
          <a:xfrm>
            <a:off x="3055590" y="2718197"/>
            <a:ext cx="1795394" cy="3690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5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有機肥為主、化dsa30~50公分，可併用土壤改良劑。</a:t>
            </a:r>
            <a:endParaRPr lang="en-US" sz="940" dirty="0"/>
          </a:p>
        </p:txBody>
      </p:sp>
      <p:sp>
        <p:nvSpPr>
          <p:cNvPr id="20" name="Text 18"/>
          <p:cNvSpPr/>
          <p:nvPr>
            <p:custDataLst>
              <p:tags r:id="rId13"/>
            </p:custDataLst>
          </p:nvPr>
        </p:nvSpPr>
        <p:spPr>
          <a:xfrm>
            <a:off x="5082480" y="1905000"/>
            <a:ext cx="2026890" cy="1315641"/>
          </a:xfrm>
          <a:prstGeom prst="rect">
            <a:avLst/>
          </a:prstGeom>
          <a:solidFill>
            <a:srgbClr val="FFFFFF"/>
          </a:solidFill>
          <a:effectLst>
            <a:outerShdw blurRad="9525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Shape 19"/>
          <p:cNvSpPr/>
          <p:nvPr>
            <p:custDataLst>
              <p:tags r:id="rId14"/>
            </p:custDataLst>
          </p:nvPr>
        </p:nvSpPr>
        <p:spPr>
          <a:xfrm>
            <a:off x="5215830" y="1924050"/>
            <a:ext cx="1760190" cy="0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22" name="Text 20"/>
          <p:cNvSpPr/>
          <p:nvPr>
            <p:custDataLst>
              <p:tags r:id="rId15"/>
            </p:custDataLst>
          </p:nvPr>
        </p:nvSpPr>
        <p:spPr>
          <a:xfrm>
            <a:off x="5215830" y="2085975"/>
            <a:ext cx="507950" cy="241697"/>
          </a:xfrm>
          <a:prstGeom prst="roundRect">
            <a:avLst>
              <a:gd name="adj" fmla="val 11823"/>
            </a:avLst>
          </a:prstGeom>
          <a:solidFill>
            <a:srgbClr val="2D5A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>
            <p:custDataLst>
              <p:tags r:id="rId16"/>
            </p:custDataLst>
          </p:nvPr>
        </p:nvSpPr>
        <p:spPr>
          <a:xfrm>
            <a:off x="5311080" y="2114550"/>
            <a:ext cx="323799" cy="1845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5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3~4月</a:t>
            </a:r>
            <a:endParaRPr lang="en-US" sz="940" dirty="0"/>
          </a:p>
        </p:txBody>
      </p:sp>
      <p:sp>
        <p:nvSpPr>
          <p:cNvPr id="24" name="Text 22"/>
          <p:cNvSpPr/>
          <p:nvPr>
            <p:custDataLst>
              <p:tags r:id="rId17"/>
            </p:custDataLst>
          </p:nvPr>
        </p:nvSpPr>
        <p:spPr>
          <a:xfrm>
            <a:off x="5215830" y="2422922"/>
            <a:ext cx="1795394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春肥</a:t>
            </a:r>
            <a:endParaRPr lang="en-US" sz="1275" dirty="0"/>
          </a:p>
        </p:txBody>
      </p:sp>
      <p:sp>
        <p:nvSpPr>
          <p:cNvPr id="25" name="Text 23"/>
          <p:cNvSpPr/>
          <p:nvPr>
            <p:custDataLst>
              <p:tags r:id="rId18"/>
            </p:custDataLst>
          </p:nvPr>
        </p:nvSpPr>
        <p:spPr>
          <a:xfrm>
            <a:off x="5215830" y="2718197"/>
            <a:ext cx="1795394" cy="3690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5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幼果期，台肥5號dsa3號，雨後撒施樹冠下周圍。</a:t>
            </a:r>
            <a:endParaRPr lang="en-US" sz="940" dirty="0"/>
          </a:p>
        </p:txBody>
      </p:sp>
      <p:sp>
        <p:nvSpPr>
          <p:cNvPr id="26" name="Text 24"/>
          <p:cNvSpPr/>
          <p:nvPr>
            <p:custDataLst>
              <p:tags r:id="rId19"/>
            </p:custDataLst>
          </p:nvPr>
        </p:nvSpPr>
        <p:spPr>
          <a:xfrm>
            <a:off x="7242721" y="1905000"/>
            <a:ext cx="2026890" cy="1315641"/>
          </a:xfrm>
          <a:prstGeom prst="rect">
            <a:avLst/>
          </a:prstGeom>
          <a:solidFill>
            <a:srgbClr val="FFFFFF"/>
          </a:solidFill>
          <a:effectLst>
            <a:outerShdw blurRad="9525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>
            <p:custDataLst>
              <p:tags r:id="rId20"/>
            </p:custDataLst>
          </p:nvPr>
        </p:nvSpPr>
        <p:spPr>
          <a:xfrm>
            <a:off x="7376071" y="1924050"/>
            <a:ext cx="1760190" cy="0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28" name="Text 26"/>
          <p:cNvSpPr/>
          <p:nvPr>
            <p:custDataLst>
              <p:tags r:id="rId21"/>
            </p:custDataLst>
          </p:nvPr>
        </p:nvSpPr>
        <p:spPr>
          <a:xfrm>
            <a:off x="7376071" y="2085975"/>
            <a:ext cx="865138" cy="241697"/>
          </a:xfrm>
          <a:prstGeom prst="roundRect">
            <a:avLst>
              <a:gd name="adj" fmla="val 11823"/>
            </a:avLst>
          </a:prstGeom>
          <a:solidFill>
            <a:srgbClr val="2D5A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>
            <p:custDataLst>
              <p:tags r:id="rId22"/>
            </p:custDataLst>
          </p:nvPr>
        </p:nvSpPr>
        <p:spPr>
          <a:xfrm>
            <a:off x="7471321" y="2114550"/>
            <a:ext cx="688131" cy="1845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5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6月底~7月初</a:t>
            </a:r>
            <a:endParaRPr lang="en-US" sz="940" dirty="0"/>
          </a:p>
        </p:txBody>
      </p:sp>
      <p:sp>
        <p:nvSpPr>
          <p:cNvPr id="30" name="Text 28"/>
          <p:cNvSpPr/>
          <p:nvPr>
            <p:custDataLst>
              <p:tags r:id="rId23"/>
            </p:custDataLst>
          </p:nvPr>
        </p:nvSpPr>
        <p:spPr>
          <a:xfrm>
            <a:off x="7376071" y="2422922"/>
            <a:ext cx="1795394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夏肥</a:t>
            </a:r>
            <a:endParaRPr lang="en-US" sz="1275" dirty="0"/>
          </a:p>
        </p:txBody>
      </p:sp>
      <p:sp>
        <p:nvSpPr>
          <p:cNvPr id="31" name="Text 29"/>
          <p:cNvSpPr/>
          <p:nvPr>
            <p:custDataLst>
              <p:tags r:id="rId24"/>
            </p:custDataLst>
          </p:nvPr>
        </p:nvSpPr>
        <p:spPr>
          <a:xfrm>
            <a:off x="7376071" y="2718197"/>
            <a:ext cx="1795394" cy="3690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5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中果期，高das為主（台肥25、43、47號或5號即溶）。</a:t>
            </a:r>
            <a:endParaRPr lang="en-US" sz="940" dirty="0"/>
          </a:p>
        </p:txBody>
      </p:sp>
      <p:sp>
        <p:nvSpPr>
          <p:cNvPr id="32" name="Text 30"/>
          <p:cNvSpPr/>
          <p:nvPr>
            <p:custDataLst>
              <p:tags r:id="rId25"/>
            </p:custDataLst>
          </p:nvPr>
        </p:nvSpPr>
        <p:spPr>
          <a:xfrm>
            <a:off x="9402961" y="1905000"/>
            <a:ext cx="2026890" cy="1315641"/>
          </a:xfrm>
          <a:prstGeom prst="rect">
            <a:avLst/>
          </a:prstGeom>
          <a:solidFill>
            <a:srgbClr val="FFFFFF"/>
          </a:solidFill>
          <a:effectLst>
            <a:outerShdw blurRad="9525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Shape 31"/>
          <p:cNvSpPr/>
          <p:nvPr>
            <p:custDataLst>
              <p:tags r:id="rId26"/>
            </p:custDataLst>
          </p:nvPr>
        </p:nvSpPr>
        <p:spPr>
          <a:xfrm>
            <a:off x="9536311" y="1924050"/>
            <a:ext cx="1760190" cy="0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34" name="Text 32"/>
          <p:cNvSpPr/>
          <p:nvPr>
            <p:custDataLst>
              <p:tags r:id="rId27"/>
            </p:custDataLst>
          </p:nvPr>
        </p:nvSpPr>
        <p:spPr>
          <a:xfrm>
            <a:off x="9536311" y="2085975"/>
            <a:ext cx="951161" cy="241697"/>
          </a:xfrm>
          <a:prstGeom prst="roundRect">
            <a:avLst>
              <a:gd name="adj" fmla="val 11823"/>
            </a:avLst>
          </a:prstGeom>
          <a:solidFill>
            <a:srgbClr val="2D5A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>
            <p:custDataLst>
              <p:tags r:id="rId28"/>
            </p:custDataLst>
          </p:nvPr>
        </p:nvSpPr>
        <p:spPr>
          <a:xfrm>
            <a:off x="9631561" y="2114550"/>
            <a:ext cx="775874" cy="18454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5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採收前1.5個月</a:t>
            </a:r>
            <a:endParaRPr lang="en-US" sz="940" dirty="0"/>
          </a:p>
        </p:txBody>
      </p:sp>
      <p:sp>
        <p:nvSpPr>
          <p:cNvPr id="36" name="Text 34"/>
          <p:cNvSpPr/>
          <p:nvPr>
            <p:custDataLst>
              <p:tags r:id="rId29"/>
            </p:custDataLst>
          </p:nvPr>
        </p:nvSpPr>
        <p:spPr>
          <a:xfrm>
            <a:off x="9536311" y="2422922"/>
            <a:ext cx="1795394" cy="2381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50"/>
              </a:spcBef>
              <a:spcAft>
                <a:spcPts val="450"/>
              </a:spcAft>
              <a:buNone/>
            </a:pPr>
            <a:r>
              <a:rPr lang="en-US" sz="1275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催甜肥</a:t>
            </a:r>
            <a:endParaRPr lang="en-US" sz="1275" dirty="0"/>
          </a:p>
        </p:txBody>
      </p:sp>
      <p:sp>
        <p:nvSpPr>
          <p:cNvPr id="37" name="Text 35"/>
          <p:cNvSpPr/>
          <p:nvPr>
            <p:custDataLst>
              <p:tags r:id="rId30"/>
            </p:custDataLst>
          </p:nvPr>
        </p:nvSpPr>
        <p:spPr>
          <a:xfrm>
            <a:off x="9536311" y="2718197"/>
            <a:ext cx="1795394" cy="36909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5"/>
              </a:lnSpc>
              <a:buNone/>
            </a:pPr>
            <a:r>
              <a:rPr lang="en-US" sz="94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磷酸一鉀dsad 或 台肥6號即溶，稀釋灌施或噴施。</a:t>
            </a:r>
            <a:endParaRPr lang="en-US" sz="940" dirty="0"/>
          </a:p>
        </p:txBody>
      </p:sp>
      <p:sp>
        <p:nvSpPr>
          <p:cNvPr id="38" name="Text 36"/>
          <p:cNvSpPr/>
          <p:nvPr/>
        </p:nvSpPr>
        <p:spPr>
          <a:xfrm>
            <a:off x="762000" y="3619500"/>
            <a:ext cx="10668000" cy="2857500"/>
          </a:xfrm>
          <a:prstGeom prst="rect">
            <a:avLst/>
          </a:prstGeom>
          <a:solidFill>
            <a:srgbClr val="FFFFFF"/>
          </a:solidFill>
          <a:effectLst>
            <a:outerShdw blurRad="133350" dist="38100" dir="5400000" algn="bl" rotWithShape="0">
              <a:srgbClr val="000000">
                <a:alpha val="7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933450" y="3752850"/>
            <a:ext cx="10531602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750"/>
              </a:spcAft>
              <a:buNone/>
            </a:pPr>
            <a:r>
              <a:rPr lang="en-US" sz="12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表 3：麻豆紅柚施肥時期及分配率（%）</a:t>
            </a:r>
            <a:endParaRPr lang="en-US" sz="12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/>
        </p:nvGraphicFramePr>
        <p:xfrm>
          <a:off x="933450" y="4076700"/>
          <a:ext cx="10325101" cy="2266951"/>
        </p:xfrm>
        <a:graphic>
          <a:graphicData uri="http://schemas.openxmlformats.org/drawingml/2006/table">
            <a:tbl>
              <a:tblPr/>
              <a:tblGrid>
                <a:gridCol w="2489359"/>
                <a:gridCol w="2856628"/>
                <a:gridCol w="2489491"/>
                <a:gridCol w="2489623"/>
              </a:tblGrid>
              <a:tr h="319759"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肥料別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基肥（11~12月）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追肥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A3D"/>
                    </a:solidFill>
                  </a:tcPr>
                </a:tc>
                <a:tc hMerge="1">
                  <a:tcPr/>
                </a:tc>
              </a:tr>
              <a:tr h="324532">
                <a:tc vMerge="1">
                  <a:tcPr/>
                </a:tc>
                <a:tc vMerge="1">
                  <a:tcPr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春肥（3~4月）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82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FFFFF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夏肥（6~7月）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8259"/>
                    </a:solidFill>
                  </a:tcPr>
                </a:tc>
              </a:tr>
              <a:tr h="3245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有機肥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全量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dirty="0">
                          <a:solidFill>
                            <a:srgbClr val="AAAAA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—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dirty="0">
                          <a:solidFill>
                            <a:srgbClr val="AAAAA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—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45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氮肥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40%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40%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20%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45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磷肥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全量或50%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0或50%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0%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45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鉀肥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30%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30%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B1451F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40%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2453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鎂肥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b="1" dirty="0">
                          <a:solidFill>
                            <a:srgbClr val="2D5A3D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全量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dirty="0">
                          <a:solidFill>
                            <a:srgbClr val="AAAAA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—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75" dirty="0">
                          <a:solidFill>
                            <a:srgbClr val="AAAAAA"/>
                          </a:solidFill>
                          <a:latin typeface="Noto Sans CJK SC" pitchFamily="34" charset="0"/>
                          <a:ea typeface="Noto Sans CJK SC" pitchFamily="34" charset="-122"/>
                          <a:cs typeface="Noto Sans CJK SC" pitchFamily="34" charset="-120"/>
                        </a:rPr>
                        <a:t>—</a:t>
                      </a:r>
                      <a:endParaRPr lang="en-US" sz="975" dirty="0">
                        <a:latin typeface="Noto Sans CJK SC" pitchFamily="34" charset="0"/>
                        <a:ea typeface="Noto Sans CJK SC" pitchFamily="34" charset="0"/>
                        <a:cs typeface="Noto Sans CJK SC" pitchFamily="34" charset="0"/>
                      </a:endParaRPr>
                    </a:p>
                  </a:txBody>
                  <a:tcPr marL="76200" marR="76200" marT="66675" marB="6667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41" name="Text 38"/>
          <p:cNvSpPr/>
          <p:nvPr/>
        </p:nvSpPr>
        <p:spPr>
          <a:xfrm>
            <a:off x="762000" y="6305550"/>
            <a:ext cx="10668000" cy="323850"/>
          </a:xfrm>
          <a:prstGeom prst="rect">
            <a:avLst/>
          </a:prstGeom>
          <a:solidFill>
            <a:srgbClr val="FFF4DC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39"/>
          <p:cNvSpPr/>
          <p:nvPr/>
        </p:nvSpPr>
        <p:spPr>
          <a:xfrm>
            <a:off x="781050" y="6381750"/>
            <a:ext cx="0" cy="171450"/>
          </a:xfrm>
          <a:prstGeom prst="line">
            <a:avLst/>
          </a:prstGeom>
          <a:noFill/>
          <a:ln w="38100">
            <a:solidFill>
              <a:srgbClr val="FFD96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933450" y="6381750"/>
            <a:ext cx="10570464" cy="1714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5A4A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後期氮肥控制尤為關鍵：著果量少、生長勢旺或幼年株若氮肥過量，將萌生過多夏秋梢，造成果皮增厚、轉色不佳、糖度降低，影響貯運。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Am16bZ/html2pptx-bg-1786385830891-c7352a1c178c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0" y="0"/>
            <a:ext cx="2667000" cy="952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476250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2D5A3D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833884" y="552450"/>
            <a:ext cx="241825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276350" y="552450"/>
            <a:ext cx="73853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施肥方法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229850" y="571500"/>
            <a:ext cx="1224153" cy="1905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8A8A8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施肥方法五種｜結語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762000" y="952500"/>
            <a:ext cx="2312289" cy="46672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550" b="1" dirty="0">
                <a:solidFill>
                  <a:srgbClr val="1F3A2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施肥方法與結語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762000" y="1466850"/>
            <a:ext cx="571500" cy="38100"/>
          </a:xfrm>
          <a:prstGeom prst="rect">
            <a:avLst/>
          </a:prstGeom>
          <a:solidFill>
            <a:srgbClr val="FFD966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6"/>
          <p:cNvSpPr/>
          <p:nvPr>
            <p:custDataLst>
              <p:tags r:id="rId2"/>
            </p:custDataLst>
          </p:nvPr>
        </p:nvSpPr>
        <p:spPr>
          <a:xfrm>
            <a:off x="762000" y="1809750"/>
            <a:ext cx="2026890" cy="2667000"/>
          </a:xfrm>
          <a:prstGeom prst="rect">
            <a:avLst/>
          </a:prstGeom>
          <a:solidFill>
            <a:srgbClr val="FFFFFF"/>
          </a:solidFill>
          <a:effectLst>
            <a:outerShdw blurRad="9525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Shape 7"/>
          <p:cNvSpPr/>
          <p:nvPr>
            <p:custDataLst>
              <p:tags r:id="rId3"/>
            </p:custDataLst>
          </p:nvPr>
        </p:nvSpPr>
        <p:spPr>
          <a:xfrm>
            <a:off x="876300" y="1828800"/>
            <a:ext cx="1798290" cy="0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11" name="Text 8"/>
          <p:cNvSpPr/>
          <p:nvPr>
            <p:custDataLst>
              <p:tags r:id="rId4"/>
            </p:custDataLst>
          </p:nvPr>
        </p:nvSpPr>
        <p:spPr>
          <a:xfrm>
            <a:off x="1603921" y="2000250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E8F0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9"/>
          <p:cNvSpPr/>
          <p:nvPr>
            <p:custDataLst>
              <p:tags r:id="rId5"/>
            </p:custDataLst>
          </p:nvPr>
        </p:nvSpPr>
        <p:spPr>
          <a:xfrm>
            <a:off x="1724769" y="2038796"/>
            <a:ext cx="103227" cy="2656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35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1350" dirty="0"/>
          </a:p>
        </p:txBody>
      </p:sp>
      <p:sp>
        <p:nvSpPr>
          <p:cNvPr id="13" name="Text 10"/>
          <p:cNvSpPr/>
          <p:nvPr>
            <p:custDataLst>
              <p:tags r:id="rId6"/>
            </p:custDataLst>
          </p:nvPr>
        </p:nvSpPr>
        <p:spPr>
          <a:xfrm>
            <a:off x="858317" y="2438400"/>
            <a:ext cx="183425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溝施法</a:t>
            </a:r>
            <a:endParaRPr lang="en-US" sz="1200" dirty="0"/>
          </a:p>
        </p:txBody>
      </p:sp>
      <p:sp>
        <p:nvSpPr>
          <p:cNvPr id="14" name="Text 11"/>
          <p:cNvSpPr/>
          <p:nvPr>
            <p:custDataLst>
              <p:tags r:id="rId7"/>
            </p:custDataLst>
          </p:nvPr>
        </p:nvSpPr>
        <p:spPr>
          <a:xfrm>
            <a:off x="876300" y="2743200"/>
            <a:ext cx="1834256" cy="5313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樹冠邊緣處開溝，寬 </a:t>
            </a:r>
            <a:r>
              <a:rPr lang="en-US" sz="900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30~40公分</a:t>
            </a:r>
            <a:r>
              <a:rPr lang="en-US" sz="9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，深 </a:t>
            </a:r>
            <a:r>
              <a:rPr lang="en-US" sz="900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20~30公分</a:t>
            </a:r>
            <a:r>
              <a:rPr lang="en-US" sz="9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，asd有機肥、改良劑與部分化肥一併施入後覆土。</a:t>
            </a:r>
            <a:endParaRPr lang="en-US" sz="900" dirty="0"/>
          </a:p>
        </p:txBody>
      </p:sp>
      <p:sp>
        <p:nvSpPr>
          <p:cNvPr id="15" name="Text 12"/>
          <p:cNvSpPr/>
          <p:nvPr>
            <p:custDataLst>
              <p:tags r:id="rId8"/>
            </p:custDataLst>
          </p:nvPr>
        </p:nvSpPr>
        <p:spPr>
          <a:xfrm>
            <a:off x="2922240" y="1809750"/>
            <a:ext cx="2026890" cy="2667000"/>
          </a:xfrm>
          <a:prstGeom prst="rect">
            <a:avLst/>
          </a:prstGeom>
          <a:solidFill>
            <a:srgbClr val="FFFFFF"/>
          </a:solidFill>
          <a:effectLst>
            <a:outerShdw blurRad="9525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Shape 13"/>
          <p:cNvSpPr/>
          <p:nvPr>
            <p:custDataLst>
              <p:tags r:id="rId9"/>
            </p:custDataLst>
          </p:nvPr>
        </p:nvSpPr>
        <p:spPr>
          <a:xfrm>
            <a:off x="3036540" y="1828800"/>
            <a:ext cx="1798290" cy="0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17" name="Text 14"/>
          <p:cNvSpPr/>
          <p:nvPr>
            <p:custDataLst>
              <p:tags r:id="rId10"/>
            </p:custDataLst>
          </p:nvPr>
        </p:nvSpPr>
        <p:spPr>
          <a:xfrm>
            <a:off x="3764161" y="2000250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E8F0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>
            <p:custDataLst>
              <p:tags r:id="rId11"/>
            </p:custDataLst>
          </p:nvPr>
        </p:nvSpPr>
        <p:spPr>
          <a:xfrm>
            <a:off x="3885009" y="2038796"/>
            <a:ext cx="103227" cy="2656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35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1350" dirty="0"/>
          </a:p>
        </p:txBody>
      </p:sp>
      <p:sp>
        <p:nvSpPr>
          <p:cNvPr id="19" name="Text 16"/>
          <p:cNvSpPr/>
          <p:nvPr>
            <p:custDataLst>
              <p:tags r:id="rId12"/>
            </p:custDataLst>
          </p:nvPr>
        </p:nvSpPr>
        <p:spPr>
          <a:xfrm>
            <a:off x="3018557" y="2438400"/>
            <a:ext cx="183425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穴施法</a:t>
            </a:r>
            <a:endParaRPr lang="en-US" sz="1200" dirty="0"/>
          </a:p>
        </p:txBody>
      </p:sp>
      <p:sp>
        <p:nvSpPr>
          <p:cNvPr id="20" name="Text 17"/>
          <p:cNvSpPr/>
          <p:nvPr>
            <p:custDataLst>
              <p:tags r:id="rId13"/>
            </p:custDataLst>
          </p:nvPr>
        </p:nvSpPr>
        <p:spPr>
          <a:xfrm>
            <a:off x="3036540" y="2743200"/>
            <a:ext cx="1834256" cy="5313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樹冠四周鑽 </a:t>
            </a:r>
            <a:r>
              <a:rPr lang="en-US" sz="900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5~8穴</a:t>
            </a:r>
            <a:r>
              <a:rPr lang="en-US" sz="9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，直徑 15~20 公分，深 40adsd，基肥全量施入並覆土。</a:t>
            </a:r>
            <a:endParaRPr lang="en-US" sz="900" dirty="0"/>
          </a:p>
        </p:txBody>
      </p:sp>
      <p:sp>
        <p:nvSpPr>
          <p:cNvPr id="21" name="Text 18"/>
          <p:cNvSpPr/>
          <p:nvPr>
            <p:custDataLst>
              <p:tags r:id="rId14"/>
            </p:custDataLst>
          </p:nvPr>
        </p:nvSpPr>
        <p:spPr>
          <a:xfrm>
            <a:off x="5082480" y="1809750"/>
            <a:ext cx="2026890" cy="2667000"/>
          </a:xfrm>
          <a:prstGeom prst="rect">
            <a:avLst/>
          </a:prstGeom>
          <a:solidFill>
            <a:srgbClr val="FFFFFF"/>
          </a:solidFill>
          <a:effectLst>
            <a:outerShdw blurRad="9525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Shape 19"/>
          <p:cNvSpPr/>
          <p:nvPr>
            <p:custDataLst>
              <p:tags r:id="rId15"/>
            </p:custDataLst>
          </p:nvPr>
        </p:nvSpPr>
        <p:spPr>
          <a:xfrm>
            <a:off x="5196780" y="1828800"/>
            <a:ext cx="1798290" cy="0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23" name="Text 20"/>
          <p:cNvSpPr/>
          <p:nvPr>
            <p:custDataLst>
              <p:tags r:id="rId16"/>
            </p:custDataLst>
          </p:nvPr>
        </p:nvSpPr>
        <p:spPr>
          <a:xfrm>
            <a:off x="5924401" y="2000250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E8F0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>
            <p:custDataLst>
              <p:tags r:id="rId17"/>
            </p:custDataLst>
          </p:nvPr>
        </p:nvSpPr>
        <p:spPr>
          <a:xfrm>
            <a:off x="6045250" y="2038796"/>
            <a:ext cx="103227" cy="2656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35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1350" dirty="0"/>
          </a:p>
        </p:txBody>
      </p:sp>
      <p:sp>
        <p:nvSpPr>
          <p:cNvPr id="25" name="Text 22"/>
          <p:cNvSpPr/>
          <p:nvPr>
            <p:custDataLst>
              <p:tags r:id="rId18"/>
            </p:custDataLst>
          </p:nvPr>
        </p:nvSpPr>
        <p:spPr>
          <a:xfrm>
            <a:off x="5178798" y="2438400"/>
            <a:ext cx="183425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環施法</a:t>
            </a:r>
            <a:endParaRPr lang="en-US" sz="1200" dirty="0"/>
          </a:p>
        </p:txBody>
      </p:sp>
      <p:sp>
        <p:nvSpPr>
          <p:cNvPr id="26" name="Text 23"/>
          <p:cNvSpPr/>
          <p:nvPr>
            <p:custDataLst>
              <p:tags r:id="rId19"/>
            </p:custDataLst>
          </p:nvPr>
        </p:nvSpPr>
        <p:spPr>
          <a:xfrm>
            <a:off x="5196780" y="2743200"/>
            <a:ext cx="1834256" cy="5313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適宜幼樹（1~3年生），樹冠周圍環狀開溝，寬dsadwd，深dawd~20 公分，施入基肥並覆土。</a:t>
            </a:r>
            <a:endParaRPr lang="en-US" sz="900" dirty="0"/>
          </a:p>
        </p:txBody>
      </p:sp>
      <p:sp>
        <p:nvSpPr>
          <p:cNvPr id="27" name="Text 24"/>
          <p:cNvSpPr/>
          <p:nvPr>
            <p:custDataLst>
              <p:tags r:id="rId20"/>
            </p:custDataLst>
          </p:nvPr>
        </p:nvSpPr>
        <p:spPr>
          <a:xfrm>
            <a:off x="7242721" y="1809750"/>
            <a:ext cx="2026890" cy="2667000"/>
          </a:xfrm>
          <a:prstGeom prst="rect">
            <a:avLst/>
          </a:prstGeom>
          <a:solidFill>
            <a:srgbClr val="FFFFFF"/>
          </a:solidFill>
          <a:effectLst>
            <a:outerShdw blurRad="9525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Shape 25"/>
          <p:cNvSpPr/>
          <p:nvPr>
            <p:custDataLst>
              <p:tags r:id="rId21"/>
            </p:custDataLst>
          </p:nvPr>
        </p:nvSpPr>
        <p:spPr>
          <a:xfrm>
            <a:off x="7357021" y="1828800"/>
            <a:ext cx="1798290" cy="0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29" name="Text 26"/>
          <p:cNvSpPr/>
          <p:nvPr>
            <p:custDataLst>
              <p:tags r:id="rId22"/>
            </p:custDataLst>
          </p:nvPr>
        </p:nvSpPr>
        <p:spPr>
          <a:xfrm>
            <a:off x="8084641" y="2000250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E8F0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>
            <p:custDataLst>
              <p:tags r:id="rId23"/>
            </p:custDataLst>
          </p:nvPr>
        </p:nvSpPr>
        <p:spPr>
          <a:xfrm>
            <a:off x="8205490" y="2038796"/>
            <a:ext cx="103227" cy="2656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35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</a:t>
            </a:r>
            <a:endParaRPr lang="en-US" sz="1350" dirty="0"/>
          </a:p>
        </p:txBody>
      </p:sp>
      <p:sp>
        <p:nvSpPr>
          <p:cNvPr id="31" name="Text 28"/>
          <p:cNvSpPr/>
          <p:nvPr>
            <p:custDataLst>
              <p:tags r:id="rId24"/>
            </p:custDataLst>
          </p:nvPr>
        </p:nvSpPr>
        <p:spPr>
          <a:xfrm>
            <a:off x="7339038" y="2438400"/>
            <a:ext cx="1834256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放射狀法</a:t>
            </a:r>
            <a:endParaRPr lang="en-US" sz="1200" dirty="0"/>
          </a:p>
        </p:txBody>
      </p:sp>
      <p:sp>
        <p:nvSpPr>
          <p:cNvPr id="32" name="Text 29"/>
          <p:cNvSpPr/>
          <p:nvPr>
            <p:custDataLst>
              <p:tags r:id="rId25"/>
            </p:custDataLst>
          </p:nvPr>
        </p:nvSpPr>
        <p:spPr>
          <a:xfrm>
            <a:off x="7357021" y="2743200"/>
            <a:ext cx="1834256" cy="5313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以樹幹為中心，向外開 </a:t>
            </a:r>
            <a:r>
              <a:rPr lang="en-US" sz="900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4wda</a:t>
            </a:r>
            <a:r>
              <a:rPr lang="en-US" sz="9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溝，漸往外越深越寬。</a:t>
            </a:r>
            <a:endParaRPr lang="en-US" sz="900" dirty="0"/>
          </a:p>
        </p:txBody>
      </p:sp>
      <p:sp>
        <p:nvSpPr>
          <p:cNvPr id="33" name="Text 30"/>
          <p:cNvSpPr/>
          <p:nvPr>
            <p:custDataLst>
              <p:tags r:id="rId26"/>
            </p:custDataLst>
          </p:nvPr>
        </p:nvSpPr>
        <p:spPr>
          <a:xfrm>
            <a:off x="9402961" y="1809750"/>
            <a:ext cx="2027039" cy="2667000"/>
          </a:xfrm>
          <a:prstGeom prst="rect">
            <a:avLst/>
          </a:prstGeom>
          <a:solidFill>
            <a:srgbClr val="FFFFFF"/>
          </a:solidFill>
          <a:effectLst>
            <a:outerShdw blurRad="95250" dist="19050" dir="5400000" algn="bl" rotWithShape="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1"/>
          <p:cNvSpPr/>
          <p:nvPr>
            <p:custDataLst>
              <p:tags r:id="rId27"/>
            </p:custDataLst>
          </p:nvPr>
        </p:nvSpPr>
        <p:spPr>
          <a:xfrm>
            <a:off x="9517261" y="1828800"/>
            <a:ext cx="1798439" cy="0"/>
          </a:xfrm>
          <a:prstGeom prst="line">
            <a:avLst/>
          </a:prstGeom>
          <a:noFill/>
          <a:ln w="38100">
            <a:solidFill>
              <a:srgbClr val="4A8259"/>
            </a:solidFill>
            <a:prstDash val="solid"/>
          </a:ln>
        </p:spPr>
      </p:sp>
      <p:sp>
        <p:nvSpPr>
          <p:cNvPr id="35" name="Text 32"/>
          <p:cNvSpPr/>
          <p:nvPr>
            <p:custDataLst>
              <p:tags r:id="rId28"/>
            </p:custDataLst>
          </p:nvPr>
        </p:nvSpPr>
        <p:spPr>
          <a:xfrm>
            <a:off x="10245030" y="2000250"/>
            <a:ext cx="342900" cy="342900"/>
          </a:xfrm>
          <a:prstGeom prst="roundRect">
            <a:avLst>
              <a:gd name="adj" fmla="val 266667"/>
            </a:avLst>
          </a:prstGeom>
          <a:solidFill>
            <a:srgbClr val="E8F0E9"/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>
            <p:custDataLst>
              <p:tags r:id="rId29"/>
            </p:custDataLst>
          </p:nvPr>
        </p:nvSpPr>
        <p:spPr>
          <a:xfrm>
            <a:off x="10365879" y="2038796"/>
            <a:ext cx="103227" cy="26565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35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5</a:t>
            </a:r>
            <a:endParaRPr lang="en-US" sz="1350" dirty="0"/>
          </a:p>
        </p:txBody>
      </p:sp>
      <p:sp>
        <p:nvSpPr>
          <p:cNvPr id="37" name="Text 34"/>
          <p:cNvSpPr/>
          <p:nvPr>
            <p:custDataLst>
              <p:tags r:id="rId30"/>
            </p:custDataLst>
          </p:nvPr>
        </p:nvSpPr>
        <p:spPr>
          <a:xfrm>
            <a:off x="9499277" y="2438400"/>
            <a:ext cx="1834408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D5A3D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撒施法</a:t>
            </a:r>
            <a:endParaRPr lang="en-US" sz="1200" dirty="0"/>
          </a:p>
        </p:txBody>
      </p:sp>
      <p:sp>
        <p:nvSpPr>
          <p:cNvPr id="38" name="Text 35"/>
          <p:cNvSpPr/>
          <p:nvPr>
            <p:custDataLst>
              <p:tags r:id="rId31"/>
            </p:custDataLst>
          </p:nvPr>
        </p:nvSpPr>
        <p:spPr>
          <a:xfrm>
            <a:off x="9517261" y="2743200"/>
            <a:ext cx="1834408" cy="53131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用於春、夏肥，撒wda樹冠下周圍。須配合</a:t>
            </a:r>
            <a:r>
              <a:rPr lang="en-US" sz="900" b="1" dirty="0">
                <a:solidFill>
                  <a:srgbClr val="B1451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水dwaa</a:t>
            </a:r>
            <a:r>
              <a:rPr lang="en-US" sz="900" dirty="0">
                <a:solidFill>
                  <a:srgbClr val="33333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，太乾或大雨均不宜。</a:t>
            </a:r>
            <a:endParaRPr lang="en-US" sz="900" dirty="0"/>
          </a:p>
        </p:txBody>
      </p:sp>
      <p:pic>
        <p:nvPicPr>
          <p:cNvPr id="39" name="Image 1" descr="/tmp/html2pptx-Am16bZ/html2pptx-bg-1786385831030-0730e14f69bbf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62000" y="5505450"/>
            <a:ext cx="10668000" cy="876300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1009650" y="5676900"/>
            <a:ext cx="533400" cy="533400"/>
          </a:xfrm>
          <a:prstGeom prst="roundRect">
            <a:avLst>
              <a:gd name="adj" fmla="val 171429"/>
            </a:avLst>
          </a:prstGeom>
          <a:solidFill>
            <a:srgbClr val="FFD966">
              <a:alpha val="15000"/>
            </a:srgbClr>
          </a:solidFill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1185267" y="5753100"/>
            <a:ext cx="185809" cy="3810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dirty="0">
                <a:solidFill>
                  <a:srgbClr val="FFD9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✓</a:t>
            </a:r>
            <a:endParaRPr lang="en-US" sz="2100" dirty="0"/>
          </a:p>
        </p:txBody>
      </p:sp>
      <p:sp>
        <p:nvSpPr>
          <p:cNvPr id="42" name="Text 38"/>
          <p:cNvSpPr/>
          <p:nvPr/>
        </p:nvSpPr>
        <p:spPr>
          <a:xfrm>
            <a:off x="1771650" y="5697885"/>
            <a:ext cx="9598914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en-US" sz="1350" b="1" dirty="0">
                <a:solidFill>
                  <a:srgbClr val="FFD96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合理化施肥｜降本dwa產、提質</a:t>
            </a:r>
            <a:endParaRPr lang="en-US" sz="1350" dirty="0"/>
          </a:p>
        </p:txBody>
      </p:sp>
      <p:sp>
        <p:nvSpPr>
          <p:cNvPr id="43" name="Text 39"/>
          <p:cNvSpPr/>
          <p:nvPr/>
        </p:nvSpPr>
        <p:spPr>
          <a:xfrm>
            <a:off x="1771650" y="5983635"/>
            <a:ext cx="9598914" cy="2056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015" dirty="0">
                <a:solidFill>
                  <a:srgbClr val="FFFFFF">
                    <a:alpha val="92000"/>
                  </a:srgbClr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以土壤與葉片診斷為依據dwad產量與氣sdsadwa時機、用量與方法，方能以最少施肥量達到最高產量與品質，並維護土壤永續生產力。</a:t>
            </a:r>
            <a:endParaRPr lang="en-US" sz="1015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6,&quot;left&quot;:60,&quot;top&quot;:240,&quot;width&quot;:840.0000787401575}"/>
</p:tagLst>
</file>

<file path=ppt/tags/tag2.xml><?xml version="1.0" encoding="utf-8"?>
<p:tagLst xmlns:p="http://schemas.openxmlformats.org/presentationml/2006/main">
  <p:tag name="KSO_WM_DIAGRAM_VIRTUALLY_FRAME" val="{&quot;height&quot;:246,&quot;left&quot;:60,&quot;top&quot;:240,&quot;width&quot;:840.0000787401575}"/>
</p:tagLst>
</file>

<file path=ppt/tags/tag3.xml><?xml version="1.0" encoding="utf-8"?>
<p:tagLst xmlns:p="http://schemas.openxmlformats.org/presentationml/2006/main">
  <p:tag name="KSO_WM_DIAGRAM_VIRTUALLY_FRAME" val="{&quot;height&quot;:246,&quot;left&quot;:60,&quot;top&quot;:240,&quot;width&quot;:840.0000787401575}"/>
</p:tagLst>
</file>

<file path=ppt/tags/tag4.xml><?xml version="1.0" encoding="utf-8"?>
<p:tagLst xmlns:p="http://schemas.openxmlformats.org/presentationml/2006/main">
  <p:tag name="KSO_WM_DIAGRAM_VIRTUALLY_FRAME" val="{&quot;height&quot;:246,&quot;left&quot;:60,&quot;top&quot;:240,&quot;width&quot;:840.0000787401575}"/>
</p:tagLst>
</file>

<file path=ppt/tags/tag5.xml><?xml version="1.0" encoding="utf-8"?>
<p:tagLst xmlns:p="http://schemas.openxmlformats.org/presentationml/2006/main">
  <p:tag name="KSO_WM_DIAGRAM_VIRTUALLY_FRAME" val="{&quot;height&quot;:246,&quot;left&quot;:60,&quot;top&quot;:240,&quot;width&quot;:840.0000787401575}"/>
</p:tagLst>
</file>

<file path=ppt/tags/tag6.xml><?xml version="1.0" encoding="utf-8"?>
<p:tagLst xmlns:p="http://schemas.openxmlformats.org/presentationml/2006/main">
  <p:tag name="KSO_WM_DIAGRAM_VIRTUALLY_FRAME" val="{&quot;height&quot;:246,&quot;left&quot;:60,&quot;top&quot;:240,&quot;width&quot;:840.0000787401575}"/>
</p:tagLst>
</file>

<file path=ppt/tags/tag7.xml><?xml version="1.0" encoding="utf-8"?>
<p:tagLst xmlns:p="http://schemas.openxmlformats.org/presentationml/2006/main">
  <p:tag name="KSO_WM_DIAGRAM_VIRTUALLY_FRAME" val="{&quot;height&quot;:246,&quot;left&quot;:60,&quot;top&quot;:240,&quot;width&quot;:840.0000787401575}"/>
</p:tagLst>
</file>

<file path=ppt/tags/tag8.xml><?xml version="1.0" encoding="utf-8"?>
<p:tagLst xmlns:p="http://schemas.openxmlformats.org/presentationml/2006/main">
  <p:tag name="KSO_WM_DIAGRAM_VIRTUALLY_FRAME" val="{&quot;height&quot;:246,&quot;left&quot;:60,&quot;top&quot;:240,&quot;width&quot;:840.0000787401575}"/>
</p:tagLst>
</file>

<file path=ppt/tags/tag9.xml><?xml version="1.0" encoding="utf-8"?>
<p:tagLst xmlns:p="http://schemas.openxmlformats.org/presentationml/2006/main">
  <p:tag name="KSO_WM_DIAGRAM_VIRTUALLY_FRAME" val="{&quot;height&quot;:246,&quot;left&quot;:60,&quot;top&quot;:240,&quot;width&quot;:840.0000787401575}"/>
</p:tagLst>
</file>

<file path=ppt/tags/tag10.xml><?xml version="1.0" encoding="utf-8"?>
<p:tagLst xmlns:p="http://schemas.openxmlformats.org/presentationml/2006/main">
  <p:tag name="KSO_WM_DIAGRAM_VIRTUALLY_FRAME" val="{&quot;height&quot;:246,&quot;left&quot;:60,&quot;top&quot;:240,&quot;width&quot;:840.0000787401575}"/>
</p:tagLst>
</file>

<file path=ppt/tags/tag11.xml><?xml version="1.0" encoding="utf-8"?>
<p:tagLst xmlns:p="http://schemas.openxmlformats.org/presentationml/2006/main">
  <p:tag name="KSO_WM_DIAGRAM_VIRTUALLY_FRAME" val="{&quot;height&quot;:246,&quot;left&quot;:60,&quot;top&quot;:240,&quot;width&quot;:840.0000787401575}"/>
</p:tagLst>
</file>

<file path=ppt/tags/tag12.xml><?xml version="1.0" encoding="utf-8"?>
<p:tagLst xmlns:p="http://schemas.openxmlformats.org/presentationml/2006/main">
  <p:tag name="KSO_WM_DIAGRAM_VIRTUALLY_FRAME" val="{&quot;height&quot;:246,&quot;left&quot;:60,&quot;top&quot;:240,&quot;width&quot;:840.0000787401575}"/>
</p:tagLst>
</file>

<file path=ppt/tags/tag13.xml><?xml version="1.0" encoding="utf-8"?>
<p:tagLst xmlns:p="http://schemas.openxmlformats.org/presentationml/2006/main">
  <p:tag name="KSO_WM_DIAGRAM_VIRTUALLY_FRAME" val="{&quot;height&quot;:246,&quot;left&quot;:60,&quot;top&quot;:240,&quot;width&quot;:840.0000787401575}"/>
</p:tagLst>
</file>

<file path=ppt/tags/tag14.xml><?xml version="1.0" encoding="utf-8"?>
<p:tagLst xmlns:p="http://schemas.openxmlformats.org/presentationml/2006/main">
  <p:tag name="KSO_WM_DIAGRAM_VIRTUALLY_FRAME" val="{&quot;height&quot;:246,&quot;left&quot;:60,&quot;top&quot;:240,&quot;width&quot;:840.0000787401575}"/>
</p:tagLst>
</file>

<file path=ppt/tags/tag15.xml><?xml version="1.0" encoding="utf-8"?>
<p:tagLst xmlns:p="http://schemas.openxmlformats.org/presentationml/2006/main">
  <p:tag name="KSO_WM_DIAGRAM_VIRTUALLY_FRAME" val="{&quot;height&quot;:246,&quot;left&quot;:60,&quot;top&quot;:240,&quot;width&quot;:840.0000787401575}"/>
</p:tagLst>
</file>

<file path=ppt/tags/tag16.xml><?xml version="1.0" encoding="utf-8"?>
<p:tagLst xmlns:p="http://schemas.openxmlformats.org/presentationml/2006/main">
  <p:tag name="KSO_WM_DIAGRAM_VIRTUALLY_FRAME" val="{&quot;height&quot;:246,&quot;left&quot;:60,&quot;top&quot;:240,&quot;width&quot;:840.0000787401575}"/>
</p:tagLst>
</file>

<file path=ppt/tags/tag17.xml><?xml version="1.0" encoding="utf-8"?>
<p:tagLst xmlns:p="http://schemas.openxmlformats.org/presentationml/2006/main">
  <p:tag name="KSO_WM_DIAGRAM_VIRTUALLY_FRAME" val="{&quot;height&quot;:246,&quot;left&quot;:60,&quot;top&quot;:240,&quot;width&quot;:840.0000787401575}"/>
</p:tagLst>
</file>

<file path=ppt/tags/tag18.xml><?xml version="1.0" encoding="utf-8"?>
<p:tagLst xmlns:p="http://schemas.openxmlformats.org/presentationml/2006/main">
  <p:tag name="KSO_WM_DIAGRAM_VIRTUALLY_FRAME" val="{&quot;height&quot;:246,&quot;left&quot;:60,&quot;top&quot;:240,&quot;width&quot;:840.0000787401575}"/>
</p:tagLst>
</file>

<file path=ppt/tags/tag19.xml><?xml version="1.0" encoding="utf-8"?>
<p:tagLst xmlns:p="http://schemas.openxmlformats.org/presentationml/2006/main">
  <p:tag name="KSO_WM_DIAGRAM_VIRTUALLY_FRAME" val="{&quot;height&quot;:246,&quot;left&quot;:60,&quot;top&quot;:240,&quot;width&quot;:840.0000787401575}"/>
</p:tagLst>
</file>

<file path=ppt/tags/tag20.xml><?xml version="1.0" encoding="utf-8"?>
<p:tagLst xmlns:p="http://schemas.openxmlformats.org/presentationml/2006/main">
  <p:tag name="KSO_WM_DIAGRAM_VIRTUALLY_FRAME" val="{&quot;height&quot;:246,&quot;left&quot;:60,&quot;top&quot;:240,&quot;width&quot;:840.0000787401575}"/>
</p:tagLst>
</file>

<file path=ppt/tags/tag21.xml><?xml version="1.0" encoding="utf-8"?>
<p:tagLst xmlns:p="http://schemas.openxmlformats.org/presentationml/2006/main">
  <p:tag name="KSO_WM_DIAGRAM_VIRTUALLY_FRAME" val="{&quot;height&quot;:246,&quot;left&quot;:60,&quot;top&quot;:240,&quot;width&quot;:840.0000787401575}"/>
</p:tagLst>
</file>

<file path=ppt/tags/tag22.xml><?xml version="1.0" encoding="utf-8"?>
<p:tagLst xmlns:p="http://schemas.openxmlformats.org/presentationml/2006/main">
  <p:tag name="KSO_WM_DIAGRAM_VIRTUALLY_FRAME" val="{&quot;height&quot;:246,&quot;left&quot;:60,&quot;top&quot;:240,&quot;width&quot;:840.0000787401575}"/>
</p:tagLst>
</file>

<file path=ppt/tags/tag23.xml><?xml version="1.0" encoding="utf-8"?>
<p:tagLst xmlns:p="http://schemas.openxmlformats.org/presentationml/2006/main">
  <p:tag name="KSO_WM_DIAGRAM_VIRTUALLY_FRAME" val="{&quot;height&quot;:246,&quot;left&quot;:60,&quot;top&quot;:240,&quot;width&quot;:840.0000787401575}"/>
</p:tagLst>
</file>

<file path=ppt/tags/tag24.xml><?xml version="1.0" encoding="utf-8"?>
<p:tagLst xmlns:p="http://schemas.openxmlformats.org/presentationml/2006/main">
  <p:tag name="KSO_WM_DIAGRAM_VIRTUALLY_FRAME" val="{&quot;height&quot;:246,&quot;left&quot;:60,&quot;top&quot;:240,&quot;width&quot;:840.0000787401575}"/>
</p:tagLst>
</file>

<file path=ppt/tags/tag25.xml><?xml version="1.0" encoding="utf-8"?>
<p:tagLst xmlns:p="http://schemas.openxmlformats.org/presentationml/2006/main">
  <p:tag name="KSO_WM_DIAGRAM_VIRTUALLY_FRAME" val="{&quot;height&quot;:103.59377952755904,&quot;left&quot;:60,&quot;top&quot;:150,&quot;width&quot;:839.9882677165355}"/>
</p:tagLst>
</file>

<file path=ppt/tags/tag26.xml><?xml version="1.0" encoding="utf-8"?>
<p:tagLst xmlns:p="http://schemas.openxmlformats.org/presentationml/2006/main">
  <p:tag name="KSO_WM_DIAGRAM_VIRTUALLY_FRAME" val="{&quot;height&quot;:103.59377952755904,&quot;left&quot;:60,&quot;top&quot;:150,&quot;width&quot;:839.9882677165355}"/>
</p:tagLst>
</file>

<file path=ppt/tags/tag27.xml><?xml version="1.0" encoding="utf-8"?>
<p:tagLst xmlns:p="http://schemas.openxmlformats.org/presentationml/2006/main">
  <p:tag name="KSO_WM_DIAGRAM_VIRTUALLY_FRAME" val="{&quot;height&quot;:103.59377952755904,&quot;left&quot;:60,&quot;top&quot;:150,&quot;width&quot;:839.9882677165355}"/>
</p:tagLst>
</file>

<file path=ppt/tags/tag28.xml><?xml version="1.0" encoding="utf-8"?>
<p:tagLst xmlns:p="http://schemas.openxmlformats.org/presentationml/2006/main">
  <p:tag name="KSO_WM_DIAGRAM_VIRTUALLY_FRAME" val="{&quot;height&quot;:103.59377952755904,&quot;left&quot;:60,&quot;top&quot;:150,&quot;width&quot;:839.9882677165355}"/>
</p:tagLst>
</file>

<file path=ppt/tags/tag29.xml><?xml version="1.0" encoding="utf-8"?>
<p:tagLst xmlns:p="http://schemas.openxmlformats.org/presentationml/2006/main">
  <p:tag name="KSO_WM_DIAGRAM_VIRTUALLY_FRAME" val="{&quot;height&quot;:103.59377952755904,&quot;left&quot;:60,&quot;top&quot;:150,&quot;width&quot;:839.9882677165355}"/>
</p:tagLst>
</file>

<file path=ppt/tags/tag30.xml><?xml version="1.0" encoding="utf-8"?>
<p:tagLst xmlns:p="http://schemas.openxmlformats.org/presentationml/2006/main">
  <p:tag name="KSO_WM_DIAGRAM_VIRTUALLY_FRAME" val="{&quot;height&quot;:103.59377952755904,&quot;left&quot;:60,&quot;top&quot;:150,&quot;width&quot;:839.9882677165355}"/>
</p:tagLst>
</file>

<file path=ppt/tags/tag31.xml><?xml version="1.0" encoding="utf-8"?>
<p:tagLst xmlns:p="http://schemas.openxmlformats.org/presentationml/2006/main">
  <p:tag name="KSO_WM_DIAGRAM_VIRTUALLY_FRAME" val="{&quot;height&quot;:103.59377952755904,&quot;left&quot;:60,&quot;top&quot;:150,&quot;width&quot;:839.9882677165355}"/>
</p:tagLst>
</file>

<file path=ppt/tags/tag32.xml><?xml version="1.0" encoding="utf-8"?>
<p:tagLst xmlns:p="http://schemas.openxmlformats.org/presentationml/2006/main">
  <p:tag name="KSO_WM_DIAGRAM_VIRTUALLY_FRAME" val="{&quot;height&quot;:103.59377952755904,&quot;left&quot;:60,&quot;top&quot;:150,&quot;width&quot;:839.9882677165355}"/>
</p:tagLst>
</file>

<file path=ppt/tags/tag33.xml><?xml version="1.0" encoding="utf-8"?>
<p:tagLst xmlns:p="http://schemas.openxmlformats.org/presentationml/2006/main">
  <p:tag name="KSO_WM_DIAGRAM_VIRTUALLY_FRAME" val="{&quot;height&quot;:103.59377952755904,&quot;left&quot;:60,&quot;top&quot;:150,&quot;width&quot;:839.9882677165355}"/>
</p:tagLst>
</file>

<file path=ppt/tags/tag34.xml><?xml version="1.0" encoding="utf-8"?>
<p:tagLst xmlns:p="http://schemas.openxmlformats.org/presentationml/2006/main">
  <p:tag name="KSO_WM_DIAGRAM_VIRTUALLY_FRAME" val="{&quot;height&quot;:103.59377952755904,&quot;left&quot;:60,&quot;top&quot;:150,&quot;width&quot;:839.9882677165355}"/>
</p:tagLst>
</file>

<file path=ppt/tags/tag35.xml><?xml version="1.0" encoding="utf-8"?>
<p:tagLst xmlns:p="http://schemas.openxmlformats.org/presentationml/2006/main">
  <p:tag name="KSO_WM_DIAGRAM_VIRTUALLY_FRAME" val="{&quot;height&quot;:103.59377952755904,&quot;left&quot;:60,&quot;top&quot;:150,&quot;width&quot;:839.9882677165355}"/>
</p:tagLst>
</file>

<file path=ppt/tags/tag36.xml><?xml version="1.0" encoding="utf-8"?>
<p:tagLst xmlns:p="http://schemas.openxmlformats.org/presentationml/2006/main">
  <p:tag name="KSO_WM_DIAGRAM_VIRTUALLY_FRAME" val="{&quot;height&quot;:103.59377952755904,&quot;left&quot;:60,&quot;top&quot;:150,&quot;width&quot;:839.9882677165355}"/>
</p:tagLst>
</file>

<file path=ppt/tags/tag37.xml><?xml version="1.0" encoding="utf-8"?>
<p:tagLst xmlns:p="http://schemas.openxmlformats.org/presentationml/2006/main">
  <p:tag name="KSO_WM_DIAGRAM_VIRTUALLY_FRAME" val="{&quot;height&quot;:103.59377952755904,&quot;left&quot;:60,&quot;top&quot;:150,&quot;width&quot;:839.9882677165355}"/>
</p:tagLst>
</file>

<file path=ppt/tags/tag38.xml><?xml version="1.0" encoding="utf-8"?>
<p:tagLst xmlns:p="http://schemas.openxmlformats.org/presentationml/2006/main">
  <p:tag name="KSO_WM_DIAGRAM_VIRTUALLY_FRAME" val="{&quot;height&quot;:103.59377952755904,&quot;left&quot;:60,&quot;top&quot;:150,&quot;width&quot;:839.9882677165355}"/>
</p:tagLst>
</file>

<file path=ppt/tags/tag39.xml><?xml version="1.0" encoding="utf-8"?>
<p:tagLst xmlns:p="http://schemas.openxmlformats.org/presentationml/2006/main">
  <p:tag name="KSO_WM_DIAGRAM_VIRTUALLY_FRAME" val="{&quot;height&quot;:103.59377952755904,&quot;left&quot;:60,&quot;top&quot;:150,&quot;width&quot;:839.9882677165355}"/>
</p:tagLst>
</file>

<file path=ppt/tags/tag40.xml><?xml version="1.0" encoding="utf-8"?>
<p:tagLst xmlns:p="http://schemas.openxmlformats.org/presentationml/2006/main">
  <p:tag name="KSO_WM_DIAGRAM_VIRTUALLY_FRAME" val="{&quot;height&quot;:103.59377952755904,&quot;left&quot;:60,&quot;top&quot;:150,&quot;width&quot;:839.9882677165355}"/>
</p:tagLst>
</file>

<file path=ppt/tags/tag41.xml><?xml version="1.0" encoding="utf-8"?>
<p:tagLst xmlns:p="http://schemas.openxmlformats.org/presentationml/2006/main">
  <p:tag name="KSO_WM_DIAGRAM_VIRTUALLY_FRAME" val="{&quot;height&quot;:103.59377952755904,&quot;left&quot;:60,&quot;top&quot;:150,&quot;width&quot;:839.9882677165355}"/>
</p:tagLst>
</file>

<file path=ppt/tags/tag42.xml><?xml version="1.0" encoding="utf-8"?>
<p:tagLst xmlns:p="http://schemas.openxmlformats.org/presentationml/2006/main">
  <p:tag name="KSO_WM_DIAGRAM_VIRTUALLY_FRAME" val="{&quot;height&quot;:103.59377952755904,&quot;left&quot;:60,&quot;top&quot;:150,&quot;width&quot;:839.9882677165355}"/>
</p:tagLst>
</file>

<file path=ppt/tags/tag43.xml><?xml version="1.0" encoding="utf-8"?>
<p:tagLst xmlns:p="http://schemas.openxmlformats.org/presentationml/2006/main">
  <p:tag name="KSO_WM_DIAGRAM_VIRTUALLY_FRAME" val="{&quot;height&quot;:103.59377952755904,&quot;left&quot;:60,&quot;top&quot;:150,&quot;width&quot;:839.9882677165355}"/>
</p:tagLst>
</file>

<file path=ppt/tags/tag44.xml><?xml version="1.0" encoding="utf-8"?>
<p:tagLst xmlns:p="http://schemas.openxmlformats.org/presentationml/2006/main">
  <p:tag name="KSO_WM_DIAGRAM_VIRTUALLY_FRAME" val="{&quot;height&quot;:103.59377952755904,&quot;left&quot;:60,&quot;top&quot;:150,&quot;width&quot;:839.9882677165355}"/>
</p:tagLst>
</file>

<file path=ppt/tags/tag45.xml><?xml version="1.0" encoding="utf-8"?>
<p:tagLst xmlns:p="http://schemas.openxmlformats.org/presentationml/2006/main">
  <p:tag name="KSO_WM_DIAGRAM_VIRTUALLY_FRAME" val="{&quot;height&quot;:103.59377952755904,&quot;left&quot;:60,&quot;top&quot;:150,&quot;width&quot;:839.9882677165355}"/>
</p:tagLst>
</file>

<file path=ppt/tags/tag46.xml><?xml version="1.0" encoding="utf-8"?>
<p:tagLst xmlns:p="http://schemas.openxmlformats.org/presentationml/2006/main">
  <p:tag name="KSO_WM_DIAGRAM_VIRTUALLY_FRAME" val="{&quot;height&quot;:103.59377952755904,&quot;left&quot;:60,&quot;top&quot;:150,&quot;width&quot;:839.9882677165355}"/>
</p:tagLst>
</file>

<file path=ppt/tags/tag47.xml><?xml version="1.0" encoding="utf-8"?>
<p:tagLst xmlns:p="http://schemas.openxmlformats.org/presentationml/2006/main">
  <p:tag name="KSO_WM_DIAGRAM_VIRTUALLY_FRAME" val="{&quot;height&quot;:103.59377952755904,&quot;left&quot;:60,&quot;top&quot;:150,&quot;width&quot;:839.9882677165355}"/>
</p:tagLst>
</file>

<file path=ppt/tags/tag48.xml><?xml version="1.0" encoding="utf-8"?>
<p:tagLst xmlns:p="http://schemas.openxmlformats.org/presentationml/2006/main">
  <p:tag name="KSO_WM_DIAGRAM_VIRTUALLY_FRAME" val="{&quot;height&quot;:103.59377952755904,&quot;left&quot;:60,&quot;top&quot;:150,&quot;width&quot;:839.9882677165355}"/>
</p:tagLst>
</file>

<file path=ppt/tags/tag49.xml><?xml version="1.0" encoding="utf-8"?>
<p:tagLst xmlns:p="http://schemas.openxmlformats.org/presentationml/2006/main">
  <p:tag name="KSO_WM_DIAGRAM_VIRTUALLY_FRAME" val="{&quot;height&quot;:103.59377952755904,&quot;left&quot;:60,&quot;top&quot;:150,&quot;width&quot;:839.9882677165355}"/>
</p:tagLst>
</file>

<file path=ppt/tags/tag50.xml><?xml version="1.0" encoding="utf-8"?>
<p:tagLst xmlns:p="http://schemas.openxmlformats.org/presentationml/2006/main">
  <p:tag name="KSO_WM_DIAGRAM_VIRTUALLY_FRAME" val="{&quot;height&quot;:103.59377952755904,&quot;left&quot;:60,&quot;top&quot;:150,&quot;width&quot;:839.9882677165355}"/>
</p:tagLst>
</file>

<file path=ppt/tags/tag51.xml><?xml version="1.0" encoding="utf-8"?>
<p:tagLst xmlns:p="http://schemas.openxmlformats.org/presentationml/2006/main">
  <p:tag name="KSO_WM_DIAGRAM_VIRTUALLY_FRAME" val="{&quot;height&quot;:103.59377952755904,&quot;left&quot;:60,&quot;top&quot;:150,&quot;width&quot;:839.9882677165355}"/>
</p:tagLst>
</file>

<file path=ppt/tags/tag52.xml><?xml version="1.0" encoding="utf-8"?>
<p:tagLst xmlns:p="http://schemas.openxmlformats.org/presentationml/2006/main">
  <p:tag name="KSO_WM_DIAGRAM_VIRTUALLY_FRAME" val="{&quot;height&quot;:103.59377952755904,&quot;left&quot;:60,&quot;top&quot;:150,&quot;width&quot;:839.9882677165355}"/>
</p:tagLst>
</file>

<file path=ppt/tags/tag53.xml><?xml version="1.0" encoding="utf-8"?>
<p:tagLst xmlns:p="http://schemas.openxmlformats.org/presentationml/2006/main">
  <p:tag name="KSO_WM_DIAGRAM_VIRTUALLY_FRAME" val="{&quot;height&quot;:103.59377952755904,&quot;left&quot;:60,&quot;top&quot;:150,&quot;width&quot;:839.9882677165355}"/>
</p:tagLst>
</file>

<file path=ppt/tags/tag54.xml><?xml version="1.0" encoding="utf-8"?>
<p:tagLst xmlns:p="http://schemas.openxmlformats.org/presentationml/2006/main">
  <p:tag name="KSO_WM_DIAGRAM_VIRTUALLY_FRAME" val="{&quot;height&quot;:103.59377952755904,&quot;left&quot;:60,&quot;top&quot;:150,&quot;width&quot;:839.9882677165355}"/>
</p:tagLst>
</file>

<file path=ppt/tags/tag55.xml><?xml version="1.0" encoding="utf-8"?>
<p:tagLst xmlns:p="http://schemas.openxmlformats.org/presentationml/2006/main">
  <p:tag name="KSO_WM_DIAGRAM_VIRTUALLY_FRAME" val="{&quot;height&quot;:210,&quot;left&quot;:60,&quot;top&quot;:142.5,&quot;width&quot;:840}"/>
</p:tagLst>
</file>

<file path=ppt/tags/tag56.xml><?xml version="1.0" encoding="utf-8"?>
<p:tagLst xmlns:p="http://schemas.openxmlformats.org/presentationml/2006/main">
  <p:tag name="KSO_WM_DIAGRAM_VIRTUALLY_FRAME" val="{&quot;height&quot;:210,&quot;left&quot;:60,&quot;top&quot;:142.5,&quot;width&quot;:840}"/>
</p:tagLst>
</file>

<file path=ppt/tags/tag57.xml><?xml version="1.0" encoding="utf-8"?>
<p:tagLst xmlns:p="http://schemas.openxmlformats.org/presentationml/2006/main">
  <p:tag name="KSO_WM_DIAGRAM_VIRTUALLY_FRAME" val="{&quot;height&quot;:210,&quot;left&quot;:60,&quot;top&quot;:142.5,&quot;width&quot;:840}"/>
</p:tagLst>
</file>

<file path=ppt/tags/tag58.xml><?xml version="1.0" encoding="utf-8"?>
<p:tagLst xmlns:p="http://schemas.openxmlformats.org/presentationml/2006/main">
  <p:tag name="KSO_WM_DIAGRAM_VIRTUALLY_FRAME" val="{&quot;height&quot;:210,&quot;left&quot;:60,&quot;top&quot;:142.5,&quot;width&quot;:840}"/>
</p:tagLst>
</file>

<file path=ppt/tags/tag59.xml><?xml version="1.0" encoding="utf-8"?>
<p:tagLst xmlns:p="http://schemas.openxmlformats.org/presentationml/2006/main">
  <p:tag name="KSO_WM_DIAGRAM_VIRTUALLY_FRAME" val="{&quot;height&quot;:210,&quot;left&quot;:60,&quot;top&quot;:142.5,&quot;width&quot;:840}"/>
</p:tagLst>
</file>

<file path=ppt/tags/tag60.xml><?xml version="1.0" encoding="utf-8"?>
<p:tagLst xmlns:p="http://schemas.openxmlformats.org/presentationml/2006/main">
  <p:tag name="KSO_WM_DIAGRAM_VIRTUALLY_FRAME" val="{&quot;height&quot;:210,&quot;left&quot;:60,&quot;top&quot;:142.5,&quot;width&quot;:840}"/>
</p:tagLst>
</file>

<file path=ppt/tags/tag61.xml><?xml version="1.0" encoding="utf-8"?>
<p:tagLst xmlns:p="http://schemas.openxmlformats.org/presentationml/2006/main">
  <p:tag name="KSO_WM_DIAGRAM_VIRTUALLY_FRAME" val="{&quot;height&quot;:210,&quot;left&quot;:60,&quot;top&quot;:142.5,&quot;width&quot;:840}"/>
</p:tagLst>
</file>

<file path=ppt/tags/tag62.xml><?xml version="1.0" encoding="utf-8"?>
<p:tagLst xmlns:p="http://schemas.openxmlformats.org/presentationml/2006/main">
  <p:tag name="KSO_WM_DIAGRAM_VIRTUALLY_FRAME" val="{&quot;height&quot;:210,&quot;left&quot;:60,&quot;top&quot;:142.5,&quot;width&quot;:840}"/>
</p:tagLst>
</file>

<file path=ppt/tags/tag63.xml><?xml version="1.0" encoding="utf-8"?>
<p:tagLst xmlns:p="http://schemas.openxmlformats.org/presentationml/2006/main">
  <p:tag name="KSO_WM_DIAGRAM_VIRTUALLY_FRAME" val="{&quot;height&quot;:210,&quot;left&quot;:60,&quot;top&quot;:142.5,&quot;width&quot;:840}"/>
</p:tagLst>
</file>

<file path=ppt/tags/tag64.xml><?xml version="1.0" encoding="utf-8"?>
<p:tagLst xmlns:p="http://schemas.openxmlformats.org/presentationml/2006/main">
  <p:tag name="KSO_WM_DIAGRAM_VIRTUALLY_FRAME" val="{&quot;height&quot;:210,&quot;left&quot;:60,&quot;top&quot;:142.5,&quot;width&quot;:840}"/>
</p:tagLst>
</file>

<file path=ppt/tags/tag65.xml><?xml version="1.0" encoding="utf-8"?>
<p:tagLst xmlns:p="http://schemas.openxmlformats.org/presentationml/2006/main">
  <p:tag name="KSO_WM_DIAGRAM_VIRTUALLY_FRAME" val="{&quot;height&quot;:210,&quot;left&quot;:60,&quot;top&quot;:142.5,&quot;width&quot;:840}"/>
</p:tagLst>
</file>

<file path=ppt/tags/tag66.xml><?xml version="1.0" encoding="utf-8"?>
<p:tagLst xmlns:p="http://schemas.openxmlformats.org/presentationml/2006/main">
  <p:tag name="KSO_WM_DIAGRAM_VIRTUALLY_FRAME" val="{&quot;height&quot;:210,&quot;left&quot;:60,&quot;top&quot;:142.5,&quot;width&quot;:840}"/>
</p:tagLst>
</file>

<file path=ppt/tags/tag67.xml><?xml version="1.0" encoding="utf-8"?>
<p:tagLst xmlns:p="http://schemas.openxmlformats.org/presentationml/2006/main">
  <p:tag name="KSO_WM_DIAGRAM_VIRTUALLY_FRAME" val="{&quot;height&quot;:210,&quot;left&quot;:60,&quot;top&quot;:142.5,&quot;width&quot;:840}"/>
</p:tagLst>
</file>

<file path=ppt/tags/tag68.xml><?xml version="1.0" encoding="utf-8"?>
<p:tagLst xmlns:p="http://schemas.openxmlformats.org/presentationml/2006/main">
  <p:tag name="KSO_WM_DIAGRAM_VIRTUALLY_FRAME" val="{&quot;height&quot;:210,&quot;left&quot;:60,&quot;top&quot;:142.5,&quot;width&quot;:840}"/>
</p:tagLst>
</file>

<file path=ppt/tags/tag69.xml><?xml version="1.0" encoding="utf-8"?>
<p:tagLst xmlns:p="http://schemas.openxmlformats.org/presentationml/2006/main">
  <p:tag name="KSO_WM_DIAGRAM_VIRTUALLY_FRAME" val="{&quot;height&quot;:210,&quot;left&quot;:60,&quot;top&quot;:142.5,&quot;width&quot;:840}"/>
</p:tagLst>
</file>

<file path=ppt/tags/tag70.xml><?xml version="1.0" encoding="utf-8"?>
<p:tagLst xmlns:p="http://schemas.openxmlformats.org/presentationml/2006/main">
  <p:tag name="KSO_WM_DIAGRAM_VIRTUALLY_FRAME" val="{&quot;height&quot;:210,&quot;left&quot;:60,&quot;top&quot;:142.5,&quot;width&quot;:840}"/>
</p:tagLst>
</file>

<file path=ppt/tags/tag71.xml><?xml version="1.0" encoding="utf-8"?>
<p:tagLst xmlns:p="http://schemas.openxmlformats.org/presentationml/2006/main">
  <p:tag name="KSO_WM_DIAGRAM_VIRTUALLY_FRAME" val="{&quot;height&quot;:210,&quot;left&quot;:60,&quot;top&quot;:142.5,&quot;width&quot;:840}"/>
</p:tagLst>
</file>

<file path=ppt/tags/tag72.xml><?xml version="1.0" encoding="utf-8"?>
<p:tagLst xmlns:p="http://schemas.openxmlformats.org/presentationml/2006/main">
  <p:tag name="KSO_WM_DIAGRAM_VIRTUALLY_FRAME" val="{&quot;height&quot;:210,&quot;left&quot;:60,&quot;top&quot;:142.5,&quot;width&quot;:840}"/>
</p:tagLst>
</file>

<file path=ppt/tags/tag73.xml><?xml version="1.0" encoding="utf-8"?>
<p:tagLst xmlns:p="http://schemas.openxmlformats.org/presentationml/2006/main">
  <p:tag name="KSO_WM_DIAGRAM_VIRTUALLY_FRAME" val="{&quot;height&quot;:210,&quot;left&quot;:60,&quot;top&quot;:142.5,&quot;width&quot;:840}"/>
</p:tagLst>
</file>

<file path=ppt/tags/tag74.xml><?xml version="1.0" encoding="utf-8"?>
<p:tagLst xmlns:p="http://schemas.openxmlformats.org/presentationml/2006/main">
  <p:tag name="KSO_WM_DIAGRAM_VIRTUALLY_FRAME" val="{&quot;height&quot;:210,&quot;left&quot;:60,&quot;top&quot;:142.5,&quot;width&quot;:840}"/>
</p:tagLst>
</file>

<file path=ppt/tags/tag75.xml><?xml version="1.0" encoding="utf-8"?>
<p:tagLst xmlns:p="http://schemas.openxmlformats.org/presentationml/2006/main">
  <p:tag name="KSO_WM_DIAGRAM_VIRTUALLY_FRAME" val="{&quot;height&quot;:210,&quot;left&quot;:60,&quot;top&quot;:142.5,&quot;width&quot;:840}"/>
</p:tagLst>
</file>

<file path=ppt/tags/tag76.xml><?xml version="1.0" encoding="utf-8"?>
<p:tagLst xmlns:p="http://schemas.openxmlformats.org/presentationml/2006/main">
  <p:tag name="KSO_WM_DIAGRAM_VIRTUALLY_FRAME" val="{&quot;height&quot;:210,&quot;left&quot;:60,&quot;top&quot;:142.5,&quot;width&quot;:840}"/>
</p:tagLst>
</file>

<file path=ppt/tags/tag77.xml><?xml version="1.0" encoding="utf-8"?>
<p:tagLst xmlns:p="http://schemas.openxmlformats.org/presentationml/2006/main">
  <p:tag name="KSO_WM_DIAGRAM_VIRTUALLY_FRAME" val="{&quot;height&quot;:210,&quot;left&quot;:60,&quot;top&quot;:142.5,&quot;width&quot;:840}"/>
</p:tagLst>
</file>

<file path=ppt/tags/tag78.xml><?xml version="1.0" encoding="utf-8"?>
<p:tagLst xmlns:p="http://schemas.openxmlformats.org/presentationml/2006/main">
  <p:tag name="KSO_WM_DIAGRAM_VIRTUALLY_FRAME" val="{&quot;height&quot;:210,&quot;left&quot;:60,&quot;top&quot;:142.5,&quot;width&quot;:840}"/>
</p:tagLst>
</file>

<file path=ppt/tags/tag79.xml><?xml version="1.0" encoding="utf-8"?>
<p:tagLst xmlns:p="http://schemas.openxmlformats.org/presentationml/2006/main">
  <p:tag name="KSO_WM_DIAGRAM_VIRTUALLY_FRAME" val="{&quot;height&quot;:210,&quot;left&quot;:60,&quot;top&quot;:142.5,&quot;width&quot;:840}"/>
</p:tagLst>
</file>

<file path=ppt/tags/tag80.xml><?xml version="1.0" encoding="utf-8"?>
<p:tagLst xmlns:p="http://schemas.openxmlformats.org/presentationml/2006/main">
  <p:tag name="KSO_WM_DIAGRAM_VIRTUALLY_FRAME" val="{&quot;height&quot;:210,&quot;left&quot;:60,&quot;top&quot;:142.5,&quot;width&quot;:840}"/>
</p:tagLst>
</file>

<file path=ppt/tags/tag81.xml><?xml version="1.0" encoding="utf-8"?>
<p:tagLst xmlns:p="http://schemas.openxmlformats.org/presentationml/2006/main">
  <p:tag name="KSO_WM_DIAGRAM_VIRTUALLY_FRAME" val="{&quot;height&quot;:210,&quot;left&quot;:60,&quot;top&quot;:142.5,&quot;width&quot;:840}"/>
</p:tagLst>
</file>

<file path=ppt/tags/tag82.xml><?xml version="1.0" encoding="utf-8"?>
<p:tagLst xmlns:p="http://schemas.openxmlformats.org/presentationml/2006/main">
  <p:tag name="KSO_WM_DIAGRAM_VIRTUALLY_FRAME" val="{&quot;height&quot;:210,&quot;left&quot;:60,&quot;top&quot;:142.5,&quot;width&quot;:840}"/>
</p:tagLst>
</file>

<file path=ppt/tags/tag83.xml><?xml version="1.0" encoding="utf-8"?>
<p:tagLst xmlns:p="http://schemas.openxmlformats.org/presentationml/2006/main">
  <p:tag name="KSO_WM_DIAGRAM_VIRTUALLY_FRAME" val="{&quot;height&quot;:210,&quot;left&quot;:60,&quot;top&quot;:142.5,&quot;width&quot;:840}"/>
</p:tagLst>
</file>

<file path=ppt/tags/tag84.xml><?xml version="1.0" encoding="utf-8"?>
<p:tagLst xmlns:p="http://schemas.openxmlformats.org/presentationml/2006/main">
  <p:tag name="KSO_WM_DIAGRAM_VIRTUALLY_FRAME" val="{&quot;height&quot;:210,&quot;left&quot;:60,&quot;top&quot;:142.5,&quot;width&quot;:84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3520</Words>
  <Application>WPS 演示</Application>
  <PresentationFormat>On-screen Show (16:9)</PresentationFormat>
  <Paragraphs>594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9" baseType="lpstr">
      <vt:lpstr>Arial</vt:lpstr>
      <vt:lpstr>宋体</vt:lpstr>
      <vt:lpstr>Wingdings</vt:lpstr>
      <vt:lpstr>Noto Sans CJK SC</vt:lpstr>
      <vt:lpstr>Segoe Print</vt:lpstr>
      <vt:lpstr>Noto Sans CJK SC</vt:lpstr>
      <vt:lpstr>Noto Sans CJK SC</vt:lpstr>
      <vt:lpstr>Noto Sans CJK SC Light</vt:lpstr>
      <vt:lpstr>Noto Sans CJK SC Light</vt:lpstr>
      <vt:lpstr>Noto Sans CJK SC Light</vt:lpstr>
      <vt:lpstr>Noto Color Emoji</vt:lpstr>
      <vt:lpstr>Noto Color Emoji</vt:lpstr>
      <vt:lpstr>Noto Color Emoji</vt:lpstr>
      <vt:lpstr>Calibri</vt:lpstr>
      <vt:lpstr>微软雅黑</vt:lpstr>
      <vt:lpstr>Arial Unicode MS</vt:lpstr>
      <vt:lpstr>等线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DeepPresenter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DeepPresenter Presentation</dc:title>
  <dc:creator>DeepPresenter</dc:creator>
  <cp:lastModifiedBy>陌路</cp:lastModifiedBy>
  <cp:revision>2</cp:revision>
  <dcterms:created xsi:type="dcterms:W3CDTF">2026-08-10T18:17:00Z</dcterms:created>
  <dcterms:modified xsi:type="dcterms:W3CDTF">2026-08-17T08:20:58Z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2052-12.1.0.28022</vt:lpwstr>
  </property>
  <property fmtid="{D5CDD505-2E9C-101B-9397-08002B2CF9AE}" pid="3" name="ICV">
    <vt:lpwstr>5AC9A22059004BAD9BD45089FB9B2EED_12</vt:lpwstr>
  </property>
</Properties>
</file>