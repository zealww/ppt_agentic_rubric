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0" y="3048000"/>
            <a:ext cx="3429000" cy="3429000"/>
          </a:xfrm>
          <a:prstGeom prst="roundRect">
            <a:avLst>
              <a:gd name="adj" fmla="val 2666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0" y="323850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FFD16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0" y="762000"/>
            <a:ext cx="2114699" cy="495300"/>
          </a:xfrm>
          <a:prstGeom prst="roundRect">
            <a:avLst>
              <a:gd name="adj" fmla="val 1921154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lIns="171450" tIns="76200" rIns="171450" bIns="76200" rtlCol="0" anchor="ctr"/>
          <a:lstStyle/>
          <a:p>
            <a:pPr algn="l" indent="0" marL="0">
              <a:spcAft>
                <a:spcPts val="2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零基础也能看懂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57250" y="1600200"/>
            <a:ext cx="10687050" cy="289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0"/>
              </a:lnSpc>
              <a:spcAft>
                <a:spcPts val="225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个税报税 &amp;
</a:t>
            </a:r>
            <a:pPr algn="l" indent="0" marL="0">
              <a:lnSpc>
                <a:spcPts val="7590"/>
              </a:lnSpc>
              <a:spcAft>
                <a:spcPts val="2250"/>
              </a:spcAft>
              <a:buNone/>
            </a:pPr>
            <a:r>
              <a:rPr lang="en-US" sz="660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赡养老人扣除</a:t>
            </a:r>
            <a:pPr algn="l" indent="0" marL="0">
              <a:lnSpc>
                <a:spcPts val="7590"/>
              </a:lnSpc>
              <a:spcAft>
                <a:spcPts val="2250"/>
              </a:spcAft>
              <a:buNone/>
            </a:pPr>
            <a:endParaRPr lang="en-US" sz="6600" dirty="0"/>
          </a:p>
          <a:p>
            <a:pPr algn="l" indent="0" marL="0">
              <a:lnSpc>
                <a:spcPts val="7590"/>
              </a:lnSpc>
              <a:spcAft>
                <a:spcPts val="225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入门指南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57250" y="4777383"/>
            <a:ext cx="952119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用大白话讲清楚：报税是什么、怎么报、赡养费到底是哪一笔。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7250" y="5981700"/>
            <a:ext cx="43191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面向第一次报税的新手 · 中国大陆 ·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23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814388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533400"/>
            <a:ext cx="74616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第一课 · 概念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81050"/>
            <a:ext cx="74616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什么是个人所得税？为什么要报税？</a:t>
            </a:r>
            <a:endParaRPr lang="en-US" sz="3600" dirty="0"/>
          </a:p>
        </p:txBody>
      </p:sp>
      <p:pic>
        <p:nvPicPr>
          <p:cNvPr id="6" name="Image 0" descr="/tmp/html2pptx-5sLHlk/html2pptx-bg-1786380974814-9f737b0dca7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0" y="533400"/>
            <a:ext cx="1905000" cy="190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714500"/>
            <a:ext cx="5267325" cy="2167533"/>
          </a:xfrm>
          <a:prstGeom prst="roundRect">
            <a:avLst>
              <a:gd name="adj" fmla="val 966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209550" dist="57150" dir="5400000">
              <a:srgbClr val="0f513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0125" y="2028825"/>
            <a:ext cx="47314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💰</a:t>
            </a:r>
            <a:pPr algn="l" indent="0" marL="0">
              <a:spcAft>
                <a:spcPts val="1200"/>
              </a:spcAft>
              <a:buNone/>
            </a:pPr>
            <a:r>
              <a:rPr lang="en-US" sz="2250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什么是个人所得税？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00125" y="2600325"/>
            <a:ext cx="4731449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你挣了钱，国家从你挣的钱里</a:t>
            </a:r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抽一小部分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当作国家运行的经费，这就是「税」。</a:t>
            </a: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工资、奖金、稿费、做兼职……这些收入都要算。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38875" y="1714500"/>
            <a:ext cx="5267325" cy="2167533"/>
          </a:xfrm>
          <a:prstGeom prst="roundRect">
            <a:avLst>
              <a:gd name="adj" fmla="val 966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209550" dist="57150" dir="5400000">
              <a:srgbClr val="0f513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53200" y="2028825"/>
            <a:ext cx="47314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📋</a:t>
            </a:r>
            <a:pPr algn="l" indent="0" marL="0">
              <a:spcAft>
                <a:spcPts val="1200"/>
              </a:spcAft>
              <a:buNone/>
            </a:pPr>
            <a:r>
              <a:rPr lang="en-US" sz="2250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什么是「报税」？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53200" y="2600325"/>
            <a:ext cx="4731449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就是</a:t>
            </a:r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把去年全年挣了多少钱、该交多少税，自己跟国家算一遍账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多交了就退给你，少交了就补上，谁都不吃亏。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85800" y="4091583"/>
            <a:ext cx="10820400" cy="704850"/>
          </a:xfrm>
          <a:prstGeom prst="roundRect">
            <a:avLst>
              <a:gd name="adj" fmla="val 24324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23900" y="4301133"/>
            <a:ext cx="0" cy="28575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9650" y="4301133"/>
            <a:ext cx="104538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为什么每年都要报一次？</a:t>
            </a:r>
            <a:pPr algn="l" indent="0" marL="0">
              <a:buNone/>
            </a:pPr>
            <a:r>
              <a:rPr lang="en-US" sz="15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因为平时公司是按月帮你预扣的，可能扣多也可能扣少。一年结束要</a:t>
            </a:r>
            <a:pPr algn="l" indent="0" marL="0">
              <a:buNone/>
            </a:pPr>
            <a:r>
              <a:rPr lang="en-US" sz="157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汇算一次</a:t>
            </a:r>
            <a:pPr algn="l" indent="0" marL="0">
              <a:buNone/>
            </a:pPr>
            <a:r>
              <a:rPr lang="en-US" sz="15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，把账算清。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23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814388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533400"/>
            <a:ext cx="65289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第二课 · 时间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81050"/>
            <a:ext cx="652896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什么时候要报税？记住这四个月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57307" y="533400"/>
            <a:ext cx="3048893" cy="514350"/>
          </a:xfrm>
          <a:prstGeom prst="roundRect">
            <a:avLst>
              <a:gd name="adj" fmla="val 25926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485882" y="666750"/>
            <a:ext cx="0" cy="24765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04957" y="666750"/>
            <a:ext cx="26629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⚠ 逾期未报：可能要补税 + 滞纳金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6300" y="2400300"/>
            <a:ext cx="10439400" cy="133350"/>
          </a:xfrm>
          <a:prstGeom prst="roundRect">
            <a:avLst>
              <a:gd name="adj" fmla="val 7135714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html2pptx-Hhg6iz/html2pptx-bg-1786380979625-d5d9cca22fd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400300"/>
            <a:ext cx="1043940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63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672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581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0490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57250" y="2886075"/>
            <a:ext cx="1943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3月1日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857250" y="3295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开始预约办理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701951" y="2886075"/>
            <a:ext cx="1943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3月21日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3701951" y="3295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预约期结束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46652" y="2886075"/>
            <a:ext cx="1943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4月起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6546652" y="3295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可直接申报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91352" y="2886075"/>
            <a:ext cx="1943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6月30日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391352" y="3295650"/>
            <a:ext cx="1943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截止办理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5800" y="4114800"/>
            <a:ext cx="3454301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23925" y="4333875"/>
            <a:ext cx="30376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📅 办理时段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23925" y="4733925"/>
            <a:ext cx="3037612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 </a:t>
            </a:r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3月1日 — 6月30日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，办理上一年度的综合所得汇算。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368701" y="4114800"/>
            <a:ext cx="3454450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606826" y="4333875"/>
            <a:ext cx="3037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⚡ 早去要预约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606826" y="4733925"/>
            <a:ext cx="3037764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3月1日—3月20日办理的，要在 APP 上提前预约具体哪一天。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051750" y="4114800"/>
            <a:ext cx="3454301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89875" y="4333875"/>
            <a:ext cx="30376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 不用办的情况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8289875" y="4733925"/>
            <a:ext cx="3037612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全年收入 ≤ 12 万、补税 ≤ 400 元，且无境外所得，可免办。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14388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904875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476250"/>
            <a:ext cx="40222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第三课 · 准备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23900"/>
            <a:ext cx="402221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报税前要准备什么？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90650" y="1409700"/>
            <a:ext cx="40222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5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东西不齐，APP 也填不动。先把这些备好。</a:t>
            </a:r>
            <a:endParaRPr lang="en-US" sz="1500" dirty="0"/>
          </a:p>
        </p:txBody>
      </p:sp>
      <p:pic>
        <p:nvPicPr>
          <p:cNvPr id="7" name="Image 0" descr="/tmp/html2pptx-6od0hm/html2pptx-bg-1786380984911-f91a036b2d1e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0" y="533400"/>
            <a:ext cx="1047750" cy="1047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04875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65014" y="2351038"/>
            <a:ext cx="100647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904875" y="2819400"/>
            <a:ext cx="21519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下个税 APP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04875" y="3200400"/>
            <a:ext cx="2151983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应用市场搜「个人所得税」，下载官方 APP，注册并实名登录。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3443288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662362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822502" y="2351038"/>
            <a:ext cx="100647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3662362" y="2819400"/>
            <a:ext cx="21519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查收入记录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3662362" y="3200400"/>
            <a:ext cx="2151983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APP「收入纳税明细」里看上一年的工资、稿酬、劳务费等。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6200775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19850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79989" y="2351038"/>
            <a:ext cx="100647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6419850" y="2819400"/>
            <a:ext cx="21519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备好银行卡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419850" y="3200400"/>
            <a:ext cx="215198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一张本人银行卡，用来收退税或扣补税。建议 I 类账户。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958263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177338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9337477" y="2351038"/>
            <a:ext cx="100647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9177338" y="2819400"/>
            <a:ext cx="21519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填专项附加扣除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9177338" y="3200400"/>
            <a:ext cx="215198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有老人要赡养、有娃要养、有房贷房租……先填好再申报。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685800" y="4400848"/>
            <a:ext cx="10820400" cy="600075"/>
          </a:xfrm>
          <a:prstGeom prst="roundRect">
            <a:avLst>
              <a:gd name="adj" fmla="val 19048"/>
            </a:avLst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723900" y="4572298"/>
            <a:ext cx="0" cy="257175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0600" y="4572298"/>
            <a:ext cx="104927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小提醒：</a:t>
            </a:r>
            <a:pPr algn="l" indent="0" marL="0">
              <a:buNone/>
            </a:pPr>
            <a:r>
              <a:rPr lang="en-US" sz="142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如果对工资收入有疑问，可以先找公司 HR 核对，再去 APP 申报，避免填错。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381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7288" y="728663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6350" y="476250"/>
            <a:ext cx="68397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第四课 · 赡养老人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76350" y="723900"/>
            <a:ext cx="68397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C2D1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「赡养老人专项附加扣除」是什么？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71500" y="1543050"/>
            <a:ext cx="5627787" cy="1649462"/>
          </a:xfrm>
          <a:prstGeom prst="roundRect">
            <a:avLst>
              <a:gd name="adj" fmla="val 103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752600"/>
            <a:ext cx="0" cy="1230362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350" y="1752600"/>
            <a:ext cx="51574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听到的「赡养费」到底是啥？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95350" y="2114550"/>
            <a:ext cx="5157412" cy="86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报税时大家说的「赡养费」，其实是指</a:t>
            </a:r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「赡养老人专项附加扣除」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——就是你赡养父母花的钱，可以按固定额度从你的应税收入里</a:t>
            </a:r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减掉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，从而少交点税。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71500" y="3344912"/>
            <a:ext cx="5627787" cy="135999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600" y="3554462"/>
            <a:ext cx="0" cy="940891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" y="3554462"/>
            <a:ext cx="51574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谁能扣？赡养谁算？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95350" y="3916412"/>
            <a:ext cx="5157412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纳税人本人赡养</a:t>
            </a:r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年满 60 周岁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的父母，以及子女均已去世的祖父母、外祖父母。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571500" y="4857304"/>
            <a:ext cx="5627787" cy="135999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" y="5066854"/>
            <a:ext cx="0" cy="940891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350" y="5066854"/>
            <a:ext cx="51574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不是给父母的钱直接抵税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95350" y="5428804"/>
            <a:ext cx="5157412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注意：它</a:t>
            </a:r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按你实际给了父母多少钱算，而是国家给你一个</a:t>
            </a:r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固定额度</a:t>
            </a:r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，直接减应税收入。</a:t>
            </a:r>
            <a:endParaRPr lang="en-US" sz="1425" dirty="0"/>
          </a:p>
        </p:txBody>
      </p:sp>
      <p:pic>
        <p:nvPicPr>
          <p:cNvPr id="18" name="Image 0" descr="/tmp/html2pptx-E9MBRM/html2pptx-bg-1786380988985-b2f8f0329a1b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087" y="1543050"/>
            <a:ext cx="5116413" cy="2667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52923" y="4286250"/>
            <a:ext cx="52187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25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图：照顾父母 · 来源：699pic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504087" y="4581525"/>
            <a:ext cx="5116413" cy="823913"/>
          </a:xfrm>
          <a:prstGeom prst="roundRect">
            <a:avLst>
              <a:gd name="adj" fmla="val 18497"/>
            </a:avLst>
          </a:prstGeom>
          <a:solidFill>
            <a:srgbClr val="7C2D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75537" y="4714875"/>
            <a:ext cx="48689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275" dirty="0">
                <a:solidFill>
                  <a:srgbClr val="FFF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简单说：</a:t>
            </a:r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你养父母 → 国家让你少交税</a:t>
            </a:r>
            <a:pPr algn="l" indent="0" marL="0">
              <a:lnSpc>
                <a:spcPts val="2475"/>
              </a:lnSpc>
              <a:buNone/>
            </a:pPr>
            <a:endParaRPr lang="en-US" sz="1275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275" dirty="0">
                <a:solidFill>
                  <a:srgbClr val="FFF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不是报销，是定额减税，每年最多减 36000 元的应税收入。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8048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95350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4691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第五课 · 扣除标准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4691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7C2D1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赡养老人：能扣多少？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71600" y="1390650"/>
            <a:ext cx="44691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 2023 年起标准提高，按是否独生子女区分。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6750" y="1952625"/>
            <a:ext cx="5295900" cy="2856309"/>
          </a:xfrm>
          <a:prstGeom prst="roundRect">
            <a:avLst>
              <a:gd name="adj" fmla="val 73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1075" y="2247900"/>
            <a:ext cx="1652439" cy="352425"/>
          </a:xfrm>
          <a:prstGeom prst="roundRect">
            <a:avLst>
              <a:gd name="adj" fmla="val 2700000"/>
            </a:avLst>
          </a:prstGeom>
          <a:solidFill>
            <a:srgbClr val="E6F4EA"/>
          </a:solidFill>
          <a:ln/>
        </p:spPr>
        <p:txBody>
          <a:bodyPr wrap="square" lIns="152400" tIns="57150" rIns="152400" bIns="5715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情形 A · 独生子女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981075" y="2752725"/>
            <a:ext cx="47605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一个人赡养父母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1075" y="3267075"/>
            <a:ext cx="47605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B45309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3000</a:t>
            </a:r>
            <a:pPr algn="l" indent="0" marL="0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1950" dirty="0">
                <a:solidFill>
                  <a:srgbClr val="6B728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元 / 月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81075" y="3952875"/>
            <a:ext cx="476059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独生子女按每月 </a:t>
            </a:r>
            <a:pPr algn="l" indent="0" marL="0">
              <a:lnSpc>
                <a:spcPts val="2209"/>
              </a:lnSpc>
              <a:buNone/>
            </a:pP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</a:t>
            </a:r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定额扣除，全年合计 </a:t>
            </a:r>
            <a:pPr algn="l" indent="0" marL="0">
              <a:lnSpc>
                <a:spcPts val="2209"/>
              </a:lnSpc>
              <a:buNone/>
            </a:pP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36000 元</a:t>
            </a:r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，一个人全额享受。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229350" y="1952625"/>
            <a:ext cx="5295900" cy="2856309"/>
          </a:xfrm>
          <a:prstGeom prst="roundRect">
            <a:avLst>
              <a:gd name="adj" fmla="val 73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71450" dist="57150" dir="540000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43675" y="2247900"/>
            <a:ext cx="1820763" cy="352425"/>
          </a:xfrm>
          <a:prstGeom prst="roundRect">
            <a:avLst>
              <a:gd name="adj" fmla="val 2700000"/>
            </a:avLst>
          </a:prstGeom>
          <a:solidFill>
            <a:srgbClr val="FFF7E6"/>
          </a:solidFill>
          <a:ln/>
        </p:spPr>
        <p:txBody>
          <a:bodyPr wrap="square" lIns="152400" tIns="57150" rIns="152400" bIns="5715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情形 B · 非独生子女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543675" y="2752725"/>
            <a:ext cx="47605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兄弟姐妹一起分摊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43675" y="3267075"/>
            <a:ext cx="47605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B45309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≤1500</a:t>
            </a:r>
            <a:pPr algn="l" indent="0" marL="0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1950" dirty="0">
                <a:solidFill>
                  <a:srgbClr val="6B728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元 / 人 / 月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543675" y="3952875"/>
            <a:ext cx="476059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元/月的额度由兄弟姐妹</a:t>
            </a:r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分摊</a:t>
            </a:r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，每人最多 </a:t>
            </a:r>
            <a:pPr algn="l" indent="0" marL="0">
              <a:lnSpc>
                <a:spcPts val="2209"/>
              </a:lnSpc>
              <a:buNone/>
            </a:pP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1500 元/月</a:t>
            </a:r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，不能一人独占。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66750" y="5056584"/>
            <a:ext cx="10858500" cy="552450"/>
          </a:xfrm>
          <a:prstGeom prst="roundRect">
            <a:avLst>
              <a:gd name="adj" fmla="val 20690"/>
            </a:avLst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04850" y="5208984"/>
            <a:ext cx="0" cy="247650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" y="5208984"/>
            <a:ext cx="105704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</a:t>
            </a:r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被赡养人只要</a:t>
            </a:r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年满 60 岁</a:t>
            </a:r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即可。一位父母满 60，多个子女也只能共享 3000 元/月的额度；</a:t>
            </a:r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每个老人各给 3000。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795338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85825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6107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第六课 · 分摊方式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610710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非独生子女：3000 元怎么分？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71600" y="1390650"/>
            <a:ext cx="61071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25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三种分摊方式，每人上限都是 1500 元/月。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1933575"/>
            <a:ext cx="3479750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4875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871" y="2305496"/>
            <a:ext cx="11552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04875" y="2838450"/>
            <a:ext cx="30635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4875" y="3267075"/>
            <a:ext cx="3063570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兄弟姐妹之间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平均分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，最省事。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04875" y="3666083"/>
            <a:ext cx="3003500" cy="494258"/>
          </a:xfrm>
          <a:prstGeom prst="roundRect">
            <a:avLst>
              <a:gd name="adj" fmla="val 23126"/>
            </a:avLst>
          </a:prstGeom>
          <a:solidFill>
            <a:srgbClr val="00000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8225" y="3780383"/>
            <a:ext cx="2791536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例：3 个子女各 1000 元/月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56050" y="1933575"/>
            <a:ext cx="3479750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4175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1195" y="2305496"/>
            <a:ext cx="121596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4175" y="2838450"/>
            <a:ext cx="30635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约定分摊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4175" y="3267075"/>
            <a:ext cx="306357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兄弟姐妹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自己商量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怎么分，签个书面约定。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4175" y="3931741"/>
            <a:ext cx="3003500" cy="759916"/>
          </a:xfrm>
          <a:prstGeom prst="roundRect">
            <a:avLst>
              <a:gd name="adj" fmla="val 15041"/>
            </a:avLst>
          </a:prstGeom>
          <a:solidFill>
            <a:srgbClr val="00000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7525" y="4046041"/>
            <a:ext cx="279153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例：大哥 1500 + 二姐 1000 + 小弟 500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5351" y="1933575"/>
            <a:ext cx="3479899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83476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92877" y="2305496"/>
            <a:ext cx="116738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83476" y="2838450"/>
            <a:ext cx="30637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指定分摊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83476" y="3267075"/>
            <a:ext cx="306372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被赡养的老人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指定谁分多少。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83476" y="3666083"/>
            <a:ext cx="3003649" cy="759916"/>
          </a:xfrm>
          <a:prstGeom prst="roundRect">
            <a:avLst>
              <a:gd name="adj" fmla="val 15041"/>
            </a:avLst>
          </a:prstGeom>
          <a:solidFill>
            <a:srgbClr val="00000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16826" y="3780383"/>
            <a:ext cx="2791688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例：父母指定大儿子扣 1500，二儿子扣 1500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6750" y="5158383"/>
            <a:ext cx="10858500" cy="552450"/>
          </a:xfrm>
          <a:prstGeom prst="roundRect">
            <a:avLst>
              <a:gd name="adj" fmla="val 24138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04850" y="5310783"/>
            <a:ext cx="0" cy="24765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500" y="5310783"/>
            <a:ext cx="105704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📌 三种方式</a:t>
            </a:r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都遵循</a:t>
            </a:r>
            <a:pPr algn="l" indent="0" marL="0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每人 ≤ 1500 元/月、合计 ≤ 3000 元/月。约定/指定分摊须</a:t>
            </a:r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书面留存</a:t>
            </a:r>
            <a:pPr algn="l" indent="0" marL="0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备查，且一个纳税年度内</a:t>
            </a:r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不能改</a:t>
            </a:r>
            <a:pPr algn="l" indent="0" marL="0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286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7288" y="819150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6350" y="438150"/>
            <a:ext cx="401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第七课 · 全景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76350" y="685800"/>
            <a:ext cx="40144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7 项专项附加扣除一览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76350" y="1304925"/>
            <a:ext cx="401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赡养老人只是其中一项。看看你还能再扣哪些？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7E6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924050"/>
            <a:ext cx="237058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👴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33425" y="2340173"/>
            <a:ext cx="23705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33425" y="2635448"/>
            <a:ext cx="237058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父母≥60 岁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33425" y="2899767"/>
            <a:ext cx="2370582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元/月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185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33775" y="1924050"/>
            <a:ext cx="237058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👶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533775" y="2340173"/>
            <a:ext cx="23705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岁以下婴幼儿照护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3533775" y="2635448"/>
            <a:ext cx="237058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每个婴幼儿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533775" y="2899767"/>
            <a:ext cx="2370582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 元/月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34125" y="1924050"/>
            <a:ext cx="237058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🎒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334125" y="2340173"/>
            <a:ext cx="23705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子女教育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6334125" y="2635448"/>
            <a:ext cx="237058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岁至全日制学历教育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334125" y="2899767"/>
            <a:ext cx="2370582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 元/月/孩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7255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34475" y="1924050"/>
            <a:ext cx="237058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📚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34475" y="2340173"/>
            <a:ext cx="23705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继续教育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134475" y="2635448"/>
            <a:ext cx="237058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学历教育或职业证书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34475" y="2899767"/>
            <a:ext cx="2370582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400 元/月 或 3600 元/年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3425" y="3577828"/>
            <a:ext cx="332270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🏥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33425" y="3993952"/>
            <a:ext cx="33227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大病医疗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733425" y="4289227"/>
            <a:ext cx="332270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自付超 1.5 万部分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33425" y="4553545"/>
            <a:ext cx="332270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 8 万元/年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053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67225" y="3577828"/>
            <a:ext cx="332270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🏠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467225" y="3993952"/>
            <a:ext cx="33227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住房贷款利息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4467225" y="4289227"/>
            <a:ext cx="332270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首套房贷，最长 240 月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4467225" y="4553545"/>
            <a:ext cx="332270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 元/月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391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01025" y="3577828"/>
            <a:ext cx="332270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🔑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8201025" y="3993952"/>
            <a:ext cx="33227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住房租金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8201025" y="4289227"/>
            <a:ext cx="332270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无房且在工作地租房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8201025" y="4553545"/>
            <a:ext cx="332270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800/1100/1500 元/月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1500" y="5088731"/>
            <a:ext cx="11049000" cy="504825"/>
          </a:xfrm>
          <a:prstGeom prst="roundRect">
            <a:avLst>
              <a:gd name="adj" fmla="val 22642"/>
            </a:avLst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600" y="5222081"/>
            <a:ext cx="0" cy="238125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200" y="5222081"/>
            <a:ext cx="108036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📌 </a:t>
            </a:r>
            <a:pPr algn="l" indent="0" marL="0">
              <a:buNone/>
            </a:pP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房贷利息 与 房租 只能二选一</a:t>
            </a:r>
            <a:pPr algn="l" indent="0" marL="0">
              <a:buNone/>
            </a:pP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</a:t>
            </a:r>
            <a:pPr algn="l" indent="0" marL="0">
              <a:buNone/>
            </a:pP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</a:t>
            </a:r>
            <a:pPr algn="l" indent="0" marL="0">
              <a:buNone/>
            </a:pP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父母双方只要有一位满 60 岁即可享受，</a:t>
            </a:r>
            <a:pPr algn="l" indent="0" marL="0">
              <a:buNone/>
            </a:pPr>
            <a:r>
              <a:rPr lang="en-US" sz="127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不是按人数 × 3000</a:t>
            </a:r>
            <a:pPr algn="l" indent="0" marL="0">
              <a:buNone/>
            </a:pP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7810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71538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843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第八课 · 实操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843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手机 APP 报税：5 步走完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4843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跟着步骤点，整个过程大概 10 分钟。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14300" dist="3810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819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4693" y="2178844"/>
            <a:ext cx="888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11264" y="2562225"/>
            <a:ext cx="1775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 APP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1264" y="2886075"/>
            <a:ext cx="1775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打开「个人所得税」APP，实名登录。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607766" y="2547938"/>
            <a:ext cx="213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6509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14300" dist="3810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1653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53034" y="2178844"/>
            <a:ext cx="888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009604" y="2562225"/>
            <a:ext cx="1775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填专项附加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09604" y="2886075"/>
            <a:ext cx="1775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先填好赡养老人、房贷等扣除信息。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806107" y="2547938"/>
            <a:ext cx="213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06343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14300" dist="3810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1487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51374" y="2178844"/>
            <a:ext cx="888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207944" y="2562225"/>
            <a:ext cx="1775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进入汇算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07944" y="2886075"/>
            <a:ext cx="1775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首页点「综合所得年度汇算」。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004447" y="2547938"/>
            <a:ext cx="213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261771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14300" dist="3810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1321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49714" y="2178844"/>
            <a:ext cx="888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406284" y="2562225"/>
            <a:ext cx="1775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核对数据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06284" y="2886075"/>
            <a:ext cx="1775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核对收入、扣除、税款，确认无误。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202787" y="2547938"/>
            <a:ext cx="213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60111" y="1924050"/>
            <a:ext cx="2065139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114300" dist="38100" dir="540000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311705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448203" y="2178844"/>
            <a:ext cx="888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5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604623" y="2562225"/>
            <a:ext cx="17761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提交申报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604623" y="2886075"/>
            <a:ext cx="177611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提交后申请退税 或 缴纳补税。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66750" y="3781425"/>
            <a:ext cx="10858500" cy="1009650"/>
          </a:xfrm>
          <a:prstGeom prst="roundRect">
            <a:avLst>
              <a:gd name="adj" fmla="val 16981"/>
            </a:avLst>
          </a:prstGeom>
          <a:solidFill>
            <a:srgbClr val="0F5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33450" y="3971925"/>
            <a:ext cx="3829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🎯 最后两种结果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33450" y="4343400"/>
            <a:ext cx="3829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预扣多了 →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退税到银行卡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；预扣少了 →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补税款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886950" y="4062412"/>
            <a:ext cx="1371600" cy="447675"/>
          </a:xfrm>
          <a:prstGeom prst="roundRect">
            <a:avLst>
              <a:gd name="adj" fmla="val 25532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058400" y="4157663"/>
            <a:ext cx="10492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没绑卡先绑卡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381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728663"/>
            <a:ext cx="3077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3736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第九课 · 避坑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3736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常见误区 &amp; 实用小贴士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66750" y="1543050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725" y="1685925"/>
            <a:ext cx="55448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1：我不上班就不用报税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7725" y="1971675"/>
            <a:ext cx="55448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综合所得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（稿酬、劳务费、经营所得等）就要算，不只看工资。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66750" y="2471738"/>
            <a:ext cx="5798046" cy="1057275"/>
          </a:xfrm>
          <a:prstGeom prst="roundRect">
            <a:avLst>
              <a:gd name="adj" fmla="val 126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614613"/>
            <a:ext cx="55448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2：赡养费 = 给父母的钱全抵税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7725" y="2900363"/>
            <a:ext cx="554481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不是！是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固定额度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（独生 3000、非独生 ≤1500/人/月），与实际给多少无关。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66750" y="3643313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7725" y="3786188"/>
            <a:ext cx="55448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3：兄弟几个都能各扣 3000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7725" y="4071938"/>
            <a:ext cx="55448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非独生子女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3000/月额度，每人 ≤1500，不能各自独立享受。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66750" y="4572000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7725" y="4714875"/>
            <a:ext cx="55448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4：退税就是赚到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7725" y="5000625"/>
            <a:ext cx="55448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退的是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自己多交的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，不是国家补贴。如实申报，别虚构扣除。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693396" y="1543050"/>
            <a:ext cx="4831854" cy="3957638"/>
          </a:xfrm>
          <a:prstGeom prst="roundRect">
            <a:avLst>
              <a:gd name="adj" fmla="val 4332"/>
            </a:avLst>
          </a:prstGeom>
          <a:solidFill>
            <a:srgbClr val="FFF7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1996" y="1752600"/>
            <a:ext cx="44621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💡 5 个小贴士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21996" y="2219325"/>
            <a:ext cx="4374654" cy="1826121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marL="247650" indent="-247650">
              <a:lnSpc>
                <a:spcPts val="1976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月 1—20 日办理要在 APP 上提前预约。</a:t>
            </a:r>
            <a:endParaRPr lang="en-US" sz="1275" dirty="0"/>
          </a:p>
          <a:p>
            <a:pPr algn="l" marL="247650" indent="-247650">
              <a:lnSpc>
                <a:spcPts val="1976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扣除信息一年内只能选一种分摊方式，不能改。</a:t>
            </a:r>
            <a:endParaRPr lang="en-US" sz="1275" dirty="0"/>
          </a:p>
          <a:p>
            <a:pPr algn="l" marL="247650" indent="-247650">
              <a:lnSpc>
                <a:spcPts val="1976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父母只要有一位满 60 岁，就能开始扣。</a:t>
            </a:r>
            <a:endParaRPr lang="en-US" sz="1275" dirty="0"/>
          </a:p>
          <a:p>
            <a:pPr algn="l" marL="247650" indent="-247650">
              <a:lnSpc>
                <a:spcPts val="1976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约定/指定分摊须留书面协议备查。</a:t>
            </a:r>
            <a:endParaRPr lang="en-US" sz="1275" dirty="0"/>
          </a:p>
          <a:p>
            <a:pPr algn="l" marL="247650" indent="-247650">
              <a:lnSpc>
                <a:spcPts val="1976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有疑问可拨打 12366 纳税服务热线。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666750" y="6205538"/>
            <a:ext cx="108585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750" y="6343650"/>
            <a:ext cx="4678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本课件仅供入门参考，具体以最新税法及「个人所得税」APP 为准。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48701" y="6343650"/>
            <a:ext cx="17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祝你报税顺利，少踩坑！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2026-08-10T16:56:42Z</dcterms:created>
  <dcterms:modified xsi:type="dcterms:W3CDTF">2026-08-10T16:56:42Z</dcterms:modified>
</cp:coreProperties>
</file>