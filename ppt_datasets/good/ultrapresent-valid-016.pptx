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3HpLAZ/html2pptx-bg-1786382163701-dc21863a4951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/tmp/html2pptx-3HpLAZ/html2pptx-bg-1786382164008-f2b9d65b7c778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-381000"/>
            <a:ext cx="7239000" cy="7239000"/>
          </a:xfrm>
          <a:prstGeom prst="rect">
            <a:avLst/>
          </a:prstGeom>
        </p:spPr>
      </p:pic>
      <p:pic>
        <p:nvPicPr>
          <p:cNvPr id="4" name="Image 2" descr="/tmp/html2pptx-3HpLAZ/html2pptx-bg-1786382164314-61c7dea259d9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3350" cy="6858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47750" y="1619250"/>
            <a:ext cx="95211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50"/>
              </a:spcAft>
              <a:buNone/>
            </a:pPr>
            <a:r>
              <a:rPr lang="en-US" sz="1650" dirty="0">
                <a:solidFill>
                  <a:srgbClr val="FFB347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LIGHT NOVEL · 社会观察</a:t>
            </a:r>
            <a:endParaRPr lang="en-US" sz="1650" dirty="0"/>
          </a:p>
        </p:txBody>
      </p:sp>
      <p:sp>
        <p:nvSpPr>
          <p:cNvPr id="6" name="Text 1"/>
          <p:cNvSpPr/>
          <p:nvPr/>
        </p:nvSpPr>
        <p:spPr>
          <a:xfrm>
            <a:off x="1047750" y="2133600"/>
            <a:ext cx="9521190" cy="1664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52"/>
              </a:lnSpc>
              <a:spcAft>
                <a:spcPts val="2100"/>
              </a:spcAft>
              <a:buNone/>
            </a:pPr>
            <a:r>
              <a:rPr lang="en-US" sz="585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日本</a:t>
            </a:r>
            <a:pPr algn="l" indent="0" marL="0">
              <a:lnSpc>
                <a:spcPts val="6552"/>
              </a:lnSpc>
              <a:spcAft>
                <a:spcPts val="2100"/>
              </a:spcAft>
              <a:buNone/>
            </a:pPr>
            <a:r>
              <a:rPr lang="en-US" sz="585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轻小说</a:t>
            </a:r>
            <a:pPr algn="l" indent="0" marL="0">
              <a:lnSpc>
                <a:spcPts val="6552"/>
              </a:lnSpc>
              <a:spcAft>
                <a:spcPts val="2100"/>
              </a:spcAft>
              <a:buNone/>
            </a:pPr>
            <a:r>
              <a:rPr lang="en-US" sz="585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的</a:t>
            </a:r>
            <a:endParaRPr lang="en-US" sz="5850" dirty="0"/>
          </a:p>
          <a:p>
            <a:pPr algn="l" indent="0" marL="0">
              <a:lnSpc>
                <a:spcPts val="6552"/>
              </a:lnSpc>
              <a:spcAft>
                <a:spcPts val="2100"/>
              </a:spcAft>
              <a:buNone/>
            </a:pPr>
            <a:r>
              <a:rPr lang="en-US" sz="585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社会影响</a:t>
            </a:r>
            <a:endParaRPr lang="en-US" sz="5850" dirty="0"/>
          </a:p>
        </p:txBody>
      </p:sp>
      <p:sp>
        <p:nvSpPr>
          <p:cNvPr id="7" name="Text 2"/>
          <p:cNvSpPr/>
          <p:nvPr/>
        </p:nvSpPr>
        <p:spPr>
          <a:xfrm>
            <a:off x="1047750" y="4064496"/>
            <a:ext cx="796671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dirty="0">
                <a:solidFill>
                  <a:srgbClr val="E7D6FF"/>
                </a:solidFill>
                <a:latin typeface="Noto Sans CJK SC Light" pitchFamily="34" charset="0"/>
                <a:ea typeface="Noto Sans CJK SC Light" pitchFamily="34" charset="-122"/>
                <a:cs typeface="Noto Sans CJK SC Light" pitchFamily="34" charset="-120"/>
              </a:rPr>
              <a:t>从口袋文库到国民级亚文化——解析一种文学形态如何重塑日本当代文化的精神面貌与产业生态。</a:t>
            </a:r>
            <a:endParaRPr lang="en-US" sz="2250" dirty="0"/>
          </a:p>
        </p:txBody>
      </p:sp>
      <p:sp>
        <p:nvSpPr>
          <p:cNvPr id="8" name="Text 3"/>
          <p:cNvSpPr/>
          <p:nvPr/>
        </p:nvSpPr>
        <p:spPr>
          <a:xfrm>
            <a:off x="1047750" y="6000750"/>
            <a:ext cx="1371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DB6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主题 / </a:t>
            </a:r>
            <a:pPr algn="l" indent="0" marL="0">
              <a:buNone/>
            </a:pPr>
            <a:r>
              <a:rPr lang="en-US" sz="1350" b="1" dirty="0">
                <a:solidFill>
                  <a:srgbClr val="FF6A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文化研究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2849166" y="6000750"/>
            <a:ext cx="83917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DB6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章节 / </a:t>
            </a:r>
            <a:pPr algn="l" indent="0" marL="0">
              <a:buNone/>
            </a:pPr>
            <a:r>
              <a:rPr lang="en-US" sz="1350" b="1" dirty="0">
                <a:solidFill>
                  <a:srgbClr val="FF6A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129088" y="6000750"/>
            <a:ext cx="9824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DB6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地区 / </a:t>
            </a:r>
            <a:pPr algn="l" indent="0" marL="0">
              <a:buNone/>
            </a:pPr>
            <a:r>
              <a:rPr lang="en-US" sz="1350" b="1" dirty="0">
                <a:solidFill>
                  <a:srgbClr val="FF6A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日本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889802" y="6019800"/>
            <a:ext cx="24938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D8AB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PRESENTATION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609600"/>
            <a:ext cx="36724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01 / 定义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62000" y="933450"/>
            <a:ext cx="3672459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4050" dirty="0">
                <a:solidFill>
                  <a:srgbClr val="2A1C1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什么是</a:t>
            </a:r>
            <a:pPr algn="l" indent="0" marL="0">
              <a:spcBef>
                <a:spcPts val="600"/>
              </a:spcBef>
              <a:buNone/>
            </a:pPr>
            <a:r>
              <a:rPr lang="en-US" sz="4050" b="1" dirty="0">
                <a:solidFill>
                  <a:srgbClr val="C44B6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轻小说</a:t>
            </a:r>
            <a:pPr algn="l" indent="0" marL="0">
              <a:spcBef>
                <a:spcPts val="600"/>
              </a:spcBef>
              <a:buNone/>
            </a:pPr>
            <a:r>
              <a:rPr lang="en-US" sz="4050" dirty="0">
                <a:solidFill>
                  <a:srgbClr val="2A1C1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？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762000" y="1905000"/>
            <a:ext cx="5455405" cy="1942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1800" dirty="0">
                <a:solidFill>
                  <a:srgbClr val="3A2A1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轻小说（ライトノベル）是起源于日本、以青少年为核心读者的</a:t>
            </a:r>
            <a:pPr algn="l" indent="0" marL="0">
              <a:lnSpc>
                <a:spcPts val="3060"/>
              </a:lnSpc>
              <a:buNone/>
            </a:pPr>
            <a:r>
              <a:rPr lang="en-US" sz="1800" b="1" dirty="0">
                <a:solidFill>
                  <a:srgbClr val="C4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娱乐向小说</a:t>
            </a:r>
            <a:pPr algn="l" indent="0" marL="0">
              <a:lnSpc>
                <a:spcPts val="3060"/>
              </a:lnSpc>
              <a:buNone/>
            </a:pPr>
            <a:r>
              <a:rPr lang="en-US" sz="1800" dirty="0">
                <a:solidFill>
                  <a:srgbClr val="3A2A1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体裁。它以"轻松可读"为美学原则，融合动画、漫画风格的插画，常以廉价文库本形式出版，题材涵盖恋爱、奇幻、科幻、推理、恐怖等多元门类。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6288" y="4019401"/>
            <a:ext cx="0" cy="548580"/>
          </a:xfrm>
          <a:prstGeom prst="line">
            <a:avLst/>
          </a:prstGeom>
          <a:noFill/>
          <a:ln w="28575">
            <a:solidFill>
              <a:srgbClr val="C44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925" y="4019401"/>
            <a:ext cx="5290242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i="1" dirty="0">
                <a:solidFill>
                  <a:srgbClr val="7A4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"轻"既指阅读的轻盈节奏，也指向一种通俗、贴近年轻世代情感的叙事姿态。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67636" y="1905000"/>
            <a:ext cx="4862364" cy="2830264"/>
          </a:xfrm>
          <a:prstGeom prst="roundRect">
            <a:avLst>
              <a:gd name="adj" fmla="val 2019"/>
            </a:avLst>
          </a:prstGeom>
          <a:solidFill>
            <a:srgbClr val="2A1C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91486" y="2247900"/>
            <a:ext cx="42989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050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CORE CONCEPT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91486" y="2571750"/>
            <a:ext cx="429895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50" b="1" dirty="0">
                <a:solidFill>
                  <a:srgbClr val="F6F1E9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轻 · 小 · 说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891486" y="3171825"/>
            <a:ext cx="429895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350" dirty="0">
                <a:solidFill>
                  <a:srgbClr val="CDB6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LIGHT NOVEL / ラノベ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91486" y="3590925"/>
            <a:ext cx="4298957" cy="801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面向年轻读者、以娱乐为目的；附有动漫风格插图；语言明快、节奏紧凑；多以文库本（450–600日元）形式发售；与动画、漫画、游戏形成紧密产业链共生。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762000" y="5972175"/>
            <a:ext cx="895499" cy="371475"/>
          </a:xfrm>
          <a:prstGeom prst="roundRect">
            <a:avLst>
              <a:gd name="adj" fmla="val 76923"/>
            </a:avLst>
          </a:prstGeom>
          <a:noFill/>
          <a:ln w="9525">
            <a:solidFill>
              <a:srgbClr val="2A1C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23925" y="6057900"/>
            <a:ext cx="5830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A1C1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娱乐为先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790849" y="5972175"/>
            <a:ext cx="895499" cy="371475"/>
          </a:xfrm>
          <a:prstGeom prst="roundRect">
            <a:avLst>
              <a:gd name="adj" fmla="val 76923"/>
            </a:avLst>
          </a:prstGeom>
          <a:noFill/>
          <a:ln w="9525">
            <a:solidFill>
              <a:srgbClr val="2A1C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52774" y="6057900"/>
            <a:ext cx="5830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A1C1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动漫插画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2819698" y="5972175"/>
            <a:ext cx="1038374" cy="371475"/>
          </a:xfrm>
          <a:prstGeom prst="roundRect">
            <a:avLst>
              <a:gd name="adj" fmla="val 76923"/>
            </a:avLst>
          </a:prstGeom>
          <a:noFill/>
          <a:ln w="9525">
            <a:solidFill>
              <a:srgbClr val="2A1C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981623" y="6057900"/>
            <a:ext cx="7288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A1C1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文库本形态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3991421" y="5972175"/>
            <a:ext cx="1015305" cy="371475"/>
          </a:xfrm>
          <a:prstGeom prst="roundRect">
            <a:avLst>
              <a:gd name="adj" fmla="val 76923"/>
            </a:avLst>
          </a:prstGeom>
          <a:noFill/>
          <a:ln w="9525">
            <a:solidFill>
              <a:srgbClr val="2A1C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53346" y="6057900"/>
            <a:ext cx="7052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A1C1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ACGN 共生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5140077" y="5972175"/>
            <a:ext cx="895499" cy="371475"/>
          </a:xfrm>
          <a:prstGeom prst="roundRect">
            <a:avLst>
              <a:gd name="adj" fmla="val 76923"/>
            </a:avLst>
          </a:prstGeom>
          <a:noFill/>
          <a:ln w="9525">
            <a:solidFill>
              <a:srgbClr val="2A1C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02002" y="6057900"/>
            <a:ext cx="5830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A1C1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年轻世代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9332565" y="6153150"/>
            <a:ext cx="21393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6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02 · SLIDE 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4271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02 / 历史脉络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876300"/>
            <a:ext cx="42710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3750" dirty="0">
                <a:solidFill>
                  <a:srgbClr val="EEF2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起源与</a:t>
            </a:r>
            <a:pPr algn="l" indent="0" marL="0">
              <a:spcBef>
                <a:spcPts val="600"/>
              </a:spcBef>
              <a:buNone/>
            </a:pPr>
            <a:r>
              <a:rPr lang="en-US" sz="3750" b="1" dirty="0">
                <a:solidFill>
                  <a:srgbClr val="FF6A9B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发展脉络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762000" y="1638300"/>
            <a:ext cx="42710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50" dirty="0">
                <a:solidFill>
                  <a:srgbClr val="9FB0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FROM 1970s TO TODAY · 半个世纪的演化轨迹</a:t>
            </a:r>
            <a:endParaRPr lang="en-US" sz="1350" dirty="0"/>
          </a:p>
        </p:txBody>
      </p:sp>
      <p:pic>
        <p:nvPicPr>
          <p:cNvPr id="6" name="Image 0" descr="/tmp/html2pptx-55lkzI/html2pptx-bg-1786382166053-5d0b140d0f20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2286000"/>
            <a:ext cx="28575" cy="36218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9615" y="2000250"/>
            <a:ext cx="16516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1970s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2667000" y="2000250"/>
            <a:ext cx="8763000" cy="821531"/>
          </a:xfrm>
          <a:prstGeom prst="roundRect">
            <a:avLst>
              <a:gd name="adj" fmla="val 463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2686050" y="2133600"/>
            <a:ext cx="0" cy="554831"/>
          </a:xfrm>
          <a:prstGeom prst="line">
            <a:avLst/>
          </a:prstGeom>
          <a:noFill/>
          <a:ln w="38100">
            <a:solidFill>
              <a:srgbClr val="FF6A9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14650" y="2133600"/>
            <a:ext cx="847191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索诺拉马文库等先驱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914650" y="2466975"/>
            <a:ext cx="8471916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朝日ソノラマ、角川文库率先推出面向少年的娱乐小说，《幻魔大战》《吸血鬼猎人D》等作品奠定"通俗奇幻 + 插画"雏形。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729615" y="2993231"/>
            <a:ext cx="16516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1990s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2667000" y="2993231"/>
            <a:ext cx="8763000" cy="1042988"/>
          </a:xfrm>
          <a:prstGeom prst="roundRect">
            <a:avLst>
              <a:gd name="adj" fmla="val 365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2686050" y="3126581"/>
            <a:ext cx="0" cy="776288"/>
          </a:xfrm>
          <a:prstGeom prst="line">
            <a:avLst/>
          </a:prstGeom>
          <a:noFill/>
          <a:ln w="38100">
            <a:solidFill>
              <a:srgbClr val="FF6A9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14650" y="3126581"/>
            <a:ext cx="847191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电击文库登场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914650" y="3459956"/>
            <a:ext cx="847191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1993 年角川书店主刊电击文库创刊，《秀逗魔导士》《不思议游戏》确立现代轻小说形态：动画化封面、文库本定价、青少年主角群。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729615" y="4207669"/>
            <a:ext cx="16516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2000s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2667000" y="4207669"/>
            <a:ext cx="8763000" cy="821531"/>
          </a:xfrm>
          <a:prstGeom prst="roundRect">
            <a:avLst>
              <a:gd name="adj" fmla="val 463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2686050" y="4341019"/>
            <a:ext cx="0" cy="554831"/>
          </a:xfrm>
          <a:prstGeom prst="line">
            <a:avLst/>
          </a:prstGeom>
          <a:noFill/>
          <a:ln w="38100">
            <a:solidFill>
              <a:srgbClr val="FF6A9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14650" y="4341019"/>
            <a:ext cx="847191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"凉宫"现象与产业飞跃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914650" y="4674394"/>
            <a:ext cx="8471916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《凉宫春日的忧郁》《狼与香辛料》引爆跨媒体改编潮；轻小说销量在 2000 年代后期跃居出版业增长冠军。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729615" y="5200650"/>
            <a:ext cx="16516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2010s+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2667000" y="5200650"/>
            <a:ext cx="8763000" cy="821531"/>
          </a:xfrm>
          <a:prstGeom prst="roundRect">
            <a:avLst>
              <a:gd name="adj" fmla="val 463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2686050" y="5334000"/>
            <a:ext cx="0" cy="554831"/>
          </a:xfrm>
          <a:prstGeom prst="line">
            <a:avLst/>
          </a:prstGeom>
          <a:noFill/>
          <a:ln w="38100">
            <a:solidFill>
              <a:srgbClr val="FF6A9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914650" y="5334000"/>
            <a:ext cx="847191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网文投稿与"なろう系"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2914650" y="5667375"/>
            <a:ext cx="8471916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"成为小说家吧"等平台兴起，异世界转生题材席卷市场；《刀剑神域》《Re:Zero》《鬼灭之刃》原作小说走向全球。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9439573" y="6334125"/>
            <a:ext cx="20302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A7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03 · SLIDE 03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tml2pptx-u2DFrZ/html2pptx-bg-1786382166877-663f94b676b4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953000" cy="6858000"/>
          </a:xfrm>
          <a:prstGeom prst="rect">
            <a:avLst/>
          </a:prstGeom>
        </p:spPr>
      </p:pic>
      <p:pic>
        <p:nvPicPr>
          <p:cNvPr id="4" name="Image 1" descr="/tmp/html2pptx-u2DFrZ/html2pptx-bg-1786382167188-29c3054735aa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53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42900" y="476250"/>
            <a:ext cx="4103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03 / 流行背景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342900" y="723900"/>
            <a:ext cx="4103736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spcBef>
                <a:spcPts val="450"/>
              </a:spcBef>
              <a:buNone/>
            </a:pPr>
            <a:r>
              <a:rPr lang="en-US" sz="360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为何在</a:t>
            </a:r>
            <a:endParaRPr lang="en-US" sz="3600" dirty="0"/>
          </a:p>
          <a:p>
            <a:pPr algn="l" indent="0" marL="0">
              <a:lnSpc>
                <a:spcPts val="4140"/>
              </a:lnSpc>
              <a:spcBef>
                <a:spcPts val="450"/>
              </a:spcBef>
              <a:buNone/>
            </a:pPr>
            <a:r>
              <a:rPr lang="en-US" sz="360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日本流行？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342900" y="1908572"/>
            <a:ext cx="4103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buNone/>
            </a:pPr>
            <a:r>
              <a:rPr lang="en-US" sz="120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POPULARIZATION CONTEXT · 1990–2010s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42900" y="6410325"/>
            <a:ext cx="24442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DB6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图：东京秋叶原 K-Books 动漫书店街区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334000" y="762000"/>
            <a:ext cx="621792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3A2A1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轻小说的爆发式流行并非偶然。它诞生于日本</a:t>
            </a:r>
            <a:pPr algn="l" indent="0" marL="0">
              <a:lnSpc>
                <a:spcPts val="255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C44B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泡沫经济瓦解后</a:t>
            </a:r>
            <a:pPr algn="l" indent="0" marL="0">
              <a:lnSpc>
                <a:spcPts val="255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3A2A1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的文化消费转型期，伴随出版业文库本策略、动画产业外溢、便利店分销网络以及青少年阅读时间碎片化共同催生。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334000" y="2038350"/>
            <a:ext cx="2962275" cy="1362670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5524500" y="2057400"/>
            <a:ext cx="2581275" cy="0"/>
          </a:xfrm>
          <a:prstGeom prst="line">
            <a:avLst/>
          </a:prstGeom>
          <a:noFill/>
          <a:ln w="38100">
            <a:solidFill>
              <a:srgbClr val="C44B6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524500" y="2247900"/>
            <a:ext cx="2632901" cy="20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FACTOR 01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524500" y="2511623"/>
            <a:ext cx="263290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2A1C1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廉价文库本策略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524500" y="2816423"/>
            <a:ext cx="2632901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5A42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450–600 日元定价契合学生零花钱；便利店与书店全国铺货降低获取门槛。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467725" y="2038350"/>
            <a:ext cx="2962275" cy="1362670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8658225" y="2057400"/>
            <a:ext cx="2581275" cy="0"/>
          </a:xfrm>
          <a:prstGeom prst="line">
            <a:avLst/>
          </a:prstGeom>
          <a:noFill/>
          <a:ln w="38100">
            <a:solidFill>
              <a:srgbClr val="C44B6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658225" y="2247900"/>
            <a:ext cx="2632901" cy="20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FACTOR 02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658225" y="2511623"/>
            <a:ext cx="263290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2A1C1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动画化联动放大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8658225" y="2816423"/>
            <a:ext cx="2632901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5A42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深夜动画栏目扩展为强曝光渠道，原作小说随改编动画同步热销。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334000" y="3572470"/>
            <a:ext cx="2962275" cy="1362670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7"/>
          <p:cNvSpPr/>
          <p:nvPr/>
        </p:nvSpPr>
        <p:spPr>
          <a:xfrm>
            <a:off x="5524500" y="3591520"/>
            <a:ext cx="2581275" cy="0"/>
          </a:xfrm>
          <a:prstGeom prst="line">
            <a:avLst/>
          </a:prstGeom>
          <a:noFill/>
          <a:ln w="38100">
            <a:solidFill>
              <a:srgbClr val="C44B6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524500" y="3782020"/>
            <a:ext cx="2632901" cy="20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FACTOR 03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524500" y="4045744"/>
            <a:ext cx="263290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2A1C1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插画文化的吸附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5524500" y="4350544"/>
            <a:ext cx="2632901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5A42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知名插画师封面与彩页使轻小说具备"角色商品"属性，吸引视觉先行的读者。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8467725" y="3572470"/>
            <a:ext cx="2962275" cy="1362670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2"/>
          <p:cNvSpPr/>
          <p:nvPr/>
        </p:nvSpPr>
        <p:spPr>
          <a:xfrm>
            <a:off x="8658225" y="3591520"/>
            <a:ext cx="2581275" cy="0"/>
          </a:xfrm>
          <a:prstGeom prst="line">
            <a:avLst/>
          </a:prstGeom>
          <a:noFill/>
          <a:ln w="38100">
            <a:solidFill>
              <a:srgbClr val="C44B6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658225" y="3782020"/>
            <a:ext cx="2632901" cy="20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FACTOR 04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8658225" y="4045744"/>
            <a:ext cx="263290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2A1C1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网络投稿平台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8658225" y="4350544"/>
            <a:ext cx="2632901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5A42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"成为小说家吧"等免费平台让业余作者绕过出版社直接触达读者，催生新题材洪流。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9439573" y="6334125"/>
            <a:ext cx="20302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6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04 · SLIDE 04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04 / 主要受众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857250"/>
            <a:ext cx="1088136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3900" dirty="0">
                <a:solidFill>
                  <a:srgbClr val="1F1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谁在读</a:t>
            </a:r>
            <a:pPr algn="l" indent="0" marL="0">
              <a:spcBef>
                <a:spcPts val="450"/>
              </a:spcBef>
              <a:buNone/>
            </a:pPr>
            <a:r>
              <a:rPr lang="en-US" sz="3900" b="1" dirty="0">
                <a:solidFill>
                  <a:srgbClr val="C44B6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轻小说</a:t>
            </a:r>
            <a:pPr algn="l" indent="0" marL="0">
              <a:spcBef>
                <a:spcPts val="450"/>
              </a:spcBef>
              <a:buNone/>
            </a:pPr>
            <a:r>
              <a:rPr lang="en-US" sz="3900" dirty="0">
                <a:solidFill>
                  <a:srgbClr val="1F1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？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62000" y="1628775"/>
            <a:ext cx="108813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1275" dirty="0">
                <a:solidFill>
                  <a:srgbClr val="7A6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READER PORTRAIT · 主要受众画像与构成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762000" y="1905000"/>
            <a:ext cx="2567732" cy="2113955"/>
          </a:xfrm>
          <a:prstGeom prst="roundRect">
            <a:avLst>
              <a:gd name="adj" fmla="val 36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85813" y="2076450"/>
            <a:ext cx="0" cy="1771055"/>
          </a:xfrm>
          <a:prstGeom prst="line">
            <a:avLst/>
          </a:prstGeom>
          <a:noFill/>
          <a:ln w="47625">
            <a:solidFill>
              <a:srgbClr val="C44B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1075" y="2076450"/>
            <a:ext cx="2220751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975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CORE 01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981075" y="2306389"/>
            <a:ext cx="222075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1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初高中生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81075" y="2658814"/>
            <a:ext cx="2220751" cy="597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10–18 岁学生是核心读者群，校园生活与异世界幻想题材契合成长期心理需求。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3463082" y="1905000"/>
            <a:ext cx="2567732" cy="2113955"/>
          </a:xfrm>
          <a:prstGeom prst="roundRect">
            <a:avLst>
              <a:gd name="adj" fmla="val 36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486894" y="2076450"/>
            <a:ext cx="0" cy="1771055"/>
          </a:xfrm>
          <a:prstGeom prst="line">
            <a:avLst/>
          </a:prstGeom>
          <a:noFill/>
          <a:ln w="47625">
            <a:solidFill>
              <a:srgbClr val="5A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2157" y="2076450"/>
            <a:ext cx="2220751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975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CORE 02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682157" y="2306389"/>
            <a:ext cx="222075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A4A8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大学 / 适龄青年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82157" y="2658814"/>
            <a:ext cx="2220751" cy="39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20–30 岁群体延续阅读习惯，对剧情复杂度与社会隐喻有更高诉求。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762000" y="4152305"/>
            <a:ext cx="2567732" cy="2114104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85813" y="4323755"/>
            <a:ext cx="0" cy="1771204"/>
          </a:xfrm>
          <a:prstGeom prst="line">
            <a:avLst/>
          </a:prstGeom>
          <a:noFill/>
          <a:ln w="47625">
            <a:solidFill>
              <a:srgbClr val="5A4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1075" y="4323755"/>
            <a:ext cx="2220751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975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EXT 03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981075" y="4553694"/>
            <a:ext cx="222075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A4A8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通勤上班族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81075" y="4906119"/>
            <a:ext cx="2220751" cy="39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文库本便携、章节短小，契合地铁通勤场景的碎片化阅读需求。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3463082" y="4152305"/>
            <a:ext cx="2567732" cy="2114104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486894" y="4323755"/>
            <a:ext cx="0" cy="1771204"/>
          </a:xfrm>
          <a:prstGeom prst="line">
            <a:avLst/>
          </a:prstGeom>
          <a:noFill/>
          <a:ln w="47625">
            <a:solidFill>
              <a:srgbClr val="C44B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82157" y="4323755"/>
            <a:ext cx="2220751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975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EXT 04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3682157" y="4553694"/>
            <a:ext cx="222075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1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海外爱好者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682157" y="4906119"/>
            <a:ext cx="2220751" cy="597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通过翻译版本与动画入口接触日轻，构成中、韩、东南亚及欧美亚文化圈。</a:t>
            </a:r>
            <a:endParaRPr lang="en-US" sz="1013" dirty="0"/>
          </a:p>
        </p:txBody>
      </p:sp>
      <p:pic>
        <p:nvPicPr>
          <p:cNvPr id="26" name="Image 0" descr="/tmp/html2pptx-bwPEHK/html2pptx-bg-1786382168310-bcde67cb8bba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813" y="1905000"/>
            <a:ext cx="5018187" cy="436140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678513" y="2190750"/>
            <a:ext cx="45744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REACH SNAPSHOT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6678513" y="2428875"/>
            <a:ext cx="457448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受众规模与结构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6678513" y="3795713"/>
            <a:ext cx="448478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78513" y="2933700"/>
            <a:ext cx="122430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FF6A9B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≈ 60%</a:t>
            </a:r>
            <a:endParaRPr lang="en-US" sz="2850" dirty="0"/>
          </a:p>
        </p:txBody>
      </p:sp>
      <p:sp>
        <p:nvSpPr>
          <p:cNvPr id="31" name="Text 28"/>
          <p:cNvSpPr/>
          <p:nvPr/>
        </p:nvSpPr>
        <p:spPr>
          <a:xfrm>
            <a:off x="8012162" y="3114675"/>
            <a:ext cx="321416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日本轻小说读者集中在 10–29 岁年龄段，是青少年主流阅读品类之一。</a:t>
            </a:r>
            <a:endParaRPr lang="en-US" sz="1013" dirty="0"/>
          </a:p>
        </p:txBody>
      </p:sp>
      <p:sp>
        <p:nvSpPr>
          <p:cNvPr id="32" name="Shape 29"/>
          <p:cNvSpPr/>
          <p:nvPr/>
        </p:nvSpPr>
        <p:spPr>
          <a:xfrm>
            <a:off x="6678513" y="4814888"/>
            <a:ext cx="448478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78513" y="3952875"/>
            <a:ext cx="1291858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FF6A9B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≈ 40%</a:t>
            </a:r>
            <a:endParaRPr lang="en-US" sz="2850" dirty="0"/>
          </a:p>
        </p:txBody>
      </p:sp>
      <p:sp>
        <p:nvSpPr>
          <p:cNvPr id="34" name="Text 31"/>
          <p:cNvSpPr/>
          <p:nvPr/>
        </p:nvSpPr>
        <p:spPr>
          <a:xfrm>
            <a:off x="8078391" y="4133850"/>
            <a:ext cx="314660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读者为女性，少女向作品与"乙女游戏"改编小说形成稳定子市场。</a:t>
            </a:r>
            <a:endParaRPr lang="en-US" sz="1013" dirty="0"/>
          </a:p>
        </p:txBody>
      </p:sp>
      <p:sp>
        <p:nvSpPr>
          <p:cNvPr id="35" name="Shape 32"/>
          <p:cNvSpPr/>
          <p:nvPr/>
        </p:nvSpPr>
        <p:spPr>
          <a:xfrm>
            <a:off x="6678513" y="5681663"/>
            <a:ext cx="448478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78513" y="4972050"/>
            <a:ext cx="121641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FF6A9B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2000+</a:t>
            </a:r>
            <a:endParaRPr lang="en-US" sz="2850" dirty="0"/>
          </a:p>
        </p:txBody>
      </p:sp>
      <p:sp>
        <p:nvSpPr>
          <p:cNvPr id="37" name="Text 34"/>
          <p:cNvSpPr/>
          <p:nvPr/>
        </p:nvSpPr>
        <p:spPr>
          <a:xfrm>
            <a:off x="8004423" y="5153025"/>
            <a:ext cx="322205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每年新刊出版品种，电击、MF、角川 Sneaker 等文库贡献主力。</a:t>
            </a:r>
            <a:endParaRPr lang="en-US" sz="1013" dirty="0"/>
          </a:p>
        </p:txBody>
      </p:sp>
      <p:sp>
        <p:nvSpPr>
          <p:cNvPr id="38" name="Text 35"/>
          <p:cNvSpPr/>
          <p:nvPr/>
        </p:nvSpPr>
        <p:spPr>
          <a:xfrm>
            <a:off x="6678513" y="5834063"/>
            <a:ext cx="45744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9D8AB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注：比例为公开研究综述估算，用于呈现结构特征，非精确统计。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9439573" y="6334125"/>
            <a:ext cx="20302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6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05 · SLIDE 05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2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62028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05 / 产业链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857250"/>
            <a:ext cx="62028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375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ACGN：</a:t>
            </a:r>
            <a:pPr algn="l" indent="0" marL="0">
              <a:spcBef>
                <a:spcPts val="450"/>
              </a:spcBef>
              <a:buNone/>
            </a:pPr>
            <a:r>
              <a:rPr lang="en-US" sz="3750" b="1" dirty="0">
                <a:solidFill>
                  <a:srgbClr val="FF6A9B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循环共振</a:t>
            </a:r>
            <a:pPr algn="l" indent="0" marL="0">
              <a:spcBef>
                <a:spcPts val="450"/>
              </a:spcBef>
              <a:buNone/>
            </a:pPr>
            <a:r>
              <a:rPr lang="en-US" sz="375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的产业生态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762000" y="1600200"/>
            <a:ext cx="62028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1200" dirty="0">
                <a:solidFill>
                  <a:srgbClr val="9FB0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ANIME · COMIC · GAME · NOVEL · 跨媒体共生体系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2000250"/>
            <a:ext cx="1691580" cy="1609725"/>
          </a:xfrm>
          <a:prstGeom prst="roundRect">
            <a:avLst>
              <a:gd name="adj" fmla="val 591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29679" y="2219325"/>
            <a:ext cx="13562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A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929679" y="2695575"/>
            <a:ext cx="13562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动画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29679" y="3019425"/>
            <a:ext cx="135622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63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深夜档与流媒体放大原作热度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684859" y="2614613"/>
            <a:ext cx="916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6A9B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›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006030" y="2000250"/>
            <a:ext cx="1691580" cy="1609725"/>
          </a:xfrm>
          <a:prstGeom prst="roundRect">
            <a:avLst>
              <a:gd name="adj" fmla="val 591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73709" y="2219325"/>
            <a:ext cx="13562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C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3173709" y="2695575"/>
            <a:ext cx="13562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漫画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3709" y="3019425"/>
            <a:ext cx="135622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63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杂志连载与单行本扩展受众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928890" y="2614613"/>
            <a:ext cx="916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6A9B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›</a:t>
            </a:r>
            <a:endParaRPr lang="en-US" sz="2100" dirty="0"/>
          </a:p>
        </p:txBody>
      </p:sp>
      <p:pic>
        <p:nvPicPr>
          <p:cNvPr id="16" name="Image 0" descr="/tmp/html2pptx-GCkM90/html2pptx-bg-1786382169635-342609e82eb6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061" y="2000250"/>
            <a:ext cx="1691580" cy="1609725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421511" y="2005013"/>
            <a:ext cx="1348680" cy="0"/>
          </a:xfrm>
          <a:prstGeom prst="line">
            <a:avLst/>
          </a:prstGeom>
          <a:noFill/>
          <a:ln w="9525">
            <a:solidFill>
              <a:srgbClr val="FF6A9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940748" y="2209800"/>
            <a:ext cx="0" cy="1190625"/>
          </a:xfrm>
          <a:prstGeom prst="line">
            <a:avLst/>
          </a:prstGeom>
          <a:noFill/>
          <a:ln w="9525">
            <a:solidFill>
              <a:srgbClr val="FF6A9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21511" y="3605213"/>
            <a:ext cx="1348680" cy="0"/>
          </a:xfrm>
          <a:prstGeom prst="line">
            <a:avLst/>
          </a:prstGeom>
          <a:noFill/>
          <a:ln w="9525">
            <a:solidFill>
              <a:srgbClr val="FF6A9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254823" y="2209800"/>
            <a:ext cx="0" cy="1190625"/>
          </a:xfrm>
          <a:prstGeom prst="line">
            <a:avLst/>
          </a:prstGeom>
          <a:noFill/>
          <a:ln w="9525">
            <a:solidFill>
              <a:srgbClr val="FF6A9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17740" y="2219325"/>
            <a:ext cx="13562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N</a:t>
            </a:r>
            <a:endParaRPr lang="en-US" sz="3150" dirty="0"/>
          </a:p>
        </p:txBody>
      </p:sp>
      <p:sp>
        <p:nvSpPr>
          <p:cNvPr id="22" name="Text 19"/>
          <p:cNvSpPr/>
          <p:nvPr/>
        </p:nvSpPr>
        <p:spPr>
          <a:xfrm>
            <a:off x="5417740" y="2695575"/>
            <a:ext cx="13562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轻小说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417740" y="3019425"/>
            <a:ext cx="135622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63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原作源头 / 世界观母本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7172920" y="2614613"/>
            <a:ext cx="916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6A9B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›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7494091" y="2000250"/>
            <a:ext cx="1691580" cy="1609725"/>
          </a:xfrm>
          <a:prstGeom prst="roundRect">
            <a:avLst>
              <a:gd name="adj" fmla="val 591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661770" y="2219325"/>
            <a:ext cx="13562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G</a:t>
            </a:r>
            <a:endParaRPr lang="en-US" sz="3150" dirty="0"/>
          </a:p>
        </p:txBody>
      </p:sp>
      <p:sp>
        <p:nvSpPr>
          <p:cNvPr id="27" name="Text 24"/>
          <p:cNvSpPr/>
          <p:nvPr/>
        </p:nvSpPr>
        <p:spPr>
          <a:xfrm>
            <a:off x="7661770" y="2695575"/>
            <a:ext cx="13562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游戏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7661770" y="3019425"/>
            <a:ext cx="135622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63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RPG/手游反哺叙事与角色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9416951" y="2614613"/>
            <a:ext cx="916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6A9B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›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9738122" y="2000250"/>
            <a:ext cx="1691580" cy="1609725"/>
          </a:xfrm>
          <a:prstGeom prst="roundRect">
            <a:avLst>
              <a:gd name="adj" fmla="val 591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9905801" y="2219325"/>
            <a:ext cx="13562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¥</a:t>
            </a:r>
            <a:endParaRPr lang="en-US" sz="3150" dirty="0"/>
          </a:p>
        </p:txBody>
      </p:sp>
      <p:sp>
        <p:nvSpPr>
          <p:cNvPr id="32" name="Text 29"/>
          <p:cNvSpPr/>
          <p:nvPr/>
        </p:nvSpPr>
        <p:spPr>
          <a:xfrm>
            <a:off x="9905801" y="2695575"/>
            <a:ext cx="13562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周边观光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9905801" y="3019425"/>
            <a:ext cx="135622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63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圣地巡礼、商品、活动展会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762000" y="3895725"/>
            <a:ext cx="10668000" cy="1247775"/>
          </a:xfrm>
          <a:prstGeom prst="roundRect">
            <a:avLst>
              <a:gd name="adj" fmla="val 7634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781050" y="4105275"/>
            <a:ext cx="0" cy="828675"/>
          </a:xfrm>
          <a:prstGeom prst="line">
            <a:avLst/>
          </a:prstGeom>
          <a:noFill/>
          <a:ln w="38100">
            <a:solidFill>
              <a:srgbClr val="FFB34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47750" y="4105275"/>
            <a:ext cx="103372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VALUE FLOW · 价值流动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1047750" y="4448175"/>
            <a:ext cx="1033729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轻小说在 ACGN 体系中常承担</a:t>
            </a:r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FF6A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"原作母本"</a:t>
            </a:r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角色：以低成本试错发现新题材，成功作品迅速漫画化、动画化、游戏化，并通过周边、舞台剧、圣地巡礼形成长尾收益。这一闭环使文学创作与视觉产业深度耦合，构建了日本独有的</a:t>
            </a:r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FF6A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内容孵化引擎</a:t>
            </a:r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125" dirty="0"/>
          </a:p>
        </p:txBody>
      </p:sp>
      <p:sp>
        <p:nvSpPr>
          <p:cNvPr id="38" name="Text 35"/>
          <p:cNvSpPr/>
          <p:nvPr/>
        </p:nvSpPr>
        <p:spPr>
          <a:xfrm>
            <a:off x="9439573" y="6334125"/>
            <a:ext cx="20302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A7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06 · SLIDE 06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534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06 / 代表作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857250"/>
            <a:ext cx="53435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3750" dirty="0">
                <a:solidFill>
                  <a:srgbClr val="2A1C1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现象级作品与</a:t>
            </a:r>
            <a:pPr algn="l" indent="0" marL="0">
              <a:spcBef>
                <a:spcPts val="450"/>
              </a:spcBef>
              <a:buNone/>
            </a:pPr>
            <a:r>
              <a:rPr lang="en-US" sz="3750" b="1" dirty="0">
                <a:solidFill>
                  <a:srgbClr val="C44B6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跨媒体改编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762000" y="1600200"/>
            <a:ext cx="534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1200" dirty="0">
                <a:solidFill>
                  <a:srgbClr val="7A6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FLAGSHIP TITLES · 改写产业格局的关键节点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1905000"/>
            <a:ext cx="3429000" cy="2195959"/>
          </a:xfrm>
          <a:prstGeom prst="roundRect">
            <a:avLst>
              <a:gd name="adj" fmla="val 34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71550" y="1928813"/>
            <a:ext cx="3009900" cy="0"/>
          </a:xfrm>
          <a:prstGeom prst="line">
            <a:avLst/>
          </a:prstGeom>
          <a:noFill/>
          <a:ln w="47625">
            <a:solidFill>
              <a:srgbClr val="C44B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1550" y="2181225"/>
            <a:ext cx="3070098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2003 · 电击文库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971550" y="2436465"/>
            <a:ext cx="3070098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2A1C1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凉宫春日的忧郁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71550" y="2725936"/>
            <a:ext cx="307009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1050"/>
              </a:spcAft>
              <a:buNone/>
            </a:pPr>
            <a:r>
              <a:rPr lang="en-US" sz="900" dirty="0">
                <a:solidFill>
                  <a:srgbClr val="8A6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Melancholy of Haruhi Suzumiya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71550" y="3042047"/>
            <a:ext cx="307009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校园科幻 + 元叙事，引发 2000 年代后期轻小说爆发，动画化带动角色歌、社群"凉宫日"现象。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71550" y="3601938"/>
            <a:ext cx="438150" cy="270421"/>
          </a:xfrm>
          <a:prstGeom prst="roundRect">
            <a:avLst>
              <a:gd name="adj" fmla="val 70446"/>
            </a:avLst>
          </a:prstGeom>
          <a:solidFill>
            <a:srgbClr val="FCE8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57275" y="3630513"/>
            <a:ext cx="27203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校园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66850" y="3601938"/>
            <a:ext cx="438150" cy="270421"/>
          </a:xfrm>
          <a:prstGeom prst="roundRect">
            <a:avLst>
              <a:gd name="adj" fmla="val 70446"/>
            </a:avLst>
          </a:prstGeom>
          <a:solidFill>
            <a:srgbClr val="FCE8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52575" y="3630513"/>
            <a:ext cx="27203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科幻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62150" y="3601938"/>
            <a:ext cx="571500" cy="270421"/>
          </a:xfrm>
          <a:prstGeom prst="roundRect">
            <a:avLst>
              <a:gd name="adj" fmla="val 70446"/>
            </a:avLst>
          </a:prstGeom>
          <a:solidFill>
            <a:srgbClr val="FCE8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047875" y="3630513"/>
            <a:ext cx="4080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元叙事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81500" y="1905000"/>
            <a:ext cx="3429000" cy="2195959"/>
          </a:xfrm>
          <a:prstGeom prst="roundRect">
            <a:avLst>
              <a:gd name="adj" fmla="val 34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591050" y="1928813"/>
            <a:ext cx="3009900" cy="0"/>
          </a:xfrm>
          <a:prstGeom prst="line">
            <a:avLst/>
          </a:prstGeom>
          <a:noFill/>
          <a:ln w="47625">
            <a:solidFill>
              <a:srgbClr val="C44B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1050" y="2181225"/>
            <a:ext cx="3070098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2009 · 电击文库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591050" y="2436465"/>
            <a:ext cx="3070098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2A1C1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刀剑神域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591050" y="2725936"/>
            <a:ext cx="307009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1050"/>
              </a:spcAft>
              <a:buNone/>
            </a:pPr>
            <a:r>
              <a:rPr lang="en-US" sz="900" dirty="0">
                <a:solidFill>
                  <a:srgbClr val="8A6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Sword Art Online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91050" y="3042047"/>
            <a:ext cx="307009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VRMMO 题材全球化先锋，掀起"死亡游戏 / 异世界"风潮，海外销量长期领跑日轻出口榜。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91050" y="3601938"/>
            <a:ext cx="332929" cy="270421"/>
          </a:xfrm>
          <a:prstGeom prst="roundRect">
            <a:avLst>
              <a:gd name="adj" fmla="val 70446"/>
            </a:avLst>
          </a:prstGeom>
          <a:solidFill>
            <a:srgbClr val="FCE8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676775" y="3630513"/>
            <a:ext cx="16470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81129" y="3601938"/>
            <a:ext cx="438150" cy="270421"/>
          </a:xfrm>
          <a:prstGeom prst="roundRect">
            <a:avLst>
              <a:gd name="adj" fmla="val 70446"/>
            </a:avLst>
          </a:prstGeom>
          <a:solidFill>
            <a:srgbClr val="FCE8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66854" y="3630513"/>
            <a:ext cx="27203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网游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76429" y="3601938"/>
            <a:ext cx="571500" cy="270421"/>
          </a:xfrm>
          <a:prstGeom prst="roundRect">
            <a:avLst>
              <a:gd name="adj" fmla="val 70446"/>
            </a:avLst>
          </a:prstGeom>
          <a:solidFill>
            <a:srgbClr val="FCE8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562154" y="3630513"/>
            <a:ext cx="4080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异世界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01000" y="1905000"/>
            <a:ext cx="3429000" cy="2195959"/>
          </a:xfrm>
          <a:prstGeom prst="roundRect">
            <a:avLst>
              <a:gd name="adj" fmla="val 34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8210550" y="1928813"/>
            <a:ext cx="3009900" cy="0"/>
          </a:xfrm>
          <a:prstGeom prst="line">
            <a:avLst/>
          </a:prstGeom>
          <a:noFill/>
          <a:ln w="47625">
            <a:solidFill>
              <a:srgbClr val="C44B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10550" y="2181225"/>
            <a:ext cx="3070098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2012 · MF 文库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8210550" y="2436465"/>
            <a:ext cx="3070098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2A1C1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Re:从零开始的异世界生活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8210550" y="2725936"/>
            <a:ext cx="307009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1050"/>
              </a:spcAft>
              <a:buNone/>
            </a:pPr>
            <a:r>
              <a:rPr lang="en-US" sz="900" dirty="0">
                <a:solidFill>
                  <a:srgbClr val="8A6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Re:Zero − Starting Life in Another World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10550" y="3042047"/>
            <a:ext cx="307009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"なろう系"代表作，把"死亡回归"心理剧推入主流，拓展了网文转出版工业的范式。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10550" y="3601938"/>
            <a:ext cx="571500" cy="270421"/>
          </a:xfrm>
          <a:prstGeom prst="roundRect">
            <a:avLst>
              <a:gd name="adj" fmla="val 70446"/>
            </a:avLst>
          </a:prstGeom>
          <a:solidFill>
            <a:srgbClr val="FCE8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296275" y="3630513"/>
            <a:ext cx="4080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异世界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839200" y="3601938"/>
            <a:ext cx="438150" cy="270421"/>
          </a:xfrm>
          <a:prstGeom prst="roundRect">
            <a:avLst>
              <a:gd name="adj" fmla="val 70446"/>
            </a:avLst>
          </a:prstGeom>
          <a:solidFill>
            <a:srgbClr val="FCE8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924925" y="3630513"/>
            <a:ext cx="27203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悬疑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334500" y="3601938"/>
            <a:ext cx="571500" cy="270421"/>
          </a:xfrm>
          <a:prstGeom prst="roundRect">
            <a:avLst>
              <a:gd name="adj" fmla="val 70446"/>
            </a:avLst>
          </a:prstGeom>
          <a:solidFill>
            <a:srgbClr val="FCE8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9420225" y="3630513"/>
            <a:ext cx="4080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心理剧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62000" y="5241131"/>
            <a:ext cx="10668000" cy="1007269"/>
          </a:xfrm>
          <a:prstGeom prst="roundRect">
            <a:avLst>
              <a:gd name="adj" fmla="val 5674"/>
            </a:avLst>
          </a:prstGeom>
          <a:solidFill>
            <a:srgbClr val="2A1C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009650" y="5478959"/>
            <a:ext cx="5071491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★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6210300" y="5412581"/>
            <a:ext cx="507149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跨媒体改编使轻小说超越</a:t>
            </a:r>
            <a:pPr algn="l" indent="0" marL="0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FF6A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"读物"</a:t>
            </a:r>
            <a:pPr algn="l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本身：成功的 IP 在动画化后原作销量常呈 5–20 倍跃升，并反向催生周边、手游、舞台剧、圣地巡礼等衍生经济——这是轻小说社会影响力的产业杠杆。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9439573" y="6334125"/>
            <a:ext cx="20302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6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07 · SLIDE 07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tml2pptx-1Vj7pK/html2pptx-bg-1786382171909-06629b935dd1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pic>
        <p:nvPicPr>
          <p:cNvPr id="4" name="Image 1" descr="/tmp/html2pptx-1Vj7pK/html2pptx-bg-1786382172241-e3608c0f909f9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85750" y="5434013"/>
            <a:ext cx="40805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07 / 亚文化</a:t>
            </a:r>
            <a:endParaRPr lang="en-US" sz="975" dirty="0"/>
          </a:p>
        </p:txBody>
      </p:sp>
      <p:sp>
        <p:nvSpPr>
          <p:cNvPr id="6" name="Text 2"/>
          <p:cNvSpPr/>
          <p:nvPr/>
        </p:nvSpPr>
        <p:spPr>
          <a:xfrm>
            <a:off x="285750" y="5676900"/>
            <a:ext cx="408051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御宅族身份的</a:t>
            </a:r>
            <a:endParaRPr lang="en-US" sz="1800" dirty="0"/>
          </a:p>
          <a:p>
            <a:pPr algn="l" indent="0" marL="0">
              <a:spcBef>
                <a:spcPts val="45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正面化转向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285750" y="6400800"/>
            <a:ext cx="40805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CDB6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图：日本 cosplay 文化现场——亚文化的可见度持续上升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953000" y="571500"/>
            <a:ext cx="6606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07 / 亚文化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953000" y="857250"/>
            <a:ext cx="6606540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spcBef>
                <a:spcPts val="450"/>
              </a:spcBef>
              <a:buNone/>
            </a:pPr>
            <a:r>
              <a:rPr lang="en-US" sz="360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从"御宅"污名到
</a:t>
            </a:r>
            <a:pPr algn="l" indent="0" marL="0">
              <a:lnSpc>
                <a:spcPts val="4140"/>
              </a:lnSpc>
              <a:spcBef>
                <a:spcPts val="450"/>
              </a:spcBef>
              <a:buNone/>
            </a:pPr>
            <a:r>
              <a:rPr lang="en-US" sz="3600" b="1" dirty="0">
                <a:solidFill>
                  <a:srgbClr val="FF6A9B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主流文化资本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4953000" y="2080022"/>
            <a:ext cx="6606540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spcBef>
                <a:spcPts val="1350"/>
              </a:spcBef>
              <a:buNone/>
            </a:pPr>
            <a:r>
              <a:rPr lang="en-US" sz="135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轻小说是</a:t>
            </a:r>
            <a:pPr algn="l" indent="0" marL="0">
              <a:lnSpc>
                <a:spcPts val="2295"/>
              </a:lnSpc>
              <a:spcBef>
                <a:spcPts val="1350"/>
              </a:spcBef>
              <a:buNone/>
            </a:pPr>
            <a:r>
              <a:rPr lang="en-US" sz="1350" b="1" dirty="0">
                <a:solidFill>
                  <a:srgbClr val="FF6A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御宅族（オタク）</a:t>
            </a:r>
            <a:pPr algn="l" indent="0" marL="0">
              <a:lnSpc>
                <a:spcPts val="2295"/>
              </a:lnSpc>
              <a:spcBef>
                <a:spcPts val="1350"/>
              </a:spcBef>
              <a:buNone/>
            </a:pPr>
            <a:r>
              <a:rPr lang="en-US" sz="135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身份认同的核心载体之一。1980–90 年代，"御宅"曾被主流社会视为社交退缩的标签；随着轻小说产业扩张与互联网社群成熟，它逐渐转为一种被青少年主动认领的</a:t>
            </a:r>
            <a:pPr algn="l" indent="0" marL="0">
              <a:lnSpc>
                <a:spcPts val="2295"/>
              </a:lnSpc>
              <a:spcBef>
                <a:spcPts val="1350"/>
              </a:spcBef>
              <a:buNone/>
            </a:pPr>
            <a:r>
              <a:rPr lang="en-US" sz="1350" b="1" dirty="0">
                <a:solidFill>
                  <a:srgbClr val="FF6A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文化资本</a:t>
            </a:r>
            <a:pPr algn="l" indent="0" marL="0">
              <a:lnSpc>
                <a:spcPts val="2295"/>
              </a:lnSpc>
              <a:spcBef>
                <a:spcPts val="1350"/>
              </a:spcBef>
              <a:buNone/>
            </a:pPr>
            <a:r>
              <a:rPr lang="en-US" sz="135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953000" y="3182838"/>
            <a:ext cx="3152775" cy="1036737"/>
          </a:xfrm>
          <a:prstGeom prst="roundRect">
            <a:avLst>
              <a:gd name="adj" fmla="val 7350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4972050" y="3354288"/>
            <a:ext cx="0" cy="693837"/>
          </a:xfrm>
          <a:prstGeom prst="line">
            <a:avLst/>
          </a:prstGeom>
          <a:noFill/>
          <a:ln w="38100">
            <a:solidFill>
              <a:srgbClr val="FFB34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81600" y="3354288"/>
            <a:ext cx="27883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身份认同</a:t>
            </a:r>
            <a:endParaRPr lang="en-US" sz="1275" dirty="0"/>
          </a:p>
        </p:txBody>
      </p:sp>
      <p:sp>
        <p:nvSpPr>
          <p:cNvPr id="14" name="Text 10"/>
          <p:cNvSpPr/>
          <p:nvPr/>
        </p:nvSpPr>
        <p:spPr>
          <a:xfrm>
            <a:off x="5181600" y="3649563"/>
            <a:ext cx="2788349" cy="39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轻小说的角色宅、作品宅标签成为社群归属符码，构建跨地域的青年精神共同体。</a:t>
            </a:r>
            <a:endParaRPr lang="en-US" sz="1013" dirty="0"/>
          </a:p>
        </p:txBody>
      </p:sp>
      <p:sp>
        <p:nvSpPr>
          <p:cNvPr id="15" name="Text 11"/>
          <p:cNvSpPr/>
          <p:nvPr/>
        </p:nvSpPr>
        <p:spPr>
          <a:xfrm>
            <a:off x="8277225" y="3182838"/>
            <a:ext cx="3152775" cy="1036737"/>
          </a:xfrm>
          <a:prstGeom prst="roundRect">
            <a:avLst>
              <a:gd name="adj" fmla="val 7350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8296275" y="3354288"/>
            <a:ext cx="0" cy="693837"/>
          </a:xfrm>
          <a:prstGeom prst="line">
            <a:avLst/>
          </a:prstGeom>
          <a:noFill/>
          <a:ln w="38100">
            <a:solidFill>
              <a:srgbClr val="FF6A9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505825" y="3354288"/>
            <a:ext cx="27883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话语空间</a:t>
            </a:r>
            <a:endParaRPr lang="en-US" sz="1275" dirty="0"/>
          </a:p>
        </p:txBody>
      </p:sp>
      <p:sp>
        <p:nvSpPr>
          <p:cNvPr id="18" name="Text 14"/>
          <p:cNvSpPr/>
          <p:nvPr/>
        </p:nvSpPr>
        <p:spPr>
          <a:xfrm>
            <a:off x="8505825" y="3649563"/>
            <a:ext cx="2788349" cy="39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2ch / Twitter 等平台的"考据、二创、争论"使读者从被动消费者变为意义生产者。</a:t>
            </a:r>
            <a:endParaRPr lang="en-US" sz="1013" dirty="0"/>
          </a:p>
        </p:txBody>
      </p:sp>
      <p:sp>
        <p:nvSpPr>
          <p:cNvPr id="19" name="Text 15"/>
          <p:cNvSpPr/>
          <p:nvPr/>
        </p:nvSpPr>
        <p:spPr>
          <a:xfrm>
            <a:off x="4953000" y="4391025"/>
            <a:ext cx="3152775" cy="1036737"/>
          </a:xfrm>
          <a:prstGeom prst="roundRect">
            <a:avLst>
              <a:gd name="adj" fmla="val 7350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6"/>
          <p:cNvSpPr/>
          <p:nvPr/>
        </p:nvSpPr>
        <p:spPr>
          <a:xfrm>
            <a:off x="4972050" y="4562475"/>
            <a:ext cx="0" cy="693837"/>
          </a:xfrm>
          <a:prstGeom prst="line">
            <a:avLst/>
          </a:prstGeom>
          <a:noFill/>
          <a:ln w="38100">
            <a:solidFill>
              <a:srgbClr val="FF6A9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81600" y="4562475"/>
            <a:ext cx="27883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去污名化</a:t>
            </a:r>
            <a:endParaRPr lang="en-US" sz="1275" dirty="0"/>
          </a:p>
        </p:txBody>
      </p:sp>
      <p:sp>
        <p:nvSpPr>
          <p:cNvPr id="22" name="Text 18"/>
          <p:cNvSpPr/>
          <p:nvPr/>
        </p:nvSpPr>
        <p:spPr>
          <a:xfrm>
            <a:off x="5181600" y="4857750"/>
            <a:ext cx="2788349" cy="39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《电车男》等以御宅为原型的作品，使主流媒介重新审视并部分接纳这一群体。</a:t>
            </a:r>
            <a:endParaRPr lang="en-US" sz="1013" dirty="0"/>
          </a:p>
        </p:txBody>
      </p:sp>
      <p:sp>
        <p:nvSpPr>
          <p:cNvPr id="23" name="Text 19"/>
          <p:cNvSpPr/>
          <p:nvPr/>
        </p:nvSpPr>
        <p:spPr>
          <a:xfrm>
            <a:off x="8277225" y="4391025"/>
            <a:ext cx="3152775" cy="1036737"/>
          </a:xfrm>
          <a:prstGeom prst="roundRect">
            <a:avLst>
              <a:gd name="adj" fmla="val 7350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0"/>
          <p:cNvSpPr/>
          <p:nvPr/>
        </p:nvSpPr>
        <p:spPr>
          <a:xfrm>
            <a:off x="8296275" y="4562475"/>
            <a:ext cx="0" cy="693837"/>
          </a:xfrm>
          <a:prstGeom prst="line">
            <a:avLst/>
          </a:prstGeom>
          <a:noFill/>
          <a:ln w="38100">
            <a:solidFill>
              <a:srgbClr val="FFB34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505825" y="4562475"/>
            <a:ext cx="27883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海外扩散</a:t>
            </a:r>
            <a:endParaRPr lang="en-US" sz="1275" dirty="0"/>
          </a:p>
        </p:txBody>
      </p:sp>
      <p:sp>
        <p:nvSpPr>
          <p:cNvPr id="26" name="Text 22"/>
          <p:cNvSpPr/>
          <p:nvPr/>
        </p:nvSpPr>
        <p:spPr>
          <a:xfrm>
            <a:off x="8505825" y="4857750"/>
            <a:ext cx="2788349" cy="39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C7D3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东亚与英语圈"otaku"概念输出，使日本式亚文化身份被全球青年借用与再生产。</a:t>
            </a:r>
            <a:endParaRPr lang="en-US" sz="1013" dirty="0"/>
          </a:p>
        </p:txBody>
      </p:sp>
      <p:sp>
        <p:nvSpPr>
          <p:cNvPr id="27" name="Text 23"/>
          <p:cNvSpPr/>
          <p:nvPr/>
        </p:nvSpPr>
        <p:spPr>
          <a:xfrm>
            <a:off x="9439573" y="6334125"/>
            <a:ext cx="20302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7A6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08 · SLIDE 08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070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08 / 文化角色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85725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3750" dirty="0">
                <a:solidFill>
                  <a:srgbClr val="1F1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当代日本文化中的</a:t>
            </a:r>
            <a:pPr algn="l" indent="0" marL="0">
              <a:spcBef>
                <a:spcPts val="450"/>
              </a:spcBef>
              <a:buNone/>
            </a:pPr>
            <a:r>
              <a:rPr lang="en-US" sz="3750" b="1" dirty="0">
                <a:solidFill>
                  <a:srgbClr val="C44B6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多重角色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762000" y="160020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1200" dirty="0">
                <a:solidFill>
                  <a:srgbClr val="7A6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CULTURAL ROLES · 轻小说在社会文化中承担的四重功能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1905000"/>
            <a:ext cx="2552700" cy="26670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33450" y="1928813"/>
            <a:ext cx="2209800" cy="0"/>
          </a:xfrm>
          <a:prstGeom prst="line">
            <a:avLst/>
          </a:prstGeom>
          <a:noFill/>
          <a:ln w="47625">
            <a:solidFill>
              <a:srgbClr val="C44B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3450" y="2143125"/>
            <a:ext cx="22539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C44B6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①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33450" y="2524125"/>
            <a:ext cx="225399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75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1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青年精神消费品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33450" y="2814638"/>
            <a:ext cx="2253996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为升学压力下的青少年提供幻想出口与情感代偿，成为校园之外的精神呼吸空间。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467100" y="1905000"/>
            <a:ext cx="2552700" cy="26670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638550" y="1928813"/>
            <a:ext cx="2209800" cy="0"/>
          </a:xfrm>
          <a:prstGeom prst="line">
            <a:avLst/>
          </a:prstGeom>
          <a:noFill/>
          <a:ln w="47625">
            <a:solidFill>
              <a:srgbClr val="5A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8550" y="2143125"/>
            <a:ext cx="22539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5A4A8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②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3638550" y="2524125"/>
            <a:ext cx="225399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75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1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价值观塑造媒介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38550" y="2814638"/>
            <a:ext cx="2253996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异世界、转生、能力觉醒等叙事折射对"重置人生"的渴望，影响一代人对自我与社会的关系想象。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172200" y="1905000"/>
            <a:ext cx="2552700" cy="26670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343650" y="1928813"/>
            <a:ext cx="2209800" cy="0"/>
          </a:xfrm>
          <a:prstGeom prst="line">
            <a:avLst/>
          </a:prstGeom>
          <a:noFill/>
          <a:ln w="47625">
            <a:solidFill>
              <a:srgbClr val="C44B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3650" y="2143125"/>
            <a:ext cx="22539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C44B6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③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6343650" y="2524125"/>
            <a:ext cx="225399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75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1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语言风格影响源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43650" y="2814638"/>
            <a:ext cx="2253996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"中二病""傲娇""异世界"等词汇进入日常语料，重塑青少年乃至大众媒体的语用习惯。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8877300" y="1905000"/>
            <a:ext cx="2552700" cy="26670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9048750" y="1928813"/>
            <a:ext cx="2209800" cy="0"/>
          </a:xfrm>
          <a:prstGeom prst="line">
            <a:avLst/>
          </a:prstGeom>
          <a:noFill/>
          <a:ln w="47625">
            <a:solidFill>
              <a:srgbClr val="5A4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48750" y="2143125"/>
            <a:ext cx="22539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5A4A8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④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048750" y="2524125"/>
            <a:ext cx="225399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75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1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软实力出口载体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048750" y="2814638"/>
            <a:ext cx="2253996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4A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翻译版与改编动画将日式叙事美学输出海外，是日本"酷文化"软实力的核心母本之一。</a:t>
            </a:r>
            <a:endParaRPr lang="en-US" sz="975" dirty="0"/>
          </a:p>
        </p:txBody>
      </p:sp>
      <p:pic>
        <p:nvPicPr>
          <p:cNvPr id="26" name="Image 0" descr="/tmp/html2pptx-eYSsYX/html2pptx-bg-1786382173258-f451b197277f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5515570"/>
            <a:ext cx="10668000" cy="77093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09650" y="5694313"/>
            <a:ext cx="5090922" cy="41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210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◆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6191250" y="5687020"/>
            <a:ext cx="5090922" cy="428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6"/>
              </a:lnSpc>
              <a:buNone/>
            </a:pPr>
            <a:r>
              <a:rPr lang="en-US" sz="1088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在社会层面，轻小说已不只是</a:t>
            </a:r>
            <a:pPr algn="l" indent="0" marL="0">
              <a:lnSpc>
                <a:spcPts val="1686"/>
              </a:lnSpc>
              <a:buNone/>
            </a:pPr>
            <a:r>
              <a:rPr lang="en-US" sz="1088" b="1" dirty="0">
                <a:solidFill>
                  <a:srgbClr val="FF6A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读物</a:t>
            </a:r>
            <a:pPr algn="l" indent="0" marL="0">
              <a:lnSpc>
                <a:spcPts val="1686"/>
              </a:lnSpc>
              <a:buNone/>
            </a:pPr>
            <a:r>
              <a:rPr lang="en-US" sz="1088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，而是一面折射日本青年世代焦虑、想象与价值偏好的</a:t>
            </a:r>
            <a:pPr algn="l" indent="0" marL="0">
              <a:lnSpc>
                <a:spcPts val="1686"/>
              </a:lnSpc>
              <a:buNone/>
            </a:pPr>
            <a:r>
              <a:rPr lang="en-US" sz="1088" b="1" dirty="0">
                <a:solidFill>
                  <a:srgbClr val="FF6A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文化棱镜</a:t>
            </a:r>
            <a:pPr algn="l" indent="0" marL="0">
              <a:lnSpc>
                <a:spcPts val="1686"/>
              </a:lnSpc>
              <a:buNone/>
            </a:pPr>
            <a:r>
              <a:rPr lang="en-US" sz="1088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——既是消费品，也是被消费的文化符号。</a:t>
            </a:r>
            <a:endParaRPr lang="en-US" sz="1088" dirty="0"/>
          </a:p>
        </p:txBody>
      </p:sp>
      <p:sp>
        <p:nvSpPr>
          <p:cNvPr id="29" name="Text 26"/>
          <p:cNvSpPr/>
          <p:nvPr/>
        </p:nvSpPr>
        <p:spPr>
          <a:xfrm>
            <a:off x="9546431" y="6467475"/>
            <a:ext cx="19212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6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09 · SLIDE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iEryDg/html2pptx-bg-1786382174346-fc7f7ce732b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/tmp/html2pptx-iEryDg/html2pptx-bg-1786382174665-18134881f518f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0" y="571500"/>
            <a:ext cx="7239000" cy="7239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57150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CHAPTER 09 / 反思与展望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762000" y="857250"/>
            <a:ext cx="10881360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5"/>
              </a:lnSpc>
              <a:spcBef>
                <a:spcPts val="450"/>
              </a:spcBef>
              <a:buNone/>
            </a:pPr>
            <a:r>
              <a:rPr lang="en-US" sz="405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反思与</a:t>
            </a:r>
            <a:pPr algn="l" indent="0" marL="0">
              <a:lnSpc>
                <a:spcPts val="4455"/>
              </a:lnSpc>
              <a:spcBef>
                <a:spcPts val="450"/>
              </a:spcBef>
              <a:buNone/>
            </a:pPr>
            <a:r>
              <a:rPr lang="en-US" sz="4050" b="1" dirty="0">
                <a:solidFill>
                  <a:srgbClr val="FFB347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展望</a:t>
            </a:r>
            <a:endParaRPr lang="en-US" sz="4050" dirty="0"/>
          </a:p>
        </p:txBody>
      </p:sp>
      <p:sp>
        <p:nvSpPr>
          <p:cNvPr id="6" name="Text 2"/>
          <p:cNvSpPr/>
          <p:nvPr/>
        </p:nvSpPr>
        <p:spPr>
          <a:xfrm>
            <a:off x="762000" y="1905000"/>
            <a:ext cx="53643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FF6A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REFLECTION · 反思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762000" y="2286000"/>
            <a:ext cx="536432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轻小说的繁荣背后也存在结构性问题：</a:t>
            </a:r>
            <a:pPr algn="l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套路化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题材同质化、网文流水线生产稀释文学性、"转生逃避"叙事被批评为回避现实关怀。部分评论者担忧它从青少年</a:t>
            </a:r>
            <a:pPr algn="l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想象力训练场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退化为消费性安慰剂。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62000" y="3219450"/>
            <a:ext cx="536432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050"/>
              </a:spcBef>
              <a:buNone/>
            </a:pPr>
            <a:r>
              <a:rPr lang="en-US" sz="1200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同时，性别刻板印象、过度商业化的角色商品化等议题，亦持续受到学界与女性主义批评的关注。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21189" y="1905000"/>
            <a:ext cx="5008811" cy="2016919"/>
          </a:xfrm>
          <a:prstGeom prst="roundRect">
            <a:avLst>
              <a:gd name="adj" fmla="val 3778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6440239" y="2114550"/>
            <a:ext cx="0" cy="1597819"/>
          </a:xfrm>
          <a:prstGeom prst="line">
            <a:avLst/>
          </a:prstGeom>
          <a:noFill/>
          <a:ln w="38100">
            <a:solidFill>
              <a:srgbClr val="FFB34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687889" y="2114550"/>
            <a:ext cx="460378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4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OUTLOOK · 展望</a:t>
            </a:r>
            <a:endParaRPr lang="en-US" sz="1404" dirty="0"/>
          </a:p>
        </p:txBody>
      </p:sp>
      <p:sp>
        <p:nvSpPr>
          <p:cNvPr id="12" name="Text 8"/>
          <p:cNvSpPr/>
          <p:nvPr/>
        </p:nvSpPr>
        <p:spPr>
          <a:xfrm>
            <a:off x="6687889" y="2371725"/>
            <a:ext cx="4513511" cy="1340644"/>
          </a:xfrm>
          <a:prstGeom prst="rect">
            <a:avLst/>
          </a:prstGeom>
          <a:noFill/>
          <a:ln/>
        </p:spPr>
        <p:txBody>
          <a:bodyPr wrap="square" lIns="228600" tIns="57150" rIns="0" bIns="57150" rtlCol="0" anchor="t"/>
          <a:lstStyle/>
          <a:p>
            <a:pPr algn="l" marL="342900" indent="-342900">
              <a:lnSpc>
                <a:spcPts val="1740"/>
              </a:lnSpc>
              <a:buSzPct val="100000"/>
              <a:buChar char="•"/>
            </a:pPr>
            <a:r>
              <a:rPr lang="en-US" sz="1088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多元题材崛起：科幻、推理、社会议题向作品持续扩展边界。</a:t>
            </a:r>
            <a:endParaRPr lang="en-US" sz="1088" dirty="0"/>
          </a:p>
          <a:p>
            <a:pPr algn="l" marL="342900" indent="-342900">
              <a:lnSpc>
                <a:spcPts val="1740"/>
              </a:lnSpc>
              <a:buSzPct val="100000"/>
              <a:buChar char="•"/>
            </a:pPr>
            <a:r>
              <a:rPr lang="en-US" sz="1088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全球化加速：东南亚、英语圈翻译市场持续扩大，IP 跨境共生。</a:t>
            </a:r>
            <a:endParaRPr lang="en-US" sz="1088" dirty="0"/>
          </a:p>
          <a:p>
            <a:pPr algn="l" marL="342900" indent="-342900">
              <a:lnSpc>
                <a:spcPts val="1740"/>
              </a:lnSpc>
              <a:buSzPct val="100000"/>
              <a:buChar char="•"/>
            </a:pPr>
            <a:r>
              <a:rPr lang="en-US" sz="1088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媒介融合：手游、VTuber、AI 协同创作延伸叙事形态。</a:t>
            </a:r>
            <a:endParaRPr lang="en-US" sz="1088" dirty="0"/>
          </a:p>
          <a:p>
            <a:pPr algn="l" marL="342900" indent="-342900">
              <a:lnSpc>
                <a:spcPts val="1740"/>
              </a:lnSpc>
              <a:buSzPct val="100000"/>
              <a:buChar char="•"/>
            </a:pPr>
            <a:r>
              <a:rPr lang="en-US" sz="1088" dirty="0">
                <a:solidFill>
                  <a:srgbClr val="E7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作为观察镜：轻小说将持续作为研究日本青年世代文化的关键样本。</a:t>
            </a:r>
            <a:endParaRPr lang="en-US" sz="1088" dirty="0"/>
          </a:p>
        </p:txBody>
      </p:sp>
      <p:sp>
        <p:nvSpPr>
          <p:cNvPr id="13" name="Shape 9"/>
          <p:cNvSpPr/>
          <p:nvPr/>
        </p:nvSpPr>
        <p:spPr>
          <a:xfrm>
            <a:off x="762000" y="5919788"/>
            <a:ext cx="10668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2000" y="6124575"/>
            <a:ext cx="29474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D8AB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THANK YOU · 日本轻小说的社会影响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0252918" y="6096000"/>
            <a:ext cx="12006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B3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 END —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DeepPresenter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subject/>
  <dc:creator>DeepPresenter</dc:creator>
  <cp:lastModifiedBy>DeepPresenter</cp:lastModifiedBy>
  <cp:revision>1</cp:revision>
  <dcterms:created xsi:type="dcterms:W3CDTF">2026-08-10T17:16:14Z</dcterms:created>
  <dcterms:modified xsi:type="dcterms:W3CDTF">2026-08-10T17:16:14Z</dcterms:modified>
</cp:coreProperties>
</file>