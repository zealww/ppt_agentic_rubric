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6.png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image" Target="../media/image8.png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2" Type="http://schemas.openxmlformats.org/officeDocument/2006/relationships/notesSlide" Target="../notesSlides/notesSlide6.xml"/><Relationship Id="rId31" Type="http://schemas.openxmlformats.org/officeDocument/2006/relationships/slideLayout" Target="../slideLayouts/slideLayout1.xml"/><Relationship Id="rId30" Type="http://schemas.openxmlformats.org/officeDocument/2006/relationships/tags" Target="../tags/tag37.xml"/><Relationship Id="rId3" Type="http://schemas.openxmlformats.org/officeDocument/2006/relationships/tags" Target="../tags/tag14.xml"/><Relationship Id="rId29" Type="http://schemas.openxmlformats.org/officeDocument/2006/relationships/tags" Target="../tags/tag36.xml"/><Relationship Id="rId28" Type="http://schemas.openxmlformats.org/officeDocument/2006/relationships/tags" Target="../tags/tag35.xml"/><Relationship Id="rId27" Type="http://schemas.openxmlformats.org/officeDocument/2006/relationships/tags" Target="../tags/tag34.xml"/><Relationship Id="rId26" Type="http://schemas.openxmlformats.org/officeDocument/2006/relationships/image" Target="../media/image11.png"/><Relationship Id="rId25" Type="http://schemas.openxmlformats.org/officeDocument/2006/relationships/tags" Target="../tags/tag33.xml"/><Relationship Id="rId24" Type="http://schemas.openxmlformats.org/officeDocument/2006/relationships/tags" Target="../tags/tag32.xml"/><Relationship Id="rId23" Type="http://schemas.openxmlformats.org/officeDocument/2006/relationships/tags" Target="../tags/tag31.xml"/><Relationship Id="rId22" Type="http://schemas.openxmlformats.org/officeDocument/2006/relationships/tags" Target="../tags/tag30.xml"/><Relationship Id="rId21" Type="http://schemas.openxmlformats.org/officeDocument/2006/relationships/tags" Target="../tags/tag29.xml"/><Relationship Id="rId20" Type="http://schemas.openxmlformats.org/officeDocument/2006/relationships/image" Target="../media/image10.png"/><Relationship Id="rId2" Type="http://schemas.openxmlformats.org/officeDocument/2006/relationships/image" Target="../media/image7.png"/><Relationship Id="rId19" Type="http://schemas.openxmlformats.org/officeDocument/2006/relationships/tags" Target="../tags/tag28.xml"/><Relationship Id="rId18" Type="http://schemas.openxmlformats.org/officeDocument/2006/relationships/tags" Target="../tags/tag27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image" Target="../media/image9.png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48.xml"/><Relationship Id="rId12" Type="http://schemas.openxmlformats.org/officeDocument/2006/relationships/image" Target="../media/image12.png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image" Target="../media/image2.png"/><Relationship Id="rId15" Type="http://schemas.openxmlformats.org/officeDocument/2006/relationships/notesSlide" Target="../notesSlides/notesSlide1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14.png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tml2pptx-bErqam/html2pptx-bg-1786386051889-6b9b80332d24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666750"/>
            <a:ext cx="777240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PRACTICAL ACTION · PUPIL ACTIVITY SHEETS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762000" y="1133475"/>
            <a:ext cx="7772400" cy="173712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40"/>
              </a:lnSpc>
              <a:spcBef>
                <a:spcPts val="2100"/>
              </a:spcBef>
              <a:buNone/>
            </a:pPr>
            <a:r>
              <a:rPr lang="en-US" sz="72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Ditchdasd the
</a:t>
            </a:r>
            <a:r>
              <a:rPr lang="en-US" sz="7200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Dirdasdt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762000" y="3137297"/>
            <a:ext cx="6800850" cy="1114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25"/>
              </a:lnSpc>
              <a:spcBef>
                <a:spcPts val="2100"/>
              </a:spcBef>
              <a:buNone/>
            </a:pPr>
            <a:r>
              <a:rPr lang="en-US" sz="2250" dirty="0">
                <a:solidFill>
                  <a:srgbClr val="D8EE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 clean-water challenge for young scientists: investigate, filter and sdasdesign affordable ways to make water safe to drink.</a:t>
            </a:r>
            <a:endParaRPr lang="en-US" sz="2250" dirty="0"/>
          </a:p>
        </p:txBody>
      </p:sp>
      <p:pic>
        <p:nvPicPr>
          <p:cNvPr id="6" name="Image 1" descr="/tmp/html2pptx-bErqam/html2pptx-bg-1786386051976-c5c3ba27c54d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695450"/>
            <a:ext cx="3810000" cy="28575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334000" y="1933575"/>
            <a:ext cx="3048000" cy="0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353425" y="1905000"/>
            <a:ext cx="0" cy="2095500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334000" y="3971925"/>
            <a:ext cx="3048000" cy="0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362575" y="1905000"/>
            <a:ext cx="0" cy="2095500"/>
          </a:xfrm>
          <a:prstGeom prst="line">
            <a:avLst/>
          </a:prstGeom>
          <a:noFill/>
          <a:ln w="57150">
            <a:solidFill>
              <a:srgbClr val="FFFF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334000" y="4095750"/>
            <a:ext cx="3108960" cy="3217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0"/>
              </a:lnSpc>
              <a:buNone/>
            </a:pPr>
            <a:r>
              <a:rPr lang="en-US" sz="975" dirty="0">
                <a:solidFill>
                  <a:srgbClr val="B9D8E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Water insecurity affects millions across sub-Saharan Africa.</a:t>
            </a:r>
            <a:endParaRPr lang="en-US" sz="975" dirty="0"/>
          </a:p>
        </p:txBody>
      </p:sp>
      <p:sp>
        <p:nvSpPr>
          <p:cNvPr id="12" name="Text 8"/>
          <p:cNvSpPr/>
          <p:nvPr/>
        </p:nvSpPr>
        <p:spPr>
          <a:xfrm>
            <a:off x="762000" y="5382667"/>
            <a:ext cx="505206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CONTEXT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62000" y="5592217"/>
            <a:ext cx="5052060" cy="6942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5"/>
              </a:lnSpc>
              <a:spcBef>
                <a:spcPts val="450"/>
              </a:spcBef>
              <a:buNone/>
            </a:pPr>
            <a:r>
              <a:rPr lang="en-US" sz="1350" dirty="0">
                <a:solidFill>
                  <a:srgbClr val="B9D8E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Linked to UN Sustainable Development Goal 6 — Clean Water &amp; Sanitation — and the community of Turkana, Kenya.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7340650" y="5314950"/>
            <a:ext cx="1041350" cy="971550"/>
          </a:xfrm>
          <a:prstGeom prst="roundRect">
            <a:avLst>
              <a:gd name="adj" fmla="val 11765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F4B41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7557567" y="5486400"/>
            <a:ext cx="595833" cy="419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12</a:t>
            </a:r>
            <a:endParaRPr lang="en-US" sz="3300" dirty="0"/>
          </a:p>
        </p:txBody>
      </p:sp>
      <p:sp>
        <p:nvSpPr>
          <p:cNvPr id="16" name="Text 12"/>
          <p:cNvSpPr/>
          <p:nvPr/>
        </p:nvSpPr>
        <p:spPr>
          <a:xfrm>
            <a:off x="7557567" y="5962650"/>
            <a:ext cx="59583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spcBef>
                <a:spcPts val="450"/>
              </a:spcBef>
              <a:buNone/>
            </a:pPr>
            <a:r>
              <a:rPr lang="en-US" sz="1050" dirty="0">
                <a:solidFill>
                  <a:srgbClr val="B9D8E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SLIDES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1504950"/>
            <a:ext cx="8001000" cy="0"/>
          </a:xfrm>
          <a:prstGeom prst="line">
            <a:avLst/>
          </a:prstGeom>
          <a:noFill/>
          <a:ln w="38100">
            <a:solidFill>
              <a:srgbClr val="0A6C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1500" y="476250"/>
            <a:ext cx="6205320" cy="876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Sustainable Development dsaaGoals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655147" y="685800"/>
            <a:ext cx="1955700" cy="361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SLIDE 02 · GLOBAL GOALS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1500" y="1695450"/>
            <a:ext cx="7966710" cy="7197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1350"/>
              </a:spcBef>
              <a:buNone/>
            </a:pPr>
            <a:r>
              <a:rPr lang="en-US" sz="1350" dirty="0">
                <a:solidFill>
                  <a:srgbClr val="3A4A5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 2015, world leaders agreed on 17 Global Goals to end poverty, protect the planet and ensure prosperity for all by 2030. The Ddasditch the Dirt challenge focuses on Goal 6 — Clean Water &amp; Sanitation.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2643783"/>
            <a:ext cx="1914525" cy="1075134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effectLst>
            <a:outerShdw blurRad="57150" dist="19050" dir="5400000" algn="bl" rotWithShape="0">
              <a:srgbClr val="0A3D52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95313" y="2758083"/>
            <a:ext cx="0" cy="846534"/>
          </a:xfrm>
          <a:prstGeom prst="line">
            <a:avLst/>
          </a:prstGeom>
          <a:noFill/>
          <a:ln w="47625">
            <a:solidFill>
              <a:srgbClr val="F4B4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2475" y="2758083"/>
            <a:ext cx="163220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GOAL 1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752475" y="2920008"/>
            <a:ext cx="1632204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150"/>
              </a:spcBef>
              <a:buNone/>
            </a:pPr>
            <a:r>
              <a:rPr lang="en-US" sz="112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 Poverty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52475" y="3148608"/>
            <a:ext cx="1632204" cy="2845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Bef>
                <a:spcPts val="450"/>
              </a:spcBef>
              <a:buNone/>
            </a:pPr>
            <a:r>
              <a:rPr lang="en-US" sz="865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dasEnd poverty in all its forms everywhere.</a:t>
            </a:r>
            <a:endParaRPr lang="en-US" sz="865" dirty="0"/>
          </a:p>
        </p:txBody>
      </p:sp>
      <p:sp>
        <p:nvSpPr>
          <p:cNvPr id="11" name="Text 9"/>
          <p:cNvSpPr/>
          <p:nvPr/>
        </p:nvSpPr>
        <p:spPr>
          <a:xfrm>
            <a:off x="2600325" y="2643783"/>
            <a:ext cx="1914525" cy="1075134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effectLst>
            <a:outerShdw blurRad="57150" dist="19050" dir="5400000" algn="bl" rotWithShape="0">
              <a:srgbClr val="0A3D52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624138" y="2758083"/>
            <a:ext cx="0" cy="846534"/>
          </a:xfrm>
          <a:prstGeom prst="line">
            <a:avLst/>
          </a:prstGeom>
          <a:noFill/>
          <a:ln w="47625">
            <a:solidFill>
              <a:srgbClr val="F4B4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1300" y="2758083"/>
            <a:ext cx="163220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GOAL 2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2781300" y="2920008"/>
            <a:ext cx="1632204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150"/>
              </a:spcBef>
              <a:buNone/>
            </a:pPr>
            <a:r>
              <a:rPr lang="en-US" sz="112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Zero Hunger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2781300" y="3148608"/>
            <a:ext cx="1632204" cy="2845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Bef>
                <a:spcPts val="450"/>
              </a:spcBef>
              <a:buNone/>
            </a:pPr>
            <a:r>
              <a:rPr lang="en-US" sz="865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End hunger and dapromote sustainable agriculture.</a:t>
            </a:r>
            <a:endParaRPr lang="en-US" sz="865" dirty="0"/>
          </a:p>
        </p:txBody>
      </p:sp>
      <p:sp>
        <p:nvSpPr>
          <p:cNvPr id="16" name="Text 14"/>
          <p:cNvSpPr/>
          <p:nvPr/>
        </p:nvSpPr>
        <p:spPr>
          <a:xfrm>
            <a:off x="4629150" y="2643783"/>
            <a:ext cx="1914525" cy="1075134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effectLst>
            <a:outerShdw blurRad="57150" dist="19050" dir="5400000" algn="bl" rotWithShape="0">
              <a:srgbClr val="0A3D52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52963" y="2758083"/>
            <a:ext cx="0" cy="846534"/>
          </a:xfrm>
          <a:prstGeom prst="line">
            <a:avLst/>
          </a:prstGeom>
          <a:noFill/>
          <a:ln w="47625">
            <a:solidFill>
              <a:srgbClr val="F4B4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0125" y="2758083"/>
            <a:ext cx="163220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GOAL 3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810125" y="2920008"/>
            <a:ext cx="1632204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150"/>
              </a:spcBef>
              <a:buNone/>
            </a:pPr>
            <a:r>
              <a:rPr lang="en-US" sz="112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Good Health &amp; Well-beinasdg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4810125" y="3320058"/>
            <a:ext cx="1632204" cy="2845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Bef>
                <a:spcPts val="450"/>
              </a:spcBef>
              <a:buNone/>
            </a:pPr>
            <a:r>
              <a:rPr lang="en-US" sz="865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Healthy lives for all at all ages.</a:t>
            </a:r>
            <a:endParaRPr lang="en-US" sz="865" dirty="0"/>
          </a:p>
        </p:txBody>
      </p:sp>
      <p:sp>
        <p:nvSpPr>
          <p:cNvPr id="21" name="Text 19"/>
          <p:cNvSpPr/>
          <p:nvPr/>
        </p:nvSpPr>
        <p:spPr>
          <a:xfrm>
            <a:off x="6657975" y="2643783"/>
            <a:ext cx="1914525" cy="1075134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effectLst>
            <a:outerShdw blurRad="57150" dist="19050" dir="5400000" algn="bl" rotWithShape="0">
              <a:srgbClr val="0A3D52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681788" y="2758083"/>
            <a:ext cx="0" cy="846534"/>
          </a:xfrm>
          <a:prstGeom prst="line">
            <a:avLst/>
          </a:prstGeom>
          <a:noFill/>
          <a:ln w="47625">
            <a:solidFill>
              <a:srgbClr val="F4B4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8950" y="2758083"/>
            <a:ext cx="163220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GOAL 4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6838950" y="2920008"/>
            <a:ext cx="1632204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150"/>
              </a:spcBef>
              <a:buNone/>
            </a:pPr>
            <a:r>
              <a:rPr lang="en-US" sz="112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Quality Education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6838950" y="3148608"/>
            <a:ext cx="1632204" cy="2845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Bef>
                <a:spcPts val="450"/>
              </a:spcBef>
              <a:buNone/>
            </a:pPr>
            <a:r>
              <a:rPr lang="en-US" sz="865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Inclusive, equitabldsade learning for all.</a:t>
            </a:r>
            <a:endParaRPr lang="en-US" sz="865" dirty="0"/>
          </a:p>
        </p:txBody>
      </p:sp>
      <p:sp>
        <p:nvSpPr>
          <p:cNvPr id="26" name="Text 24"/>
          <p:cNvSpPr/>
          <p:nvPr/>
        </p:nvSpPr>
        <p:spPr>
          <a:xfrm>
            <a:off x="571500" y="3833217"/>
            <a:ext cx="1914525" cy="1075134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effectLst>
            <a:outerShdw blurRad="57150" dist="19050" dir="5400000" algn="bl" rotWithShape="0">
              <a:srgbClr val="0A3D52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595313" y="3947517"/>
            <a:ext cx="0" cy="846534"/>
          </a:xfrm>
          <a:prstGeom prst="line">
            <a:avLst/>
          </a:prstGeom>
          <a:noFill/>
          <a:ln w="47625">
            <a:solidFill>
              <a:srgbClr val="F4B4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2475" y="3947517"/>
            <a:ext cx="163220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GOAL 5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752475" y="4109442"/>
            <a:ext cx="1632204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150"/>
              </a:spcBef>
              <a:buNone/>
            </a:pPr>
            <a:r>
              <a:rPr lang="en-US" sz="112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Gender Edasquality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752475" y="4338042"/>
            <a:ext cx="1632204" cy="2845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Bef>
                <a:spcPts val="450"/>
              </a:spcBef>
              <a:buNone/>
            </a:pPr>
            <a:r>
              <a:rPr lang="en-US" sz="865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Empower all women and girls.</a:t>
            </a:r>
            <a:endParaRPr lang="en-US" sz="865" dirty="0"/>
          </a:p>
        </p:txBody>
      </p:sp>
      <p:sp>
        <p:nvSpPr>
          <p:cNvPr id="31" name="Text 29"/>
          <p:cNvSpPr/>
          <p:nvPr/>
        </p:nvSpPr>
        <p:spPr>
          <a:xfrm>
            <a:off x="2600325" y="3833217"/>
            <a:ext cx="1914525" cy="1075134"/>
          </a:xfrm>
          <a:prstGeom prst="roundRect">
            <a:avLst>
              <a:gd name="adj" fmla="val 3544"/>
            </a:avLst>
          </a:prstGeom>
          <a:solidFill>
            <a:srgbClr val="0A6C8A"/>
          </a:solidFill>
          <a:effectLst>
            <a:outerShdw blurRad="57150" dist="19050" dir="5400000" algn="bl" rotWithShape="0">
              <a:srgbClr val="0A3D52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2624138" y="3947517"/>
            <a:ext cx="0" cy="846534"/>
          </a:xfrm>
          <a:prstGeom prst="line">
            <a:avLst/>
          </a:prstGeom>
          <a:noFill/>
          <a:ln w="47625">
            <a:solidFill>
              <a:srgbClr val="F4B4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81300" y="3947517"/>
            <a:ext cx="163220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GOAL 6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2781300" y="4109442"/>
            <a:ext cx="1632204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150"/>
              </a:spcBef>
              <a:buNone/>
            </a:pPr>
            <a:r>
              <a:rPr lang="en-US" sz="1125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Cleasdan Water &amp; Sanitation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2781300" y="4509492"/>
            <a:ext cx="1632204" cy="2845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Bef>
                <a:spcPts val="450"/>
              </a:spcBef>
              <a:buNone/>
            </a:pPr>
            <a:r>
              <a:rPr lang="en-US" sz="865" dirty="0">
                <a:solidFill>
                  <a:srgbClr val="D8EE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Safe water and sanitation for all.</a:t>
            </a:r>
            <a:endParaRPr lang="en-US" sz="865" dirty="0"/>
          </a:p>
        </p:txBody>
      </p:sp>
      <p:sp>
        <p:nvSpPr>
          <p:cNvPr id="36" name="Text 34"/>
          <p:cNvSpPr/>
          <p:nvPr/>
        </p:nvSpPr>
        <p:spPr>
          <a:xfrm>
            <a:off x="4629150" y="3833217"/>
            <a:ext cx="1914525" cy="1075134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effectLst>
            <a:outerShdw blurRad="57150" dist="19050" dir="5400000" algn="bl" rotWithShape="0">
              <a:srgbClr val="0A3D52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652963" y="3947517"/>
            <a:ext cx="0" cy="846534"/>
          </a:xfrm>
          <a:prstGeom prst="line">
            <a:avLst/>
          </a:prstGeom>
          <a:noFill/>
          <a:ln w="47625">
            <a:solidFill>
              <a:srgbClr val="F4B4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0125" y="3947517"/>
            <a:ext cx="163220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GOAL 7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4810125" y="4109442"/>
            <a:ext cx="1632204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150"/>
              </a:spcBef>
              <a:buNone/>
            </a:pPr>
            <a:r>
              <a:rPr lang="en-US" sz="112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Affordabsadle &amp; Clean Energy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4810125" y="4509492"/>
            <a:ext cx="1632204" cy="2845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Bef>
                <a:spcPts val="450"/>
              </a:spcBef>
              <a:buNone/>
            </a:pPr>
            <a:r>
              <a:rPr lang="en-US" sz="865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Reliable, sustainable modern energy.</a:t>
            </a:r>
            <a:endParaRPr lang="en-US" sz="865" dirty="0"/>
          </a:p>
        </p:txBody>
      </p:sp>
      <p:sp>
        <p:nvSpPr>
          <p:cNvPr id="41" name="Text 39"/>
          <p:cNvSpPr/>
          <p:nvPr/>
        </p:nvSpPr>
        <p:spPr>
          <a:xfrm>
            <a:off x="6657975" y="3833217"/>
            <a:ext cx="1914525" cy="1075134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effectLst>
            <a:outerShdw blurRad="57150" dist="19050" dir="5400000" algn="bl" rotWithShape="0">
              <a:srgbClr val="0A3D52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6681788" y="3947517"/>
            <a:ext cx="0" cy="846534"/>
          </a:xfrm>
          <a:prstGeom prst="line">
            <a:avLst/>
          </a:prstGeom>
          <a:noFill/>
          <a:ln w="47625">
            <a:solidFill>
              <a:srgbClr val="F4B4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38950" y="3947517"/>
            <a:ext cx="163220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GOAL 13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6838950" y="4109442"/>
            <a:ext cx="1632204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150"/>
              </a:spcBef>
              <a:buNone/>
            </a:pPr>
            <a:r>
              <a:rPr lang="en-US" sz="112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Climate Actasdion</a:t>
            </a:r>
            <a:endParaRPr lang="en-US" sz="1125" dirty="0"/>
          </a:p>
        </p:txBody>
      </p:sp>
      <p:sp>
        <p:nvSpPr>
          <p:cNvPr id="45" name="Text 43"/>
          <p:cNvSpPr/>
          <p:nvPr/>
        </p:nvSpPr>
        <p:spPr>
          <a:xfrm>
            <a:off x="6838950" y="4338042"/>
            <a:ext cx="1632204" cy="2845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Bef>
                <a:spcPts val="450"/>
              </a:spcBef>
              <a:buNone/>
            </a:pPr>
            <a:r>
              <a:rPr lang="en-US" sz="865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Combat climate change and its impadsacts.</a:t>
            </a:r>
            <a:endParaRPr lang="en-US" sz="865" dirty="0"/>
          </a:p>
        </p:txBody>
      </p:sp>
      <p:sp>
        <p:nvSpPr>
          <p:cNvPr id="46" name="Text 44"/>
          <p:cNvSpPr/>
          <p:nvPr/>
        </p:nvSpPr>
        <p:spPr>
          <a:xfrm>
            <a:off x="571500" y="6486525"/>
            <a:ext cx="4206963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17 Goals · 169 targets · One shared agenda for people and planet.</a:t>
            </a:r>
            <a:endParaRPr lang="en-US" sz="975" dirty="0"/>
          </a:p>
        </p:txBody>
      </p:sp>
      <p:sp>
        <p:nvSpPr>
          <p:cNvPr id="47" name="Text 45"/>
          <p:cNvSpPr/>
          <p:nvPr/>
        </p:nvSpPr>
        <p:spPr>
          <a:xfrm>
            <a:off x="4901059" y="6486525"/>
            <a:ext cx="374487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i="1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Source: Ditch the Dirt pupil activity sheets, Practical Action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619500" cy="6858000"/>
          </a:xfrm>
          <a:prstGeom prst="rect">
            <a:avLst/>
          </a:prstGeom>
          <a:solidFill>
            <a:srgbClr val="0A6C8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2900" y="476250"/>
            <a:ext cx="299237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GLOBAL GOAL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42900" y="752475"/>
            <a:ext cx="2992374" cy="190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spcBef>
                <a:spcPts val="1050"/>
              </a:spcBef>
              <a:buNone/>
            </a:pPr>
            <a:r>
              <a:rPr lang="en-US" sz="1950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GOAL 6</a:t>
            </a:r>
            <a:r>
              <a:rPr lang="en-US" sz="42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Clean Water &amp; Sanitation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42900" y="752475"/>
            <a:ext cx="2992374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450"/>
              </a:spcAft>
              <a:buNone/>
            </a:pPr>
            <a:r>
              <a:rPr lang="en-US" sz="1950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GOAL 6</a:t>
            </a:r>
            <a:endParaRPr lang="en-US" sz="1950" dirty="0"/>
          </a:p>
        </p:txBody>
      </p:sp>
      <p:pic>
        <p:nvPicPr>
          <p:cNvPr id="6" name="Image 0" descr="/tmp/html2pptx-mCmTKJ/html2pptx-bg-1786386054065-0e4e2eebe9d5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" y="2924175"/>
            <a:ext cx="2095500" cy="20955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42900" y="5561856"/>
            <a:ext cx="29337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2900" y="5699968"/>
            <a:ext cx="2992374" cy="5598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D8EE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"Ensure availability and sustainable management of water and sanitation for all."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42900" y="6317010"/>
            <a:ext cx="2992374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— United Nations, 2015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038600" y="476250"/>
            <a:ext cx="4780026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Why Goal 6 matters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4038600" y="904875"/>
            <a:ext cx="4780026" cy="8834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0"/>
              </a:lnSpc>
              <a:spcBef>
                <a:spcPts val="900"/>
              </a:spcBef>
              <a:buNone/>
            </a:pPr>
            <a:r>
              <a:rPr lang="en-US" sz="1200" dirty="0">
                <a:solidFill>
                  <a:srgbClr val="3A4A5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Clean water is the foundation of health, education and dignity. Yet billions of people still lack safdsade water at home. Goal 6 sets clear 2030 targets that drive the Ditch the Dirt challenge.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038600" y="2621756"/>
            <a:ext cx="4686300" cy="0"/>
          </a:xfrm>
          <a:prstGeom prst="line">
            <a:avLst/>
          </a:prstGeom>
          <a:noFill/>
          <a:ln w="9525">
            <a:solidFill>
              <a:srgbClr val="E3E9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38600" y="2112169"/>
            <a:ext cx="485775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6.1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4648200" y="2112169"/>
            <a:ext cx="4158234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5"/>
              </a:lnSpc>
              <a:buNone/>
            </a:pPr>
            <a:r>
              <a:rPr lang="en-US" sz="109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Safe drinkdasding water</a:t>
            </a:r>
            <a:r>
              <a:rPr lang="en-US" sz="1090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— achieve universal and equitable access for all.dsa</a:t>
            </a:r>
            <a:endParaRPr lang="en-US" sz="1090" dirty="0"/>
          </a:p>
        </p:txBody>
      </p:sp>
      <p:sp>
        <p:nvSpPr>
          <p:cNvPr id="15" name="Shape 12"/>
          <p:cNvSpPr/>
          <p:nvPr/>
        </p:nvSpPr>
        <p:spPr>
          <a:xfrm>
            <a:off x="4038600" y="3246537"/>
            <a:ext cx="4686300" cy="0"/>
          </a:xfrm>
          <a:prstGeom prst="line">
            <a:avLst/>
          </a:prstGeom>
          <a:noFill/>
          <a:ln w="9525">
            <a:solidFill>
              <a:srgbClr val="E3E9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38600" y="2736949"/>
            <a:ext cx="485775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6.2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4648200" y="2736949"/>
            <a:ext cx="4158234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5"/>
              </a:lnSpc>
              <a:buNone/>
            </a:pPr>
            <a:r>
              <a:rPr lang="en-US" sz="109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Sanitatiodsan &amp; hygiene</a:t>
            </a:r>
            <a:r>
              <a:rPr lang="en-US" sz="1090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— end opdasden defecation and provide adequate facilities.</a:t>
            </a:r>
            <a:endParaRPr lang="en-US" sz="1090" dirty="0"/>
          </a:p>
        </p:txBody>
      </p:sp>
      <p:sp>
        <p:nvSpPr>
          <p:cNvPr id="18" name="Shape 15"/>
          <p:cNvSpPr/>
          <p:nvPr/>
        </p:nvSpPr>
        <p:spPr>
          <a:xfrm>
            <a:off x="4038600" y="3871317"/>
            <a:ext cx="4686300" cy="0"/>
          </a:xfrm>
          <a:prstGeom prst="line">
            <a:avLst/>
          </a:prstGeom>
          <a:noFill/>
          <a:ln w="9525">
            <a:solidFill>
              <a:srgbClr val="E3E9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38600" y="3361730"/>
            <a:ext cx="485775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6.3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4648200" y="3361730"/>
            <a:ext cx="4158234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5"/>
              </a:lnSpc>
              <a:buNone/>
            </a:pPr>
            <a:r>
              <a:rPr lang="en-US" sz="109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Water quality</a:t>
            </a:r>
            <a:r>
              <a:rPr lang="en-US" sz="1090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— reduce pollution and halve the proportion of untrewwqated wastewater.</a:t>
            </a:r>
            <a:endParaRPr lang="en-US" sz="1090" dirty="0"/>
          </a:p>
        </p:txBody>
      </p:sp>
      <p:sp>
        <p:nvSpPr>
          <p:cNvPr id="21" name="Text 18"/>
          <p:cNvSpPr/>
          <p:nvPr/>
        </p:nvSpPr>
        <p:spPr>
          <a:xfrm>
            <a:off x="4038600" y="4081760"/>
            <a:ext cx="1473101" cy="1074241"/>
          </a:xfrm>
          <a:prstGeom prst="roundRect">
            <a:avLst>
              <a:gd name="adj" fmla="val 3547"/>
            </a:avLst>
          </a:prstGeom>
          <a:solidFill>
            <a:srgbClr val="F5F7F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4152900" y="4100810"/>
            <a:ext cx="1244501" cy="0"/>
          </a:xfrm>
          <a:prstGeom prst="line">
            <a:avLst/>
          </a:prstGeom>
          <a:noFill/>
          <a:ln w="38100">
            <a:solidFill>
              <a:srgbClr val="F4B41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52900" y="4253210"/>
            <a:ext cx="1269391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A6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2.2B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4152900" y="4577060"/>
            <a:ext cx="1269391" cy="4455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people lack safely managed drinking water at howqeme.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645051" y="4081760"/>
            <a:ext cx="1473250" cy="1074241"/>
          </a:xfrm>
          <a:prstGeom prst="roundRect">
            <a:avLst>
              <a:gd name="adj" fmla="val 3547"/>
            </a:avLst>
          </a:prstGeom>
          <a:solidFill>
            <a:srgbClr val="F5F7F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5759351" y="4100810"/>
            <a:ext cx="1244650" cy="0"/>
          </a:xfrm>
          <a:prstGeom prst="line">
            <a:avLst/>
          </a:prstGeom>
          <a:noFill/>
          <a:ln w="38100">
            <a:solidFill>
              <a:srgbClr val="F4B41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59351" y="4253210"/>
            <a:ext cx="1269543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A6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3.wq5B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5759351" y="4577060"/>
            <a:ext cx="1269543" cy="2970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people lack sawqefely managed sanitation.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251650" y="4081760"/>
            <a:ext cx="1473250" cy="1074241"/>
          </a:xfrm>
          <a:prstGeom prst="roundRect">
            <a:avLst>
              <a:gd name="adj" fmla="val 3547"/>
            </a:avLst>
          </a:prstGeom>
          <a:solidFill>
            <a:srgbClr val="F5F7F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7365950" y="4100810"/>
            <a:ext cx="1244650" cy="0"/>
          </a:xfrm>
          <a:prstGeom prst="line">
            <a:avLst/>
          </a:prstGeom>
          <a:noFill/>
          <a:ln w="38100">
            <a:solidFill>
              <a:srgbClr val="F4B41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365950" y="4253210"/>
            <a:ext cx="1269543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A6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203eqw0</a:t>
            </a:r>
            <a:endParaRPr lang="en-US" sz="2100" dirty="0"/>
          </a:p>
        </p:txBody>
      </p:sp>
      <p:sp>
        <p:nvSpPr>
          <p:cNvPr id="32" name="Text 29"/>
          <p:cNvSpPr/>
          <p:nvPr/>
        </p:nvSpPr>
        <p:spPr>
          <a:xfrm>
            <a:off x="7365950" y="4577060"/>
            <a:ext cx="1269543" cy="4455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eqUN deadline for achieving Goal 6 targets.wqe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367463" y="6562725"/>
            <a:ext cx="2404586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5" i="1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Source: Practical Action · UN SDG framework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tml2pptx-G5RswE/html2pptx-bg-1786386055229-1487dec53b795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3429000"/>
          </a:xfrm>
          <a:prstGeom prst="rect">
            <a:avLst/>
          </a:prstGeom>
        </p:spPr>
      </p:pic>
      <p:pic>
        <p:nvPicPr>
          <p:cNvPr id="3" name="Image 1" descr="/tmp/html2pptx-G5RswE/html2pptx-bg-1786386055520-dbe28da02a84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429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76250"/>
            <a:ext cx="816102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CASE STUDY · TURKANA, KENYA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571500" y="723900"/>
            <a:ext cx="8161020" cy="990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spcBef>
                <a:spcPts val="750"/>
              </a:spcBef>
              <a:buNone/>
            </a:pPr>
            <a:r>
              <a:rPr lang="en-US" sz="3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Water, Life &amp;dasd the Ditch the Dirt Challenge</a:t>
            </a:r>
            <a:endParaRPr lang="en-US" sz="3900" dirty="0"/>
          </a:p>
        </p:txBody>
      </p:sp>
      <p:sp>
        <p:nvSpPr>
          <p:cNvPr id="6" name="Text 2"/>
          <p:cNvSpPr/>
          <p:nvPr/>
        </p:nvSpPr>
        <p:spPr>
          <a:xfrm>
            <a:off x="571500" y="3048000"/>
            <a:ext cx="7810500" cy="1190625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effectLst>
            <a:outerShdw blurRad="228600" dist="95250" dir="5400000" algn="bl" rotWithShape="0">
              <a:srgbClr val="0A3D52">
                <a:alpha val="12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3"/>
          <p:cNvSpPr/>
          <p:nvPr/>
        </p:nvSpPr>
        <p:spPr>
          <a:xfrm>
            <a:off x="600075" y="3257550"/>
            <a:ext cx="0" cy="771525"/>
          </a:xfrm>
          <a:prstGeom prst="line">
            <a:avLst/>
          </a:prstGeom>
          <a:noFill/>
          <a:ln w="57150">
            <a:solidFill>
              <a:srgbClr val="F4B41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76300" y="3257550"/>
            <a:ext cx="7403211" cy="771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 Turkana, northern Kenya, families cewqeqollect water from hand-dug holes in dry riverbeds. The water is often muddy, unsafe and shared with animals. Your challenge: act as a water scientist designing affordable filters for this community.</a:t>
            </a:r>
            <a:endParaRPr lang="en-US" sz="1350" dirty="0"/>
          </a:p>
        </p:txBody>
      </p:sp>
      <p:sp>
        <p:nvSpPr>
          <p:cNvPr id="9" name="Text 5"/>
          <p:cNvSpPr/>
          <p:nvPr>
            <p:custDataLst>
              <p:tags r:id="rId3"/>
            </p:custDataLst>
          </p:nvPr>
        </p:nvSpPr>
        <p:spPr>
          <a:xfrm>
            <a:off x="571500" y="4572000"/>
            <a:ext cx="2565350" cy="1356122"/>
          </a:xfrm>
          <a:prstGeom prst="roundRect">
            <a:avLst>
              <a:gd name="adj" fmla="val 4214"/>
            </a:avLst>
          </a:prstGeom>
          <a:solidFill>
            <a:srgbClr val="FFFFFF"/>
          </a:solidFill>
          <a:effectLst>
            <a:outerShdw blurRad="114300" dist="38100" dir="5400000" algn="bl" rotWithShape="0">
              <a:srgbClr val="0A3D52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6"/>
          <p:cNvSpPr/>
          <p:nvPr>
            <p:custDataLst>
              <p:tags r:id="rId4"/>
            </p:custDataLst>
          </p:nvPr>
        </p:nvSpPr>
        <p:spPr>
          <a:xfrm>
            <a:off x="742950" y="4591050"/>
            <a:ext cx="2222450" cy="0"/>
          </a:xfrm>
          <a:prstGeom prst="line">
            <a:avLst/>
          </a:prstGeom>
          <a:noFill/>
          <a:ln w="38100">
            <a:solidFill>
              <a:srgbClr val="0A6C8A"/>
            </a:solidFill>
            <a:prstDash val="solid"/>
          </a:ln>
        </p:spPr>
      </p:sp>
      <p:sp>
        <p:nvSpPr>
          <p:cNvPr id="11" name="Text 7"/>
          <p:cNvSpPr/>
          <p:nvPr>
            <p:custDataLst>
              <p:tags r:id="rId5"/>
            </p:custDataLst>
          </p:nvPr>
        </p:nvSpPr>
        <p:spPr>
          <a:xfrm>
            <a:off x="742950" y="4781550"/>
            <a:ext cx="226689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6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PLACE</a:t>
            </a:r>
            <a:endParaRPr lang="en-US" sz="1050" dirty="0"/>
          </a:p>
        </p:txBody>
      </p:sp>
      <p:sp>
        <p:nvSpPr>
          <p:cNvPr id="12" name="Text 8"/>
          <p:cNvSpPr/>
          <p:nvPr>
            <p:custDataLst>
              <p:tags r:id="rId6"/>
            </p:custDataLst>
          </p:nvPr>
        </p:nvSpPr>
        <p:spPr>
          <a:xfrm>
            <a:off x="742950" y="5010150"/>
            <a:ext cx="2266899" cy="74652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Arid county in northern Kenya where surfadsae water is scarce and groundwater is often salty or contaminated.</a:t>
            </a:r>
            <a:endParaRPr lang="en-US" sz="1050" dirty="0"/>
          </a:p>
        </p:txBody>
      </p:sp>
      <p:sp>
        <p:nvSpPr>
          <p:cNvPr id="13" name="Text 9"/>
          <p:cNvSpPr/>
          <p:nvPr>
            <p:custDataLst>
              <p:tags r:id="rId7"/>
            </p:custDataLst>
          </p:nvPr>
        </p:nvSpPr>
        <p:spPr>
          <a:xfrm>
            <a:off x="3289250" y="4572000"/>
            <a:ext cx="2565350" cy="1356122"/>
          </a:xfrm>
          <a:prstGeom prst="roundRect">
            <a:avLst>
              <a:gd name="adj" fmla="val 4214"/>
            </a:avLst>
          </a:prstGeom>
          <a:solidFill>
            <a:srgbClr val="FFFFFF"/>
          </a:solidFill>
          <a:effectLst>
            <a:outerShdw blurRad="114300" dist="38100" dir="5400000" algn="bl" rotWithShape="0">
              <a:srgbClr val="0A3D52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0"/>
          <p:cNvSpPr/>
          <p:nvPr>
            <p:custDataLst>
              <p:tags r:id="rId8"/>
            </p:custDataLst>
          </p:nvPr>
        </p:nvSpPr>
        <p:spPr>
          <a:xfrm>
            <a:off x="3460700" y="4591050"/>
            <a:ext cx="2222450" cy="0"/>
          </a:xfrm>
          <a:prstGeom prst="line">
            <a:avLst/>
          </a:prstGeom>
          <a:noFill/>
          <a:ln w="38100">
            <a:solidFill>
              <a:srgbClr val="0A6C8A"/>
            </a:solidFill>
            <a:prstDash val="solid"/>
          </a:ln>
        </p:spPr>
      </p:sp>
      <p:sp>
        <p:nvSpPr>
          <p:cNvPr id="15" name="Text 11"/>
          <p:cNvSpPr/>
          <p:nvPr>
            <p:custDataLst>
              <p:tags r:id="rId9"/>
            </p:custDataLst>
          </p:nvPr>
        </p:nvSpPr>
        <p:spPr>
          <a:xfrm>
            <a:off x="3460700" y="4781550"/>
            <a:ext cx="226689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6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PEOPLE</a:t>
            </a:r>
            <a:endParaRPr lang="en-US" sz="1050" dirty="0"/>
          </a:p>
        </p:txBody>
      </p:sp>
      <p:sp>
        <p:nvSpPr>
          <p:cNvPr id="16" name="Text 12"/>
          <p:cNvSpPr/>
          <p:nvPr>
            <p:custDataLst>
              <p:tags r:id="rId10"/>
            </p:custDataLst>
          </p:nvPr>
        </p:nvSpPr>
        <p:spPr>
          <a:xfrm>
            <a:off x="3460700" y="5010150"/>
            <a:ext cx="2266899" cy="74652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Pastoralist communities rely on daily water collewdqction, mostly by women and children walking long distances.</a:t>
            </a:r>
            <a:endParaRPr lang="en-US" sz="1050" dirty="0"/>
          </a:p>
        </p:txBody>
      </p:sp>
      <p:sp>
        <p:nvSpPr>
          <p:cNvPr id="17" name="Text 13"/>
          <p:cNvSpPr/>
          <p:nvPr>
            <p:custDataLst>
              <p:tags r:id="rId11"/>
            </p:custDataLst>
          </p:nvPr>
        </p:nvSpPr>
        <p:spPr>
          <a:xfrm>
            <a:off x="6007001" y="4572000"/>
            <a:ext cx="2565499" cy="1356122"/>
          </a:xfrm>
          <a:prstGeom prst="roundRect">
            <a:avLst>
              <a:gd name="adj" fmla="val 4214"/>
            </a:avLst>
          </a:prstGeom>
          <a:solidFill>
            <a:srgbClr val="FFFFFF"/>
          </a:solidFill>
          <a:effectLst>
            <a:outerShdw blurRad="114300" dist="38100" dir="5400000" algn="bl" rotWithShape="0">
              <a:srgbClr val="0A3D52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4"/>
          <p:cNvSpPr/>
          <p:nvPr>
            <p:custDataLst>
              <p:tags r:id="rId12"/>
            </p:custDataLst>
          </p:nvPr>
        </p:nvSpPr>
        <p:spPr>
          <a:xfrm>
            <a:off x="6178451" y="4591050"/>
            <a:ext cx="2222599" cy="0"/>
          </a:xfrm>
          <a:prstGeom prst="line">
            <a:avLst/>
          </a:prstGeom>
          <a:noFill/>
          <a:ln w="38100">
            <a:solidFill>
              <a:srgbClr val="0A6C8A"/>
            </a:solidFill>
            <a:prstDash val="solid"/>
          </a:ln>
        </p:spPr>
      </p:sp>
      <p:sp>
        <p:nvSpPr>
          <p:cNvPr id="19" name="Text 15"/>
          <p:cNvSpPr/>
          <p:nvPr>
            <p:custDataLst>
              <p:tags r:id="rId13"/>
            </p:custDataLst>
          </p:nvPr>
        </p:nvSpPr>
        <p:spPr>
          <a:xfrm>
            <a:off x="6178451" y="4781550"/>
            <a:ext cx="2267051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6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20" name="Text 16"/>
          <p:cNvSpPr/>
          <p:nvPr>
            <p:custDataLst>
              <p:tags r:id="rId14"/>
            </p:custDataLst>
          </p:nvPr>
        </p:nvSpPr>
        <p:spPr>
          <a:xfrm>
            <a:off x="6178451" y="5010150"/>
            <a:ext cx="2267051" cy="74652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Scooped water sadwqcarries dirt, microbes and debris that cause disease — boiling or filtering is essential before drinking.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71500" y="6562725"/>
            <a:ext cx="8161020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5" i="1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Image: village water collection, Innovation: Africa. Source text: Ditch the Dirt pupil sheets, Practical Action.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971550"/>
            <a:ext cx="8001000" cy="0"/>
          </a:xfrm>
          <a:prstGeom prst="line">
            <a:avLst/>
          </a:prstGeom>
          <a:noFill/>
          <a:ln w="38100">
            <a:solidFill>
              <a:srgbClr val="0A6C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1500" y="419100"/>
            <a:ext cx="5762810" cy="419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Investigating Water Quality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6724501" y="628650"/>
            <a:ext cx="188495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SLIDE 05 · ACTIVITY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71500" y="1123950"/>
            <a:ext cx="7966710" cy="6625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0"/>
              </a:lnSpc>
              <a:spcBef>
                <a:spcPts val="1050"/>
              </a:spcBef>
              <a:buNone/>
            </a:pPr>
            <a:r>
              <a:rPr lang="en-US" sz="1200" dirty="0">
                <a:solidFill>
                  <a:srgbClr val="3A4A5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Scientists analyse water from rivers, water holes anqwdd treatment works. Your taswdk: examine four samples, recording the </a:t>
            </a:r>
            <a:r>
              <a:rPr lang="en-US" sz="1200" b="1" dirty="0">
                <a:solidFill>
                  <a:srgbClr val="3A4A5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odour</a:t>
            </a:r>
            <a:r>
              <a:rPr lang="en-US" sz="1200" dirty="0">
                <a:solidFill>
                  <a:srgbClr val="3A4A5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and </a:t>
            </a:r>
            <a:r>
              <a:rPr lang="en-US" sz="1200" b="1" dirty="0">
                <a:solidFill>
                  <a:srgbClr val="3A4A5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appeqwarance</a:t>
            </a:r>
            <a:r>
              <a:rPr lang="en-US" sz="1200" dirty="0">
                <a:solidFill>
                  <a:srgbClr val="3A4A5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, and give each a score on tdasqhe Water Grading Scale (0 = clear, 4 = very dirty).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1500" y="1996083"/>
            <a:ext cx="3990677" cy="2846189"/>
          </a:xfrm>
          <a:prstGeom prst="roundRect">
            <a:avLst>
              <a:gd name="adj" fmla="val 2008"/>
            </a:avLst>
          </a:prstGeom>
          <a:solidFill>
            <a:srgbClr val="F5F7F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62000" y="2015133"/>
            <a:ext cx="3609677" cy="0"/>
          </a:xfrm>
          <a:prstGeom prst="line">
            <a:avLst/>
          </a:prstGeom>
          <a:noFill/>
          <a:ln w="38100">
            <a:solidFill>
              <a:srgbClr val="F4B4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2000" y="2205633"/>
            <a:ext cx="368187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Your recording sheet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762000" y="2500908"/>
          <a:ext cx="6858000" cy="1695448"/>
        </p:xfrm>
        <a:graphic>
          <a:graphicData uri="http://schemas.openxmlformats.org/drawingml/2006/table">
            <a:tbl>
              <a:tblPr/>
              <a:tblGrid>
                <a:gridCol w="640759"/>
                <a:gridCol w="983671"/>
                <a:gridCol w="1364037"/>
                <a:gridCol w="621211"/>
              </a:tblGrid>
              <a:tr h="5459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Sample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C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Odour — what does it smell of?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C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Appearance — what does it look like?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C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Score (0–4)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C8A"/>
                    </a:solidFill>
                  </a:tcPr>
                </a:tc>
              </a:tr>
              <a:tr h="2873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b="1" dirty="0">
                          <a:solidFill>
                            <a:srgbClr val="E07B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</a:t>
                      </a:r>
                      <a:endParaRPr lang="en-US" sz="94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4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4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4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73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b="1" dirty="0">
                          <a:solidFill>
                            <a:srgbClr val="E07B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</a:t>
                      </a:r>
                      <a:endParaRPr lang="en-US" sz="94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4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4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4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73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b="1" dirty="0">
                          <a:solidFill>
                            <a:srgbClr val="E07B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</a:t>
                      </a:r>
                      <a:endParaRPr lang="en-US" sz="94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4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4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4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73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b="1" dirty="0">
                          <a:solidFill>
                            <a:srgbClr val="E07B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4</a:t>
                      </a:r>
                      <a:endParaRPr lang="en-US" sz="94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4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4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4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66675" marB="66675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771727" y="1996083"/>
            <a:ext cx="3800773" cy="2846189"/>
          </a:xfrm>
          <a:prstGeom prst="roundRect">
            <a:avLst>
              <a:gd name="adj" fmla="val 2008"/>
            </a:avLst>
          </a:prstGeom>
          <a:solidFill>
            <a:srgbClr val="F5F7F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962227" y="2015133"/>
            <a:ext cx="3419773" cy="0"/>
          </a:xfrm>
          <a:prstGeom prst="line">
            <a:avLst/>
          </a:prstGeom>
          <a:noFill/>
          <a:ln w="38100">
            <a:solidFill>
              <a:srgbClr val="F4B41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62227" y="2205633"/>
            <a:ext cx="3488168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What to look for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962227" y="2481858"/>
            <a:ext cx="3419773" cy="15537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0"/>
              </a:lnSpc>
              <a:buSzPct val="100000"/>
              <a:buNone/>
            </a:pPr>
            <a:r>
              <a:rPr lang="en-US" sz="1200" b="1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Odour:</a:t>
            </a:r>
            <a:r>
              <a:rPr lang="en-US" sz="1015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earthy, fishdasy, chlorine, rotten-egg, chemical or no smell at all.</a:t>
            </a:r>
            <a:endParaRPr lang="en-US" sz="1015" dirty="0"/>
          </a:p>
          <a:p>
            <a:pPr marL="0" indent="0" algn="l">
              <a:lnSpc>
                <a:spcPts val="1420"/>
              </a:lnSpc>
              <a:buSzPct val="100000"/>
              <a:buNone/>
            </a:pPr>
            <a:r>
              <a:rPr lang="en-US" sz="1200" b="1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Appearance:dsa</a:t>
            </a:r>
            <a:r>
              <a:rPr lang="en-US" sz="1015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colour, cloudiness, floating particles, sediment, oily film.</a:t>
            </a:r>
            <a:endParaRPr lang="en-US" sz="1015" dirty="0"/>
          </a:p>
          <a:p>
            <a:pPr marL="0" indent="0" algn="l">
              <a:lnSpc>
                <a:spcPts val="1420"/>
              </a:lnSpc>
              <a:buSzPct val="100000"/>
              <a:buNone/>
            </a:pPr>
            <a:r>
              <a:rPr lang="en-US" sz="1200" b="1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Compare:</a:t>
            </a:r>
            <a:r>
              <a:rPr lang="en-US" sz="1015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hold each sample against a white sheet of paper to judge dasclarity.</a:t>
            </a:r>
            <a:endParaRPr lang="en-US" sz="1015" dirty="0"/>
          </a:p>
          <a:p>
            <a:pPr marL="0" indent="0" algn="l">
              <a:lnSpc>
                <a:spcPts val="1420"/>
              </a:lnSpc>
              <a:buSzPct val="100000"/>
              <a:buNone/>
            </a:pPr>
            <a:r>
              <a:rPr lang="en-US" sz="1200" b="1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Stay safe:</a:t>
            </a:r>
            <a:r>
              <a:rPr lang="en-US" sz="1015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smell by wafting — never put your nose directly over thesa sample.</a:t>
            </a:r>
            <a:endParaRPr lang="en-US" sz="1015" dirty="0"/>
          </a:p>
        </p:txBody>
      </p:sp>
      <p:sp>
        <p:nvSpPr>
          <p:cNvPr id="14" name="Text 11"/>
          <p:cNvSpPr/>
          <p:nvPr/>
        </p:nvSpPr>
        <p:spPr>
          <a:xfrm>
            <a:off x="4962227" y="4111823"/>
            <a:ext cx="3488168" cy="5589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15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Record observations in your own words before scoring. Honest ddawescriptions matter more than neat ones.</a:t>
            </a:r>
            <a:endParaRPr lang="en-US" sz="1015" dirty="0"/>
          </a:p>
        </p:txBody>
      </p:sp>
      <p:sp>
        <p:nvSpPr>
          <p:cNvPr id="15" name="Text 12"/>
          <p:cNvSpPr/>
          <p:nvPr/>
        </p:nvSpPr>
        <p:spPr>
          <a:xfrm>
            <a:off x="571500" y="6581775"/>
            <a:ext cx="3091958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5" i="1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Activity from: Ditch the Dirt pupil sheets, Practical Action.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6096298" y="6581775"/>
            <a:ext cx="2525726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5" i="1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Use the Water Grading Strips on the next slide.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1047750"/>
            <a:ext cx="8001000" cy="0"/>
          </a:xfrm>
          <a:prstGeom prst="line">
            <a:avLst/>
          </a:prstGeom>
          <a:noFill/>
          <a:ln w="38100">
            <a:solidFill>
              <a:srgbClr val="0A6C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1500" y="476250"/>
            <a:ext cx="4627766" cy="438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Water Grading Strips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383982" y="704850"/>
            <a:ext cx="223228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SLIDE 06 · SCORING TOOL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71500" y="1200150"/>
            <a:ext cx="7966710" cy="44172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0"/>
              </a:lnSpc>
              <a:spcBef>
                <a:spcPts val="1050"/>
              </a:spcBef>
              <a:buNone/>
            </a:pPr>
            <a:r>
              <a:rPr lang="en-US" sz="1200" dirty="0">
                <a:solidFill>
                  <a:srgbClr val="3A4A5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Use this 0–4 scale to score the appwqdqearance of each water sample. The higher the score, the dirtier the water — and theqwdq more work your filter will nedsawqded to do.</a:t>
            </a:r>
            <a:endParaRPr lang="en-US" sz="1200" dirty="0"/>
          </a:p>
        </p:txBody>
      </p:sp>
      <p:pic>
        <p:nvPicPr>
          <p:cNvPr id="6" name="Image 0" descr="/tmp/html2pptx-fDzKzo/html2pptx-bg-1786386057469-6354bbeeb62298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71500" y="1946672"/>
            <a:ext cx="1493490" cy="1905000"/>
          </a:xfrm>
          <a:prstGeom prst="rect">
            <a:avLst/>
          </a:prstGeom>
        </p:spPr>
      </p:pic>
      <p:sp>
        <p:nvSpPr>
          <p:cNvPr id="7" name="Text 4"/>
          <p:cNvSpPr/>
          <p:nvPr>
            <p:custDataLst>
              <p:tags r:id="rId3"/>
            </p:custDataLst>
          </p:nvPr>
        </p:nvSpPr>
        <p:spPr>
          <a:xfrm>
            <a:off x="571500" y="1946672"/>
            <a:ext cx="1523360" cy="190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</a:t>
            </a:r>
            <a:endParaRPr lang="en-US" sz="1200" dirty="0"/>
          </a:p>
        </p:txBody>
      </p:sp>
      <p:sp>
        <p:nvSpPr>
          <p:cNvPr id="8" name="Text 5"/>
          <p:cNvSpPr/>
          <p:nvPr>
            <p:custDataLst>
              <p:tags r:id="rId4"/>
            </p:custDataLst>
          </p:nvPr>
        </p:nvSpPr>
        <p:spPr>
          <a:xfrm>
            <a:off x="571500" y="3851672"/>
            <a:ext cx="1493490" cy="864989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>
            <p:custDataLst>
              <p:tags r:id="rId5"/>
            </p:custDataLst>
          </p:nvPr>
        </p:nvSpPr>
        <p:spPr>
          <a:xfrm>
            <a:off x="673151" y="3965972"/>
            <a:ext cx="1290188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Clear</a:t>
            </a:r>
            <a:endParaRPr lang="en-US" sz="1125" dirty="0"/>
          </a:p>
        </p:txBody>
      </p:sp>
      <p:sp>
        <p:nvSpPr>
          <p:cNvPr id="10" name="Text 7"/>
          <p:cNvSpPr/>
          <p:nvPr>
            <p:custDataLst>
              <p:tags r:id="rId6"/>
            </p:custDataLst>
          </p:nvPr>
        </p:nvSpPr>
        <p:spPr>
          <a:xfrm>
            <a:off x="673151" y="4175522"/>
            <a:ext cx="1290188" cy="4268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spcBef>
                <a:spcPts val="300"/>
              </a:spcBef>
              <a:buNone/>
            </a:pPr>
            <a:r>
              <a:rPr lang="en-US" sz="865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 visible particles; water looks like qwdtap water.</a:t>
            </a:r>
            <a:endParaRPr lang="en-US" sz="865" dirty="0"/>
          </a:p>
        </p:txBody>
      </p:sp>
      <p:pic>
        <p:nvPicPr>
          <p:cNvPr id="11" name="Image 1" descr="/tmp/html2pptx-fDzKzo/html2pptx-bg-1786386057607-687f05f3cb12a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198340" y="1946672"/>
            <a:ext cx="1493490" cy="1905000"/>
          </a:xfrm>
          <a:prstGeom prst="rect">
            <a:avLst/>
          </a:prstGeom>
        </p:spPr>
      </p:pic>
      <p:sp>
        <p:nvSpPr>
          <p:cNvPr id="12" name="Text 8"/>
          <p:cNvSpPr/>
          <p:nvPr>
            <p:custDataLst>
              <p:tags r:id="rId9"/>
            </p:custDataLst>
          </p:nvPr>
        </p:nvSpPr>
        <p:spPr>
          <a:xfrm>
            <a:off x="2198340" y="1946672"/>
            <a:ext cx="1523360" cy="190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9"/>
          <p:cNvSpPr/>
          <p:nvPr>
            <p:custDataLst>
              <p:tags r:id="rId10"/>
            </p:custDataLst>
          </p:nvPr>
        </p:nvSpPr>
        <p:spPr>
          <a:xfrm>
            <a:off x="2198340" y="3851672"/>
            <a:ext cx="1493490" cy="894159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>
            <p:custDataLst>
              <p:tags r:id="rId11"/>
            </p:custDataLst>
          </p:nvPr>
        </p:nvSpPr>
        <p:spPr>
          <a:xfrm>
            <a:off x="2299991" y="3965972"/>
            <a:ext cx="1290188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Somedw cloudiness</a:t>
            </a:r>
            <a:endParaRPr lang="en-US" sz="1125" dirty="0"/>
          </a:p>
        </p:txBody>
      </p:sp>
      <p:sp>
        <p:nvSpPr>
          <p:cNvPr id="15" name="Text 11"/>
          <p:cNvSpPr/>
          <p:nvPr>
            <p:custDataLst>
              <p:tags r:id="rId12"/>
            </p:custDataLst>
          </p:nvPr>
        </p:nvSpPr>
        <p:spPr>
          <a:xfrm>
            <a:off x="2299991" y="4346972"/>
            <a:ext cx="1290188" cy="2845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spcBef>
                <a:spcPts val="300"/>
              </a:spcBef>
              <a:buNone/>
            </a:pPr>
            <a:r>
              <a:rPr lang="en-US" sz="865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Slight asdhaze; particles only just visible.</a:t>
            </a:r>
            <a:endParaRPr lang="en-US" sz="865" dirty="0"/>
          </a:p>
        </p:txBody>
      </p:sp>
      <p:pic>
        <p:nvPicPr>
          <p:cNvPr id="16" name="Image 2" descr="/tmp/html2pptx-fDzKzo/html2pptx-bg-1786386057698-bf2e8c10e6e1e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3825180" y="1946672"/>
            <a:ext cx="1493490" cy="1905000"/>
          </a:xfrm>
          <a:prstGeom prst="rect">
            <a:avLst/>
          </a:prstGeom>
        </p:spPr>
      </p:pic>
      <p:sp>
        <p:nvSpPr>
          <p:cNvPr id="17" name="Text 12"/>
          <p:cNvSpPr/>
          <p:nvPr>
            <p:custDataLst>
              <p:tags r:id="rId15"/>
            </p:custDataLst>
          </p:nvPr>
        </p:nvSpPr>
        <p:spPr>
          <a:xfrm>
            <a:off x="3825180" y="1946672"/>
            <a:ext cx="1523360" cy="190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>
                    <a:alpha val="95000"/>
                  </a:srgbClr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3"/>
          <p:cNvSpPr/>
          <p:nvPr>
            <p:custDataLst>
              <p:tags r:id="rId16"/>
            </p:custDataLst>
          </p:nvPr>
        </p:nvSpPr>
        <p:spPr>
          <a:xfrm>
            <a:off x="3825180" y="3851672"/>
            <a:ext cx="1493490" cy="722709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4"/>
          <p:cNvSpPr/>
          <p:nvPr>
            <p:custDataLst>
              <p:tags r:id="rId17"/>
            </p:custDataLst>
          </p:nvPr>
        </p:nvSpPr>
        <p:spPr>
          <a:xfrm>
            <a:off x="3926832" y="3965972"/>
            <a:ext cx="1290188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Cloudydas</a:t>
            </a:r>
            <a:endParaRPr lang="en-US" sz="1125" dirty="0"/>
          </a:p>
        </p:txBody>
      </p:sp>
      <p:sp>
        <p:nvSpPr>
          <p:cNvPr id="20" name="Text 15"/>
          <p:cNvSpPr/>
          <p:nvPr>
            <p:custDataLst>
              <p:tags r:id="rId18"/>
            </p:custDataLst>
          </p:nvPr>
        </p:nvSpPr>
        <p:spPr>
          <a:xfrm>
            <a:off x="3926832" y="4175522"/>
            <a:ext cx="1290188" cy="2845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spcBef>
                <a:spcPts val="300"/>
              </a:spcBef>
              <a:buNone/>
            </a:pPr>
            <a:r>
              <a:rPr lang="en-US" sz="865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Clearly murqwdky; you cannot see through it.</a:t>
            </a:r>
            <a:endParaRPr lang="en-US" sz="865" dirty="0"/>
          </a:p>
        </p:txBody>
      </p:sp>
      <p:pic>
        <p:nvPicPr>
          <p:cNvPr id="21" name="Image 3" descr="/tmp/html2pptx-fDzKzo/html2pptx-bg-1786386057774-6f412ba6297eb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5452021" y="1946672"/>
            <a:ext cx="1493490" cy="1905000"/>
          </a:xfrm>
          <a:prstGeom prst="rect">
            <a:avLst/>
          </a:prstGeom>
        </p:spPr>
      </p:pic>
      <p:sp>
        <p:nvSpPr>
          <p:cNvPr id="22" name="Text 16"/>
          <p:cNvSpPr/>
          <p:nvPr>
            <p:custDataLst>
              <p:tags r:id="rId21"/>
            </p:custDataLst>
          </p:nvPr>
        </p:nvSpPr>
        <p:spPr>
          <a:xfrm>
            <a:off x="5452021" y="1946672"/>
            <a:ext cx="1523360" cy="190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>
                    <a:alpha val="95000"/>
                  </a:srgbClr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7"/>
          <p:cNvSpPr/>
          <p:nvPr>
            <p:custDataLst>
              <p:tags r:id="rId22"/>
            </p:custDataLst>
          </p:nvPr>
        </p:nvSpPr>
        <p:spPr>
          <a:xfrm>
            <a:off x="5452021" y="3851672"/>
            <a:ext cx="1493490" cy="864989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8"/>
          <p:cNvSpPr/>
          <p:nvPr>
            <p:custDataLst>
              <p:tags r:id="rId23"/>
            </p:custDataLst>
          </p:nvPr>
        </p:nvSpPr>
        <p:spPr>
          <a:xfrm>
            <a:off x="5553672" y="3965972"/>
            <a:ext cx="1290188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Dirtqwdy</a:t>
            </a:r>
            <a:endParaRPr lang="en-US" sz="1125" dirty="0"/>
          </a:p>
        </p:txBody>
      </p:sp>
      <p:sp>
        <p:nvSpPr>
          <p:cNvPr id="25" name="Text 19"/>
          <p:cNvSpPr/>
          <p:nvPr>
            <p:custDataLst>
              <p:tags r:id="rId24"/>
            </p:custDataLst>
          </p:nvPr>
        </p:nvSpPr>
        <p:spPr>
          <a:xfrm>
            <a:off x="5553672" y="4175522"/>
            <a:ext cx="1290188" cy="4268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spcBef>
                <a:spcPts val="300"/>
              </a:spcBef>
              <a:buNone/>
            </a:pPr>
            <a:r>
              <a:rPr lang="en-US" sz="865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qwdDark with sediment; lots of suspended solids.</a:t>
            </a:r>
            <a:endParaRPr lang="en-US" sz="865" dirty="0"/>
          </a:p>
        </p:txBody>
      </p:sp>
      <p:pic>
        <p:nvPicPr>
          <p:cNvPr id="26" name="Image 4" descr="/tmp/html2pptx-fDzKzo/html2pptx-bg-1786386057859-fa416140d8ce98.png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7078861" y="1946672"/>
            <a:ext cx="1493639" cy="1905000"/>
          </a:xfrm>
          <a:prstGeom prst="rect">
            <a:avLst/>
          </a:prstGeom>
        </p:spPr>
      </p:pic>
      <p:sp>
        <p:nvSpPr>
          <p:cNvPr id="27" name="Text 20"/>
          <p:cNvSpPr/>
          <p:nvPr>
            <p:custDataLst>
              <p:tags r:id="rId27"/>
            </p:custDataLst>
          </p:nvPr>
        </p:nvSpPr>
        <p:spPr>
          <a:xfrm>
            <a:off x="7078861" y="1946672"/>
            <a:ext cx="1523512" cy="190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>
                    <a:alpha val="95000"/>
                  </a:srgbClr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1"/>
          <p:cNvSpPr/>
          <p:nvPr>
            <p:custDataLst>
              <p:tags r:id="rId28"/>
            </p:custDataLst>
          </p:nvPr>
        </p:nvSpPr>
        <p:spPr>
          <a:xfrm>
            <a:off x="7078861" y="3851672"/>
            <a:ext cx="1493639" cy="722709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2"/>
          <p:cNvSpPr/>
          <p:nvPr>
            <p:custDataLst>
              <p:tags r:id="rId29"/>
            </p:custDataLst>
          </p:nvPr>
        </p:nvSpPr>
        <p:spPr>
          <a:xfrm>
            <a:off x="7180511" y="3965972"/>
            <a:ext cx="1290340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sadVery dirty</a:t>
            </a:r>
            <a:endParaRPr lang="en-US" sz="1125" dirty="0"/>
          </a:p>
        </p:txBody>
      </p:sp>
      <p:sp>
        <p:nvSpPr>
          <p:cNvPr id="30" name="Text 23"/>
          <p:cNvSpPr/>
          <p:nvPr>
            <p:custDataLst>
              <p:tags r:id="rId30"/>
            </p:custDataLst>
          </p:nvPr>
        </p:nvSpPr>
        <p:spPr>
          <a:xfrm>
            <a:off x="7180511" y="4175522"/>
            <a:ext cx="1290340" cy="2845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spcBef>
                <a:spcPts val="300"/>
              </a:spcBef>
              <a:buNone/>
            </a:pPr>
            <a:r>
              <a:rPr lang="en-US" sz="865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Thick with mud and debris; almost qwdpaque.</a:t>
            </a:r>
            <a:endParaRPr lang="en-US" sz="865" dirty="0"/>
          </a:p>
        </p:txBody>
      </p:sp>
      <p:sp>
        <p:nvSpPr>
          <p:cNvPr id="31" name="Text 24"/>
          <p:cNvSpPr/>
          <p:nvPr/>
        </p:nvSpPr>
        <p:spPr>
          <a:xfrm>
            <a:off x="571500" y="5537895"/>
            <a:ext cx="8001000" cy="653355"/>
          </a:xfrm>
          <a:prstGeom prst="roundRect">
            <a:avLst>
              <a:gd name="adj" fmla="val 5831"/>
            </a:avLst>
          </a:prstGeom>
          <a:solidFill>
            <a:srgbClr val="F5F7F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25"/>
          <p:cNvSpPr/>
          <p:nvPr/>
        </p:nvSpPr>
        <p:spPr>
          <a:xfrm>
            <a:off x="600075" y="5671245"/>
            <a:ext cx="0" cy="386655"/>
          </a:xfrm>
          <a:prstGeom prst="line">
            <a:avLst/>
          </a:prstGeom>
          <a:noFill/>
          <a:ln w="57150">
            <a:solidFill>
              <a:srgbClr val="F4B41A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800100" y="5671245"/>
            <a:ext cx="7752969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5"/>
              </a:lnSpc>
              <a:buNone/>
            </a:pPr>
            <a:r>
              <a:rPr lang="en-US" sz="105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dqwdTip:</a:t>
            </a:r>
            <a:r>
              <a:rPr lang="en-US" sz="1050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Always score the saqwdme way for every sample — hold the jar against white paper, look from the side, and agree on a score with your team before writing it down.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571500" y="6562725"/>
            <a:ext cx="8161020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5" i="1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Source: Ditch the Dirt pupil sheets, Practical Action — Water grading strips.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971550"/>
            <a:ext cx="8001000" cy="0"/>
          </a:xfrm>
          <a:prstGeom prst="line">
            <a:avLst/>
          </a:prstGeom>
          <a:noFill/>
          <a:ln w="38100">
            <a:solidFill>
              <a:srgbClr val="0A6C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1500" y="419100"/>
            <a:ext cx="4423285" cy="419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Investigating Sieving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6724501" y="628650"/>
            <a:ext cx="188495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SLIDE 07 · ACTIVITY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71500" y="1123950"/>
            <a:ext cx="7966710" cy="6625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0"/>
              </a:lnSpc>
              <a:spcBef>
                <a:spcPts val="1050"/>
              </a:spcBef>
              <a:buNone/>
            </a:pPr>
            <a:r>
              <a:rPr lang="en-US" sz="1200" dirty="0">
                <a:solidFill>
                  <a:srgbClr val="3A4A5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Sieves separate solid material from a liquid. Imagine your team has been given a sample of dirty water. Test it before and aftedsadwqr passing it through two sieves with different mesh sizes — and again with both sieves together.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1500" y="1977033"/>
            <a:ext cx="4081165" cy="3992761"/>
          </a:xfrm>
          <a:prstGeom prst="roundRect">
            <a:avLst>
              <a:gd name="adj" fmla="val 1431"/>
            </a:avLst>
          </a:prstGeom>
          <a:solidFill>
            <a:srgbClr val="FFFFFF"/>
          </a:solidFill>
          <a:effectLst>
            <a:outerShdw blurRad="114300" dist="38100" dir="5400000" algn="bl" rotWithShape="0">
              <a:srgbClr val="0A3D52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62000" y="1996083"/>
            <a:ext cx="3700165" cy="0"/>
          </a:xfrm>
          <a:prstGeom prst="line">
            <a:avLst/>
          </a:prstGeom>
          <a:noFill/>
          <a:ln w="38100">
            <a:solidFill>
              <a:srgbClr val="0A6C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2000" y="2186583"/>
            <a:ext cx="3774168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Recording your results</a:t>
            </a:r>
            <a:endParaRPr lang="en-US" sz="1275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762000" y="2472333"/>
          <a:ext cx="6858000" cy="1962150"/>
        </p:xfrm>
        <a:graphic>
          <a:graphicData uri="http://schemas.openxmlformats.org/drawingml/2006/table">
            <a:tbl>
              <a:tblPr/>
              <a:tblGrid>
                <a:gridCol w="1385137"/>
                <a:gridCol w="523138"/>
                <a:gridCol w="880203"/>
                <a:gridCol w="911687"/>
              </a:tblGrid>
              <a:tr h="3924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Properties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C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Odour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C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Appearance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C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Solids in sieve (g)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C8A"/>
                    </a:solidFill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A3D5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Water before sieving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A3D5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After sieve 1 (large mesh)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A3D5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After sieve 2 (fine mesh)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A3D5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After sieves 1 + 2 together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…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66675" marR="66675" marT="57150" marB="57150" anchor="t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62000" y="4567833"/>
            <a:ext cx="3700165" cy="948333"/>
          </a:xfrm>
          <a:prstGeom prst="roundRect">
            <a:avLst>
              <a:gd name="adj" fmla="val 4018"/>
            </a:avLst>
          </a:prstGeom>
          <a:solidFill>
            <a:srgbClr val="FFF7E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785813" y="4682133"/>
            <a:ext cx="0" cy="719733"/>
          </a:xfrm>
          <a:prstGeom prst="line">
            <a:avLst/>
          </a:prstGeom>
          <a:noFill/>
          <a:ln w="47625">
            <a:solidFill>
              <a:srgbClr val="F4B41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2975" y="4682133"/>
            <a:ext cx="345355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DISCUSS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942975" y="4882158"/>
            <a:ext cx="3453557" cy="519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Which combination of sieves would you recommend to Kenyan scientists as part of a wasdqdter-cleaning system, and why?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4862215" y="1977033"/>
            <a:ext cx="3710285" cy="3992761"/>
          </a:xfrm>
          <a:prstGeom prst="roundRect">
            <a:avLst>
              <a:gd name="adj" fmla="val 1540"/>
            </a:avLst>
          </a:prstGeom>
          <a:solidFill>
            <a:srgbClr val="FFFFFF"/>
          </a:solidFill>
          <a:effectLst>
            <a:outerShdw blurRad="114300" dist="38100" dir="5400000" algn="bl" rotWithShape="0">
              <a:srgbClr val="0A3D52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5052715" y="1996083"/>
            <a:ext cx="3329285" cy="0"/>
          </a:xfrm>
          <a:prstGeom prst="line">
            <a:avLst/>
          </a:prstGeom>
          <a:noFill/>
          <a:ln w="38100">
            <a:solidFill>
              <a:srgbClr val="0A6C8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52715" y="2186583"/>
            <a:ext cx="3395871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How to run the test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5052715" y="2472333"/>
            <a:ext cx="3329285" cy="2244328"/>
          </a:xfrm>
          <a:prstGeom prst="rect">
            <a:avLst/>
          </a:prstGeom>
          <a:noFill/>
        </p:spPr>
        <p:txBody>
          <a:bodyPr wrap="square" lIns="30480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15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Stir the dirty water sample gently, then describe its odour and appeardqwdance.</a:t>
            </a:r>
            <a:endParaRPr lang="en-US" sz="1015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015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Pour the samplqwde slowly through sieve 1. Catch the watewsar that passes through.</a:t>
            </a:r>
            <a:endParaRPr lang="en-US" sz="1015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015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Weigh the solids trapped in the sieve and record your observations.</a:t>
            </a:r>
            <a:endParaRPr lang="en-US" sz="1015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015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Repeat wiqth sieve 2, then with both sieves stacked, recordinwqg each time.</a:t>
            </a:r>
            <a:endParaRPr lang="en-US" sz="1015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015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Compare the water's sqwdscore on the grading scale before sadqand after each step.</a:t>
            </a:r>
            <a:endParaRPr lang="en-US" sz="1015" dirty="0"/>
          </a:p>
        </p:txBody>
      </p:sp>
      <p:sp>
        <p:nvSpPr>
          <p:cNvPr id="18" name="Text 15"/>
          <p:cNvSpPr/>
          <p:nvPr/>
        </p:nvSpPr>
        <p:spPr>
          <a:xfrm>
            <a:off x="5052715" y="4850011"/>
            <a:ext cx="3329285" cy="948333"/>
          </a:xfrm>
          <a:prstGeom prst="roundRect">
            <a:avLst>
              <a:gd name="adj" fmla="val 4018"/>
            </a:avLst>
          </a:prstGeom>
          <a:solidFill>
            <a:srgbClr val="FFF7E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5076527" y="4964311"/>
            <a:ext cx="0" cy="719733"/>
          </a:xfrm>
          <a:prstGeom prst="line">
            <a:avLst/>
          </a:prstGeom>
          <a:noFill/>
          <a:ln w="47625">
            <a:solidFill>
              <a:srgbClr val="F4B41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33690" y="4964311"/>
            <a:ext cx="3075259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THINK LIKE A SCIENTIST</a:t>
            </a:r>
            <a:endParaRPr lang="en-US" sz="975" dirty="0"/>
          </a:p>
        </p:txBody>
      </p:sp>
      <p:sp>
        <p:nvSpPr>
          <p:cNvPr id="21" name="Text 18"/>
          <p:cNvSpPr/>
          <p:nvPr/>
        </p:nvSpPr>
        <p:spPr>
          <a:xfrm>
            <a:off x="5233690" y="5164336"/>
            <a:ext cx="3075259" cy="519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Sieves remove sdawqdolids — but do they remove colour, smell or microbes? Note what changes and what does not.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571500" y="6581775"/>
            <a:ext cx="8161020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5" i="1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Activity from: Ditch the Dirt pupil sheets, Practical Action.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tml2pptx-8Jofqe/html2pptx-bg-1786386059726-67e04ad5b4da8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52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1552575"/>
            <a:ext cx="8001000" cy="0"/>
          </a:xfrm>
          <a:prstGeom prst="line">
            <a:avLst/>
          </a:prstGeom>
          <a:noFill/>
          <a:ln w="19050">
            <a:solidFill>
              <a:srgbClr val="F4B41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71500" y="476250"/>
            <a:ext cx="5999928" cy="933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</a:t>
            </a:r>
            <a:r>
              <a:rPr lang="en-US" sz="3150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Ditch the Dirt</a:t>
            </a:r>
            <a:r>
              <a:rPr lang="en-US" sz="31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Challenge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453783" y="723900"/>
            <a:ext cx="2161092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SLIDE 08 · DESIGN &amp; BUILD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1714500"/>
            <a:ext cx="7966710" cy="7041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spcBef>
                <a:spcPts val="1200"/>
              </a:spcBef>
              <a:buNone/>
            </a:pPr>
            <a:r>
              <a:rPr lang="en-US" sz="1275" dirty="0">
                <a:solidFill>
                  <a:srgbClr val="D8EE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Your challenge: design aqdqnd make a water filter that removes as much "dirt" as possible from a sample of dirty water. Before building your final qwdfilter, prototype and test </a:t>
            </a:r>
            <a:r>
              <a:rPr lang="en-US" sz="1275" b="1" dirty="0">
                <a:solidFill>
                  <a:srgbClr val="D8EE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two different designs</a:t>
            </a:r>
            <a:r>
              <a:rPr lang="en-US" sz="1275" dirty="0">
                <a:solidFill>
                  <a:srgbClr val="D8EE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and record what changes.</a:t>
            </a:r>
            <a:endParaRPr lang="en-US" sz="1275" dirty="0"/>
          </a:p>
        </p:txBody>
      </p:sp>
      <p:sp>
        <p:nvSpPr>
          <p:cNvPr id="7" name="Text 4"/>
          <p:cNvSpPr/>
          <p:nvPr>
            <p:custDataLst>
              <p:tags r:id="rId2"/>
            </p:custDataLst>
          </p:nvPr>
        </p:nvSpPr>
        <p:spPr>
          <a:xfrm>
            <a:off x="571500" y="2647206"/>
            <a:ext cx="3895725" cy="2013347"/>
          </a:xfrm>
          <a:prstGeom prst="roundRect">
            <a:avLst>
              <a:gd name="adj" fmla="val 1892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5"/>
          <p:cNvSpPr/>
          <p:nvPr>
            <p:custDataLst>
              <p:tags r:id="rId3"/>
            </p:custDataLst>
          </p:nvPr>
        </p:nvSpPr>
        <p:spPr>
          <a:xfrm>
            <a:off x="590550" y="2818656"/>
            <a:ext cx="0" cy="1670447"/>
          </a:xfrm>
          <a:prstGeom prst="line">
            <a:avLst/>
          </a:prstGeom>
          <a:noFill/>
          <a:ln w="38100">
            <a:solidFill>
              <a:srgbClr val="F4B41A"/>
            </a:solidFill>
            <a:prstDash val="solid"/>
          </a:ln>
        </p:spPr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800100" y="2818656"/>
            <a:ext cx="3546158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Variables to change</a:t>
            </a:r>
            <a:endParaRPr lang="en-US" sz="1350" dirty="0"/>
          </a:p>
        </p:txBody>
      </p:sp>
      <p:sp>
        <p:nvSpPr>
          <p:cNvPr id="10" name="Text 7"/>
          <p:cNvSpPr/>
          <p:nvPr>
            <p:custDataLst>
              <p:tags r:id="rId5"/>
            </p:custDataLst>
          </p:nvPr>
        </p:nvSpPr>
        <p:spPr>
          <a:xfrm>
            <a:off x="800100" y="3094881"/>
            <a:ext cx="3476625" cy="6741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ts val="1470"/>
              </a:lnSpc>
              <a:buSzPct val="100000"/>
              <a:buChar char="▶"/>
            </a:pPr>
            <a:r>
              <a:rPr lang="en-US" sz="1050" dirty="0">
                <a:solidFill>
                  <a:srgbClr val="E8F3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materials you use for each layer.</a:t>
            </a:r>
            <a:endParaRPr lang="en-US" sz="1050" dirty="0"/>
          </a:p>
          <a:p>
            <a:pPr marL="228600" indent="-228600" algn="l">
              <a:lnSpc>
                <a:spcPts val="1470"/>
              </a:lnSpc>
              <a:buSzPct val="100000"/>
              <a:buChar char="▶"/>
            </a:pPr>
            <a:r>
              <a:rPr lang="en-US" sz="1050" dirty="0">
                <a:solidFill>
                  <a:srgbClr val="E8F3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order in which the layesadqrs are stacked.</a:t>
            </a:r>
            <a:endParaRPr lang="en-US" sz="1050" dirty="0"/>
          </a:p>
          <a:p>
            <a:pPr marL="228600" indent="-228600" algn="l">
              <a:lnSpc>
                <a:spcPts val="1470"/>
              </a:lnSpc>
              <a:buSzPct val="100000"/>
              <a:buChar char="▶"/>
            </a:pPr>
            <a:r>
              <a:rPr lang="en-US" sz="1050" dirty="0">
                <a:solidFill>
                  <a:srgbClr val="E8F3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depth (thickness) of each layer.</a:t>
            </a:r>
            <a:endParaRPr lang="en-US" sz="1050" dirty="0"/>
          </a:p>
        </p:txBody>
      </p:sp>
      <p:sp>
        <p:nvSpPr>
          <p:cNvPr id="11" name="Text 8"/>
          <p:cNvSpPr/>
          <p:nvPr>
            <p:custDataLst>
              <p:tags r:id="rId6"/>
            </p:custDataLst>
          </p:nvPr>
        </p:nvSpPr>
        <p:spPr>
          <a:xfrm>
            <a:off x="800100" y="3845272"/>
            <a:ext cx="3546158" cy="400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E8F3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Run each test for 5dsadq minutes and measure the water collected.</a:t>
            </a:r>
            <a:endParaRPr lang="en-US" sz="1050" dirty="0"/>
          </a:p>
        </p:txBody>
      </p:sp>
      <p:sp>
        <p:nvSpPr>
          <p:cNvPr id="12" name="Text 9"/>
          <p:cNvSpPr/>
          <p:nvPr>
            <p:custDataLst>
              <p:tags r:id="rId7"/>
            </p:custDataLst>
          </p:nvPr>
        </p:nvSpPr>
        <p:spPr>
          <a:xfrm>
            <a:off x="4676775" y="2647206"/>
            <a:ext cx="3895725" cy="2013347"/>
          </a:xfrm>
          <a:prstGeom prst="roundRect">
            <a:avLst>
              <a:gd name="adj" fmla="val 1892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0"/>
          <p:cNvSpPr/>
          <p:nvPr>
            <p:custDataLst>
              <p:tags r:id="rId8"/>
            </p:custDataLst>
          </p:nvPr>
        </p:nvSpPr>
        <p:spPr>
          <a:xfrm>
            <a:off x="4695825" y="2818656"/>
            <a:ext cx="0" cy="1670447"/>
          </a:xfrm>
          <a:prstGeom prst="line">
            <a:avLst/>
          </a:prstGeom>
          <a:noFill/>
          <a:ln w="38100">
            <a:solidFill>
              <a:srgbClr val="F4B41A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9"/>
            </p:custDataLst>
          </p:nvPr>
        </p:nvSpPr>
        <p:spPr>
          <a:xfrm>
            <a:off x="4905375" y="2818656"/>
            <a:ext cx="3546158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Record for easdqch filter</a:t>
            </a:r>
            <a:endParaRPr lang="en-US" sz="1350" dirty="0"/>
          </a:p>
        </p:txBody>
      </p:sp>
      <p:sp>
        <p:nvSpPr>
          <p:cNvPr id="15" name="Text 12"/>
          <p:cNvSpPr/>
          <p:nvPr>
            <p:custDataLst>
              <p:tags r:id="rId10"/>
            </p:custDataLst>
          </p:nvPr>
        </p:nvSpPr>
        <p:spPr>
          <a:xfrm>
            <a:off x="4905375" y="3094881"/>
            <a:ext cx="3476625" cy="9179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ts val="1470"/>
              </a:lnSpc>
              <a:buSzPct val="100000"/>
              <a:buChar char="▶"/>
            </a:pPr>
            <a:r>
              <a:rPr lang="en-US" sz="1050" dirty="0">
                <a:solidFill>
                  <a:srgbClr val="E8F3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Odour of the water before and after.</a:t>
            </a:r>
            <a:endParaRPr lang="en-US" sz="1050" dirty="0"/>
          </a:p>
          <a:p>
            <a:pPr marL="228600" indent="-228600" algn="l">
              <a:lnSpc>
                <a:spcPts val="1470"/>
              </a:lnSpc>
              <a:buSzPct val="100000"/>
              <a:buChar char="▶"/>
            </a:pPr>
            <a:r>
              <a:rPr lang="en-US" sz="1050" dirty="0">
                <a:solidFill>
                  <a:srgbClr val="E8F3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Appearance description before and after.</a:t>
            </a:r>
            <a:endParaRPr lang="en-US" sz="1050" dirty="0"/>
          </a:p>
          <a:p>
            <a:pPr marL="228600" indent="-228600" algn="l">
              <a:lnSpc>
                <a:spcPts val="1470"/>
              </a:lnSpc>
              <a:buSzPct val="100000"/>
              <a:buChar char="▶"/>
            </a:pPr>
            <a:r>
              <a:rPr lang="en-US" sz="1050" dirty="0">
                <a:solidFill>
                  <a:srgbClr val="E8F3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Quality grade (0–sadq4) before and after.</a:t>
            </a:r>
            <a:endParaRPr lang="en-US" sz="1050" dirty="0"/>
          </a:p>
          <a:p>
            <a:pPr marL="228600" indent="-228600" algn="l">
              <a:lnSpc>
                <a:spcPts val="1470"/>
              </a:lnSpc>
              <a:buSzPct val="100000"/>
              <a:buChar char="▶"/>
            </a:pPr>
            <a:r>
              <a:rPr lang="en-US" sz="1050" dirty="0">
                <a:solidFill>
                  <a:srgbClr val="E8F3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Millilitres of water collected in 5 minutes.</a:t>
            </a:r>
            <a:endParaRPr lang="en-US" sz="1050" dirty="0"/>
          </a:p>
        </p:txBody>
      </p:sp>
      <p:sp>
        <p:nvSpPr>
          <p:cNvPr id="16" name="Text 13"/>
          <p:cNvSpPr/>
          <p:nvPr>
            <p:custDataLst>
              <p:tags r:id="rId11"/>
            </p:custDataLst>
          </p:nvPr>
        </p:nvSpPr>
        <p:spPr>
          <a:xfrm>
            <a:off x="4905375" y="4089053"/>
            <a:ext cx="3546158" cy="400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E8F3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Then sketch and sdqwlabel your final design — see slide 9.</a:t>
            </a:r>
            <a:endParaRPr lang="en-US" sz="1050" dirty="0"/>
          </a:p>
        </p:txBody>
      </p:sp>
      <p:pic>
        <p:nvPicPr>
          <p:cNvPr id="17" name="Image 1" descr="/tmp/html2pptx-8Jofqe/html2pptx-bg-1786386059854-22480d3e180b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19750" y="4229100"/>
            <a:ext cx="3238500" cy="2476500"/>
          </a:xfrm>
          <a:prstGeom prst="rect">
            <a:avLst/>
          </a:prstGeom>
        </p:spPr>
      </p:pic>
      <p:sp>
        <p:nvSpPr>
          <p:cNvPr id="18" name="Shape 14"/>
          <p:cNvSpPr/>
          <p:nvPr>
            <p:custDataLst>
              <p:tags r:id="rId13"/>
            </p:custDataLst>
          </p:nvPr>
        </p:nvSpPr>
        <p:spPr>
          <a:xfrm>
            <a:off x="5905500" y="4405313"/>
            <a:ext cx="2667000" cy="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548688" y="4381500"/>
            <a:ext cx="0" cy="190500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905500" y="6262688"/>
            <a:ext cx="2667000" cy="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929313" y="4381500"/>
            <a:ext cx="0" cy="190500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71500" y="6581775"/>
            <a:ext cx="4890540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5" i="1" dirty="0">
                <a:solidFill>
                  <a:srgbClr val="B9D8E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Image: layered filtration system. Activity from Practical Action's Ditch the Dirt pupil sheets.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885825"/>
            <a:ext cx="8001000" cy="0"/>
          </a:xfrm>
          <a:prstGeom prst="line">
            <a:avLst/>
          </a:prstGeom>
          <a:noFill/>
          <a:ln w="38100">
            <a:solidFill>
              <a:srgbClr val="0A6C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1500" y="381000"/>
            <a:ext cx="4817674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Costing Our Water Filter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75809" y="581025"/>
            <a:ext cx="213862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SLIDE 09 · AFFORDABILITY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71500" y="1019175"/>
            <a:ext cx="796671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5"/>
              </a:lnSpc>
              <a:spcBef>
                <a:spcPts val="900"/>
              </a:spcBef>
              <a:buNone/>
            </a:pPr>
            <a:r>
              <a:rPr lang="en-US" sz="1090" dirty="0">
                <a:solidFill>
                  <a:srgbClr val="3A4A5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Goal 6 calls for water to be </a:t>
            </a:r>
            <a:r>
              <a:rPr lang="en-US" sz="1090" b="1" dirty="0">
                <a:solidFill>
                  <a:srgbClr val="3A4A5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safe and affordable</a:t>
            </a:r>
            <a:r>
              <a:rPr lang="en-US" sz="1090" dirty="0">
                <a:solidFill>
                  <a:srgbClr val="3A4A5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. In Turkana, an expensiwqdve filter is useless — it must be cheap enough for families to build dadqwand replace. Use these local prices to cost your design.</a:t>
            </a:r>
            <a:endParaRPr lang="en-US" sz="1090" dirty="0"/>
          </a:p>
        </p:txBody>
      </p:sp>
      <p:sp>
        <p:nvSpPr>
          <p:cNvPr id="6" name="Text 4"/>
          <p:cNvSpPr/>
          <p:nvPr/>
        </p:nvSpPr>
        <p:spPr>
          <a:xfrm>
            <a:off x="571500" y="1539180"/>
            <a:ext cx="4567238" cy="3838575"/>
          </a:xfrm>
          <a:prstGeom prst="roundRect">
            <a:avLst>
              <a:gd name="adj" fmla="val 1489"/>
            </a:avLst>
          </a:prstGeom>
          <a:solidFill>
            <a:srgbClr val="F5F7F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23900" y="1558230"/>
            <a:ext cx="4262438" cy="0"/>
          </a:xfrm>
          <a:prstGeom prst="line">
            <a:avLst/>
          </a:prstGeom>
          <a:noFill/>
          <a:ln w="38100">
            <a:solidFill>
              <a:srgbClr val="F4B4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3900" y="1710630"/>
            <a:ext cx="4347686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Materials &amp; prices (Kenyan shillings)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3900" y="1929705"/>
            <a:ext cx="4347686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940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Currency: £1.00 ≈ 140 Kenyansda shillings (KSh).</a:t>
            </a:r>
            <a:endParaRPr lang="en-US" sz="94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723900" y="2148780"/>
          <a:ext cx="6858000" cy="3095626"/>
        </p:xfrm>
        <a:graphic>
          <a:graphicData uri="http://schemas.openxmlformats.org/drawingml/2006/table">
            <a:tbl>
              <a:tblPr/>
              <a:tblGrid>
                <a:gridCol w="1397503"/>
                <a:gridCol w="1177097"/>
                <a:gridCol w="961789"/>
                <a:gridCol w="726049"/>
              </a:tblGrid>
              <a:tr h="2293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Material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C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Cost per unit (KSh)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C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Qty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C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Total (KSh)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C8A"/>
                    </a:solidFill>
                  </a:tcPr>
                </a:tc>
              </a:tr>
              <a:tr h="2388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b="1" dirty="0">
                          <a:solidFill>
                            <a:srgbClr val="0A3D5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 L plastic bottle / tub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65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20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388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b="1" dirty="0">
                          <a:solidFill>
                            <a:srgbClr val="0A3D5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Gravel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65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100 / cup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388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b="1" dirty="0">
                          <a:solidFill>
                            <a:srgbClr val="0A3D5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Coarse sand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65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100 / cup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388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b="1" dirty="0">
                          <a:solidFill>
                            <a:srgbClr val="0A3D5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Fine sand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65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120 / cup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388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b="1" dirty="0">
                          <a:solidFill>
                            <a:srgbClr val="0A3D5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Marbles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65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200 / cup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388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b="1" dirty="0">
                          <a:solidFill>
                            <a:srgbClr val="0A3D5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Cotton wool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65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5 / ball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388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b="1" dirty="0">
                          <a:solidFill>
                            <a:srgbClr val="0A3D5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Paper towel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65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5 / towel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388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b="1" dirty="0">
                          <a:solidFill>
                            <a:srgbClr val="0A3D5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Cloth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65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20 / 10 cm²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388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b="1" dirty="0">
                          <a:solidFill>
                            <a:srgbClr val="0A3D5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Elastic band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65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5 / band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388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b="1" dirty="0">
                          <a:solidFill>
                            <a:srgbClr val="0A3D5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Card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65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10 / sheet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388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b="1" dirty="0">
                          <a:solidFill>
                            <a:srgbClr val="0A3D5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Junk modelling item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65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5 / item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dirty="0">
                          <a:solidFill>
                            <a:srgbClr val="1A27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38860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b="1" dirty="0">
                          <a:solidFill>
                            <a:srgbClr val="0A3D5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Total filter cost (KSh)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5" b="1" dirty="0">
                          <a:solidFill>
                            <a:srgbClr val="0A3D5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86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310188" y="1653480"/>
            <a:ext cx="3262313" cy="1137047"/>
          </a:xfrm>
          <a:prstGeom prst="roundRect">
            <a:avLst>
              <a:gd name="adj" fmla="val 3351"/>
            </a:avLst>
          </a:prstGeom>
          <a:solidFill>
            <a:srgbClr val="FFF7E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5334000" y="1767780"/>
            <a:ext cx="0" cy="908447"/>
          </a:xfrm>
          <a:prstGeom prst="line">
            <a:avLst/>
          </a:prstGeom>
          <a:noFill/>
          <a:ln w="47625">
            <a:solidFill>
              <a:srgbClr val="F4B4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91163" y="1767780"/>
            <a:ext cx="3006947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WHY DOES COsdaST MATTER?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91163" y="1958280"/>
            <a:ext cx="3006947" cy="7179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Many families in Turkana live on very low incomes. A filter that costs too much — or needs parts dwqdthey cannot find locally — will not be used. Affordable designs save lives.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5310188" y="2904827"/>
            <a:ext cx="3262313" cy="809625"/>
          </a:xfrm>
          <a:prstGeom prst="roundRect">
            <a:avLst>
              <a:gd name="adj" fmla="val 7059"/>
            </a:avLst>
          </a:prstGeom>
          <a:solidFill>
            <a:srgbClr val="0A3D5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462588" y="3038177"/>
            <a:ext cx="3016663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£1 ≈ 140 sdaKSh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5462588" y="3314402"/>
            <a:ext cx="3016663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D8EE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Use this to convert qwdyour filter's total cost into pounds and compare with classmates.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310188" y="3828752"/>
            <a:ext cx="3262313" cy="957560"/>
          </a:xfrm>
          <a:prstGeom prst="roundRect">
            <a:avLst>
              <a:gd name="adj" fmla="val 3979"/>
            </a:avLst>
          </a:prstGeom>
          <a:solidFill>
            <a:srgbClr val="EEF3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5334000" y="3943052"/>
            <a:ext cx="0" cy="728960"/>
          </a:xfrm>
          <a:prstGeom prst="line">
            <a:avLst/>
          </a:prstGeom>
          <a:noFill/>
          <a:ln w="47625">
            <a:solidFill>
              <a:srgbClr val="0A6C8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91163" y="3943052"/>
            <a:ext cx="3006947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A6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sDESIGN RULE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491163" y="4133552"/>
            <a:ext cx="3006947" cy="5384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Aim for the lowest-cost filter that still achieves a clear improvement in water grade. Cheaper and effective beats expensive and perfect.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571500" y="6600825"/>
            <a:ext cx="2774838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5" i="1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Source: Ditch the Dirt pupil sheets, Practical Action.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6574929" y="6600825"/>
            <a:ext cx="2037523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5" i="1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Costing activity — student worksheet.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838200"/>
            <a:ext cx="8001000" cy="0"/>
          </a:xfrm>
          <a:prstGeom prst="line">
            <a:avLst/>
          </a:prstGeom>
          <a:noFill/>
          <a:ln w="38100">
            <a:solidFill>
              <a:srgbClr val="0A6C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1500" y="342900"/>
            <a:ext cx="5465121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What's Really sin Dirty Water?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466731" y="533400"/>
            <a:ext cx="214788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SLIDE 10 · CONTAMINANTS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71500" y="952500"/>
            <a:ext cx="796671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5"/>
              </a:lnSpc>
              <a:spcBef>
                <a:spcPts val="750"/>
              </a:spcBef>
              <a:buNone/>
            </a:pPr>
            <a:r>
              <a:rPr lang="en-US" sz="1090" dirty="0">
                <a:solidFill>
                  <a:srgbClr val="3A4A5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Filtering removddasdes visible "dirt", but dirty water adasdlso carries things you cannot see. Tick the contaminants your filter is likely to remove — andsaddd notice which ones it probably will not.</a:t>
            </a:r>
            <a:endParaRPr lang="en-US" sz="1090" dirty="0"/>
          </a:p>
        </p:txBody>
      </p:sp>
      <p:sp>
        <p:nvSpPr>
          <p:cNvPr id="6" name="Text 4"/>
          <p:cNvSpPr/>
          <p:nvPr/>
        </p:nvSpPr>
        <p:spPr>
          <a:xfrm>
            <a:off x="571500" y="1472505"/>
            <a:ext cx="1928813" cy="1250454"/>
          </a:xfrm>
          <a:prstGeom prst="roundRect">
            <a:avLst>
              <a:gd name="adj" fmla="val 4570"/>
            </a:avLst>
          </a:prstGeom>
          <a:solidFill>
            <a:srgbClr val="FFFFFF"/>
          </a:solidFill>
          <a:effectLst>
            <a:outerShdw blurRad="95250" dist="38100" dir="5400000" algn="bl" rotWithShape="0">
              <a:srgbClr val="0A3D52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85800" y="1486793"/>
            <a:ext cx="1700213" cy="0"/>
          </a:xfrm>
          <a:prstGeom prst="line">
            <a:avLst/>
          </a:prstGeom>
          <a:noFill/>
          <a:ln w="28575">
            <a:solidFill>
              <a:srgbClr val="E07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96330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FDE8C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92807" y="1667768"/>
            <a:ext cx="11203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977330"/>
            <a:ext cx="173421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97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Sandsad &amp; mdasud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85800" y="2148780"/>
            <a:ext cx="1734217" cy="2598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5"/>
              </a:lnSpc>
              <a:spcBef>
                <a:spcPts val="225"/>
              </a:spcBef>
              <a:buNone/>
            </a:pPr>
            <a:r>
              <a:rPr lang="en-US" sz="790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Suspended soil particles that make water cloudy.dsa</a:t>
            </a:r>
            <a:endParaRPr lang="en-US" sz="790" dirty="0"/>
          </a:p>
        </p:txBody>
      </p:sp>
      <p:sp>
        <p:nvSpPr>
          <p:cNvPr id="12" name="Text 10"/>
          <p:cNvSpPr/>
          <p:nvPr/>
        </p:nvSpPr>
        <p:spPr>
          <a:xfrm>
            <a:off x="685800" y="2465784"/>
            <a:ext cx="810964" cy="161925"/>
          </a:xfrm>
          <a:prstGeom prst="roundRect">
            <a:avLst>
              <a:gd name="adj" fmla="val 58824"/>
            </a:avLst>
          </a:prstGeom>
          <a:solidFill>
            <a:srgbClr val="E3F3E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52475" y="2494359"/>
            <a:ext cx="691167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1E7A3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Filter removes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595563" y="1472505"/>
            <a:ext cx="1928813" cy="1250454"/>
          </a:xfrm>
          <a:prstGeom prst="roundRect">
            <a:avLst>
              <a:gd name="adj" fmla="val 4570"/>
            </a:avLst>
          </a:prstGeom>
          <a:solidFill>
            <a:srgbClr val="FFFFFF"/>
          </a:solidFill>
          <a:effectLst>
            <a:outerShdw blurRad="95250" dist="38100" dir="5400000" algn="bl" rotWithShape="0">
              <a:srgbClr val="0A3D52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709863" y="1486793"/>
            <a:ext cx="1700213" cy="0"/>
          </a:xfrm>
          <a:prstGeom prst="line">
            <a:avLst/>
          </a:prstGeom>
          <a:noFill/>
          <a:ln w="28575">
            <a:solidFill>
              <a:srgbClr val="E07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09863" y="1596330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FDE8C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823121" y="1667768"/>
            <a:ext cx="9912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09863" y="1977330"/>
            <a:ext cx="173421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97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Leavdsaes &amp; dedasbris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2709863" y="2148780"/>
            <a:ext cx="1734217" cy="2598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5"/>
              </a:lnSpc>
              <a:spcBef>
                <a:spcPts val="225"/>
              </a:spcBef>
              <a:buNone/>
            </a:pPr>
            <a:r>
              <a:rPr lang="en-US" sz="790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Plant dsamatter, twigs and insects scooped up with the water.</a:t>
            </a:r>
            <a:endParaRPr lang="en-US" sz="790" dirty="0"/>
          </a:p>
        </p:txBody>
      </p:sp>
      <p:sp>
        <p:nvSpPr>
          <p:cNvPr id="20" name="Text 18"/>
          <p:cNvSpPr/>
          <p:nvPr/>
        </p:nvSpPr>
        <p:spPr>
          <a:xfrm>
            <a:off x="2709863" y="2465784"/>
            <a:ext cx="810964" cy="161925"/>
          </a:xfrm>
          <a:prstGeom prst="roundRect">
            <a:avLst>
              <a:gd name="adj" fmla="val 58824"/>
            </a:avLst>
          </a:prstGeom>
          <a:solidFill>
            <a:srgbClr val="E3F3E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776538" y="2494359"/>
            <a:ext cx="691167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1E7A3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Filter removes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619625" y="1472505"/>
            <a:ext cx="1928813" cy="1250454"/>
          </a:xfrm>
          <a:prstGeom prst="roundRect">
            <a:avLst>
              <a:gd name="adj" fmla="val 4570"/>
            </a:avLst>
          </a:prstGeom>
          <a:solidFill>
            <a:srgbClr val="FFFFFF"/>
          </a:solidFill>
          <a:effectLst>
            <a:outerShdw blurRad="95250" dist="38100" dir="5400000" algn="bl" rotWithShape="0">
              <a:srgbClr val="0A3D52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733925" y="1486793"/>
            <a:ext cx="1700213" cy="0"/>
          </a:xfrm>
          <a:prstGeom prst="line">
            <a:avLst/>
          </a:prstGeom>
          <a:noFill/>
          <a:ln w="28575">
            <a:solidFill>
              <a:srgbClr val="E07B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3925" y="1596330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FDE8C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39891" y="1667768"/>
            <a:ext cx="114005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33925" y="1977330"/>
            <a:ext cx="173421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97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Tiny daparticles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733925" y="2148780"/>
            <a:ext cx="1734217" cy="2598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5"/>
              </a:lnSpc>
              <a:spcBef>
                <a:spcPts val="225"/>
              </a:spcBef>
              <a:buNone/>
            </a:pPr>
            <a:r>
              <a:rPr lang="en-US" sz="790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Fine silt and organic matter too small for adsa coarse sieve.</a:t>
            </a:r>
            <a:endParaRPr lang="en-US" sz="790" dirty="0"/>
          </a:p>
        </p:txBody>
      </p:sp>
      <p:sp>
        <p:nvSpPr>
          <p:cNvPr id="28" name="Text 26"/>
          <p:cNvSpPr/>
          <p:nvPr/>
        </p:nvSpPr>
        <p:spPr>
          <a:xfrm>
            <a:off x="4733925" y="2465784"/>
            <a:ext cx="1022598" cy="161925"/>
          </a:xfrm>
          <a:prstGeom prst="roundRect">
            <a:avLst>
              <a:gd name="adj" fmla="val 58824"/>
            </a:avLst>
          </a:prstGeom>
          <a:solidFill>
            <a:srgbClr val="FFF3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00600" y="2494359"/>
            <a:ext cx="907033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8A5A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Depends on layers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643688" y="1472505"/>
            <a:ext cx="1928813" cy="1250454"/>
          </a:xfrm>
          <a:prstGeom prst="roundRect">
            <a:avLst>
              <a:gd name="adj" fmla="val 4570"/>
            </a:avLst>
          </a:prstGeom>
          <a:solidFill>
            <a:srgbClr val="FFFFFF"/>
          </a:solidFill>
          <a:effectLst>
            <a:outerShdw blurRad="95250" dist="38100" dir="5400000" algn="bl" rotWithShape="0">
              <a:srgbClr val="0A3D52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757988" y="1486793"/>
            <a:ext cx="1700213" cy="0"/>
          </a:xfrm>
          <a:prstGeom prst="line">
            <a:avLst/>
          </a:prstGeom>
          <a:noFill/>
          <a:ln w="28575">
            <a:solidFill>
              <a:srgbClr val="E07B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57988" y="1596330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FDE8C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861721" y="1667768"/>
            <a:ext cx="118559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57988" y="1977330"/>
            <a:ext cx="173421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97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Bacteria sad&amp; viruses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6757988" y="2148780"/>
            <a:ext cx="1734217" cy="2598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5"/>
              </a:lnSpc>
              <a:spcBef>
                <a:spcPts val="225"/>
              </a:spcBef>
              <a:buNone/>
            </a:pPr>
            <a:r>
              <a:rPr lang="en-US" sz="790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Microbes that cause diarrhoea, cholera and typhdasoid.</a:t>
            </a:r>
            <a:endParaRPr lang="en-US" sz="790" dirty="0"/>
          </a:p>
        </p:txBody>
      </p:sp>
      <p:sp>
        <p:nvSpPr>
          <p:cNvPr id="36" name="Text 34"/>
          <p:cNvSpPr/>
          <p:nvPr/>
        </p:nvSpPr>
        <p:spPr>
          <a:xfrm>
            <a:off x="6757988" y="2465784"/>
            <a:ext cx="1253282" cy="161925"/>
          </a:xfrm>
          <a:prstGeom prst="roundRect">
            <a:avLst>
              <a:gd name="adj" fmla="val 58824"/>
            </a:avLst>
          </a:prstGeom>
          <a:solidFill>
            <a:srgbClr val="FBE4E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824663" y="2494359"/>
            <a:ext cx="1142330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B3261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Filter does NOT remove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71500" y="2818209"/>
            <a:ext cx="1928813" cy="1250454"/>
          </a:xfrm>
          <a:prstGeom prst="roundRect">
            <a:avLst>
              <a:gd name="adj" fmla="val 4570"/>
            </a:avLst>
          </a:prstGeom>
          <a:solidFill>
            <a:srgbClr val="FFFFFF"/>
          </a:solidFill>
          <a:effectLst>
            <a:outerShdw blurRad="95250" dist="38100" dir="5400000" algn="bl" rotWithShape="0">
              <a:srgbClr val="0A3D52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685800" y="2832497"/>
            <a:ext cx="1700213" cy="0"/>
          </a:xfrm>
          <a:prstGeom prst="line">
            <a:avLst/>
          </a:prstGeom>
          <a:noFill/>
          <a:ln w="28575">
            <a:solidFill>
              <a:srgbClr val="E07B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2942034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FDE8C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91766" y="3013472"/>
            <a:ext cx="114157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5800" y="3323034"/>
            <a:ext cx="173421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97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Cheqwdmicals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685800" y="3494484"/>
            <a:ext cx="1734217" cy="2598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5"/>
              </a:lnSpc>
              <a:spcBef>
                <a:spcPts val="225"/>
              </a:spcBef>
              <a:buNone/>
            </a:pPr>
            <a:r>
              <a:rPr lang="en-US" sz="790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Dissolved salts, pesticidqwdes or pollutants in the water.</a:t>
            </a:r>
            <a:endParaRPr lang="en-US" sz="790" dirty="0"/>
          </a:p>
        </p:txBody>
      </p:sp>
      <p:sp>
        <p:nvSpPr>
          <p:cNvPr id="44" name="Text 42"/>
          <p:cNvSpPr/>
          <p:nvPr/>
        </p:nvSpPr>
        <p:spPr>
          <a:xfrm>
            <a:off x="685800" y="3811488"/>
            <a:ext cx="1253282" cy="161925"/>
          </a:xfrm>
          <a:prstGeom prst="roundRect">
            <a:avLst>
              <a:gd name="adj" fmla="val 58824"/>
            </a:avLst>
          </a:prstGeom>
          <a:solidFill>
            <a:srgbClr val="FBE4E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52475" y="3840063"/>
            <a:ext cx="1142330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B3261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Filter does NOT remove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595563" y="2818209"/>
            <a:ext cx="1928813" cy="1250454"/>
          </a:xfrm>
          <a:prstGeom prst="roundRect">
            <a:avLst>
              <a:gd name="adj" fmla="val 4570"/>
            </a:avLst>
          </a:prstGeom>
          <a:solidFill>
            <a:srgbClr val="FFFFFF"/>
          </a:solidFill>
          <a:effectLst>
            <a:outerShdw blurRad="95250" dist="38100" dir="5400000" algn="bl" rotWithShape="0">
              <a:srgbClr val="0A3D52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2709863" y="2832497"/>
            <a:ext cx="1700213" cy="0"/>
          </a:xfrm>
          <a:prstGeom prst="line">
            <a:avLst/>
          </a:prstGeom>
          <a:noFill/>
          <a:ln w="28575">
            <a:solidFill>
              <a:srgbClr val="E07B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09863" y="2942034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FDE8C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2806898" y="3013472"/>
            <a:ext cx="13222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709863" y="3323034"/>
            <a:ext cx="173421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97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Bad odqwdours</a:t>
            </a:r>
            <a:endParaRPr lang="en-US" sz="975" dirty="0"/>
          </a:p>
        </p:txBody>
      </p:sp>
      <p:sp>
        <p:nvSpPr>
          <p:cNvPr id="51" name="Text 49"/>
          <p:cNvSpPr/>
          <p:nvPr/>
        </p:nvSpPr>
        <p:spPr>
          <a:xfrm>
            <a:off x="2709863" y="3494484"/>
            <a:ext cx="1734217" cy="2598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5"/>
              </a:lnSpc>
              <a:spcBef>
                <a:spcPts val="225"/>
              </a:spcBef>
              <a:buNone/>
            </a:pPr>
            <a:r>
              <a:rPr lang="en-US" sz="790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Smells from rotting organic matter or susdqlphur compounds.</a:t>
            </a:r>
            <a:endParaRPr lang="en-US" sz="790" dirty="0"/>
          </a:p>
        </p:txBody>
      </p:sp>
      <p:sp>
        <p:nvSpPr>
          <p:cNvPr id="52" name="Text 50"/>
          <p:cNvSpPr/>
          <p:nvPr/>
        </p:nvSpPr>
        <p:spPr>
          <a:xfrm>
            <a:off x="2709863" y="3811488"/>
            <a:ext cx="856655" cy="161925"/>
          </a:xfrm>
          <a:prstGeom prst="roundRect">
            <a:avLst>
              <a:gd name="adj" fmla="val 58824"/>
            </a:avLst>
          </a:prstGeom>
          <a:solidFill>
            <a:srgbClr val="FFF3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2776538" y="3840063"/>
            <a:ext cx="737771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8A5A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Partly removed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619625" y="2818209"/>
            <a:ext cx="1928813" cy="1250454"/>
          </a:xfrm>
          <a:prstGeom prst="roundRect">
            <a:avLst>
              <a:gd name="adj" fmla="val 4570"/>
            </a:avLst>
          </a:prstGeom>
          <a:solidFill>
            <a:srgbClr val="FFFFFF"/>
          </a:solidFill>
          <a:effectLst>
            <a:outerShdw blurRad="95250" dist="38100" dir="5400000" algn="bl" rotWithShape="0">
              <a:srgbClr val="0A3D52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4733925" y="2832497"/>
            <a:ext cx="1700213" cy="0"/>
          </a:xfrm>
          <a:prstGeom prst="line">
            <a:avLst/>
          </a:prstGeom>
          <a:noFill/>
          <a:ln w="28575">
            <a:solidFill>
              <a:srgbClr val="E07B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33925" y="2942034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FDE8C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4787503" y="3013472"/>
            <a:ext cx="220876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733925" y="3323034"/>
            <a:ext cx="173421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97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Colour</a:t>
            </a:r>
            <a:endParaRPr lang="en-US" sz="975" dirty="0"/>
          </a:p>
        </p:txBody>
      </p:sp>
      <p:sp>
        <p:nvSpPr>
          <p:cNvPr id="59" name="Text 57"/>
          <p:cNvSpPr/>
          <p:nvPr/>
        </p:nvSpPr>
        <p:spPr>
          <a:xfrm>
            <a:off x="4733925" y="3494484"/>
            <a:ext cx="1734217" cy="2598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5"/>
              </a:lnSpc>
              <a:spcBef>
                <a:spcPts val="225"/>
              </a:spcBef>
              <a:buNone/>
            </a:pPr>
            <a:r>
              <a:rPr lang="en-US" sz="790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Dissolved tanninwqds and humic substances stain the water.</a:t>
            </a:r>
            <a:endParaRPr lang="en-US" sz="790" dirty="0"/>
          </a:p>
        </p:txBody>
      </p:sp>
      <p:sp>
        <p:nvSpPr>
          <p:cNvPr id="60" name="Text 58"/>
          <p:cNvSpPr/>
          <p:nvPr/>
        </p:nvSpPr>
        <p:spPr>
          <a:xfrm>
            <a:off x="4733925" y="3811488"/>
            <a:ext cx="1253282" cy="161925"/>
          </a:xfrm>
          <a:prstGeom prst="roundRect">
            <a:avLst>
              <a:gd name="adj" fmla="val 58824"/>
            </a:avLst>
          </a:prstGeom>
          <a:solidFill>
            <a:srgbClr val="FBE4E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4800600" y="3840063"/>
            <a:ext cx="1142330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B3261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Filter does NOT remove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643688" y="2818209"/>
            <a:ext cx="1928813" cy="1250454"/>
          </a:xfrm>
          <a:prstGeom prst="roundRect">
            <a:avLst>
              <a:gd name="adj" fmla="val 4570"/>
            </a:avLst>
          </a:prstGeom>
          <a:solidFill>
            <a:srgbClr val="FFFFFF"/>
          </a:solidFill>
          <a:effectLst>
            <a:outerShdw blurRad="95250" dist="38100" dir="5400000" algn="bl" rotWithShape="0">
              <a:srgbClr val="0A3D52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Shape 61"/>
          <p:cNvSpPr/>
          <p:nvPr/>
        </p:nvSpPr>
        <p:spPr>
          <a:xfrm>
            <a:off x="6757988" y="2832497"/>
            <a:ext cx="1700213" cy="0"/>
          </a:xfrm>
          <a:prstGeom prst="line">
            <a:avLst/>
          </a:prstGeom>
          <a:noFill/>
          <a:ln w="28575">
            <a:solidFill>
              <a:srgbClr val="E07B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57988" y="2942034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FDE8C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6844010" y="3013472"/>
            <a:ext cx="154689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757988" y="3323034"/>
            <a:ext cx="173421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97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Micdsaroplastics</a:t>
            </a:r>
            <a:endParaRPr lang="en-US" sz="975" dirty="0"/>
          </a:p>
        </p:txBody>
      </p:sp>
      <p:sp>
        <p:nvSpPr>
          <p:cNvPr id="67" name="Text 65"/>
          <p:cNvSpPr/>
          <p:nvPr/>
        </p:nvSpPr>
        <p:spPr>
          <a:xfrm>
            <a:off x="6757988" y="3494484"/>
            <a:ext cx="1734217" cy="2598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5"/>
              </a:lnSpc>
              <a:spcBef>
                <a:spcPts val="225"/>
              </a:spcBef>
              <a:buNone/>
            </a:pPr>
            <a:r>
              <a:rPr lang="en-US" sz="790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Tiny plastic fragments from polluted dsaenvironments.</a:t>
            </a:r>
            <a:endParaRPr lang="en-US" sz="790" dirty="0"/>
          </a:p>
        </p:txBody>
      </p:sp>
      <p:sp>
        <p:nvSpPr>
          <p:cNvPr id="68" name="Text 66"/>
          <p:cNvSpPr/>
          <p:nvPr/>
        </p:nvSpPr>
        <p:spPr>
          <a:xfrm>
            <a:off x="6757988" y="3811488"/>
            <a:ext cx="856655" cy="161925"/>
          </a:xfrm>
          <a:prstGeom prst="roundRect">
            <a:avLst>
              <a:gd name="adj" fmla="val 58824"/>
            </a:avLst>
          </a:prstGeom>
          <a:solidFill>
            <a:srgbClr val="FFF3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6824663" y="3840063"/>
            <a:ext cx="737771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8A5A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Partly removed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571500" y="4202013"/>
            <a:ext cx="8001000" cy="819150"/>
          </a:xfrm>
          <a:prstGeom prst="roundRect">
            <a:avLst>
              <a:gd name="adj" fmla="val 6977"/>
            </a:avLst>
          </a:prstGeom>
          <a:solidFill>
            <a:srgbClr val="0A3D5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742950" y="4335363"/>
            <a:ext cx="3818192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Is your filteredsad water safe to drink?</a:t>
            </a:r>
            <a:endParaRPr lang="en-US" sz="1125" dirty="0"/>
          </a:p>
        </p:txBody>
      </p:sp>
      <p:sp>
        <p:nvSpPr>
          <p:cNvPr id="72" name="Text 70"/>
          <p:cNvSpPr/>
          <p:nvPr/>
        </p:nvSpPr>
        <p:spPr>
          <a:xfrm>
            <a:off x="742950" y="4554438"/>
            <a:ext cx="3818192" cy="333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5"/>
              </a:lnSpc>
              <a:spcBef>
                <a:spcPts val="375"/>
              </a:spcBef>
              <a:buNone/>
            </a:pPr>
            <a:r>
              <a:rPr lang="en-US" sz="940" dirty="0">
                <a:solidFill>
                  <a:srgbClr val="D8EE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Probably NOT. Clear water can still contain harmful microbes and dissolved chemdaicals that a simple filter cannot remove.</a:t>
            </a:r>
            <a:endParaRPr lang="en-US" sz="940" dirty="0"/>
          </a:p>
        </p:txBody>
      </p:sp>
      <p:sp>
        <p:nvSpPr>
          <p:cNvPr id="73" name="Text 71"/>
          <p:cNvSpPr/>
          <p:nvPr/>
        </p:nvSpPr>
        <p:spPr>
          <a:xfrm>
            <a:off x="4657725" y="4335363"/>
            <a:ext cx="3818192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What else is needdasded?</a:t>
            </a:r>
            <a:endParaRPr lang="en-US" sz="1125" dirty="0"/>
          </a:p>
        </p:txBody>
      </p:sp>
      <p:sp>
        <p:nvSpPr>
          <p:cNvPr id="74" name="Text 72"/>
          <p:cNvSpPr/>
          <p:nvPr/>
        </p:nvSpPr>
        <p:spPr>
          <a:xfrm>
            <a:off x="4657725" y="4554438"/>
            <a:ext cx="3818192" cy="333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5"/>
              </a:lnSpc>
              <a:spcBef>
                <a:spcPts val="375"/>
              </a:spcBef>
              <a:buNone/>
            </a:pPr>
            <a:r>
              <a:rPr lang="en-US" sz="940" dirty="0">
                <a:solidFill>
                  <a:srgbClr val="D8EE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Boiling, solar disindsadfection, chlorination or a fine bio-sand filter to make water truly safe — see slide 11.</a:t>
            </a:r>
            <a:endParaRPr lang="en-US" sz="940" dirty="0"/>
          </a:p>
        </p:txBody>
      </p:sp>
      <p:sp>
        <p:nvSpPr>
          <p:cNvPr id="75" name="Text 73"/>
          <p:cNvSpPr/>
          <p:nvPr/>
        </p:nvSpPr>
        <p:spPr>
          <a:xfrm>
            <a:off x="571500" y="6619875"/>
            <a:ext cx="8161020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5" i="1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Source: Ditch the Dirt pupil sheets, Practical Action — contaminants checklist.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1333500"/>
            <a:ext cx="8001000" cy="0"/>
          </a:xfrm>
          <a:prstGeom prst="line">
            <a:avLst/>
          </a:prstGeom>
          <a:noFill/>
          <a:ln w="38100">
            <a:solidFill>
              <a:srgbClr val="0A6C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1500" y="419100"/>
            <a:ext cx="6602289" cy="781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Research: Masdking Water Safe to Drink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044333" y="619125"/>
            <a:ext cx="1558731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SLIDE 11 · ACTIVITY 4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71500" y="1466850"/>
            <a:ext cx="7966710" cy="621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0"/>
              </a:lnSpc>
              <a:spcBef>
                <a:spcPts val="900"/>
              </a:spcBef>
              <a:buNone/>
            </a:pPr>
            <a:r>
              <a:rPr lang="en-US" sz="1125" dirty="0">
                <a:solidFill>
                  <a:srgbClr val="3A4A5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 filterdwq that removes dirt is not enough.qwd To make water truly safe, yqwdou mqdwust also kill or remove the microscopic contaminants.sdaq Research the methwdqwdods and record your findings — picturedwqs and notes both welcome.dwq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571500" y="2259806"/>
            <a:ext cx="3541514" cy="4025652"/>
          </a:xfrm>
          <a:prstGeom prst="roundRect">
            <a:avLst>
              <a:gd name="adj" fmla="val 1076"/>
            </a:avLst>
          </a:prstGeom>
          <a:solidFill>
            <a:srgbClr val="F5F7F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95313" y="2412206"/>
            <a:ext cx="0" cy="3720852"/>
          </a:xfrm>
          <a:prstGeom prst="line">
            <a:avLst/>
          </a:prstGeom>
          <a:noFill/>
          <a:ln w="47625">
            <a:solidFill>
              <a:srgbClr val="F4B4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0575" y="2412206"/>
            <a:ext cx="3214009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Your researcdsah stask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790575" y="2678906"/>
            <a:ext cx="3150989" cy="14119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0"/>
              </a:lnSpc>
              <a:buSzPct val="100000"/>
              <a:buNone/>
            </a:pPr>
            <a:r>
              <a:rPr lang="en-US" sz="1200" b="1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Find out</a:t>
            </a:r>
            <a:r>
              <a:rPr lang="en-US" sz="1015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the different types of contaminants that can be found idwqn "dirty" water.</a:t>
            </a:r>
            <a:endParaRPr lang="en-US" sz="1015" dirty="0"/>
          </a:p>
          <a:p>
            <a:pPr marL="0" indent="0" algn="l">
              <a:lnSpc>
                <a:spcPts val="1420"/>
              </a:lnSpc>
              <a:buSzPct val="100000"/>
              <a:buNone/>
            </a:pPr>
            <a:r>
              <a:rPr lang="en-US" sz="1200" b="1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Research</a:t>
            </a:r>
            <a:r>
              <a:rPr lang="en-US" sz="1015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the ddsaifferent ways those contaminants can be treated to make the water safe to drink.dsa</a:t>
            </a:r>
            <a:endParaRPr lang="en-US" sz="1015" dirty="0"/>
          </a:p>
          <a:p>
            <a:pPr marL="0" indent="0" algn="l">
              <a:lnSpc>
                <a:spcPts val="1420"/>
              </a:lnSpc>
              <a:buSzPct val="100000"/>
              <a:buNone/>
            </a:pPr>
            <a:r>
              <a:rPr lang="en-US" sz="1200" b="1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Record</a:t>
            </a:r>
            <a:r>
              <a:rPr lang="en-US" sz="1015" dirty="0">
                <a:solidFill>
                  <a:srgbClr val="1A27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your finddsaings — notes, diagrams and pictures.</a:t>
            </a:r>
            <a:endParaRPr lang="en-US" sz="1015" dirty="0"/>
          </a:p>
        </p:txBody>
      </p:sp>
      <p:sp>
        <p:nvSpPr>
          <p:cNvPr id="10" name="Text 8"/>
          <p:cNvSpPr/>
          <p:nvPr/>
        </p:nvSpPr>
        <p:spPr>
          <a:xfrm>
            <a:off x="790575" y="4224189"/>
            <a:ext cx="3150989" cy="938808"/>
          </a:xfrm>
          <a:prstGeom prst="roundRect">
            <a:avLst>
              <a:gd name="adj" fmla="val 4058"/>
            </a:avLst>
          </a:prstGeom>
          <a:solidFill>
            <a:srgbClr val="0A3D5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23925" y="4338489"/>
            <a:ext cx="294197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YOUR ROLE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923925" y="4528989"/>
            <a:ext cx="2941975" cy="519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75"/>
              </a:spcBef>
              <a:buNone/>
            </a:pPr>
            <a:r>
              <a:rPr lang="en-US" sz="975" dirty="0">
                <a:solidFill>
                  <a:srgbClr val="D8EE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You are a water scientidsast working for a company that wants tdsao invest in ideas helping people in Turkana access clean water.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322564" y="2259806"/>
            <a:ext cx="433493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Commsaon tdsareatment methods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4322564" y="2545556"/>
            <a:ext cx="2077343" cy="1233934"/>
          </a:xfrm>
          <a:prstGeom prst="roundRect">
            <a:avLst>
              <a:gd name="adj" fmla="val 3860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436864" y="2564606"/>
            <a:ext cx="1848743" cy="0"/>
          </a:xfrm>
          <a:prstGeom prst="line">
            <a:avLst/>
          </a:prstGeom>
          <a:noFill/>
          <a:ln w="38100">
            <a:solidFill>
              <a:srgbClr val="0A6C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94252" y="2659856"/>
            <a:ext cx="0" cy="1005334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6864" y="3779044"/>
            <a:ext cx="1848743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27327" y="2659856"/>
            <a:ext cx="0" cy="1005334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46389" y="2697956"/>
            <a:ext cx="1866287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Boiling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46389" y="2897981"/>
            <a:ext cx="1866287" cy="2955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5"/>
              </a:lnSpc>
              <a:spcBef>
                <a:spcPts val="375"/>
              </a:spcBef>
              <a:buNone/>
            </a:pPr>
            <a:r>
              <a:rPr lang="en-US" sz="865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Bring water to a rolling boil for 1–3 minutedsas to kill microbes.</a:t>
            </a:r>
            <a:endParaRPr lang="en-US" sz="865" dirty="0"/>
          </a:p>
        </p:txBody>
      </p:sp>
      <p:sp>
        <p:nvSpPr>
          <p:cNvPr id="21" name="Text 19"/>
          <p:cNvSpPr/>
          <p:nvPr/>
        </p:nvSpPr>
        <p:spPr>
          <a:xfrm>
            <a:off x="4446389" y="3250704"/>
            <a:ext cx="1866287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75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KILLS MICROdsaBdsaES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495157" y="2545556"/>
            <a:ext cx="2077343" cy="1233934"/>
          </a:xfrm>
          <a:prstGeom prst="roundRect">
            <a:avLst>
              <a:gd name="adj" fmla="val 3860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609457" y="2564606"/>
            <a:ext cx="1848743" cy="0"/>
          </a:xfrm>
          <a:prstGeom prst="line">
            <a:avLst/>
          </a:prstGeom>
          <a:noFill/>
          <a:ln w="38100">
            <a:solidFill>
              <a:srgbClr val="0A6C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66845" y="2659856"/>
            <a:ext cx="0" cy="1005334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09457" y="3779044"/>
            <a:ext cx="1848743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9920" y="2659856"/>
            <a:ext cx="0" cy="1005334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18982" y="2697956"/>
            <a:ext cx="1866287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Solar disinfection (SODIS)dsadsa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18982" y="3050381"/>
            <a:ext cx="1866287" cy="4433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5"/>
              </a:lnSpc>
              <a:spcBef>
                <a:spcPts val="375"/>
              </a:spcBef>
              <a:buNone/>
            </a:pPr>
            <a:r>
              <a:rPr lang="en-US" sz="865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Fill clear PET bottles, lay in full sun for 6dsa+ hours; UV kills pathogens.</a:t>
            </a:r>
            <a:endParaRPr lang="en-US" sz="865" dirty="0"/>
          </a:p>
        </p:txBody>
      </p:sp>
      <p:sp>
        <p:nvSpPr>
          <p:cNvPr id="29" name="Text 27"/>
          <p:cNvSpPr/>
          <p:nvPr/>
        </p:nvSpPr>
        <p:spPr>
          <a:xfrm>
            <a:off x="6618982" y="3550890"/>
            <a:ext cx="1866287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75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LOW-CdsaOST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322564" y="3874740"/>
            <a:ext cx="2077343" cy="1081534"/>
          </a:xfrm>
          <a:prstGeom prst="roundRect">
            <a:avLst>
              <a:gd name="adj" fmla="val 4403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436864" y="3893790"/>
            <a:ext cx="1848743" cy="0"/>
          </a:xfrm>
          <a:prstGeom prst="line">
            <a:avLst/>
          </a:prstGeom>
          <a:noFill/>
          <a:ln w="38100">
            <a:solidFill>
              <a:srgbClr val="0A6C8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94252" y="3989040"/>
            <a:ext cx="0" cy="852934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36864" y="4955828"/>
            <a:ext cx="1848743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27327" y="3989040"/>
            <a:ext cx="0" cy="852934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46389" y="4027140"/>
            <a:ext cx="1866287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Chlordwination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446389" y="4227165"/>
            <a:ext cx="1866287" cy="2955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5"/>
              </a:lnSpc>
              <a:spcBef>
                <a:spcPts val="375"/>
              </a:spcBef>
              <a:buNone/>
            </a:pPr>
            <a:r>
              <a:rPr lang="en-US" sz="865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Add chlosdwqrine tablets or drops to disinfect water before drinking.</a:t>
            </a:r>
            <a:endParaRPr lang="en-US" sz="865" dirty="0"/>
          </a:p>
        </p:txBody>
      </p:sp>
      <p:sp>
        <p:nvSpPr>
          <p:cNvPr id="37" name="Text 35"/>
          <p:cNvSpPr/>
          <p:nvPr/>
        </p:nvSpPr>
        <p:spPr>
          <a:xfrm>
            <a:off x="4446389" y="4579888"/>
            <a:ext cx="1866287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75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CHEMICAL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495157" y="3874740"/>
            <a:ext cx="2077343" cy="1081534"/>
          </a:xfrm>
          <a:prstGeom prst="roundRect">
            <a:avLst>
              <a:gd name="adj" fmla="val 4403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6609457" y="3893790"/>
            <a:ext cx="1848743" cy="0"/>
          </a:xfrm>
          <a:prstGeom prst="line">
            <a:avLst/>
          </a:prstGeom>
          <a:noFill/>
          <a:ln w="38100">
            <a:solidFill>
              <a:srgbClr val="0A6C8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66845" y="3989040"/>
            <a:ext cx="0" cy="852934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09457" y="4955828"/>
            <a:ext cx="1848743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99920" y="3989040"/>
            <a:ext cx="0" cy="852934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18982" y="4027140"/>
            <a:ext cx="1866287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Bio-sand sdqfilter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618982" y="4227165"/>
            <a:ext cx="1866287" cy="4433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5"/>
              </a:lnSpc>
              <a:spcBef>
                <a:spcPts val="375"/>
              </a:spcBef>
              <a:buNone/>
            </a:pPr>
            <a:r>
              <a:rPr lang="en-US" sz="865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 thick sand layer with a biological "ssdqchmutzdecke" that removes pathogens.</a:t>
            </a:r>
            <a:endParaRPr lang="en-US" sz="865" dirty="0"/>
          </a:p>
        </p:txBody>
      </p:sp>
      <p:sp>
        <p:nvSpPr>
          <p:cNvPr id="45" name="Text 43"/>
          <p:cNvSpPr/>
          <p:nvPr/>
        </p:nvSpPr>
        <p:spPr>
          <a:xfrm>
            <a:off x="6618982" y="4727674"/>
            <a:ext cx="1866287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75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HOUSEHOLD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322564" y="5051524"/>
            <a:ext cx="2077343" cy="1233934"/>
          </a:xfrm>
          <a:prstGeom prst="roundRect">
            <a:avLst>
              <a:gd name="adj" fmla="val 3860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4436864" y="5070574"/>
            <a:ext cx="1848743" cy="0"/>
          </a:xfrm>
          <a:prstGeom prst="line">
            <a:avLst/>
          </a:prstGeom>
          <a:noFill/>
          <a:ln w="38100">
            <a:solidFill>
              <a:srgbClr val="0A6C8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94252" y="5165824"/>
            <a:ext cx="0" cy="1005334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436864" y="6285012"/>
            <a:ext cx="1848743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327327" y="5165824"/>
            <a:ext cx="0" cy="1005334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46389" y="5203924"/>
            <a:ext cx="1866287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Ceramic wqfilter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446389" y="5403949"/>
            <a:ext cx="1866287" cy="2955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5"/>
              </a:lnSpc>
              <a:spcBef>
                <a:spcPts val="375"/>
              </a:spcBef>
              <a:buNone/>
            </a:pPr>
            <a:r>
              <a:rPr lang="en-US" sz="865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Porous ceramic candles trap bacteria anddwq fine particles.</a:t>
            </a:r>
            <a:endParaRPr lang="en-US" sz="865" dirty="0"/>
          </a:p>
        </p:txBody>
      </p:sp>
      <p:sp>
        <p:nvSpPr>
          <p:cNvPr id="53" name="Text 51"/>
          <p:cNvSpPr/>
          <p:nvPr/>
        </p:nvSpPr>
        <p:spPr>
          <a:xfrm>
            <a:off x="4446389" y="5756672"/>
            <a:ext cx="1866287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75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LONG-dsaLIFE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495157" y="5051524"/>
            <a:ext cx="2077343" cy="1233934"/>
          </a:xfrm>
          <a:prstGeom prst="roundRect">
            <a:avLst>
              <a:gd name="adj" fmla="val 3860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6609457" y="5070574"/>
            <a:ext cx="1848743" cy="0"/>
          </a:xfrm>
          <a:prstGeom prst="line">
            <a:avLst/>
          </a:prstGeom>
          <a:noFill/>
          <a:ln w="38100">
            <a:solidFill>
              <a:srgbClr val="0A6C8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566845" y="5165824"/>
            <a:ext cx="0" cy="1005334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609457" y="6285012"/>
            <a:ext cx="1848743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99920" y="5165824"/>
            <a:ext cx="0" cy="1005334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18982" y="5203924"/>
            <a:ext cx="1866287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3D5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Coagulatiodsadsan &amp; dsa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6618982" y="5556349"/>
            <a:ext cx="1866287" cy="4433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5"/>
              </a:lnSpc>
              <a:spcBef>
                <a:spcPts val="375"/>
              </a:spcBef>
              <a:buNone/>
            </a:pPr>
            <a:r>
              <a:rPr lang="en-US" sz="865" dirty="0">
                <a:solidFill>
                  <a:srgbClr val="44546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Add alum or morqwdinga seeds to clump fine pdsaarticles so they settle out.</a:t>
            </a:r>
            <a:endParaRPr lang="en-US" sz="865" dirty="0"/>
          </a:p>
        </p:txBody>
      </p:sp>
      <p:sp>
        <p:nvSpPr>
          <p:cNvPr id="61" name="Text 59"/>
          <p:cNvSpPr/>
          <p:nvPr/>
        </p:nvSpPr>
        <p:spPr>
          <a:xfrm>
            <a:off x="6618982" y="6056858"/>
            <a:ext cx="1866287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750" b="1" dirty="0">
                <a:solidFill>
                  <a:srgbClr val="E07B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PRE-TREATMsadENT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571500" y="6600825"/>
            <a:ext cx="3091958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5" i="1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Activity from: Ditch the Dirt pupil sheets, Practical Action.</a:t>
            </a:r>
            <a:endParaRPr lang="en-US" sz="825" dirty="0"/>
          </a:p>
        </p:txBody>
      </p:sp>
      <p:sp>
        <p:nvSpPr>
          <p:cNvPr id="63" name="Text 61"/>
          <p:cNvSpPr/>
          <p:nvPr/>
        </p:nvSpPr>
        <p:spPr>
          <a:xfrm>
            <a:off x="5509022" y="6600825"/>
            <a:ext cx="3124748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5" i="1" dirty="0">
                <a:solidFill>
                  <a:srgbClr val="6B7C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Combine a filter with one of these methods for safe water.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tml2pptx-eD6YTC/html2pptx-bg-1786386064872-00f941b412e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52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1038225"/>
            <a:ext cx="8001000" cy="0"/>
          </a:xfrm>
          <a:prstGeom prst="line">
            <a:avLst/>
          </a:prstGeom>
          <a:noFill/>
          <a:ln w="19050">
            <a:solidFill>
              <a:srgbClr val="F4B41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71500" y="476250"/>
            <a:ext cx="5904140" cy="419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Share, Reflect &amp; Take Action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6910388" y="685800"/>
            <a:ext cx="169535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SLIDE 1sda2 · CLOSING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1181100"/>
            <a:ext cx="7966710" cy="6625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0"/>
              </a:lnSpc>
              <a:spcBef>
                <a:spcPts val="1050"/>
              </a:spcBef>
              <a:buNone/>
            </a:pPr>
            <a:r>
              <a:rPr lang="en-US" sz="1200" dirty="0">
                <a:solidFill>
                  <a:srgbClr val="D8EE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Present your filter to the class. Listen to otdwqherqwd teams, then score each presentawqdion out of 5 across five areas — dsa5 is the bdsaest. The teadam with twqdhe highest todastal has theqwd strongest case for adoption idsan Turkana.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053233"/>
            <a:ext cx="4081165" cy="1952625"/>
          </a:xfrm>
          <a:prstGeom prst="roundRect">
            <a:avLst>
              <a:gd name="adj" fmla="val 1951"/>
            </a:avLst>
          </a:prstGeom>
          <a:solidFill>
            <a:srgbClr val="FFFFFF">
              <a:alpha val="8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90550" y="2224683"/>
            <a:ext cx="0" cy="1609725"/>
          </a:xfrm>
          <a:prstGeom prst="line">
            <a:avLst/>
          </a:prstGeom>
          <a:noFill/>
          <a:ln w="38100">
            <a:solidFill>
              <a:srgbClr val="F4B41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0100" y="2224683"/>
            <a:ext cx="373530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Peer-assessdsament criteria</a:t>
            </a:r>
            <a:endParaRPr lang="en-US" sz="1350" dirty="0"/>
          </a:p>
        </p:txBody>
      </p:sp>
      <p:sp>
        <p:nvSpPr>
          <p:cNvPr id="10" name="Shape 7"/>
          <p:cNvSpPr/>
          <p:nvPr>
            <p:custDataLst>
              <p:tags r:id="rId3"/>
            </p:custDataLst>
          </p:nvPr>
        </p:nvSpPr>
        <p:spPr>
          <a:xfrm>
            <a:off x="800100" y="2762845"/>
            <a:ext cx="3662065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800100" y="2500908"/>
            <a:ext cx="3735306" cy="266700"/>
          </a:xfrm>
          <a:prstGeom prst="rect">
            <a:avLst/>
          </a:prstGeom>
          <a:noFill/>
        </p:spPr>
        <p:txBody>
          <a:bodyPr wrap="square" lIns="0" tIns="57150" rIns="0" bIns="5715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Teamwork</a:t>
            </a:r>
            <a:endParaRPr lang="en-US" sz="975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Did they work well as a team?</a:t>
            </a:r>
            <a:endParaRPr lang="en-US" sz="975" dirty="0"/>
          </a:p>
        </p:txBody>
      </p:sp>
      <p:sp>
        <p:nvSpPr>
          <p:cNvPr id="12" name="Shape 9"/>
          <p:cNvSpPr/>
          <p:nvPr>
            <p:custDataLst>
              <p:tags r:id="rId5"/>
            </p:custDataLst>
          </p:nvPr>
        </p:nvSpPr>
        <p:spPr>
          <a:xfrm>
            <a:off x="800100" y="3029545"/>
            <a:ext cx="3662065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>
            <p:custDataLst>
              <p:tags r:id="rId6"/>
            </p:custDataLst>
          </p:nvPr>
        </p:nvSpPr>
        <p:spPr>
          <a:xfrm>
            <a:off x="800100" y="2767608"/>
            <a:ext cx="3735306" cy="266700"/>
          </a:xfrm>
          <a:prstGeom prst="rect">
            <a:avLst/>
          </a:prstGeom>
          <a:noFill/>
        </p:spPr>
        <p:txBody>
          <a:bodyPr wrap="square" lIns="0" tIns="57150" rIns="0" bIns="5715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Researchda</a:t>
            </a:r>
            <a:endParaRPr lang="en-US" sz="975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How well was research carried out?</a:t>
            </a:r>
            <a:endParaRPr lang="en-US" sz="975" dirty="0"/>
          </a:p>
        </p:txBody>
      </p:sp>
      <p:sp>
        <p:nvSpPr>
          <p:cNvPr id="14" name="Shape 11"/>
          <p:cNvSpPr/>
          <p:nvPr>
            <p:custDataLst>
              <p:tags r:id="rId7"/>
            </p:custDataLst>
          </p:nvPr>
        </p:nvSpPr>
        <p:spPr>
          <a:xfrm>
            <a:off x="800100" y="3296245"/>
            <a:ext cx="3662065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800100" y="3034308"/>
            <a:ext cx="3735306" cy="266700"/>
          </a:xfrm>
          <a:prstGeom prst="rect">
            <a:avLst/>
          </a:prstGeom>
          <a:noFill/>
        </p:spPr>
        <p:txBody>
          <a:bodyPr wrap="square" lIns="0" tIns="57150" rIns="0" bIns="5715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Developing ideas</a:t>
            </a:r>
            <a:endParaRPr lang="en-US" sz="975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Good, innovative and improved ideas?</a:t>
            </a:r>
            <a:endParaRPr lang="en-US" sz="975" dirty="0"/>
          </a:p>
        </p:txBody>
      </p:sp>
      <p:sp>
        <p:nvSpPr>
          <p:cNvPr id="16" name="Shape 13"/>
          <p:cNvSpPr/>
          <p:nvPr>
            <p:custDataLst>
              <p:tags r:id="rId9"/>
            </p:custDataLst>
          </p:nvPr>
        </p:nvSpPr>
        <p:spPr>
          <a:xfrm>
            <a:off x="800100" y="3562945"/>
            <a:ext cx="3662065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>
            <p:custDataLst>
              <p:tags r:id="rId10"/>
            </p:custDataLst>
          </p:nvPr>
        </p:nvSpPr>
        <p:spPr>
          <a:xfrm>
            <a:off x="800100" y="3301008"/>
            <a:ext cx="3735306" cy="266700"/>
          </a:xfrm>
          <a:prstGeom prst="rect">
            <a:avLst/>
          </a:prstGeom>
          <a:noFill/>
        </p:spPr>
        <p:txBody>
          <a:bodyPr wrap="square" lIns="0" tIns="57150" rIns="0" bIns="5715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Final model</a:t>
            </a:r>
            <a:endParaRPr lang="en-US" sz="975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How good is the finished filter?</a:t>
            </a:r>
            <a:endParaRPr lang="en-US" sz="975" dirty="0"/>
          </a:p>
        </p:txBody>
      </p:sp>
      <p:sp>
        <p:nvSpPr>
          <p:cNvPr id="18" name="Shape 15"/>
          <p:cNvSpPr/>
          <p:nvPr>
            <p:custDataLst>
              <p:tags r:id="rId11"/>
            </p:custDataLst>
          </p:nvPr>
        </p:nvSpPr>
        <p:spPr>
          <a:xfrm>
            <a:off x="800100" y="3829645"/>
            <a:ext cx="3662065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>
            <p:custDataLst>
              <p:tags r:id="rId12"/>
            </p:custDataLst>
          </p:nvPr>
        </p:nvSpPr>
        <p:spPr>
          <a:xfrm>
            <a:off x="800100" y="3567708"/>
            <a:ext cx="3735306" cy="266700"/>
          </a:xfrm>
          <a:prstGeom prst="rect">
            <a:avLst/>
          </a:prstGeom>
          <a:noFill/>
        </p:spPr>
        <p:txBody>
          <a:bodyPr wrap="square" lIns="0" tIns="57150" rIns="0" bIns="5715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Presentation</a:t>
            </a:r>
            <a:endParaRPr lang="en-US" sz="975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How well did they communicate?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4862215" y="2053233"/>
            <a:ext cx="3710285" cy="1952625"/>
          </a:xfrm>
          <a:prstGeom prst="roundRect">
            <a:avLst>
              <a:gd name="adj" fmla="val 1951"/>
            </a:avLst>
          </a:prstGeom>
          <a:solidFill>
            <a:srgbClr val="FFFFFF">
              <a:alpha val="8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4881265" y="2224683"/>
            <a:ext cx="0" cy="1609725"/>
          </a:xfrm>
          <a:prstGeom prst="line">
            <a:avLst/>
          </a:prstGeom>
          <a:noFill/>
          <a:ln w="38100">
            <a:solidFill>
              <a:srgbClr val="F4B41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90815" y="2224683"/>
            <a:ext cx="3357009" cy="400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Recomdwqmendations to Kenyan scientdasdists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5090815" y="2700933"/>
            <a:ext cx="3357009" cy="11179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15" dirty="0">
                <a:solidFill>
                  <a:srgbClr val="E8F3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Based on your results, what would you tell scientists buildingdwq filters for families collecting water from ground-water holes in Turkana? Consider cost, lodsaally-available materials, ease of cleaning, and theda extra stedsap needsaqded to make water truly safe to drink.</a:t>
            </a:r>
            <a:endParaRPr lang="en-US" sz="1015" dirty="0"/>
          </a:p>
        </p:txBody>
      </p:sp>
      <p:sp>
        <p:nvSpPr>
          <p:cNvPr id="24" name="Text 21"/>
          <p:cNvSpPr/>
          <p:nvPr/>
        </p:nvSpPr>
        <p:spPr>
          <a:xfrm>
            <a:off x="571500" y="5286375"/>
            <a:ext cx="544068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4B4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BIG dIdsaDEA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71500" y="5495925"/>
            <a:ext cx="5440680" cy="6000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D8EEF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Clean watdsaer is not just a sciedsance problem — it is a justice issue. Adasffordable, well-designed fildsaters bring Goal dsa6 closer for codsammunities like Turkana. Every filter built in a classroom is a step toward that gdasoal.dsa</a:t>
            </a:r>
            <a:endParaRPr lang="en-US" sz="1050" dirty="0"/>
          </a:p>
        </p:txBody>
      </p:sp>
      <p:pic>
        <p:nvPicPr>
          <p:cNvPr id="26" name="Image 1" descr="/tmp/html2pptx-eD6YTC/html2pptx-bg-1786386064952-69d58fa991bd4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10250" y="4324350"/>
            <a:ext cx="3048000" cy="219075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6096000" y="4500563"/>
            <a:ext cx="2476500" cy="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548688" y="4476750"/>
            <a:ext cx="0" cy="161925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096000" y="6072187"/>
            <a:ext cx="2476500" cy="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119813" y="4476750"/>
            <a:ext cx="0" cy="161925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71500" y="6562725"/>
            <a:ext cx="2774838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5" i="1" dirty="0">
                <a:solidFill>
                  <a:srgbClr val="B9D8E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Source: Ditch the Dirt pupil shedsaets, Practical Action.</a:t>
            </a:r>
            <a:endParaRPr lang="en-US" sz="825" dirty="0"/>
          </a:p>
        </p:txBody>
      </p:sp>
      <p:sp>
        <p:nvSpPr>
          <p:cNvPr id="32" name="Text 28"/>
          <p:cNvSpPr/>
          <p:nvPr/>
        </p:nvSpPr>
        <p:spPr>
          <a:xfrm>
            <a:off x="7590383" y="6562725"/>
            <a:ext cx="100175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5" i="1" dirty="0">
                <a:solidFill>
                  <a:srgbClr val="B9D8E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pradsacticalaction.org</a:t>
            </a:r>
            <a:endParaRPr lang="en-US" sz="825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06.78125984251965,&quot;left&quot;:45,&quot;top&quot;:360,&quot;width&quot;:630}"/>
</p:tagLst>
</file>

<file path=ppt/tags/tag2.xml><?xml version="1.0" encoding="utf-8"?>
<p:tagLst xmlns:p="http://schemas.openxmlformats.org/presentationml/2006/main">
  <p:tag name="KSO_WM_DIAGRAM_VIRTUALLY_FRAME" val="{&quot;height&quot;:106.78125984251965,&quot;left&quot;:45,&quot;top&quot;:360,&quot;width&quot;:630}"/>
</p:tagLst>
</file>

<file path=ppt/tags/tag3.xml><?xml version="1.0" encoding="utf-8"?>
<p:tagLst xmlns:p="http://schemas.openxmlformats.org/presentationml/2006/main">
  <p:tag name="KSO_WM_DIAGRAM_VIRTUALLY_FRAME" val="{&quot;height&quot;:106.78125984251965,&quot;left&quot;:45,&quot;top&quot;:360,&quot;width&quot;:630}"/>
</p:tagLst>
</file>

<file path=ppt/tags/tag4.xml><?xml version="1.0" encoding="utf-8"?>
<p:tagLst xmlns:p="http://schemas.openxmlformats.org/presentationml/2006/main">
  <p:tag name="KSO_WM_DIAGRAM_VIRTUALLY_FRAME" val="{&quot;height&quot;:106.78125984251965,&quot;left&quot;:45,&quot;top&quot;:360,&quot;width&quot;:630}"/>
</p:tagLst>
</file>

<file path=ppt/tags/tag5.xml><?xml version="1.0" encoding="utf-8"?>
<p:tagLst xmlns:p="http://schemas.openxmlformats.org/presentationml/2006/main">
  <p:tag name="KSO_WM_DIAGRAM_VIRTUALLY_FRAME" val="{&quot;height&quot;:106.78125984251965,&quot;left&quot;:45,&quot;top&quot;:360,&quot;width&quot;:630}"/>
</p:tagLst>
</file>

<file path=ppt/tags/tag6.xml><?xml version="1.0" encoding="utf-8"?>
<p:tagLst xmlns:p="http://schemas.openxmlformats.org/presentationml/2006/main">
  <p:tag name="KSO_WM_DIAGRAM_VIRTUALLY_FRAME" val="{&quot;height&quot;:106.78125984251965,&quot;left&quot;:45,&quot;top&quot;:360,&quot;width&quot;:630}"/>
</p:tagLst>
</file>

<file path=ppt/tags/tag7.xml><?xml version="1.0" encoding="utf-8"?>
<p:tagLst xmlns:p="http://schemas.openxmlformats.org/presentationml/2006/main">
  <p:tag name="KSO_WM_DIAGRAM_VIRTUALLY_FRAME" val="{&quot;height&quot;:106.78125984251965,&quot;left&quot;:45,&quot;top&quot;:360,&quot;width&quot;:630}"/>
</p:tagLst>
</file>

<file path=ppt/tags/tag8.xml><?xml version="1.0" encoding="utf-8"?>
<p:tagLst xmlns:p="http://schemas.openxmlformats.org/presentationml/2006/main">
  <p:tag name="KSO_WM_DIAGRAM_VIRTUALLY_FRAME" val="{&quot;height&quot;:106.78125984251965,&quot;left&quot;:45,&quot;top&quot;:360,&quot;width&quot;:630}"/>
</p:tagLst>
</file>

<file path=ppt/tags/tag9.xml><?xml version="1.0" encoding="utf-8"?>
<p:tagLst xmlns:p="http://schemas.openxmlformats.org/presentationml/2006/main">
  <p:tag name="KSO_WM_DIAGRAM_VIRTUALLY_FRAME" val="{&quot;height&quot;:106.78125984251965,&quot;left&quot;:45,&quot;top&quot;:360,&quot;width&quot;:630}"/>
</p:tagLst>
</file>

<file path=ppt/tags/tag10.xml><?xml version="1.0" encoding="utf-8"?>
<p:tagLst xmlns:p="http://schemas.openxmlformats.org/presentationml/2006/main">
  <p:tag name="KSO_WM_DIAGRAM_VIRTUALLY_FRAME" val="{&quot;height&quot;:106.78125984251965,&quot;left&quot;:45,&quot;top&quot;:360,&quot;width&quot;:630}"/>
</p:tagLst>
</file>

<file path=ppt/tags/tag11.xml><?xml version="1.0" encoding="utf-8"?>
<p:tagLst xmlns:p="http://schemas.openxmlformats.org/presentationml/2006/main">
  <p:tag name="KSO_WM_DIAGRAM_VIRTUALLY_FRAME" val="{&quot;height&quot;:106.78125984251965,&quot;left&quot;:45,&quot;top&quot;:360,&quot;width&quot;:630}"/>
</p:tagLst>
</file>

<file path=ppt/tags/tag12.xml><?xml version="1.0" encoding="utf-8"?>
<p:tagLst xmlns:p="http://schemas.openxmlformats.org/presentationml/2006/main">
  <p:tag name="KSO_WM_DIAGRAM_VIRTUALLY_FRAME" val="{&quot;height&quot;:106.78125984251965,&quot;left&quot;:45,&quot;top&quot;:360,&quot;width&quot;:630}"/>
</p:tagLst>
</file>

<file path=ppt/tags/tag13.xml><?xml version="1.0" encoding="utf-8"?>
<p:tagLst xmlns:p="http://schemas.openxmlformats.org/presentationml/2006/main">
  <p:tag name="KSO_WM_DIAGRAM_VIRTUALLY_FRAME" val="{&quot;height&quot;:220.4062204724409,&quot;left&quot;:45,&quot;top&quot;:153.2812598425197,&quot;width&quot;:632.3522047244094}"/>
</p:tagLst>
</file>

<file path=ppt/tags/tag14.xml><?xml version="1.0" encoding="utf-8"?>
<p:tagLst xmlns:p="http://schemas.openxmlformats.org/presentationml/2006/main">
  <p:tag name="KSO_WM_DIAGRAM_VIRTUALLY_FRAME" val="{&quot;height&quot;:220.4062204724409,&quot;left&quot;:45,&quot;top&quot;:153.2812598425197,&quot;width&quot;:632.3522047244094}"/>
</p:tagLst>
</file>

<file path=ppt/tags/tag15.xml><?xml version="1.0" encoding="utf-8"?>
<p:tagLst xmlns:p="http://schemas.openxmlformats.org/presentationml/2006/main">
  <p:tag name="KSO_WM_DIAGRAM_VIRTUALLY_FRAME" val="{&quot;height&quot;:220.4062204724409,&quot;left&quot;:45,&quot;top&quot;:153.2812598425197,&quot;width&quot;:632.3522047244094}"/>
</p:tagLst>
</file>

<file path=ppt/tags/tag16.xml><?xml version="1.0" encoding="utf-8"?>
<p:tagLst xmlns:p="http://schemas.openxmlformats.org/presentationml/2006/main">
  <p:tag name="KSO_WM_DIAGRAM_VIRTUALLY_FRAME" val="{&quot;height&quot;:220.4062204724409,&quot;left&quot;:45,&quot;top&quot;:153.2812598425197,&quot;width&quot;:632.3522047244094}"/>
</p:tagLst>
</file>

<file path=ppt/tags/tag17.xml><?xml version="1.0" encoding="utf-8"?>
<p:tagLst xmlns:p="http://schemas.openxmlformats.org/presentationml/2006/main">
  <p:tag name="KSO_WM_DIAGRAM_VIRTUALLY_FRAME" val="{&quot;height&quot;:220.4062204724409,&quot;left&quot;:45,&quot;top&quot;:153.2812598425197,&quot;width&quot;:632.3522047244094}"/>
</p:tagLst>
</file>

<file path=ppt/tags/tag18.xml><?xml version="1.0" encoding="utf-8"?>
<p:tagLst xmlns:p="http://schemas.openxmlformats.org/presentationml/2006/main">
  <p:tag name="KSO_WM_DIAGRAM_VIRTUALLY_FRAME" val="{&quot;height&quot;:220.4062204724409,&quot;left&quot;:45,&quot;top&quot;:153.2812598425197,&quot;width&quot;:632.3522047244094}"/>
</p:tagLst>
</file>

<file path=ppt/tags/tag19.xml><?xml version="1.0" encoding="utf-8"?>
<p:tagLst xmlns:p="http://schemas.openxmlformats.org/presentationml/2006/main">
  <p:tag name="KSO_WM_DIAGRAM_VIRTUALLY_FRAME" val="{&quot;height&quot;:220.4062204724409,&quot;left&quot;:45,&quot;top&quot;:153.2812598425197,&quot;width&quot;:632.3522047244094}"/>
</p:tagLst>
</file>

<file path=ppt/tags/tag20.xml><?xml version="1.0" encoding="utf-8"?>
<p:tagLst xmlns:p="http://schemas.openxmlformats.org/presentationml/2006/main">
  <p:tag name="KSO_WM_DIAGRAM_VIRTUALLY_FRAME" val="{&quot;height&quot;:220.4062204724409,&quot;left&quot;:45,&quot;top&quot;:153.2812598425197,&quot;width&quot;:632.3522047244094}"/>
</p:tagLst>
</file>

<file path=ppt/tags/tag21.xml><?xml version="1.0" encoding="utf-8"?>
<p:tagLst xmlns:p="http://schemas.openxmlformats.org/presentationml/2006/main">
  <p:tag name="KSO_WM_DIAGRAM_VIRTUALLY_FRAME" val="{&quot;height&quot;:220.4062204724409,&quot;left&quot;:45,&quot;top&quot;:153.2812598425197,&quot;width&quot;:632.3522047244094}"/>
</p:tagLst>
</file>

<file path=ppt/tags/tag22.xml><?xml version="1.0" encoding="utf-8"?>
<p:tagLst xmlns:p="http://schemas.openxmlformats.org/presentationml/2006/main">
  <p:tag name="KSO_WM_DIAGRAM_VIRTUALLY_FRAME" val="{&quot;height&quot;:220.4062204724409,&quot;left&quot;:45,&quot;top&quot;:153.2812598425197,&quot;width&quot;:632.3522047244094}"/>
</p:tagLst>
</file>

<file path=ppt/tags/tag23.xml><?xml version="1.0" encoding="utf-8"?>
<p:tagLst xmlns:p="http://schemas.openxmlformats.org/presentationml/2006/main">
  <p:tag name="KSO_WM_DIAGRAM_VIRTUALLY_FRAME" val="{&quot;height&quot;:220.4062204724409,&quot;left&quot;:45,&quot;top&quot;:153.2812598425197,&quot;width&quot;:632.3522047244094}"/>
</p:tagLst>
</file>

<file path=ppt/tags/tag24.xml><?xml version="1.0" encoding="utf-8"?>
<p:tagLst xmlns:p="http://schemas.openxmlformats.org/presentationml/2006/main">
  <p:tag name="KSO_WM_DIAGRAM_VIRTUALLY_FRAME" val="{&quot;height&quot;:220.4062204724409,&quot;left&quot;:45,&quot;top&quot;:153.2812598425197,&quot;width&quot;:632.3522047244094}"/>
</p:tagLst>
</file>

<file path=ppt/tags/tag25.xml><?xml version="1.0" encoding="utf-8"?>
<p:tagLst xmlns:p="http://schemas.openxmlformats.org/presentationml/2006/main">
  <p:tag name="KSO_WM_DIAGRAM_VIRTUALLY_FRAME" val="{&quot;height&quot;:220.4062204724409,&quot;left&quot;:45,&quot;top&quot;:153.2812598425197,&quot;width&quot;:632.3522047244094}"/>
</p:tagLst>
</file>

<file path=ppt/tags/tag26.xml><?xml version="1.0" encoding="utf-8"?>
<p:tagLst xmlns:p="http://schemas.openxmlformats.org/presentationml/2006/main">
  <p:tag name="KSO_WM_DIAGRAM_VIRTUALLY_FRAME" val="{&quot;height&quot;:220.4062204724409,&quot;left&quot;:45,&quot;top&quot;:153.2812598425197,&quot;width&quot;:632.3522047244094}"/>
</p:tagLst>
</file>

<file path=ppt/tags/tag27.xml><?xml version="1.0" encoding="utf-8"?>
<p:tagLst xmlns:p="http://schemas.openxmlformats.org/presentationml/2006/main">
  <p:tag name="KSO_WM_DIAGRAM_VIRTUALLY_FRAME" val="{&quot;height&quot;:220.4062204724409,&quot;left&quot;:45,&quot;top&quot;:153.2812598425197,&quot;width&quot;:632.3522047244094}"/>
</p:tagLst>
</file>

<file path=ppt/tags/tag28.xml><?xml version="1.0" encoding="utf-8"?>
<p:tagLst xmlns:p="http://schemas.openxmlformats.org/presentationml/2006/main">
  <p:tag name="KSO_WM_DIAGRAM_VIRTUALLY_FRAME" val="{&quot;height&quot;:220.4062204724409,&quot;left&quot;:45,&quot;top&quot;:153.2812598425197,&quot;width&quot;:632.3522047244094}"/>
</p:tagLst>
</file>

<file path=ppt/tags/tag29.xml><?xml version="1.0" encoding="utf-8"?>
<p:tagLst xmlns:p="http://schemas.openxmlformats.org/presentationml/2006/main">
  <p:tag name="KSO_WM_DIAGRAM_VIRTUALLY_FRAME" val="{&quot;height&quot;:220.4062204724409,&quot;left&quot;:45,&quot;top&quot;:153.2812598425197,&quot;width&quot;:632.3522047244094}"/>
</p:tagLst>
</file>

<file path=ppt/tags/tag30.xml><?xml version="1.0" encoding="utf-8"?>
<p:tagLst xmlns:p="http://schemas.openxmlformats.org/presentationml/2006/main">
  <p:tag name="KSO_WM_DIAGRAM_VIRTUALLY_FRAME" val="{&quot;height&quot;:220.4062204724409,&quot;left&quot;:45,&quot;top&quot;:153.2812598425197,&quot;width&quot;:632.3522047244094}"/>
</p:tagLst>
</file>

<file path=ppt/tags/tag31.xml><?xml version="1.0" encoding="utf-8"?>
<p:tagLst xmlns:p="http://schemas.openxmlformats.org/presentationml/2006/main">
  <p:tag name="KSO_WM_DIAGRAM_VIRTUALLY_FRAME" val="{&quot;height&quot;:220.4062204724409,&quot;left&quot;:45,&quot;top&quot;:153.2812598425197,&quot;width&quot;:632.3522047244094}"/>
</p:tagLst>
</file>

<file path=ppt/tags/tag32.xml><?xml version="1.0" encoding="utf-8"?>
<p:tagLst xmlns:p="http://schemas.openxmlformats.org/presentationml/2006/main">
  <p:tag name="KSO_WM_DIAGRAM_VIRTUALLY_FRAME" val="{&quot;height&quot;:220.4062204724409,&quot;left&quot;:45,&quot;top&quot;:153.2812598425197,&quot;width&quot;:632.3522047244094}"/>
</p:tagLst>
</file>

<file path=ppt/tags/tag33.xml><?xml version="1.0" encoding="utf-8"?>
<p:tagLst xmlns:p="http://schemas.openxmlformats.org/presentationml/2006/main">
  <p:tag name="KSO_WM_DIAGRAM_VIRTUALLY_FRAME" val="{&quot;height&quot;:220.4062204724409,&quot;left&quot;:45,&quot;top&quot;:153.2812598425197,&quot;width&quot;:632.3522047244094}"/>
</p:tagLst>
</file>

<file path=ppt/tags/tag34.xml><?xml version="1.0" encoding="utf-8"?>
<p:tagLst xmlns:p="http://schemas.openxmlformats.org/presentationml/2006/main">
  <p:tag name="KSO_WM_DIAGRAM_VIRTUALLY_FRAME" val="{&quot;height&quot;:220.4062204724409,&quot;left&quot;:45,&quot;top&quot;:153.2812598425197,&quot;width&quot;:632.3522047244094}"/>
</p:tagLst>
</file>

<file path=ppt/tags/tag35.xml><?xml version="1.0" encoding="utf-8"?>
<p:tagLst xmlns:p="http://schemas.openxmlformats.org/presentationml/2006/main">
  <p:tag name="KSO_WM_DIAGRAM_VIRTUALLY_FRAME" val="{&quot;height&quot;:220.4062204724409,&quot;left&quot;:45,&quot;top&quot;:153.2812598425197,&quot;width&quot;:632.3522047244094}"/>
</p:tagLst>
</file>

<file path=ppt/tags/tag36.xml><?xml version="1.0" encoding="utf-8"?>
<p:tagLst xmlns:p="http://schemas.openxmlformats.org/presentationml/2006/main">
  <p:tag name="KSO_WM_DIAGRAM_VIRTUALLY_FRAME" val="{&quot;height&quot;:220.4062204724409,&quot;left&quot;:45,&quot;top&quot;:153.2812598425197,&quot;width&quot;:632.3522047244094}"/>
</p:tagLst>
</file>

<file path=ppt/tags/tag37.xml><?xml version="1.0" encoding="utf-8"?>
<p:tagLst xmlns:p="http://schemas.openxmlformats.org/presentationml/2006/main">
  <p:tag name="KSO_WM_DIAGRAM_VIRTUALLY_FRAME" val="{&quot;height&quot;:220.4062204724409,&quot;left&quot;:45,&quot;top&quot;:153.2812598425197,&quot;width&quot;:632.3522047244094}"/>
</p:tagLst>
</file>

<file path=ppt/tags/tag38.xml><?xml version="1.0" encoding="utf-8"?>
<p:tagLst xmlns:p="http://schemas.openxmlformats.org/presentationml/2006/main">
  <p:tag name="KSO_WM_DIAGRAM_VIRTUALLY_FRAME" val="{&quot;height&quot;:158.5312598425197,&quot;left&quot;:45,&quot;top&quot;:208.44141732283464,&quot;width&quot;:630}"/>
</p:tagLst>
</file>

<file path=ppt/tags/tag39.xml><?xml version="1.0" encoding="utf-8"?>
<p:tagLst xmlns:p="http://schemas.openxmlformats.org/presentationml/2006/main">
  <p:tag name="KSO_WM_DIAGRAM_VIRTUALLY_FRAME" val="{&quot;height&quot;:158.5312598425197,&quot;left&quot;:45,&quot;top&quot;:208.44141732283464,&quot;width&quot;:630}"/>
</p:tagLst>
</file>

<file path=ppt/tags/tag40.xml><?xml version="1.0" encoding="utf-8"?>
<p:tagLst xmlns:p="http://schemas.openxmlformats.org/presentationml/2006/main">
  <p:tag name="KSO_WM_DIAGRAM_VIRTUALLY_FRAME" val="{&quot;height&quot;:158.5312598425197,&quot;left&quot;:45,&quot;top&quot;:208.44141732283464,&quot;width&quot;:630}"/>
</p:tagLst>
</file>

<file path=ppt/tags/tag41.xml><?xml version="1.0" encoding="utf-8"?>
<p:tagLst xmlns:p="http://schemas.openxmlformats.org/presentationml/2006/main">
  <p:tag name="KSO_WM_DIAGRAM_VIRTUALLY_FRAME" val="{&quot;height&quot;:158.5312598425197,&quot;left&quot;:45,&quot;top&quot;:208.44141732283464,&quot;width&quot;:630}"/>
</p:tagLst>
</file>

<file path=ppt/tags/tag42.xml><?xml version="1.0" encoding="utf-8"?>
<p:tagLst xmlns:p="http://schemas.openxmlformats.org/presentationml/2006/main">
  <p:tag name="KSO_WM_DIAGRAM_VIRTUALLY_FRAME" val="{&quot;height&quot;:158.5312598425197,&quot;left&quot;:45,&quot;top&quot;:208.44141732283464,&quot;width&quot;:630}"/>
</p:tagLst>
</file>

<file path=ppt/tags/tag43.xml><?xml version="1.0" encoding="utf-8"?>
<p:tagLst xmlns:p="http://schemas.openxmlformats.org/presentationml/2006/main">
  <p:tag name="KSO_WM_DIAGRAM_VIRTUALLY_FRAME" val="{&quot;height&quot;:158.5312598425197,&quot;left&quot;:45,&quot;top&quot;:208.44141732283464,&quot;width&quot;:630}"/>
</p:tagLst>
</file>

<file path=ppt/tags/tag44.xml><?xml version="1.0" encoding="utf-8"?>
<p:tagLst xmlns:p="http://schemas.openxmlformats.org/presentationml/2006/main">
  <p:tag name="KSO_WM_DIAGRAM_VIRTUALLY_FRAME" val="{&quot;height&quot;:158.5312598425197,&quot;left&quot;:45,&quot;top&quot;:208.44141732283464,&quot;width&quot;:630}"/>
</p:tagLst>
</file>

<file path=ppt/tags/tag45.xml><?xml version="1.0" encoding="utf-8"?>
<p:tagLst xmlns:p="http://schemas.openxmlformats.org/presentationml/2006/main">
  <p:tag name="KSO_WM_DIAGRAM_VIRTUALLY_FRAME" val="{&quot;height&quot;:158.5312598425197,&quot;left&quot;:45,&quot;top&quot;:208.44141732283464,&quot;width&quot;:630}"/>
</p:tagLst>
</file>

<file path=ppt/tags/tag46.xml><?xml version="1.0" encoding="utf-8"?>
<p:tagLst xmlns:p="http://schemas.openxmlformats.org/presentationml/2006/main">
  <p:tag name="KSO_WM_DIAGRAM_VIRTUALLY_FRAME" val="{&quot;height&quot;:158.5312598425197,&quot;left&quot;:45,&quot;top&quot;:208.44141732283464,&quot;width&quot;:630}"/>
</p:tagLst>
</file>

<file path=ppt/tags/tag47.xml><?xml version="1.0" encoding="utf-8"?>
<p:tagLst xmlns:p="http://schemas.openxmlformats.org/presentationml/2006/main">
  <p:tag name="KSO_WM_DIAGRAM_VIRTUALLY_FRAME" val="{&quot;height&quot;:158.5312598425197,&quot;left&quot;:45,&quot;top&quot;:208.44141732283464,&quot;width&quot;:630}"/>
</p:tagLst>
</file>

<file path=ppt/tags/tag48.xml><?xml version="1.0" encoding="utf-8"?>
<p:tagLst xmlns:p="http://schemas.openxmlformats.org/presentationml/2006/main">
  <p:tag name="KSO_WM_DIAGRAM_VIRTUALLY_FRAME" val="{&quot;height&quot;:158.5312598425197,&quot;left&quot;:45,&quot;top&quot;:208.44141732283464,&quot;width&quot;:630}"/>
</p:tagLst>
</file>

<file path=ppt/tags/tag49.xml><?xml version="1.0" encoding="utf-8"?>
<p:tagLst xmlns:p="http://schemas.openxmlformats.org/presentationml/2006/main">
  <p:tag name="KSO_WM_DIAGRAM_VIRTUALLY_FRAME" val="{&quot;height&quot;:105,&quot;left&quot;:63,&quot;top&quot;:196.92188976377952,&quot;width&quot;:294.11858267716536}"/>
</p:tagLst>
</file>

<file path=ppt/tags/tag50.xml><?xml version="1.0" encoding="utf-8"?>
<p:tagLst xmlns:p="http://schemas.openxmlformats.org/presentationml/2006/main">
  <p:tag name="KSO_WM_DIAGRAM_VIRTUALLY_FRAME" val="{&quot;height&quot;:105,&quot;left&quot;:63,&quot;top&quot;:196.92188976377952,&quot;width&quot;:294.11858267716536}"/>
</p:tagLst>
</file>

<file path=ppt/tags/tag51.xml><?xml version="1.0" encoding="utf-8"?>
<p:tagLst xmlns:p="http://schemas.openxmlformats.org/presentationml/2006/main">
  <p:tag name="KSO_WM_DIAGRAM_VIRTUALLY_FRAME" val="{&quot;height&quot;:105,&quot;left&quot;:63,&quot;top&quot;:196.92188976377952,&quot;width&quot;:294.11858267716536}"/>
</p:tagLst>
</file>

<file path=ppt/tags/tag52.xml><?xml version="1.0" encoding="utf-8"?>
<p:tagLst xmlns:p="http://schemas.openxmlformats.org/presentationml/2006/main">
  <p:tag name="KSO_WM_DIAGRAM_VIRTUALLY_FRAME" val="{&quot;height&quot;:105,&quot;left&quot;:63,&quot;top&quot;:196.92188976377952,&quot;width&quot;:294.11858267716536}"/>
</p:tagLst>
</file>

<file path=ppt/tags/tag53.xml><?xml version="1.0" encoding="utf-8"?>
<p:tagLst xmlns:p="http://schemas.openxmlformats.org/presentationml/2006/main">
  <p:tag name="KSO_WM_DIAGRAM_VIRTUALLY_FRAME" val="{&quot;height&quot;:105,&quot;left&quot;:63,&quot;top&quot;:196.92188976377952,&quot;width&quot;:294.11858267716536}"/>
</p:tagLst>
</file>

<file path=ppt/tags/tag54.xml><?xml version="1.0" encoding="utf-8"?>
<p:tagLst xmlns:p="http://schemas.openxmlformats.org/presentationml/2006/main">
  <p:tag name="KSO_WM_DIAGRAM_VIRTUALLY_FRAME" val="{&quot;height&quot;:105,&quot;left&quot;:63,&quot;top&quot;:196.92188976377952,&quot;width&quot;:294.11858267716536}"/>
</p:tagLst>
</file>

<file path=ppt/tags/tag55.xml><?xml version="1.0" encoding="utf-8"?>
<p:tagLst xmlns:p="http://schemas.openxmlformats.org/presentationml/2006/main">
  <p:tag name="KSO_WM_DIAGRAM_VIRTUALLY_FRAME" val="{&quot;height&quot;:105,&quot;left&quot;:63,&quot;top&quot;:196.92188976377952,&quot;width&quot;:294.11858267716536}"/>
</p:tagLst>
</file>

<file path=ppt/tags/tag56.xml><?xml version="1.0" encoding="utf-8"?>
<p:tagLst xmlns:p="http://schemas.openxmlformats.org/presentationml/2006/main">
  <p:tag name="KSO_WM_DIAGRAM_VIRTUALLY_FRAME" val="{&quot;height&quot;:105,&quot;left&quot;:63,&quot;top&quot;:196.92188976377952,&quot;width&quot;:294.11858267716536}"/>
</p:tagLst>
</file>

<file path=ppt/tags/tag57.xml><?xml version="1.0" encoding="utf-8"?>
<p:tagLst xmlns:p="http://schemas.openxmlformats.org/presentationml/2006/main">
  <p:tag name="KSO_WM_DIAGRAM_VIRTUALLY_FRAME" val="{&quot;height&quot;:105,&quot;left&quot;:63,&quot;top&quot;:196.92188976377952,&quot;width&quot;:294.11858267716536}"/>
</p:tagLst>
</file>

<file path=ppt/tags/tag58.xml><?xml version="1.0" encoding="utf-8"?>
<p:tagLst xmlns:p="http://schemas.openxmlformats.org/presentationml/2006/main">
  <p:tag name="KSO_WM_DIAGRAM_VIRTUALLY_FRAME" val="{&quot;height&quot;:105,&quot;left&quot;:63,&quot;top&quot;:196.92188976377952,&quot;width&quot;:294.1185826771653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11745</Words>
  <Application>WPS 演示</Application>
  <PresentationFormat>On-screen Show (16:9)</PresentationFormat>
  <Paragraphs>629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宋体</vt:lpstr>
      <vt:lpstr>Wingdings</vt:lpstr>
      <vt:lpstr>DejaVu Sans</vt:lpstr>
      <vt:lpstr>Calibri</vt:lpstr>
      <vt:lpstr>DejaVu Sans</vt:lpstr>
      <vt:lpstr>DejaVu Sans</vt:lpstr>
      <vt:lpstr>KSOFAF972451</vt:lpstr>
      <vt:lpstr>Segoe Print</vt:lpstr>
      <vt:lpstr>KSOF1B52B550</vt:lpstr>
      <vt:lpstr>微软雅黑</vt:lpstr>
      <vt:lpstr>Arial Unicode MS</vt:lpstr>
      <vt:lpstr>等线</vt:lpstr>
      <vt:lpstr>KSOF43DB9352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DeepPresenter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DeepPresenter Presentation</dc:title>
  <dc:creator>DeepPresenter</dc:creator>
  <cp:lastModifiedBy>陌路</cp:lastModifiedBy>
  <cp:revision>2</cp:revision>
  <dcterms:created xsi:type="dcterms:W3CDTF">2026-08-10T18:21:00Z</dcterms:created>
  <dcterms:modified xsi:type="dcterms:W3CDTF">2026-08-17T08:17:38Z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2052-12.1.0.28022</vt:lpwstr>
  </property>
  <property fmtid="{D5CDD505-2E9C-101B-9397-08002B2CF9AE}" pid="3" name="ICV">
    <vt:lpwstr>C8616CF1758E4B2F860566D0C7E6DC4C_12</vt:lpwstr>
  </property>
</Properties>
</file>