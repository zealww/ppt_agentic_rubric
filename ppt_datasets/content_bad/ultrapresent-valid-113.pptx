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63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1fkCqN/html2pptx-bg-1786387450020-4826e18d48e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html2pptx-1fkCqN/html2pptx-bg-1786387450560-38aea7c9df7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62000" y="857250"/>
            <a:ext cx="796671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100"/>
              </a:spcAft>
              <a:buNone/>
            </a:pPr>
            <a:r>
              <a:rPr lang="en-US" sz="135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BRIEFING · COMMUNIGATE PRO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323975"/>
            <a:ext cx="796671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spcAft>
                <a:spcPts val="1950"/>
              </a:spcAft>
              <a:buNone/>
            </a:pPr>
            <a:r>
              <a:rPr lang="en-US" sz="37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Unlocdking the Power of Open Standard-Basedwadd APIs</a:t>
            </a:r>
            <a:endParaRPr lang="en-US" sz="3750" dirty="0"/>
          </a:p>
        </p:txBody>
      </p:sp>
      <p:sp>
        <p:nvSpPr>
          <p:cNvPr id="7" name="Text 3"/>
          <p:cNvSpPr/>
          <p:nvPr/>
        </p:nvSpPr>
        <p:spPr>
          <a:xfrm>
            <a:off x="762000" y="2638425"/>
            <a:ext cx="7966710" cy="607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90"/>
              </a:lnSpc>
              <a:buNone/>
            </a:pPr>
            <a:r>
              <a:rPr lang="en-US" sz="16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Enhancing Usedada Experience on </a:t>
            </a:r>
            <a:r>
              <a:rPr lang="en-US" sz="16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sdasCommdauniGate Pro Server Infrastrudadcturedagh CalDAV,adadardDAV, IMAP, and XMPP.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62000" y="5972175"/>
            <a:ext cx="2162306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AUDIENCEwdawd</a:t>
            </a:r>
            <a:endParaRPr lang="en-US" sz="1125" dirty="0"/>
          </a:p>
          <a:p>
            <a:pPr marL="0" indent="0" algn="l">
              <a:buNone/>
            </a:pPr>
            <a:r>
              <a:rPr lang="en-US" sz="1125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Network &amp; Sydadem Administrators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3262908" y="5972175"/>
            <a:ext cx="288353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FOCUSdadw</a:t>
            </a:r>
            <a:endParaRPr lang="en-US" sz="1125" dirty="0"/>
          </a:p>
          <a:p>
            <a:pPr marL="0" indent="0" algn="l">
              <a:buNone/>
            </a:pPr>
            <a:r>
              <a:rPr lang="en-US" sz="1125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Interoperdady · Future-Proofing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8425607" y="5962650"/>
            <a:ext cx="764977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285833" y="5962650"/>
            <a:ext cx="861268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242352" y="5962650"/>
            <a:ext cx="619125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956727" y="5962650"/>
            <a:ext cx="663773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/tmp/html2pptx-KaQvhI/html2pptx-bg-1786387451478-442bad6ede17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0"/>
            <a:ext cx="762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33400"/>
            <a:ext cx="1103680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819150"/>
            <a:ext cx="8743950" cy="876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Standwadards Are the Backbone of Modern Communications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18669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685800" y="2324100"/>
            <a:ext cx="3454301" cy="2038350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B2545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933450" y="2343150"/>
            <a:ext cx="2959001" cy="0"/>
          </a:xfrm>
          <a:prstGeom prst="line">
            <a:avLst/>
          </a:prstGeom>
          <a:noFill/>
          <a:ln w="38100">
            <a:solidFill>
              <a:srgbClr val="1A73C2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33450" y="2628900"/>
            <a:ext cx="301818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933450" y="2847975"/>
            <a:ext cx="301818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Interowability</a:t>
            </a:r>
            <a:endParaRPr lang="en-US" sz="1650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933450" y="3209925"/>
            <a:ext cx="3018181" cy="885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Vendor-neutrdwad let administrators mix clients, devices, and servers without lock-in, so users choose dwad tools that fit their workflow.</a:t>
            </a:r>
            <a:endParaRPr lang="en-US" sz="1125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4368701" y="2324100"/>
            <a:ext cx="3454450" cy="2038350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B2545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4616351" y="2343150"/>
            <a:ext cx="2959150" cy="0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4616351" y="2628900"/>
            <a:ext cx="301833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975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4616351" y="2847975"/>
            <a:ext cx="301833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Sdwability</a:t>
            </a:r>
            <a:endParaRPr lang="en-US" sz="165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4616351" y="3209925"/>
            <a:ext cx="3018333" cy="885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RFC-defined behaviors scale predictably across millionsawdailboxes, supporting horizontal gawdlustered CommuniGate Pro deployments.</a:t>
            </a:r>
            <a:endParaRPr lang="en-US" sz="1125" dirty="0"/>
          </a:p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8051750" y="2324100"/>
            <a:ext cx="3454301" cy="2038350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B2545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>
            <p:custDataLst>
              <p:tags r:id="rId13"/>
            </p:custDataLst>
          </p:nvPr>
        </p:nvSpPr>
        <p:spPr>
          <a:xfrm>
            <a:off x="8299400" y="2343150"/>
            <a:ext cx="2959001" cy="0"/>
          </a:xfrm>
          <a:prstGeom prst="line">
            <a:avLst/>
          </a:prstGeom>
          <a:noFill/>
          <a:ln w="38100">
            <a:solidFill>
              <a:srgbClr val="FFB43B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14"/>
            </p:custDataLst>
          </p:nvPr>
        </p:nvSpPr>
        <p:spPr>
          <a:xfrm>
            <a:off x="8299400" y="2628900"/>
            <a:ext cx="301818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975" dirty="0"/>
          </a:p>
        </p:txBody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8299400" y="2847975"/>
            <a:ext cx="301818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FuturedwadProofing</a:t>
            </a:r>
            <a:endParaRPr lang="en-US" sz="1650" dirty="0"/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8299400" y="3209925"/>
            <a:ext cx="3018181" cy="6643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Standards evolve in the open. New cliendwadtecting investments as the ecosystem changdwas.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685800" y="6310312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6305550"/>
            <a:ext cx="11036808" cy="285750"/>
          </a:xfrm>
          <a:prstGeom prst="rect">
            <a:avLst/>
          </a:prstGeom>
          <a:noFill/>
        </p:spPr>
        <p:txBody>
          <a:bodyPr wrap="square" lIns="0" tIns="13335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Open Standard-Based APIs</a:t>
            </a:r>
            <a:endParaRPr lang="en-US" sz="975" dirty="0"/>
          </a:p>
          <a:p>
            <a:pPr marL="0" indent="0" algn="l">
              <a:buNone/>
            </a:pPr>
            <a:r>
              <a:rPr lang="en-US" sz="97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</a:t>
            </a:r>
            <a:r>
              <a:rPr lang="en-US" sz="97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 / 10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/tmp/html2pptx-ei75YV/html2pptx-bg-1786387452504-3ae91fcd54f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15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571500"/>
            <a:ext cx="369189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PLATFORM OVERVIEW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381000" y="847725"/>
            <a:ext cx="3691890" cy="764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Aft>
                <a:spcPts val="135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muniGate Pro APIwad Ecosystem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381000" y="1783259"/>
            <a:ext cx="369189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unifiedasd messaging and groupware platform exposing open, RFC-defined APIs that any standards-based client can consume natively.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81000" y="6296025"/>
            <a:ext cx="274478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platform · Four open APIs · Unlimited clients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857750" y="571500"/>
            <a:ext cx="6898005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Openwda APIs Exposed by CommuniGate Pro</a:t>
            </a:r>
            <a:endParaRPr lang="en-US" sz="1500" dirty="0"/>
          </a:p>
        </p:txBody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4857750" y="962025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5057775" y="1143000"/>
            <a:ext cx="29535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CALENDARdwa · RFC 4791</a:t>
            </a:r>
            <a:endParaRPr lang="en-US" sz="900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5057775" y="1314450"/>
            <a:ext cx="295351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CalDAdwaV</a:t>
            </a:r>
            <a:endParaRPr lang="en-US" sz="165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5057775" y="1619250"/>
            <a:ext cx="295351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Calendar andwadd task access for native macOS, iOS, Android, and Outlook clients.</a:t>
            </a:r>
            <a:endParaRPr lang="en-US" sz="975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8324850" y="962025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8524875" y="1143000"/>
            <a:ext cx="29535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CONTACTwS · RFC 6352</a:t>
            </a:r>
            <a:endParaRPr lang="en-US" sz="90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8524875" y="1314450"/>
            <a:ext cx="295351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CardwadDAV</a:t>
            </a:r>
            <a:endParaRPr lang="en-US" sz="165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8524875" y="1619250"/>
            <a:ext cx="295351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Address bwdasdook synchronization across desktop and mobile address books.</a:t>
            </a:r>
            <a:endParaRPr lang="en-US" sz="975" dirty="0"/>
          </a:p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4857750" y="2343150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5057775" y="2524125"/>
            <a:ext cx="29535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MAIL · RwFC 3501</a:t>
            </a:r>
            <a:endParaRPr lang="en-US" sz="90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5057775" y="2695575"/>
            <a:ext cx="295351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IMdAPdwa</a:t>
            </a:r>
            <a:endParaRPr lang="en-US" sz="1650" dirty="0"/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5057775" y="3000375"/>
            <a:ext cx="295351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Server-sdwdide mailbox access with search, flags, and concurrent sessions.</a:t>
            </a:r>
            <a:endParaRPr lang="en-US" sz="975" dirty="0"/>
          </a:p>
        </p:txBody>
      </p:sp>
      <p:sp>
        <p:nvSpPr>
          <p:cNvPr id="21" name="Text 18"/>
          <p:cNvSpPr/>
          <p:nvPr>
            <p:custDataLst>
              <p:tags r:id="rId14"/>
            </p:custDataLst>
          </p:nvPr>
        </p:nvSpPr>
        <p:spPr>
          <a:xfrm>
            <a:off x="8324850" y="2343150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>
            <p:custDataLst>
              <p:tags r:id="rId15"/>
            </p:custDataLst>
          </p:nvPr>
        </p:nvSpPr>
        <p:spPr>
          <a:xfrm>
            <a:off x="8524875" y="2524125"/>
            <a:ext cx="29535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MESSAdwaGING · RFC 6120</a:t>
            </a:r>
            <a:endParaRPr lang="en-US" sz="900" dirty="0"/>
          </a:p>
        </p:txBody>
      </p:sp>
      <p:sp>
        <p:nvSpPr>
          <p:cNvPr id="23" name="Text 20"/>
          <p:cNvSpPr/>
          <p:nvPr>
            <p:custDataLst>
              <p:tags r:id="rId16"/>
            </p:custDataLst>
          </p:nvPr>
        </p:nvSpPr>
        <p:spPr>
          <a:xfrm>
            <a:off x="8524875" y="2695575"/>
            <a:ext cx="295351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XMdaPP</a:t>
            </a:r>
            <a:endParaRPr lang="en-US" sz="1650" dirty="0"/>
          </a:p>
        </p:txBody>
      </p:sp>
      <p:sp>
        <p:nvSpPr>
          <p:cNvPr id="24" name="Text 21"/>
          <p:cNvSpPr/>
          <p:nvPr>
            <p:custDataLst>
              <p:tags r:id="rId17"/>
            </p:custDataLst>
          </p:nvPr>
        </p:nvSpPr>
        <p:spPr>
          <a:xfrm>
            <a:off x="8524875" y="3000375"/>
            <a:ext cx="295351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Real-tiwdame presence and instant messaging federatedsawd across domains.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4857750" y="3762375"/>
            <a:ext cx="6762750" cy="704850"/>
          </a:xfrm>
          <a:prstGeom prst="roundRect">
            <a:avLst>
              <a:gd name="adj" fmla="val 10811"/>
            </a:avLst>
          </a:prstGeom>
          <a:solidFill>
            <a:srgbClr val="EAF6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876800" y="3914775"/>
            <a:ext cx="0" cy="400050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86350" y="3914775"/>
            <a:ext cx="6470523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four pdsarotocols are delivered as modules of the CommuniGate Pro HTTP and TCP stacks — </a:t>
            </a:r>
            <a:r>
              <a:rPr lang="en-US" sz="105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server, ondwade identity store, one administrative UI</a:t>
            </a:r>
            <a:r>
              <a:rPr lang="en-US" sz="1050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270903" y="6515100"/>
            <a:ext cx="3565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76250"/>
            <a:ext cx="7694221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CALENDAR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714375"/>
            <a:ext cx="7694221" cy="4161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0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 — Calendar Access fodsar Every Client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204847" y="476250"/>
            <a:ext cx="1301353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D3DD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47722" y="561975"/>
            <a:ext cx="103591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4791 / 6638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549598"/>
            <a:ext cx="559795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82973"/>
            <a:ext cx="559795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 exposes CodawmmuniGate Prodwa calendars and tasks over dwadHTTP so users see the same events and reminders on any device, in real time, without proprietary sync agents.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2702123"/>
            <a:ext cx="5488186" cy="1938337"/>
          </a:xfrm>
          <a:prstGeom prst="rect">
            <a:avLst/>
          </a:prstGeom>
          <a:noFill/>
        </p:spPr>
        <p:txBody>
          <a:bodyPr wrap="square" lIns="0" tIns="76200" rIns="0" bIns="76200" rtlCol="0" anchor="t"/>
          <a:lstStyle/>
          <a:p>
            <a:pPr marL="0" indent="0" algn="l">
              <a:lnSpc>
                <a:spcPts val="1745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Native client supdwaport: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Apple Calenddwaar, Outlook,dwa Thunderbird, Android (via DdwaAVx5).</a:t>
            </a:r>
            <a:endParaRPr lang="en-US" sz="1125" dirty="0"/>
          </a:p>
          <a:p>
            <a:pPr marL="0" indent="0" algn="l">
              <a:lnSpc>
                <a:spcPts val="1745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Shared caledwandars: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delegated team and resource calendars with fine-grained ACLs.</a:t>
            </a:r>
            <a:endParaRPr lang="en-US" sz="1125" dirty="0"/>
          </a:p>
          <a:p>
            <a:pPr marL="0" indent="0" algn="l">
              <a:lnSpc>
                <a:spcPts val="1745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Invitadwations: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iMIP/iTdwIP scheduling for cross-organizational meetings.</a:t>
            </a:r>
            <a:endParaRPr lang="en-US" sz="1125" dirty="0"/>
          </a:p>
          <a:p>
            <a:pPr marL="0" indent="0" algn="l">
              <a:lnSpc>
                <a:spcPts val="1745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Push updates: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real-time danotifications via CalDAV sync reports.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516886" y="1549598"/>
            <a:ext cx="4989314" cy="2781300"/>
          </a:xfrm>
          <a:prstGeom prst="roundRect">
            <a:avLst>
              <a:gd name="adj" fmla="val 4795"/>
            </a:avLst>
          </a:prstGeom>
          <a:solidFill>
            <a:srgbClr val="0B2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83586" y="1797248"/>
            <a:ext cx="454503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ADMINISTRdwaATOR UX WINS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3586" y="2082998"/>
            <a:ext cx="4545032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dwaZero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783586" y="2463998"/>
            <a:ext cx="45450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client-side connectors to ddwaeploy or maintain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783586" y="2778323"/>
            <a:ext cx="4545032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1:dwa1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783586" y="3159323"/>
            <a:ext cx="45450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identity anddwa ACL model shared with mail and IM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83586" y="3473648"/>
            <a:ext cx="454503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SAMPLE ENdwDPOINT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83586" y="3759398"/>
            <a:ext cx="4455914" cy="323850"/>
          </a:xfrm>
          <a:prstGeom prst="roundRect">
            <a:avLst>
              <a:gd name="adj" fmla="val 17647"/>
            </a:avLst>
          </a:prstGeom>
          <a:solidFill>
            <a:srgbClr val="2EC5F3">
              <a:alpha val="12000"/>
            </a:srgbClr>
          </a:solidFill>
        </p:spPr>
        <p:txBody>
          <a:bodyPr wrap="square" lIns="114300" tIns="95250" rIns="114300" bIns="95250" rtlCol="0" anchor="ctr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00" dirty="0">
                <a:solidFill>
                  <a:srgbClr val="CDE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https://mail.sdaexample.com/CalDAV/principals/jdoe/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</p:spPr>
        <p:txBody>
          <a:bodyPr wrap="square" lIns="0" tIns="11430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CalDAV Module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76250"/>
            <a:ext cx="765277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CONTACTS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714375"/>
            <a:ext cx="7652778" cy="4161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0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 — One Address Book Everywhere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12636" y="476250"/>
            <a:ext cx="893564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D3DD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755511" y="561975"/>
            <a:ext cx="61997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6352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530548"/>
            <a:ext cx="53629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44873"/>
            <a:ext cx="536295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 synchronizes condwatact folders over HTTP using vCard, so users keep a single, consistdadent address bodasdok across desktop, mobile, and webmail — with offline edits reconciled on reconnect.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2664023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04850" y="2816423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350" y="2816423"/>
            <a:ext cx="22248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Universal vCard 3/4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95350" y="3016448"/>
            <a:ext cx="2224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Standard records wodark in macOS Contacts, iOS, Android, and Outlook.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381375" y="2664023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00425" y="2816423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0925" y="2816423"/>
            <a:ext cx="22248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Per-fodwalder ACLs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590925" y="3016448"/>
            <a:ext cx="2224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dwaShare personal, team, and global address lists with controlled access.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85800" y="3661172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4850" y="3813572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350" y="3813572"/>
            <a:ext cx="22248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Multi-device syndwac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95350" y="4013597"/>
            <a:ext cx="2224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Conflicts rdaesolved server-side; no duplicate entries.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381375" y="3661172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400425" y="3813572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0925" y="3813572"/>
            <a:ext cx="22248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Search &amp; fidwalter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590925" y="4013597"/>
            <a:ext cx="2224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Server-side dawsqueries keep large directories responsive.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248400" y="1530548"/>
            <a:ext cx="5257800" cy="2657475"/>
          </a:xfrm>
          <a:prstGeom prst="roundRect">
            <a:avLst>
              <a:gd name="adj" fmla="val 5018"/>
            </a:avLst>
          </a:prstGeom>
          <a:solidFill>
            <a:srgbClr val="0B2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96050" y="1759148"/>
            <a:ext cx="48577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IMPAdawdCT AT A GLANCE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496050" y="210204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89663" y="2054423"/>
            <a:ext cx="8106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896100" y="2054423"/>
            <a:ext cx="194446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Udwaser adds a contact on phone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496050" y="257829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89663" y="2530673"/>
            <a:ext cx="8106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896100" y="2530673"/>
            <a:ext cx="295366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CardDdwadAV pushes vCard to CommuniGate Pro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496050" y="305454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89663" y="3006923"/>
            <a:ext cx="8106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896100" y="3006923"/>
            <a:ext cx="273020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Desktop andsdaw webmail see updatdae instantly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496050" y="353079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89663" y="3483173"/>
            <a:ext cx="8106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896100" y="3483173"/>
            <a:ext cx="256534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 madwnages one identity, one policydwa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</p:spPr>
        <p:txBody>
          <a:bodyPr wrap="square" lIns="0" tIns="11430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CardDAV Module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76250"/>
            <a:ext cx="726385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MAIL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714375"/>
            <a:ext cx="7263854" cy="4161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0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IMAwaP — Raeliable dwaMailbox Accedwass at Scale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204847" y="476250"/>
            <a:ext cx="1301353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D3DD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47722" y="561975"/>
            <a:ext cx="103591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3501 / 9051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530548"/>
            <a:ext cx="510746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44873"/>
            <a:ext cx="5107469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 gives users live, servdwaer-resident mailbox access from any client, with rich searcdawh, flags, dwaand coawdncurrent sessions — the foundation of every moderdwan mail experience.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2664023"/>
            <a:ext cx="5007322" cy="1681163"/>
          </a:xfrm>
          <a:prstGeom prst="rect">
            <a:avLst/>
          </a:prstGeom>
          <a:noFill/>
        </p:spPr>
        <p:txBody>
          <a:bodyPr wrap="square" lIns="0" tIns="76200" rIns="0" bIns="76200" rtlCol="0" anchor="t"/>
          <a:lstStyle/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Multi-client access: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webdawmail, desktop, and mobile share one mailbox stadadte.</a:t>
            </a:r>
            <a:endParaRPr lang="en-US" sz="1125" dirty="0"/>
          </a:p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Server-side searcdwah: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fast queries without downloading full mailboxes.</a:t>
            </a:r>
            <a:endParaRPr lang="en-US" sz="1125" dirty="0"/>
          </a:p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Flags &amp; threads: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read, fdwlagged, and labeled state stays in sync.</a:t>
            </a:r>
            <a:endParaRPr lang="en-US" sz="1125" dirty="0"/>
          </a:p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Concurrency:</a:t>
            </a: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many sessiondwas per user without data loss.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997922" y="1530548"/>
            <a:ext cx="561844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impacdwat for administrators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97922" y="1844873"/>
            <a:ext cx="5508278" cy="2338239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B2545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97922" y="1844873"/>
            <a:ext cx="5508278" cy="460028"/>
          </a:xfrm>
          <a:prstGeom prst="rect">
            <a:avLst/>
          </a:prstGeom>
          <a:solidFill>
            <a:srgbClr val="0B2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8422" y="1978223"/>
            <a:ext cx="1961165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CAPABIdwaLITY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1133" y="1978223"/>
            <a:ext cx="3268659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BEdwaNEFIT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8422" y="2309664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8422" y="2447776"/>
            <a:ext cx="1961165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IDLE pdwadwaush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11133" y="2447776"/>
            <a:ext cx="3268659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dwaReal-time notifications on mobile and desktop.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8422" y="2779216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8422" y="2917329"/>
            <a:ext cx="1961165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QUOTA extdwaension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11133" y="2917329"/>
            <a:ext cx="3268659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Clients show stodwarage usage before send.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8422" y="3248769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8422" y="3386882"/>
            <a:ext cx="1961165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LIST extensiodwans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11133" y="3386882"/>
            <a:ext cx="3268659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Hierarchicaldwa folders render correctly everywhere.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8422" y="3718322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8422" y="3856434"/>
            <a:ext cx="1961165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UTF-8 sdwaearch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11133" y="3856434"/>
            <a:ext cx="3268659" cy="193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International mailbodwaxes are searchable natively.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</p:spPr>
        <p:txBody>
          <a:bodyPr wrap="square" lIns="0" tIns="11430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IMAP Module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7dylBc/html2pptx-bg-1786387456331-c2186a0619739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6250"/>
            <a:ext cx="713284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REAL-TIME MESSAGING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685800" y="714375"/>
            <a:ext cx="7132847" cy="4161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 — Presence, Chat, and Federation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204847" y="476250"/>
            <a:ext cx="1301353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347722" y="561975"/>
            <a:ext cx="103591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6120 / 6121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1549598"/>
            <a:ext cx="53629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delivedwrs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1863923"/>
            <a:ext cx="536295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 provides real-time presenceddwad and instant messaging on CommuniGate Pro, with native server-to-server federation that lets users chat securely across organizations and domains.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685800" y="2683073"/>
            <a:ext cx="5257800" cy="1466850"/>
          </a:xfrm>
          <a:prstGeom prst="rect">
            <a:avLst/>
          </a:prstGeom>
          <a:noFill/>
        </p:spPr>
        <p:txBody>
          <a:bodyPr wrap="square" lIns="0" tIns="76200" rIns="0" bIns="76200" rtlCol="0" anchor="t"/>
          <a:lstStyle/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Presence:</a:t>
            </a: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live availability status shared across all clients.</a:t>
            </a:r>
            <a:endParaRPr lang="en-US" sz="1125" dirty="0"/>
          </a:p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1:1 and group chat:</a:t>
            </a: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server-hoswsdadted rooms wswith full audit trails.</a:t>
            </a:r>
            <a:endParaRPr lang="en-US" sz="1125" dirty="0"/>
          </a:p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Federation:</a:t>
            </a: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S2dawsS dialback and TLS for cross-domain messaging.</a:t>
            </a:r>
            <a:endParaRPr lang="en-US" sz="1125" dirty="0"/>
          </a:p>
          <a:p>
            <a:pPr marL="0" indent="0" algn="l">
              <a:lnSpc>
                <a:spcPts val="1690"/>
              </a:lnSpc>
              <a:buSzPct val="100000"/>
              <a:buNone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Extensions:</a:t>
            </a: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XEPs for file transfer, MUC, pubsub, and CARbons.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248400" y="1549598"/>
            <a:ext cx="5257800" cy="2556272"/>
          </a:xfrm>
          <a:prstGeom prst="roundRect">
            <a:avLst>
              <a:gd name="adj" fmla="val 521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05575" y="1787723"/>
            <a:ext cx="483831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WINS DELdwaIVERED</a:t>
            </a:r>
            <a:endParaRPr lang="en-US" sz="1125" dirty="0"/>
          </a:p>
        </p:txBody>
      </p:sp>
      <p:sp>
        <p:nvSpPr>
          <p:cNvPr id="13" name="Text 10"/>
          <p:cNvSpPr/>
          <p:nvPr>
            <p:custDataLst>
              <p:tags r:id="rId2"/>
            </p:custDataLst>
          </p:nvPr>
        </p:nvSpPr>
        <p:spPr>
          <a:xfrm>
            <a:off x="6505575" y="2082998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>
            <p:custDataLst>
              <p:tags r:id="rId3"/>
            </p:custDataLst>
          </p:nvPr>
        </p:nvSpPr>
        <p:spPr>
          <a:xfrm>
            <a:off x="6657975" y="2216348"/>
            <a:ext cx="204025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Multi-devdwdaice sync</a:t>
            </a:r>
            <a:endParaRPr lang="en-US" sz="1125" dirty="0"/>
          </a:p>
        </p:txBody>
      </p:sp>
      <p:sp>
        <p:nvSpPr>
          <p:cNvPr id="15" name="Text 12"/>
          <p:cNvSpPr/>
          <p:nvPr>
            <p:custDataLst>
              <p:tags r:id="rId4"/>
            </p:custDataLst>
          </p:nvPr>
        </p:nvSpPr>
        <p:spPr>
          <a:xfrm>
            <a:off x="6657975" y="2416373"/>
            <a:ext cx="2040255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Message CARbons keep all clients in step.dwadsw</a:t>
            </a:r>
            <a:endParaRPr lang="en-US" sz="975" dirty="0"/>
          </a:p>
        </p:txBody>
      </p:sp>
      <p:sp>
        <p:nvSpPr>
          <p:cNvPr id="16" name="Text 13"/>
          <p:cNvSpPr/>
          <p:nvPr>
            <p:custDataLst>
              <p:tags r:id="rId5"/>
            </p:custDataLst>
          </p:nvPr>
        </p:nvSpPr>
        <p:spPr>
          <a:xfrm>
            <a:off x="8943975" y="2082998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>
            <p:custDataLst>
              <p:tags r:id="rId6"/>
            </p:custDataLst>
          </p:nvPr>
        </p:nvSpPr>
        <p:spPr>
          <a:xfrm>
            <a:off x="9096375" y="2216348"/>
            <a:ext cx="204025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Offline deliverwady</a:t>
            </a:r>
            <a:endParaRPr lang="en-US" sz="1125" dirty="0"/>
          </a:p>
        </p:txBody>
      </p:sp>
      <p:sp>
        <p:nvSpPr>
          <p:cNvPr id="18" name="Text 15"/>
          <p:cNvSpPr/>
          <p:nvPr>
            <p:custDataLst>
              <p:tags r:id="rId7"/>
            </p:custDataLst>
          </p:nvPr>
        </p:nvSpPr>
        <p:spPr>
          <a:xfrm>
            <a:off x="9096375" y="2416373"/>
            <a:ext cx="2040255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Messages storedwadsad server-side and delivered on reconnect.</a:t>
            </a:r>
            <a:endParaRPr lang="en-US" sz="975" dirty="0"/>
          </a:p>
        </p:txBody>
      </p:sp>
      <p:sp>
        <p:nvSpPr>
          <p:cNvPr id="19" name="Text 16"/>
          <p:cNvSpPr/>
          <p:nvPr>
            <p:custDataLst>
              <p:tags r:id="rId8"/>
            </p:custDataLst>
          </p:nvPr>
        </p:nvSpPr>
        <p:spPr>
          <a:xfrm>
            <a:off x="6505575" y="3042047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>
            <p:custDataLst>
              <p:tags r:id="rId9"/>
            </p:custDataLst>
          </p:nvPr>
        </p:nvSpPr>
        <p:spPr>
          <a:xfrm>
            <a:off x="6657975" y="3175397"/>
            <a:ext cx="204025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End-tosdawd-end TLS</a:t>
            </a:r>
            <a:endParaRPr lang="en-US" sz="1125" dirty="0"/>
          </a:p>
        </p:txBody>
      </p:sp>
      <p:sp>
        <p:nvSpPr>
          <p:cNvPr id="21" name="Text 18"/>
          <p:cNvSpPr/>
          <p:nvPr>
            <p:custDataLst>
              <p:tags r:id="rId10"/>
            </p:custDataLst>
          </p:nvPr>
        </p:nvSpPr>
        <p:spPr>
          <a:xfrm>
            <a:off x="6657975" y="3375422"/>
            <a:ext cx="2040255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dawdencryption on C2S and S2S links.</a:t>
            </a:r>
            <a:endParaRPr lang="en-US" sz="975" dirty="0"/>
          </a:p>
        </p:txBody>
      </p:sp>
      <p:sp>
        <p:nvSpPr>
          <p:cNvPr id="22" name="Text 19"/>
          <p:cNvSpPr/>
          <p:nvPr>
            <p:custDataLst>
              <p:tags r:id="rId11"/>
            </p:custDataLst>
          </p:nvPr>
        </p:nvSpPr>
        <p:spPr>
          <a:xfrm>
            <a:off x="8943975" y="3042047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>
            <p:custDataLst>
              <p:tags r:id="rId12"/>
            </p:custDataLst>
          </p:nvPr>
        </p:nvSpPr>
        <p:spPr>
          <a:xfrm>
            <a:off x="9096375" y="3175397"/>
            <a:ext cx="204025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identity</a:t>
            </a:r>
            <a:endParaRPr lang="en-US" sz="1125" dirty="0"/>
          </a:p>
        </p:txBody>
      </p:sp>
      <p:sp>
        <p:nvSpPr>
          <p:cNvPr id="24" name="Text 21"/>
          <p:cNvSpPr/>
          <p:nvPr>
            <p:custDataLst>
              <p:tags r:id="rId13"/>
            </p:custDataLst>
          </p:nvPr>
        </p:nvSpPr>
        <p:spPr>
          <a:xfrm>
            <a:off x="9096375" y="3375422"/>
            <a:ext cx="2040255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Same jdoe@ewdasxample.com used for mail, calendar, and chat.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</p:spPr>
        <p:txBody>
          <a:bodyPr wrap="square" lIns="0" tIns="11430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XMPP Module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103680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695325"/>
            <a:ext cx="11036808" cy="3942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From Plan to Production in Five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222921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432471"/>
            <a:ext cx="87439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pragmatic rollout path grounded in real CommuniGate Pro administrative practice.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14400" y="1994446"/>
            <a:ext cx="28575" cy="4600575"/>
          </a:xfrm>
          <a:prstGeom prst="roundRect">
            <a:avLst>
              <a:gd name="adj" fmla="val 66667"/>
            </a:avLst>
          </a:prstGeom>
          <a:solidFill>
            <a:srgbClr val="D3DD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186109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A73C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6151" y="1999208"/>
            <a:ext cx="9730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90650" y="1861096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1150" y="1994446"/>
            <a:ext cx="992924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ENABLE API ACCsESS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81150" y="2165896"/>
            <a:ext cx="992924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Turn on the protocol modules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581150" y="2394496"/>
            <a:ext cx="992924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Activate CalDAVwda, CardDAV, IMAP, and XMPP in the HTTP/TCP listener configs; enforce TLS and strong ciphers.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86122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6151" y="2999333"/>
            <a:ext cx="9730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90650" y="2861221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81150" y="2994571"/>
            <a:ext cx="992924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SELECT CLIENdwasT LIBRARIES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81150" y="3166021"/>
            <a:ext cx="992924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Choose RFC-compliant SdwaDKs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581150" y="3394621"/>
            <a:ext cx="992924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Pick mature libraries (e.g. curl/requests, dwalibcurl, slixmpp, vobject) that honor authentication, ACLs, and UTF-8.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86134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FB43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76151" y="3999458"/>
            <a:ext cx="9730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90650" y="3861346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81150" y="3994696"/>
            <a:ext cx="992924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INTEdaGRATIONS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81150" y="4166146"/>
            <a:ext cx="992924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Wire users, provawisioning, and apps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581150" y="4394746"/>
            <a:ext cx="992924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Map identities, sdwaet up SSO where possible, automate account provisioning, and expose only the needed scopes.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86147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B2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76151" y="4999583"/>
            <a:ext cx="9730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90650" y="4861471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81150" y="4994821"/>
            <a:ext cx="992924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THwaOROUGHLY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81150" y="5166271"/>
            <a:ext cx="992924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Validate clientdwas and load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581150" y="5394871"/>
            <a:ext cx="992924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 conformance and load tests; vdwaerify multi-device sync, federation, failover, and backup/restore.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86159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A73C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76151" y="5999708"/>
            <a:ext cx="9730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90650" y="5861596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81150" y="5994946"/>
            <a:ext cx="992924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MONITOR &amp; IdwaTERATE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81150" y="6166396"/>
            <a:ext cx="992924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 anddwa tune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581150" y="6394996"/>
            <a:ext cx="992924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module metrics, audit logs, dwaand UX feedback; tune quotas, timeouts, and cluster sizing as usage grows.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64150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6410325"/>
            <a:ext cx="11036808" cy="238125"/>
          </a:xfrm>
          <a:prstGeom prst="rect">
            <a:avLst/>
          </a:prstGeom>
          <a:noFill/>
        </p:spPr>
        <p:txBody>
          <a:bodyPr wrap="square" lIns="0" tIns="9525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Implementation Roadmap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103680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695325"/>
            <a:ext cx="11036808" cy="3942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Real-World Practices That Hold Up at Scale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222921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685800" y="1489621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effectLst>
            <a:outerShdw blurRad="171450" dist="57150" dir="5400000" algn="bl" rotWithShape="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895350" y="166107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6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999976" y="1755130"/>
            <a:ext cx="175031" cy="192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</a:t>
            </a:r>
            <a:endParaRPr lang="en-US" sz="1015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466850" y="1661071"/>
            <a:ext cx="442055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Secure by default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1466850" y="1870621"/>
            <a:ext cx="4420553" cy="385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Enforce TLSwa 1.2+, OCSP, strodawdng ciphers, and app-specific passwords with per-protocol scopes.</a:t>
            </a:r>
            <a:endParaRPr lang="en-US" sz="1015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6181725" y="1489621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effectLst>
            <a:outerShdw blurRad="171450" dist="57150" dir="5400000" algn="bl" rotWithShape="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6391275" y="166107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EF3D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6517481" y="1755130"/>
            <a:ext cx="131159" cy="192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</a:t>
            </a:r>
            <a:endParaRPr lang="en-US" sz="1015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6962775" y="1661071"/>
            <a:ext cx="442055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identitydwa source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6962775" y="1870621"/>
            <a:ext cx="4420553" cy="385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Bind all four APIs to the CommuniGate Pro directory; avoid shadow accounts thatdwadwa drift from policy.</a:t>
            </a:r>
            <a:endParaRPr lang="en-US" sz="1015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685800" y="2599283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effectLst>
            <a:outerShdw blurRad="171450" dist="57150" dir="5400000" algn="bl" rotWithShape="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895350" y="2770733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6F7E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989409" y="2864793"/>
            <a:ext cx="196739" cy="192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QA</a:t>
            </a:r>
            <a:endParaRPr lang="en-US" sz="1015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1466850" y="2770733"/>
            <a:ext cx="442055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before trust</a:t>
            </a:r>
            <a:endParaRPr lang="en-US" sz="12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1466850" y="2980283"/>
            <a:ext cx="4420553" cy="385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Validate every new cliendadwt with conformance suites; capture baseline metrics before production rollout.</a:t>
            </a:r>
            <a:endParaRPr lang="en-US" sz="1015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6181725" y="2599283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effectLst>
            <a:outerShdw blurRad="171450" dist="57150" dir="5400000" algn="bl" rotWithShape="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6391275" y="2770733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0E9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485334" y="2864793"/>
            <a:ext cx="196739" cy="192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</a:t>
            </a:r>
            <a:endParaRPr lang="en-US" sz="1015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962775" y="2770733"/>
            <a:ext cx="442055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 everytdwahing</a:t>
            </a:r>
            <a:endParaRPr lang="en-US" sz="12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962775" y="2980283"/>
            <a:ext cx="4420553" cy="385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Instrument module logdwas, queues, and sync latdwaency; alert on authentication failures and ACL changes.</a:t>
            </a:r>
            <a:endParaRPr lang="en-US" sz="1015" dirty="0"/>
          </a:p>
        </p:txBody>
      </p:sp>
      <p:sp>
        <p:nvSpPr>
          <p:cNvPr id="26" name="Text 24"/>
          <p:cNvSpPr/>
          <p:nvPr/>
        </p:nvSpPr>
        <p:spPr>
          <a:xfrm>
            <a:off x="685800" y="3747046"/>
            <a:ext cx="10820400" cy="504825"/>
          </a:xfrm>
          <a:prstGeom prst="roundRect">
            <a:avLst>
              <a:gd name="adj" fmla="val 22642"/>
            </a:avLst>
          </a:prstGeom>
          <a:solidFill>
            <a:srgbClr val="0B2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95350" y="3928021"/>
            <a:ext cx="144654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FUTURE-PROOFING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484983" y="3899446"/>
            <a:ext cx="892930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RFCs and XEPs</a:t>
            </a: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and apply mdwaodule updates in a staging cluster first — open standards evolve, and your integrations should evolve with them.dwawda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64150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410325"/>
            <a:ext cx="11036808" cy="238125"/>
          </a:xfrm>
          <a:prstGeom prst="rect">
            <a:avLst/>
          </a:prstGeom>
          <a:noFill/>
        </p:spPr>
        <p:txBody>
          <a:bodyPr wrap="square" lIns="0" tIns="9525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Best Practices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fSgd6h/html2pptx-bg-1786387459189-904f839008e1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EC5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2000" y="666750"/>
            <a:ext cx="1088136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62000" y="971550"/>
            <a:ext cx="9521190" cy="9638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95"/>
              </a:lnSpc>
              <a:spcAft>
                <a:spcPts val="165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APIs Turn CdwaommuniGate Pro Into a Universal UXdwa Layer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62000" y="2144911"/>
            <a:ext cx="8549640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spcAft>
                <a:spcPts val="2250"/>
              </a:spcAft>
              <a:buNone/>
            </a:pPr>
            <a:r>
              <a:rPr lang="en-US" sz="13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CalDAV, CardDAV, IMAP, and XMPP give every user a consistent, dwanative experience across devices — while giving admindawistrators one platform, one idedwantity store, and a future-proof integration path.dwa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2000" y="2961977"/>
            <a:ext cx="3441650" cy="1009650"/>
          </a:xfrm>
          <a:prstGeom prst="roundRect">
            <a:avLst>
              <a:gd name="adj" fmla="val 113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62025" y="3142952"/>
            <a:ext cx="310243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ADdaOPT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2025" y="3390602"/>
            <a:ext cx="3102432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Enadwable all four pwadrotocol modules and bind them to the shareddwad dirdwaectory.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75100" y="2961977"/>
            <a:ext cx="3441650" cy="1009650"/>
          </a:xfrm>
          <a:prstGeom prst="roundRect">
            <a:avLst>
              <a:gd name="adj" fmla="val 113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5125" y="3142952"/>
            <a:ext cx="310243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INTEGRAdwwaaTE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5125" y="3390602"/>
            <a:ext cx="3102432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RFC-compdwaliant libraries and automate provisioning with scoped credwadentials.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88201" y="2961977"/>
            <a:ext cx="3441799" cy="1009650"/>
          </a:xfrm>
          <a:prstGeom prst="roundRect">
            <a:avLst>
              <a:gd name="adj" fmla="val 113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188226" y="3142952"/>
            <a:ext cx="310258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EVOLVwadE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88226" y="3390602"/>
            <a:ext cx="3102584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Monitor, teswat, and update as standdards advance — no vendor lock-wain, no reawdwdawrites.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2000" y="5853112"/>
            <a:ext cx="1066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6096000"/>
            <a:ext cx="768754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Next step:</a:t>
            </a: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audit youwar CommunidwaGate Pro modules, enable missing APIs in stagawng, and pilot one new client this quarter.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8437513" y="6029325"/>
            <a:ext cx="711696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9244459" y="6029325"/>
            <a:ext cx="801142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0140851" y="6029325"/>
            <a:ext cx="576263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0812363" y="6029325"/>
            <a:ext cx="617637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</a:t>
            </a:r>
            <a:endParaRPr lang="en-US" sz="97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2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3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4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5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6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7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8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9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10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11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12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13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14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15.xml><?xml version="1.0" encoding="utf-8"?>
<p:tagLst xmlns:p="http://schemas.openxmlformats.org/presentationml/2006/main">
  <p:tag name="KSO_WM_DIAGRAM_VIRTUALLY_FRAME" val="{&quot;height&quot;:160.5,&quot;left&quot;:54,&quot;top&quot;:183,&quot;width&quot;:851.9882677165355}"/>
</p:tagLst>
</file>

<file path=ppt/tags/tag16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17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18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19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0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1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2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3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4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5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6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7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8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29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30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31.xml><?xml version="1.0" encoding="utf-8"?>
<p:tagLst xmlns:p="http://schemas.openxmlformats.org/presentationml/2006/main">
  <p:tag name="KSO_WM_DIAGRAM_VIRTUALLY_FRAME" val="{&quot;height&quot;:204,&quot;left&quot;:382.5,&quot;top&quot;:75.75,&quot;width&quot;:532.5}"/>
</p:tagLst>
</file>

<file path=ppt/tags/tag32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33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34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35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36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37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38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39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40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41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42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43.xml><?xml version="1.0" encoding="utf-8"?>
<p:tagLst xmlns:p="http://schemas.openxmlformats.org/presentationml/2006/main">
  <p:tag name="KSO_WM_DIAGRAM_VIRTUALLY_FRAME" val="{&quot;height&quot;:140.5312598425197,&quot;left&quot;:512.25,&quot;top&quot;:164.0155905511811,&quot;width&quot;:373.5}"/>
</p:tagLst>
</file>

<file path=ppt/tags/tag44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45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46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47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48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49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0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1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2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3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4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5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6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7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8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59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60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61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62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ags/tag63.xml><?xml version="1.0" encoding="utf-8"?>
<p:tagLst xmlns:p="http://schemas.openxmlformats.org/presentationml/2006/main">
  <p:tag name="KSO_WM_DIAGRAM_VIRTUALLY_FRAME" val="{&quot;height&quot;:161.25,&quot;left&quot;:54,&quot;top&quot;:117.29299212598426,&quot;width&quot;:8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7579</Words>
  <Application>WPS 演示</Application>
  <PresentationFormat>On-screen Show (16:9)</PresentationFormat>
  <Paragraphs>352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Liberation Sans</vt:lpstr>
      <vt:lpstr>Segoe Print</vt:lpstr>
      <vt:lpstr>Liberation Sans</vt:lpstr>
      <vt:lpstr>Liberation Sans</vt:lpstr>
      <vt:lpstr>DejaVu Sans Mono</vt:lpstr>
      <vt:lpstr>DejaVu Sans Mono</vt:lpstr>
      <vt:lpstr>DejaVu Sans Mono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2026-08-10T18:44:00Z</dcterms:created>
  <dcterms:modified xsi:type="dcterms:W3CDTF">2026-08-17T08:24:03Z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CF673D76D45E4F0DB3624B93A96A2936_12</vt:lpwstr>
  </property>
  <property fmtid="{D5CDD505-2E9C-101B-9397-08002B2CF9AE}" pid="3" name="KSOProductBuildVer">
    <vt:lpwstr>2052-12.1.0.28022</vt:lpwstr>
  </property>
</Properties>
</file>