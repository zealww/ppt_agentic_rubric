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8" Type="http://schemas.openxmlformats.org/officeDocument/2006/relationships/notesSlide" Target="../notesSlides/notesSlide2.xml"/><Relationship Id="rId27" Type="http://schemas.openxmlformats.org/officeDocument/2006/relationships/slideLayout" Target="../slideLayouts/slideLayout1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7" Type="http://schemas.openxmlformats.org/officeDocument/2006/relationships/notesSlide" Target="../notesSlides/notesSlide5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49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26.xml"/><Relationship Id="rId19" Type="http://schemas.openxmlformats.org/officeDocument/2006/relationships/tags" Target="../tags/tag43.xml"/><Relationship Id="rId18" Type="http://schemas.openxmlformats.org/officeDocument/2006/relationships/tags" Target="../tags/tag42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7" Type="http://schemas.openxmlformats.org/officeDocument/2006/relationships/notesSlide" Target="../notesSlides/notesSlide10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61.xml"/><Relationship Id="rId14" Type="http://schemas.openxmlformats.org/officeDocument/2006/relationships/tags" Target="../tags/tag60.xml"/><Relationship Id="rId13" Type="http://schemas.openxmlformats.org/officeDocument/2006/relationships/tags" Target="../tags/tag59.xml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YS7KCQ/html2pptx-bg-1786380903980-32ae9195e1cae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/tmp/html2pptx-YS7KCQ/html2pptx-bg-1786380904437-048421173078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-1714500"/>
            <a:ext cx="4953000" cy="4953000"/>
          </a:xfrm>
          <a:prstGeom prst="rect">
            <a:avLst/>
          </a:prstGeom>
        </p:spPr>
      </p:pic>
      <p:pic>
        <p:nvPicPr>
          <p:cNvPr id="4" name="Image 2" descr="/tmp/html2pptx-YS7KCQ/html2pptx-bg-1786380904595-3f1cb7d0dfbb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7250" y="4953000"/>
            <a:ext cx="2667000" cy="2667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62000" y="1047750"/>
            <a:ext cx="76200" cy="1047750"/>
          </a:xfrm>
          <a:prstGeom prst="roundRect">
            <a:avLst>
              <a:gd name="adj" fmla="val 50000"/>
            </a:avLst>
          </a:prstGeom>
          <a:solidFill>
            <a:srgbClr val="5FB3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1047750" y="1047750"/>
            <a:ext cx="2286027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9FD0FF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HR 专题 · 组织文化</a:t>
            </a:r>
            <a:endParaRPr lang="en-US" sz="1350" dirty="0"/>
          </a:p>
        </p:txBody>
      </p:sp>
      <p:sp>
        <p:nvSpPr>
          <p:cNvPr id="7" name="Text 2"/>
          <p:cNvSpPr/>
          <p:nvPr/>
        </p:nvSpPr>
        <p:spPr>
          <a:xfrm>
            <a:off x="762000" y="1571625"/>
            <a:ext cx="7383780" cy="619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75"/>
              </a:lnSpc>
              <a:buNone/>
            </a:pPr>
            <a:r>
              <a:rPr lang="en-US" sz="39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解锁健康的工作关系</a:t>
            </a:r>
            <a:endParaRPr lang="en-US" sz="3900" dirty="0"/>
          </a:p>
        </p:txBody>
      </p:sp>
      <p:sp>
        <p:nvSpPr>
          <p:cNvPr id="8" name="Text 3"/>
          <p:cNvSpPr/>
          <p:nvPr/>
        </p:nvSpPr>
        <p:spPr>
          <a:xfrm>
            <a:off x="781050" y="3429000"/>
            <a:ext cx="6995160" cy="64948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0"/>
              </a:lnSpc>
              <a:buNone/>
            </a:pPr>
            <a:r>
              <a:rPr lang="en-US" sz="1650" dirty="0">
                <a:solidFill>
                  <a:srgbClr val="D7E7F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通过库克-梅利敌量表个性评工具</a:t>
            </a:r>
            <a:endParaRPr lang="en-US" sz="1650" dirty="0"/>
          </a:p>
          <a:p>
            <a:pPr marL="0" indent="0" algn="l">
              <a:lnSpc>
                <a:spcPts val="2560"/>
              </a:lnSpc>
              <a:buNone/>
            </a:pPr>
            <a:r>
              <a:rPr lang="en-US" sz="1650" dirty="0">
                <a:solidFill>
                  <a:srgbClr val="D7E7F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转变业文化，重塑聘、沟通与导力发展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781050" y="5962650"/>
            <a:ext cx="3717393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9C8E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面向人力资源专业人士 </a:t>
            </a:r>
            <a:r>
              <a:rPr lang="en-US" sz="1200" dirty="0">
                <a:solidFill>
                  <a:srgbClr val="A9C8E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内部培训 / 管理层会议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5192613" y="5810250"/>
            <a:ext cx="3284637" cy="476250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9FD0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5411688" y="5953125"/>
            <a:ext cx="2903416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F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CMHS</a:t>
            </a:r>
            <a:r>
              <a:rPr lang="en-US" sz="1050" dirty="0">
                <a:solidFill>
                  <a:srgbClr val="CFE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Cook-Medley Hostility Scale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/tmp/html2pptx-NWyXjg/html2pptx-bg-1786380907925-0a6cec379c61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667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900" y="571500"/>
            <a:ext cx="2020824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350"/>
              </a:spcAft>
              <a:buNone/>
            </a:pPr>
            <a:r>
              <a:rPr lang="en-US" sz="1050" dirty="0">
                <a:solidFill>
                  <a:srgbClr val="9F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AGENDA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42900" y="933450"/>
            <a:ext cx="2020824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25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本次容概览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42900" y="1647825"/>
            <a:ext cx="2020824" cy="7286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5"/>
              </a:lnSpc>
              <a:spcBef>
                <a:spcPts val="2700"/>
              </a:spcBef>
              <a:buNone/>
            </a:pPr>
            <a:r>
              <a:rPr lang="en-US" sz="1125" dirty="0">
                <a:solidFill>
                  <a:srgbClr val="CFE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从量表原理到径，系统了解如何用个性评估工具组织文化转型。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342900" y="6200775"/>
            <a:ext cx="1994865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7FA9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CMHS · WORKPLACE 2026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3238500" y="666750"/>
            <a:ext cx="544068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100"/>
              </a:spcAft>
              <a:buNone/>
            </a:pPr>
            <a:r>
              <a:rPr lang="en-US" sz="1650" b="1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七个模块，构建完认知行动框架</a:t>
            </a:r>
            <a:endParaRPr lang="en-US" sz="1650" dirty="0"/>
          </a:p>
        </p:txBody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3238500" y="1985963"/>
            <a:ext cx="5334000" cy="0"/>
          </a:xfrm>
          <a:prstGeom prst="line">
            <a:avLst/>
          </a:prstGeom>
          <a:noFill/>
          <a:ln w="9525">
            <a:solidFill>
              <a:srgbClr val="E1E8EF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3238500" y="137160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1D4E7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3354586" y="1504950"/>
            <a:ext cx="229377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9"/>
          <p:cNvSpPr/>
          <p:nvPr>
            <p:custDataLst>
              <p:tags r:id="rId5"/>
            </p:custDataLst>
          </p:nvPr>
        </p:nvSpPr>
        <p:spPr>
          <a:xfrm>
            <a:off x="3905250" y="1371600"/>
            <a:ext cx="4760595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D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量表概述与原理</a:t>
            </a:r>
            <a:endParaRPr lang="en-US" sz="1350" dirty="0"/>
          </a:p>
        </p:txBody>
      </p:sp>
      <p:sp>
        <p:nvSpPr>
          <p:cNvPr id="13" name="Text 10"/>
          <p:cNvSpPr/>
          <p:nvPr>
            <p:custDataLst>
              <p:tags r:id="rId6"/>
            </p:custDataLst>
          </p:nvPr>
        </p:nvSpPr>
        <p:spPr>
          <a:xfrm>
            <a:off x="3905250" y="1657350"/>
            <a:ext cx="4760595" cy="1857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什么是库克-梅德利敌意量表，它的来量目标</a:t>
            </a:r>
            <a:endParaRPr lang="en-US" sz="975" dirty="0"/>
          </a:p>
        </p:txBody>
      </p:sp>
      <p:sp>
        <p:nvSpPr>
          <p:cNvPr id="14" name="Shape 11"/>
          <p:cNvSpPr/>
          <p:nvPr>
            <p:custDataLst>
              <p:tags r:id="rId7"/>
            </p:custDataLst>
          </p:nvPr>
        </p:nvSpPr>
        <p:spPr>
          <a:xfrm>
            <a:off x="3238500" y="2733675"/>
            <a:ext cx="5334000" cy="0"/>
          </a:xfrm>
          <a:prstGeom prst="line">
            <a:avLst/>
          </a:prstGeom>
          <a:noFill/>
          <a:ln w="9525">
            <a:solidFill>
              <a:srgbClr val="E1E8EF"/>
            </a:solidFill>
            <a:prstDash val="solid"/>
          </a:ln>
        </p:spPr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3238500" y="2119313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2A6FA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>
            <p:custDataLst>
              <p:tags r:id="rId9"/>
            </p:custDataLst>
          </p:nvPr>
        </p:nvSpPr>
        <p:spPr>
          <a:xfrm>
            <a:off x="3354586" y="2252663"/>
            <a:ext cx="229377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4"/>
          <p:cNvSpPr/>
          <p:nvPr>
            <p:custDataLst>
              <p:tags r:id="rId10"/>
            </p:custDataLst>
          </p:nvPr>
        </p:nvSpPr>
        <p:spPr>
          <a:xfrm>
            <a:off x="3905250" y="2119313"/>
            <a:ext cx="4760595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D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六大敌意维度</a:t>
            </a:r>
            <a:endParaRPr lang="en-US" sz="1350" dirty="0"/>
          </a:p>
        </p:txBody>
      </p:sp>
      <p:sp>
        <p:nvSpPr>
          <p:cNvPr id="18" name="Text 15"/>
          <p:cNvSpPr/>
          <p:nvPr>
            <p:custDataLst>
              <p:tags r:id="rId11"/>
            </p:custDataLst>
          </p:nvPr>
        </p:nvSpPr>
        <p:spPr>
          <a:xfrm>
            <a:off x="3905250" y="2405063"/>
            <a:ext cx="4760595" cy="1857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愤世嫉俗、敌意、敌意情绪等量表</a:t>
            </a:r>
            <a:endParaRPr lang="en-US" sz="975" dirty="0"/>
          </a:p>
        </p:txBody>
      </p:sp>
      <p:sp>
        <p:nvSpPr>
          <p:cNvPr id="19" name="Shape 16"/>
          <p:cNvSpPr/>
          <p:nvPr>
            <p:custDataLst>
              <p:tags r:id="rId12"/>
            </p:custDataLst>
          </p:nvPr>
        </p:nvSpPr>
        <p:spPr>
          <a:xfrm>
            <a:off x="3238500" y="3481388"/>
            <a:ext cx="5334000" cy="0"/>
          </a:xfrm>
          <a:prstGeom prst="line">
            <a:avLst/>
          </a:prstGeom>
          <a:noFill/>
          <a:ln w="9525">
            <a:solidFill>
              <a:srgbClr val="E1E8EF"/>
            </a:solidFill>
            <a:prstDash val="solid"/>
          </a:ln>
        </p:spPr>
      </p:sp>
      <p:sp>
        <p:nvSpPr>
          <p:cNvPr id="20" name="Text 17"/>
          <p:cNvSpPr/>
          <p:nvPr>
            <p:custDataLst>
              <p:tags r:id="rId13"/>
            </p:custDataLst>
          </p:nvPr>
        </p:nvSpPr>
        <p:spPr>
          <a:xfrm>
            <a:off x="3238500" y="2867025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1D4E7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>
            <p:custDataLst>
              <p:tags r:id="rId14"/>
            </p:custDataLst>
          </p:nvPr>
        </p:nvSpPr>
        <p:spPr>
          <a:xfrm>
            <a:off x="3354586" y="3000375"/>
            <a:ext cx="229377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19"/>
          <p:cNvSpPr/>
          <p:nvPr>
            <p:custDataLst>
              <p:tags r:id="rId15"/>
            </p:custDataLst>
          </p:nvPr>
        </p:nvSpPr>
        <p:spPr>
          <a:xfrm>
            <a:off x="3905250" y="2867025"/>
            <a:ext cx="4760595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D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企业应用场景</a:t>
            </a:r>
            <a:endParaRPr lang="en-US" sz="1350" dirty="0"/>
          </a:p>
        </p:txBody>
      </p:sp>
      <p:sp>
        <p:nvSpPr>
          <p:cNvPr id="23" name="Text 20"/>
          <p:cNvSpPr/>
          <p:nvPr>
            <p:custDataLst>
              <p:tags r:id="rId16"/>
            </p:custDataLst>
          </p:nvPr>
        </p:nvSpPr>
        <p:spPr>
          <a:xfrm>
            <a:off x="3905250" y="3152775"/>
            <a:ext cx="4760595" cy="1857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招聘、团队通、领导力发展、员保留</a:t>
            </a:r>
            <a:endParaRPr lang="en-US" sz="975" dirty="0"/>
          </a:p>
        </p:txBody>
      </p:sp>
      <p:sp>
        <p:nvSpPr>
          <p:cNvPr id="24" name="Shape 21"/>
          <p:cNvSpPr/>
          <p:nvPr>
            <p:custDataLst>
              <p:tags r:id="rId17"/>
            </p:custDataLst>
          </p:nvPr>
        </p:nvSpPr>
        <p:spPr>
          <a:xfrm>
            <a:off x="3238500" y="4229100"/>
            <a:ext cx="5334000" cy="0"/>
          </a:xfrm>
          <a:prstGeom prst="line">
            <a:avLst/>
          </a:prstGeom>
          <a:noFill/>
          <a:ln w="9525">
            <a:solidFill>
              <a:srgbClr val="E1E8EF"/>
            </a:solidFill>
            <a:prstDash val="solid"/>
          </a:ln>
        </p:spPr>
      </p:sp>
      <p:sp>
        <p:nvSpPr>
          <p:cNvPr id="25" name="Text 22"/>
          <p:cNvSpPr/>
          <p:nvPr>
            <p:custDataLst>
              <p:tags r:id="rId18"/>
            </p:custDataLst>
          </p:nvPr>
        </p:nvSpPr>
        <p:spPr>
          <a:xfrm>
            <a:off x="3238500" y="3614738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2A6FA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>
            <p:custDataLst>
              <p:tags r:id="rId19"/>
            </p:custDataLst>
          </p:nvPr>
        </p:nvSpPr>
        <p:spPr>
          <a:xfrm>
            <a:off x="3354586" y="3748087"/>
            <a:ext cx="229377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500" dirty="0"/>
          </a:p>
        </p:txBody>
      </p:sp>
      <p:sp>
        <p:nvSpPr>
          <p:cNvPr id="27" name="Text 24"/>
          <p:cNvSpPr/>
          <p:nvPr>
            <p:custDataLst>
              <p:tags r:id="rId20"/>
            </p:custDataLst>
          </p:nvPr>
        </p:nvSpPr>
        <p:spPr>
          <a:xfrm>
            <a:off x="3905250" y="3614738"/>
            <a:ext cx="4760595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D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实施最佳实践</a:t>
            </a:r>
            <a:endParaRPr lang="en-US" sz="1350" dirty="0"/>
          </a:p>
        </p:txBody>
      </p:sp>
      <p:sp>
        <p:nvSpPr>
          <p:cNvPr id="28" name="Text 25"/>
          <p:cNvSpPr/>
          <p:nvPr>
            <p:custDataLst>
              <p:tags r:id="rId21"/>
            </p:custDataLst>
          </p:nvPr>
        </p:nvSpPr>
        <p:spPr>
          <a:xfrm>
            <a:off x="3905250" y="3900488"/>
            <a:ext cx="4760595" cy="1857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综合略、保密性、反馈机制、文监测</a:t>
            </a:r>
            <a:endParaRPr lang="en-US" sz="975" dirty="0"/>
          </a:p>
        </p:txBody>
      </p:sp>
      <p:sp>
        <p:nvSpPr>
          <p:cNvPr id="29" name="Shape 26"/>
          <p:cNvSpPr/>
          <p:nvPr>
            <p:custDataLst>
              <p:tags r:id="rId22"/>
            </p:custDataLst>
          </p:nvPr>
        </p:nvSpPr>
        <p:spPr>
          <a:xfrm>
            <a:off x="3238500" y="4976813"/>
            <a:ext cx="5334000" cy="0"/>
          </a:xfrm>
          <a:prstGeom prst="line">
            <a:avLst/>
          </a:prstGeom>
          <a:noFill/>
          <a:ln w="9525">
            <a:solidFill>
              <a:srgbClr val="E1E8EF"/>
            </a:solidFill>
            <a:prstDash val="solid"/>
          </a:ln>
        </p:spPr>
      </p:sp>
      <p:sp>
        <p:nvSpPr>
          <p:cNvPr id="30" name="Text 27"/>
          <p:cNvSpPr/>
          <p:nvPr>
            <p:custDataLst>
              <p:tags r:id="rId23"/>
            </p:custDataLst>
          </p:nvPr>
        </p:nvSpPr>
        <p:spPr>
          <a:xfrm>
            <a:off x="3238500" y="436245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1D4E7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>
            <p:custDataLst>
              <p:tags r:id="rId24"/>
            </p:custDataLst>
          </p:nvPr>
        </p:nvSpPr>
        <p:spPr>
          <a:xfrm>
            <a:off x="3354586" y="4495800"/>
            <a:ext cx="229377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500" dirty="0"/>
          </a:p>
        </p:txBody>
      </p:sp>
      <p:sp>
        <p:nvSpPr>
          <p:cNvPr id="32" name="Text 29"/>
          <p:cNvSpPr/>
          <p:nvPr>
            <p:custDataLst>
              <p:tags r:id="rId25"/>
            </p:custDataLst>
          </p:nvPr>
        </p:nvSpPr>
        <p:spPr>
          <a:xfrm>
            <a:off x="3905250" y="4362450"/>
            <a:ext cx="4760595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D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总结与行动建议</a:t>
            </a:r>
            <a:endParaRPr lang="en-US" sz="1350" dirty="0"/>
          </a:p>
        </p:txBody>
      </p:sp>
      <p:sp>
        <p:nvSpPr>
          <p:cNvPr id="33" name="Text 30"/>
          <p:cNvSpPr/>
          <p:nvPr>
            <p:custDataLst>
              <p:tags r:id="rId26"/>
            </p:custDataLst>
          </p:nvPr>
        </p:nvSpPr>
        <p:spPr>
          <a:xfrm>
            <a:off x="3905250" y="4648200"/>
            <a:ext cx="4760595" cy="1857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面向H键洞察与下一步地路径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6750" y="476250"/>
            <a:ext cx="7966710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6F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MODULE 01 · 概述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6750" y="762000"/>
            <a:ext cx="7966710" cy="495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buNone/>
            </a:pPr>
            <a:r>
              <a:rPr lang="en-US" sz="2700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什么是库克-梅德利敌意量表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66750" y="139065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5FB3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750" y="1771650"/>
            <a:ext cx="3659100" cy="1333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库克-梅德利敌意量表（</a:t>
            </a:r>
            <a:r>
              <a:rPr lang="en-US" sz="1200" b="1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Cook-Medley Hostility Scale，简称 CMHS / Ho 量表</a:t>
            </a:r>
            <a:r>
              <a:rPr lang="en-US" sz="1200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）源自达多相人格测验（MMPI），由 Cook 与 Medley 于 1954 年提出，最于测量个体在 </a:t>
            </a:r>
            <a:r>
              <a:rPr lang="en-US" sz="1200" b="1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敌意、愤世嫉俗与攻击性反应</a:t>
            </a:r>
            <a:r>
              <a:rPr lang="en-US" sz="1200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方面的稳定倾向。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6750" y="3238500"/>
            <a:ext cx="3659100" cy="1066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1050"/>
              </a:spcBef>
              <a:buNone/>
            </a:pPr>
            <a:r>
              <a:rPr lang="en-US" sz="1200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在企中，CMHS 不再视为"医学诊断"，而是作为一种 </a:t>
            </a:r>
            <a:r>
              <a:rPr lang="en-US" sz="1200" b="1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性格与人际风格评估工具</a:t>
            </a:r>
            <a:r>
              <a:rPr lang="en-US" sz="1200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，帮助 HR 识别些可能影响团围、沟通质量与领导有效性的情感模式。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97003" y="1771650"/>
            <a:ext cx="3880247" cy="2743200"/>
          </a:xfrm>
          <a:prstGeom prst="roundRect">
            <a:avLst>
              <a:gd name="adj" fmla="val 4861"/>
            </a:avLst>
          </a:prstGeom>
          <a:solidFill>
            <a:srgbClr val="F1F6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20816" y="2038350"/>
            <a:ext cx="0" cy="2209800"/>
          </a:xfrm>
          <a:prstGeom prst="line">
            <a:avLst/>
          </a:prstGeom>
          <a:noFill/>
          <a:ln w="47625">
            <a:solidFill>
              <a:srgbClr val="1D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0378" y="2038350"/>
            <a:ext cx="3326344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关键参数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0378" y="2767013"/>
            <a:ext cx="3261122" cy="0"/>
          </a:xfrm>
          <a:prstGeom prst="line">
            <a:avLst/>
          </a:prstGeom>
          <a:noFill/>
          <a:ln w="9525">
            <a:solidFill>
              <a:srgbClr val="CDDDEE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930378" y="2486025"/>
            <a:ext cx="106870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提出者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78128" y="2486025"/>
            <a:ext cx="2257639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Cook &amp; Medley (1954)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30378" y="3138488"/>
            <a:ext cx="3261122" cy="0"/>
          </a:xfrm>
          <a:prstGeom prst="line">
            <a:avLst/>
          </a:prstGeom>
          <a:noFill/>
          <a:ln w="9525">
            <a:solidFill>
              <a:srgbClr val="CDDDEE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930378" y="2857500"/>
            <a:ext cx="106870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来源量表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78128" y="2857500"/>
            <a:ext cx="2257639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MMPI（明尼苏达多相人格测验）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30378" y="3509963"/>
            <a:ext cx="3261122" cy="0"/>
          </a:xfrm>
          <a:prstGeom prst="line">
            <a:avLst/>
          </a:prstGeom>
          <a:noFill/>
          <a:ln w="9525">
            <a:solidFill>
              <a:srgbClr val="CDDDE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930378" y="3228975"/>
            <a:ext cx="106870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原始题量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78128" y="3228975"/>
            <a:ext cx="2257639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 道自陈题项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30378" y="3881438"/>
            <a:ext cx="3261122" cy="0"/>
          </a:xfrm>
          <a:prstGeom prst="line">
            <a:avLst/>
          </a:prstGeom>
          <a:noFill/>
          <a:ln w="9525">
            <a:solidFill>
              <a:srgbClr val="CDDDEE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930378" y="3600450"/>
            <a:ext cx="106870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测量对象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78128" y="3600450"/>
            <a:ext cx="2257639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敌意人格倾向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30378" y="3971925"/>
            <a:ext cx="106870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企业定位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78128" y="3971925"/>
            <a:ext cx="2257639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人际风格与文化适配</a:t>
            </a:r>
            <a:endParaRPr lang="en-US" sz="1050" dirty="0"/>
          </a:p>
        </p:txBody>
      </p:sp>
      <p:pic>
        <p:nvPicPr>
          <p:cNvPr id="25" name="Image 0" descr="/tmp/html2pptx-EbNRJP/html2pptx-bg-1786380910538-7b91128e0a49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5810250"/>
            <a:ext cx="7810500" cy="66675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952500" y="5953125"/>
            <a:ext cx="376324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F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Ho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1492895" y="6043613"/>
            <a:ext cx="674468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E3EE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通过识敌意倾向，HR 可在聘、团队组建与领发展中作出更明智策，从而推动健康工系的构建。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419100"/>
            <a:ext cx="816102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A6F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MODULE 02 · 维度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571500" y="676275"/>
            <a:ext cx="8161020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2400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CMHS 的六大敌意子量表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71500" y="1228725"/>
            <a:ext cx="533400" cy="38100"/>
          </a:xfrm>
          <a:prstGeom prst="roundRect">
            <a:avLst>
              <a:gd name="adj" fmla="val 50000"/>
            </a:avLst>
          </a:prstGeom>
          <a:solidFill>
            <a:srgbClr val="5FB3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1533525"/>
            <a:ext cx="255270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7150" dist="19050" dir="5400000" algn="bl" rotWithShape="0">
              <a:srgbClr val="0F2A44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81050" y="1552575"/>
            <a:ext cx="2133600" cy="0"/>
          </a:xfrm>
          <a:prstGeom prst="line">
            <a:avLst/>
          </a:prstGeom>
          <a:noFill/>
          <a:ln w="38100">
            <a:solidFill>
              <a:srgbClr val="1D4E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050" y="1762125"/>
            <a:ext cx="217627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6F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1050" y="1981200"/>
            <a:ext cx="2176272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1425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愤世嫉俗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781050" y="2266950"/>
            <a:ext cx="217627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25"/>
              </a:spcBef>
              <a:buNone/>
            </a:pPr>
            <a:r>
              <a:rPr lang="en-US" sz="82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Cynicism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781050" y="2533650"/>
            <a:ext cx="2176272" cy="3836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spcBef>
                <a:spcPts val="900"/>
              </a:spcBef>
              <a:buNone/>
            </a:pPr>
            <a:r>
              <a:rPr lang="en-US" sz="975" dirty="0">
                <a:solidFill>
                  <a:srgbClr val="4154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对人性的普遍面看法，倾向于认为他人自私、不可信任。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295650" y="1533525"/>
            <a:ext cx="255270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7150" dist="19050" dir="5400000" algn="bl" rotWithShape="0">
              <a:srgbClr val="0F2A44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505200" y="1552575"/>
            <a:ext cx="2133600" cy="0"/>
          </a:xfrm>
          <a:prstGeom prst="line">
            <a:avLst/>
          </a:prstGeom>
          <a:noFill/>
          <a:ln w="38100">
            <a:solidFill>
              <a:srgbClr val="5FB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5200" y="1762125"/>
            <a:ext cx="217627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6F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05200" y="1981200"/>
            <a:ext cx="2176272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1425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敌意归因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3505200" y="2266950"/>
            <a:ext cx="217627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25"/>
              </a:spcBef>
              <a:buNone/>
            </a:pPr>
            <a:r>
              <a:rPr lang="en-US" sz="82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Hostile Attributions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505200" y="2533650"/>
            <a:ext cx="2176272" cy="3836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spcBef>
                <a:spcPts val="900"/>
              </a:spcBef>
              <a:buNone/>
            </a:pPr>
            <a:r>
              <a:rPr lang="en-US" sz="975" dirty="0">
                <a:solidFill>
                  <a:srgbClr val="4154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将他人中性行为带有敌意或贬低意图的认知偏差。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6019800" y="1533525"/>
            <a:ext cx="255270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7150" dist="19050" dir="5400000" algn="bl" rotWithShape="0">
              <a:srgbClr val="0F2A44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229350" y="1552575"/>
            <a:ext cx="2133600" cy="0"/>
          </a:xfrm>
          <a:prstGeom prst="line">
            <a:avLst/>
          </a:prstGeom>
          <a:noFill/>
          <a:ln w="38100">
            <a:solidFill>
              <a:srgbClr val="1D4E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29350" y="1762125"/>
            <a:ext cx="217627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6F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29350" y="1981200"/>
            <a:ext cx="2176272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1425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敌意情绪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6229350" y="2266950"/>
            <a:ext cx="217627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25"/>
              </a:spcBef>
              <a:buNone/>
            </a:pPr>
            <a:r>
              <a:rPr lang="en-US" sz="82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Hostile Affect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229350" y="2533650"/>
            <a:ext cx="2176272" cy="3836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spcBef>
                <a:spcPts val="900"/>
              </a:spcBef>
              <a:buNone/>
            </a:pPr>
            <a:r>
              <a:rPr lang="en-US" sz="975" dirty="0">
                <a:solidFill>
                  <a:srgbClr val="4154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容易体验愤躁、不耐烦等负面情绪反应。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571500" y="3419475"/>
            <a:ext cx="255270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7150" dist="19050" dir="5400000" algn="bl" rotWithShape="0">
              <a:srgbClr val="0F2A44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781050" y="3438525"/>
            <a:ext cx="2133600" cy="0"/>
          </a:xfrm>
          <a:prstGeom prst="line">
            <a:avLst/>
          </a:prstGeom>
          <a:noFill/>
          <a:ln w="38100">
            <a:solidFill>
              <a:srgbClr val="5FB3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050" y="3648075"/>
            <a:ext cx="217627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6F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1050" y="3867150"/>
            <a:ext cx="2176272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1425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攻击性反应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781050" y="4152900"/>
            <a:ext cx="217627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25"/>
              </a:spcBef>
              <a:buNone/>
            </a:pPr>
            <a:r>
              <a:rPr lang="en-US" sz="82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Aggressive Responding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781050" y="4419600"/>
            <a:ext cx="2176272" cy="3836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spcBef>
                <a:spcPts val="900"/>
              </a:spcBef>
              <a:buNone/>
            </a:pPr>
            <a:r>
              <a:rPr lang="en-US" sz="975" dirty="0">
                <a:solidFill>
                  <a:srgbClr val="4154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倾向于以反击回应冲突或挫折。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3295650" y="3419475"/>
            <a:ext cx="255270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7150" dist="19050" dir="5400000" algn="bl" rotWithShape="0">
              <a:srgbClr val="0F2A44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3505200" y="3438525"/>
            <a:ext cx="2133600" cy="0"/>
          </a:xfrm>
          <a:prstGeom prst="line">
            <a:avLst/>
          </a:prstGeom>
          <a:noFill/>
          <a:ln w="38100">
            <a:solidFill>
              <a:srgbClr val="1D4E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05200" y="3648075"/>
            <a:ext cx="217627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6F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05200" y="3867150"/>
            <a:ext cx="2176272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1425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社交回避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3505200" y="4152900"/>
            <a:ext cx="217627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25"/>
              </a:spcBef>
              <a:buNone/>
            </a:pPr>
            <a:r>
              <a:rPr lang="en-US" sz="82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Social Avoidance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3505200" y="4419600"/>
            <a:ext cx="2176272" cy="3836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spcBef>
                <a:spcPts val="900"/>
              </a:spcBef>
              <a:buNone/>
            </a:pPr>
            <a:r>
              <a:rPr lang="en-US" sz="975" dirty="0">
                <a:solidFill>
                  <a:srgbClr val="4154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在人际互动，降低团队连接与协作质量。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6019800" y="3419475"/>
            <a:ext cx="255270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7150" dist="19050" dir="5400000" algn="bl" rotWithShape="0">
              <a:srgbClr val="0F2A44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6229350" y="3438525"/>
            <a:ext cx="2133600" cy="0"/>
          </a:xfrm>
          <a:prstGeom prst="line">
            <a:avLst/>
          </a:prstGeom>
          <a:noFill/>
          <a:ln w="38100">
            <a:solidFill>
              <a:srgbClr val="5FB3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29350" y="3648075"/>
            <a:ext cx="217627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6F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29350" y="3867150"/>
            <a:ext cx="2176272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1425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其他维度</a:t>
            </a:r>
            <a:endParaRPr lang="en-US" sz="1425" dirty="0"/>
          </a:p>
        </p:txBody>
      </p:sp>
      <p:sp>
        <p:nvSpPr>
          <p:cNvPr id="40" name="Text 38"/>
          <p:cNvSpPr/>
          <p:nvPr/>
        </p:nvSpPr>
        <p:spPr>
          <a:xfrm>
            <a:off x="6229350" y="4152900"/>
            <a:ext cx="217627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25"/>
              </a:spcBef>
              <a:buNone/>
            </a:pPr>
            <a:r>
              <a:rPr lang="en-US" sz="82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Other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6229350" y="4419600"/>
            <a:ext cx="2176272" cy="3836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spcBef>
                <a:spcPts val="900"/>
              </a:spcBef>
              <a:buNone/>
            </a:pPr>
            <a:r>
              <a:rPr lang="en-US" sz="975" dirty="0">
                <a:solidFill>
                  <a:srgbClr val="4154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与人际信任、合作意愿充性指标。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571500" y="6419850"/>
            <a:ext cx="8161020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解读提示：</a:t>
            </a:r>
            <a:r>
              <a:rPr lang="en-US" sz="900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六维度共同构成敌意人格画像。HR 在使用时应关注</a:t>
            </a:r>
            <a:r>
              <a:rPr lang="en-US" sz="900" b="1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整体模式</a:t>
            </a:r>
            <a:r>
              <a:rPr lang="en-US" sz="900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而非单一维度高分，避免标签化候选人或员工。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419100"/>
            <a:ext cx="816102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A6F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MODULE 03 · 应用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571500" y="676275"/>
            <a:ext cx="8161020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2400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企业中的目的与应用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71500" y="1228725"/>
            <a:ext cx="533400" cy="38100"/>
          </a:xfrm>
          <a:prstGeom prst="roundRect">
            <a:avLst>
              <a:gd name="adj" fmla="val 50000"/>
            </a:avLst>
          </a:prstGeom>
          <a:solidFill>
            <a:srgbClr val="5FB3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1552575"/>
            <a:ext cx="4780026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50"/>
              </a:spcAft>
              <a:buNone/>
            </a:pPr>
            <a:r>
              <a:rPr lang="en-US" sz="1350" b="1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 HR 要引入 CMHS？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1500" y="1933575"/>
            <a:ext cx="4780026" cy="6799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050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在组织层面，敌意倾直接侵蚀 </a:t>
            </a:r>
            <a:r>
              <a:rPr lang="en-US" sz="1050" b="1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心理安全感、协作质量与领导信任</a:t>
            </a:r>
            <a:r>
              <a:rPr lang="en-US" sz="1050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。CMHS 的价值不在于"筛掉人"，而 </a:t>
            </a:r>
            <a:r>
              <a:rPr lang="en-US" sz="1050" b="1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提前识别风险、精准匹配支持</a:t>
            </a:r>
            <a:r>
              <a:rPr lang="en-US" sz="1050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，将数据纳入人策与文化建设的闭环。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500" y="2708821"/>
            <a:ext cx="4780026" cy="4533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Bef>
                <a:spcPts val="750"/>
              </a:spcBef>
              <a:buNone/>
            </a:pPr>
            <a:r>
              <a:rPr lang="en-US" sz="1050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通过结构化使用，HR 可获套客观、可追踪的人际风线，为招聘、团队与领导力发展提据支撑。</a:t>
            </a:r>
            <a:endParaRPr lang="en-US" sz="1050" dirty="0"/>
          </a:p>
        </p:txBody>
      </p:sp>
      <p:pic>
        <p:nvPicPr>
          <p:cNvPr id="9" name="Image 0" descr="/tmp/html2pptx-V8RtYp/html2pptx-bg-1786380914336-aa91f45f2f16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0" y="1552575"/>
            <a:ext cx="3048000" cy="2286000"/>
          </a:xfrm>
          <a:prstGeom prst="rect">
            <a:avLst/>
          </a:prstGeom>
        </p:spPr>
      </p:pic>
      <p:sp>
        <p:nvSpPr>
          <p:cNvPr id="10" name="Text 7"/>
          <p:cNvSpPr/>
          <p:nvPr>
            <p:custDataLst>
              <p:tags r:id="rId2"/>
            </p:custDataLst>
          </p:nvPr>
        </p:nvSpPr>
        <p:spPr>
          <a:xfrm>
            <a:off x="571500" y="4086225"/>
            <a:ext cx="1900238" cy="1428750"/>
          </a:xfrm>
          <a:prstGeom prst="roundRect">
            <a:avLst>
              <a:gd name="adj" fmla="val 8000"/>
            </a:avLst>
          </a:prstGeom>
          <a:solidFill>
            <a:srgbClr val="F1F6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>
            <p:custDataLst>
              <p:tags r:id="rId3"/>
            </p:custDataLst>
          </p:nvPr>
        </p:nvSpPr>
        <p:spPr>
          <a:xfrm>
            <a:off x="723900" y="5500688"/>
            <a:ext cx="1595438" cy="0"/>
          </a:xfrm>
          <a:prstGeom prst="line">
            <a:avLst/>
          </a:prstGeom>
          <a:noFill/>
          <a:ln w="28575">
            <a:solidFill>
              <a:srgbClr val="1D4E78"/>
            </a:solidFill>
            <a:prstDash val="solid"/>
          </a:ln>
        </p:spPr>
      </p:sp>
      <p:sp>
        <p:nvSpPr>
          <p:cNvPr id="12" name="Text 9"/>
          <p:cNvSpPr/>
          <p:nvPr>
            <p:custDataLst>
              <p:tags r:id="rId4"/>
            </p:custDataLst>
          </p:nvPr>
        </p:nvSpPr>
        <p:spPr>
          <a:xfrm>
            <a:off x="723900" y="4257675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1D4E7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>
            <p:custDataLst>
              <p:tags r:id="rId5"/>
            </p:custDataLst>
          </p:nvPr>
        </p:nvSpPr>
        <p:spPr>
          <a:xfrm>
            <a:off x="828526" y="4324350"/>
            <a:ext cx="155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招</a:t>
            </a:r>
            <a:endParaRPr lang="en-US" sz="1200" dirty="0"/>
          </a:p>
        </p:txBody>
      </p:sp>
      <p:sp>
        <p:nvSpPr>
          <p:cNvPr id="14" name="Text 11"/>
          <p:cNvSpPr/>
          <p:nvPr>
            <p:custDataLst>
              <p:tags r:id="rId6"/>
            </p:custDataLst>
          </p:nvPr>
        </p:nvSpPr>
        <p:spPr>
          <a:xfrm>
            <a:off x="723900" y="4714875"/>
            <a:ext cx="162734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buNone/>
            </a:pPr>
            <a:r>
              <a:rPr lang="en-US" sz="1200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招聘筛选</a:t>
            </a:r>
            <a:endParaRPr lang="en-US" sz="1200" dirty="0"/>
          </a:p>
        </p:txBody>
      </p:sp>
      <p:sp>
        <p:nvSpPr>
          <p:cNvPr id="15" name="Text 12"/>
          <p:cNvSpPr/>
          <p:nvPr>
            <p:custDataLst>
              <p:tags r:id="rId7"/>
            </p:custDataLst>
          </p:nvPr>
        </p:nvSpPr>
        <p:spPr>
          <a:xfrm>
            <a:off x="723900" y="5000625"/>
            <a:ext cx="1627346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5264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识别文适配风险，补构化面试盲区。</a:t>
            </a:r>
            <a:endParaRPr lang="en-US" sz="900" dirty="0"/>
          </a:p>
        </p:txBody>
      </p:sp>
      <p:sp>
        <p:nvSpPr>
          <p:cNvPr id="16" name="Text 13"/>
          <p:cNvSpPr/>
          <p:nvPr>
            <p:custDataLst>
              <p:tags r:id="rId8"/>
            </p:custDataLst>
          </p:nvPr>
        </p:nvSpPr>
        <p:spPr>
          <a:xfrm>
            <a:off x="2605088" y="4086225"/>
            <a:ext cx="1900238" cy="1428750"/>
          </a:xfrm>
          <a:prstGeom prst="roundRect">
            <a:avLst>
              <a:gd name="adj" fmla="val 8000"/>
            </a:avLst>
          </a:prstGeom>
          <a:solidFill>
            <a:srgbClr val="EAF2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4"/>
          <p:cNvSpPr/>
          <p:nvPr>
            <p:custDataLst>
              <p:tags r:id="rId9"/>
            </p:custDataLst>
          </p:nvPr>
        </p:nvSpPr>
        <p:spPr>
          <a:xfrm>
            <a:off x="2757488" y="5500688"/>
            <a:ext cx="1595438" cy="0"/>
          </a:xfrm>
          <a:prstGeom prst="line">
            <a:avLst/>
          </a:prstGeom>
          <a:noFill/>
          <a:ln w="28575">
            <a:solidFill>
              <a:srgbClr val="2A6FAE"/>
            </a:solidFill>
            <a:prstDash val="solid"/>
          </a:ln>
        </p:spPr>
      </p:sp>
      <p:sp>
        <p:nvSpPr>
          <p:cNvPr id="18" name="Text 15"/>
          <p:cNvSpPr/>
          <p:nvPr>
            <p:custDataLst>
              <p:tags r:id="rId10"/>
            </p:custDataLst>
          </p:nvPr>
        </p:nvSpPr>
        <p:spPr>
          <a:xfrm>
            <a:off x="2757488" y="4257675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2A6FA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>
            <p:custDataLst>
              <p:tags r:id="rId11"/>
            </p:custDataLst>
          </p:nvPr>
        </p:nvSpPr>
        <p:spPr>
          <a:xfrm>
            <a:off x="2862114" y="4324350"/>
            <a:ext cx="155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</a:t>
            </a:r>
            <a:endParaRPr lang="en-US" sz="1200" dirty="0"/>
          </a:p>
        </p:txBody>
      </p:sp>
      <p:sp>
        <p:nvSpPr>
          <p:cNvPr id="20" name="Text 17"/>
          <p:cNvSpPr/>
          <p:nvPr>
            <p:custDataLst>
              <p:tags r:id="rId12"/>
            </p:custDataLst>
          </p:nvPr>
        </p:nvSpPr>
        <p:spPr>
          <a:xfrm>
            <a:off x="2757488" y="4714875"/>
            <a:ext cx="162734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buNone/>
            </a:pPr>
            <a:r>
              <a:rPr lang="en-US" sz="1200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团队沟通</a:t>
            </a:r>
            <a:endParaRPr lang="en-US" sz="1200" dirty="0"/>
          </a:p>
        </p:txBody>
      </p:sp>
      <p:sp>
        <p:nvSpPr>
          <p:cNvPr id="21" name="Text 18"/>
          <p:cNvSpPr/>
          <p:nvPr>
            <p:custDataLst>
              <p:tags r:id="rId13"/>
            </p:custDataLst>
          </p:nvPr>
        </p:nvSpPr>
        <p:spPr>
          <a:xfrm>
            <a:off x="2757488" y="5000625"/>
            <a:ext cx="1627346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5264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诊断根源，设计针对性通训练。</a:t>
            </a:r>
            <a:endParaRPr lang="en-US" sz="900" dirty="0"/>
          </a:p>
        </p:txBody>
      </p:sp>
      <p:sp>
        <p:nvSpPr>
          <p:cNvPr id="22" name="Text 19"/>
          <p:cNvSpPr/>
          <p:nvPr>
            <p:custDataLst>
              <p:tags r:id="rId14"/>
            </p:custDataLst>
          </p:nvPr>
        </p:nvSpPr>
        <p:spPr>
          <a:xfrm>
            <a:off x="4638675" y="4086225"/>
            <a:ext cx="1900238" cy="1428750"/>
          </a:xfrm>
          <a:prstGeom prst="roundRect">
            <a:avLst>
              <a:gd name="adj" fmla="val 8000"/>
            </a:avLst>
          </a:prstGeom>
          <a:solidFill>
            <a:srgbClr val="F1F6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0"/>
          <p:cNvSpPr/>
          <p:nvPr>
            <p:custDataLst>
              <p:tags r:id="rId15"/>
            </p:custDataLst>
          </p:nvPr>
        </p:nvSpPr>
        <p:spPr>
          <a:xfrm>
            <a:off x="4791075" y="5500688"/>
            <a:ext cx="1595438" cy="0"/>
          </a:xfrm>
          <a:prstGeom prst="line">
            <a:avLst/>
          </a:prstGeom>
          <a:noFill/>
          <a:ln w="28575">
            <a:solidFill>
              <a:srgbClr val="1D4E78"/>
            </a:solidFill>
            <a:prstDash val="solid"/>
          </a:ln>
        </p:spPr>
      </p:sp>
      <p:sp>
        <p:nvSpPr>
          <p:cNvPr id="24" name="Text 21"/>
          <p:cNvSpPr/>
          <p:nvPr>
            <p:custDataLst>
              <p:tags r:id="rId16"/>
            </p:custDataLst>
          </p:nvPr>
        </p:nvSpPr>
        <p:spPr>
          <a:xfrm>
            <a:off x="4791075" y="4257675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1D4E7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>
            <p:custDataLst>
              <p:tags r:id="rId17"/>
            </p:custDataLst>
          </p:nvPr>
        </p:nvSpPr>
        <p:spPr>
          <a:xfrm>
            <a:off x="4895701" y="4324350"/>
            <a:ext cx="155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领</a:t>
            </a:r>
            <a:endParaRPr lang="en-US" sz="1200" dirty="0"/>
          </a:p>
        </p:txBody>
      </p:sp>
      <p:sp>
        <p:nvSpPr>
          <p:cNvPr id="26" name="Text 23"/>
          <p:cNvSpPr/>
          <p:nvPr>
            <p:custDataLst>
              <p:tags r:id="rId18"/>
            </p:custDataLst>
          </p:nvPr>
        </p:nvSpPr>
        <p:spPr>
          <a:xfrm>
            <a:off x="4791075" y="4714875"/>
            <a:ext cx="162734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buNone/>
            </a:pPr>
            <a:r>
              <a:rPr lang="en-US" sz="1200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领导力发展</a:t>
            </a:r>
            <a:endParaRPr lang="en-US" sz="1200" dirty="0"/>
          </a:p>
        </p:txBody>
      </p:sp>
      <p:sp>
        <p:nvSpPr>
          <p:cNvPr id="27" name="Text 24"/>
          <p:cNvSpPr/>
          <p:nvPr>
            <p:custDataLst>
              <p:tags r:id="rId19"/>
            </p:custDataLst>
          </p:nvPr>
        </p:nvSpPr>
        <p:spPr>
          <a:xfrm>
            <a:off x="4791075" y="5000625"/>
            <a:ext cx="1627346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5264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帮助管理者自身风格对团队的影响。</a:t>
            </a:r>
            <a:endParaRPr lang="en-US" sz="900" dirty="0"/>
          </a:p>
        </p:txBody>
      </p:sp>
      <p:sp>
        <p:nvSpPr>
          <p:cNvPr id="28" name="Text 25"/>
          <p:cNvSpPr/>
          <p:nvPr>
            <p:custDataLst>
              <p:tags r:id="rId20"/>
            </p:custDataLst>
          </p:nvPr>
        </p:nvSpPr>
        <p:spPr>
          <a:xfrm>
            <a:off x="6672263" y="4086225"/>
            <a:ext cx="1900238" cy="1428750"/>
          </a:xfrm>
          <a:prstGeom prst="roundRect">
            <a:avLst>
              <a:gd name="adj" fmla="val 8000"/>
            </a:avLst>
          </a:prstGeom>
          <a:solidFill>
            <a:srgbClr val="EAF2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6"/>
          <p:cNvSpPr/>
          <p:nvPr>
            <p:custDataLst>
              <p:tags r:id="rId21"/>
            </p:custDataLst>
          </p:nvPr>
        </p:nvSpPr>
        <p:spPr>
          <a:xfrm>
            <a:off x="6824663" y="5500688"/>
            <a:ext cx="1595438" cy="0"/>
          </a:xfrm>
          <a:prstGeom prst="line">
            <a:avLst/>
          </a:prstGeom>
          <a:noFill/>
          <a:ln w="28575">
            <a:solidFill>
              <a:srgbClr val="2A6FAE"/>
            </a:solidFill>
            <a:prstDash val="solid"/>
          </a:ln>
        </p:spPr>
      </p:sp>
      <p:sp>
        <p:nvSpPr>
          <p:cNvPr id="30" name="Text 27"/>
          <p:cNvSpPr/>
          <p:nvPr>
            <p:custDataLst>
              <p:tags r:id="rId22"/>
            </p:custDataLst>
          </p:nvPr>
        </p:nvSpPr>
        <p:spPr>
          <a:xfrm>
            <a:off x="6824663" y="4257675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2A6FA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>
            <p:custDataLst>
              <p:tags r:id="rId23"/>
            </p:custDataLst>
          </p:nvPr>
        </p:nvSpPr>
        <p:spPr>
          <a:xfrm>
            <a:off x="6929289" y="4324350"/>
            <a:ext cx="155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留</a:t>
            </a:r>
            <a:endParaRPr lang="en-US" sz="1200" dirty="0"/>
          </a:p>
        </p:txBody>
      </p:sp>
      <p:sp>
        <p:nvSpPr>
          <p:cNvPr id="32" name="Text 29"/>
          <p:cNvSpPr/>
          <p:nvPr>
            <p:custDataLst>
              <p:tags r:id="rId24"/>
            </p:custDataLst>
          </p:nvPr>
        </p:nvSpPr>
        <p:spPr>
          <a:xfrm>
            <a:off x="6824663" y="4714875"/>
            <a:ext cx="162734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buNone/>
            </a:pPr>
            <a:r>
              <a:rPr lang="en-US" sz="1200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员工保留</a:t>
            </a:r>
            <a:endParaRPr lang="en-US" sz="1200" dirty="0"/>
          </a:p>
        </p:txBody>
      </p:sp>
      <p:sp>
        <p:nvSpPr>
          <p:cNvPr id="33" name="Text 30"/>
          <p:cNvSpPr/>
          <p:nvPr>
            <p:custDataLst>
              <p:tags r:id="rId25"/>
            </p:custDataLst>
          </p:nvPr>
        </p:nvSpPr>
        <p:spPr>
          <a:xfrm>
            <a:off x="6824663" y="5000625"/>
            <a:ext cx="1627346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5264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降低敌意围导致的离职与倦怠。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71500" y="6151811"/>
            <a:ext cx="8001000" cy="458539"/>
          </a:xfrm>
          <a:prstGeom prst="roundRect">
            <a:avLst>
              <a:gd name="adj" fmla="val 16618"/>
            </a:avLst>
          </a:prstGeom>
          <a:solidFill>
            <a:srgbClr val="0F2A4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781050" y="6285161"/>
            <a:ext cx="7733538" cy="1918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975" b="1" dirty="0">
                <a:solidFill>
                  <a:srgbClr val="9F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核心定位：</a:t>
            </a:r>
            <a:r>
              <a:rPr lang="en-US" sz="975" dirty="0">
                <a:solidFill>
                  <a:srgbClr val="CFE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CMHS 是企业文化诊断与人才决策的"测量仪"，而非单一淘汰工具。其价值在于将主观感受转化为可干预的数据信号。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419100"/>
            <a:ext cx="816102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A6F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MODULE 03 · 应用一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571500" y="676275"/>
            <a:ext cx="8161020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2400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招聘与团队沟通中的应用优势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71500" y="1228725"/>
            <a:ext cx="533400" cy="38100"/>
          </a:xfrm>
          <a:prstGeom prst="roundRect">
            <a:avLst>
              <a:gd name="adj" fmla="val 50000"/>
            </a:avLst>
          </a:prstGeom>
          <a:solidFill>
            <a:srgbClr val="5FB3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1533525"/>
            <a:ext cx="3876675" cy="4476750"/>
          </a:xfrm>
          <a:prstGeom prst="roundRect">
            <a:avLst>
              <a:gd name="adj" fmla="val 3440"/>
            </a:avLst>
          </a:prstGeom>
          <a:solidFill>
            <a:srgbClr val="FFFFFF"/>
          </a:solidFill>
          <a:effectLst>
            <a:outerShdw blurRad="76200" dist="19050" dir="5400000" algn="bl" rotWithShape="0">
              <a:srgbClr val="0F2A44">
                <a:alpha val="7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9150" y="1781175"/>
            <a:ext cx="1297037" cy="257175"/>
          </a:xfrm>
          <a:prstGeom prst="roundRect">
            <a:avLst>
              <a:gd name="adj" fmla="val 74074"/>
            </a:avLst>
          </a:prstGeom>
          <a:solidFill>
            <a:srgbClr val="1D4E7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52500" y="1828800"/>
            <a:ext cx="105094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RECRUITMENT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19150" y="2171700"/>
            <a:ext cx="3449002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50"/>
              </a:spcBef>
              <a:buNone/>
            </a:pPr>
            <a:r>
              <a:rPr lang="en-US" sz="1650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招聘筛选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19150" y="2514600"/>
            <a:ext cx="3449002" cy="1857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作为结构化评估的，识别潜在人际风险信号。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19150" y="2871788"/>
            <a:ext cx="3449002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350"/>
              </a:spcBef>
              <a:buNone/>
            </a:pPr>
            <a:r>
              <a:rPr lang="en-US" sz="1050" b="1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核心做法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19150" y="3138488"/>
            <a:ext cx="3381375" cy="9941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▸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与认知能力、岗位评估联合使用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▸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关注敌意归因与性反应维度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▸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结合行为交叉验证关键事件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▸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仅作为参号，不设单淘汰线</a:t>
            </a:r>
            <a:endParaRPr lang="en-US" sz="1015" dirty="0"/>
          </a:p>
        </p:txBody>
      </p:sp>
      <p:sp>
        <p:nvSpPr>
          <p:cNvPr id="13" name="Text 11"/>
          <p:cNvSpPr/>
          <p:nvPr/>
        </p:nvSpPr>
        <p:spPr>
          <a:xfrm>
            <a:off x="819150" y="4304109"/>
            <a:ext cx="3381375" cy="612279"/>
          </a:xfrm>
          <a:prstGeom prst="roundRect">
            <a:avLst>
              <a:gd name="adj" fmla="val 12445"/>
            </a:avLst>
          </a:prstGeom>
          <a:solidFill>
            <a:srgbClr val="EAF2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52500" y="4418409"/>
            <a:ext cx="3176969" cy="3836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975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优势：</a:t>
            </a:r>
            <a:r>
              <a:rPr lang="en-US" sz="975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降低"高冲突"候选人的误聘风险，提升团队稳定性与文化适配度。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695825" y="1533525"/>
            <a:ext cx="3876675" cy="4476750"/>
          </a:xfrm>
          <a:prstGeom prst="roundRect">
            <a:avLst>
              <a:gd name="adj" fmla="val 3440"/>
            </a:avLst>
          </a:prstGeom>
          <a:solidFill>
            <a:srgbClr val="FFFFFF"/>
          </a:solidFill>
          <a:effectLst>
            <a:outerShdw blurRad="76200" dist="19050" dir="5400000" algn="bl" rotWithShape="0">
              <a:srgbClr val="0F2A44">
                <a:alpha val="7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43475" y="1781175"/>
            <a:ext cx="1498997" cy="257175"/>
          </a:xfrm>
          <a:prstGeom prst="roundRect">
            <a:avLst>
              <a:gd name="adj" fmla="val 74074"/>
            </a:avLst>
          </a:prstGeom>
          <a:solidFill>
            <a:srgbClr val="2A6FA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76825" y="1828800"/>
            <a:ext cx="1256943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COMMUNICATION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43475" y="2171700"/>
            <a:ext cx="3449002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50"/>
              </a:spcBef>
              <a:buNone/>
            </a:pPr>
            <a:r>
              <a:rPr lang="en-US" sz="1650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团队沟通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943475" y="2514600"/>
            <a:ext cx="3449002" cy="1857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诊断团队氛围，定位冲突与协作障碍的根源。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943475" y="2871788"/>
            <a:ext cx="3449002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350"/>
              </a:spcBef>
              <a:buNone/>
            </a:pPr>
            <a:r>
              <a:rPr lang="en-US" sz="1050" b="1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核心做法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43475" y="3138488"/>
            <a:ext cx="3381375" cy="9941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▸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以团队为行匿名化聚合分析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▸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识别敌意情社交回避高发区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▸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设计针通与冲突管理训练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▸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追踪干预前得分变化</a:t>
            </a:r>
            <a:endParaRPr lang="en-US" sz="1015" dirty="0"/>
          </a:p>
        </p:txBody>
      </p:sp>
      <p:sp>
        <p:nvSpPr>
          <p:cNvPr id="22" name="Text 20"/>
          <p:cNvSpPr/>
          <p:nvPr/>
        </p:nvSpPr>
        <p:spPr>
          <a:xfrm>
            <a:off x="4943475" y="4304109"/>
            <a:ext cx="3381375" cy="612279"/>
          </a:xfrm>
          <a:prstGeom prst="roundRect">
            <a:avLst>
              <a:gd name="adj" fmla="val 12445"/>
            </a:avLst>
          </a:prstGeom>
          <a:solidFill>
            <a:srgbClr val="EAF2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76825" y="4418409"/>
            <a:ext cx="3176969" cy="3836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975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优势：</a:t>
            </a:r>
            <a:r>
              <a:rPr lang="en-US" sz="975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将"气氛"的模糊感受转化为可量的诊断指标，让干预有的放矢。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419100"/>
            <a:ext cx="816102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A6F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MODULE 03 · 应用二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571500" y="676275"/>
            <a:ext cx="8161020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2400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领导力发展与员工保留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71500" y="1228725"/>
            <a:ext cx="533400" cy="38100"/>
          </a:xfrm>
          <a:prstGeom prst="roundRect">
            <a:avLst>
              <a:gd name="adj" fmla="val 50000"/>
            </a:avLst>
          </a:prstGeom>
          <a:solidFill>
            <a:srgbClr val="5FB3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1533525"/>
            <a:ext cx="3876675" cy="4476750"/>
          </a:xfrm>
          <a:prstGeom prst="roundRect">
            <a:avLst>
              <a:gd name="adj" fmla="val 3440"/>
            </a:avLst>
          </a:prstGeom>
          <a:solidFill>
            <a:srgbClr val="F1F6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/tmp/html2pptx-41VIH5/html2pptx-bg-1786380919391-a5e97f027d8d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533525"/>
            <a:ext cx="3876675" cy="14805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9150" y="3242667"/>
            <a:ext cx="1069479" cy="228600"/>
          </a:xfrm>
          <a:prstGeom prst="roundRect">
            <a:avLst>
              <a:gd name="adj" fmla="val 66667"/>
            </a:avLst>
          </a:prstGeom>
          <a:solidFill>
            <a:srgbClr val="1D4E7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933450" y="3280767"/>
            <a:ext cx="85769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LEADERSHIP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819150" y="3566517"/>
            <a:ext cx="3449002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buNone/>
            </a:pPr>
            <a:r>
              <a:rPr lang="en-US" sz="1575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领导力发展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819150" y="3880842"/>
            <a:ext cx="344900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25"/>
              </a:spcBef>
              <a:buNone/>
            </a:pPr>
            <a:r>
              <a:rPr lang="en-US" sz="97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让管理者看见自己的格如何影响团队。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819150" y="4195167"/>
            <a:ext cx="344900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50"/>
              </a:spcBef>
              <a:buNone/>
            </a:pPr>
            <a:r>
              <a:rPr lang="en-US" sz="975" b="1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关键举措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819150" y="4433292"/>
            <a:ext cx="3381375" cy="8816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ts val="1510"/>
              </a:lnSpc>
              <a:spcAft>
                <a:spcPts val="300"/>
              </a:spcAft>
              <a:buSzPct val="100000"/>
              <a:buChar char="●"/>
            </a:pPr>
            <a:r>
              <a:rPr lang="en-US" sz="97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将敌意维入 360° 反馈基线</a:t>
            </a:r>
            <a:endParaRPr lang="en-US" sz="975" dirty="0"/>
          </a:p>
          <a:p>
            <a:pPr marL="152400" indent="-152400" algn="l">
              <a:lnSpc>
                <a:spcPts val="1510"/>
              </a:lnSpc>
              <a:spcAft>
                <a:spcPts val="300"/>
              </a:spcAft>
              <a:buSzPct val="100000"/>
              <a:buChar char="●"/>
            </a:pPr>
            <a:r>
              <a:rPr lang="en-US" sz="97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为高分管理情绪智力辅导</a:t>
            </a:r>
            <a:endParaRPr lang="en-US" sz="975" dirty="0"/>
          </a:p>
          <a:p>
            <a:pPr marL="152400" indent="-152400" algn="l">
              <a:lnSpc>
                <a:spcPts val="1510"/>
              </a:lnSpc>
              <a:spcAft>
                <a:spcPts val="300"/>
              </a:spcAft>
              <a:buSzPct val="100000"/>
              <a:buChar char="●"/>
            </a:pPr>
            <a:r>
              <a:rPr lang="en-US" sz="97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追踪领导行业度关联</a:t>
            </a:r>
            <a:endParaRPr lang="en-US" sz="975" dirty="0"/>
          </a:p>
          <a:p>
            <a:pPr marL="152400" indent="-152400" algn="l">
              <a:lnSpc>
                <a:spcPts val="1510"/>
              </a:lnSpc>
              <a:spcAft>
                <a:spcPts val="300"/>
              </a:spcAft>
              <a:buSzPct val="100000"/>
              <a:buChar char="●"/>
            </a:pPr>
            <a:r>
              <a:rPr lang="en-US" sz="97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建立个性化发与跟踪复盘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819150" y="5429250"/>
            <a:ext cx="3449002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5"/>
              </a:lnSpc>
              <a:spcBef>
                <a:spcPts val="900"/>
              </a:spcBef>
              <a:buNone/>
            </a:pPr>
            <a:r>
              <a:rPr lang="en-US" sz="975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优势：</a:t>
            </a:r>
            <a:r>
              <a:rPr lang="en-US" sz="975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提升领导察，降低命令式风格对团队心理安全感的侵蚀。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4695825" y="1533525"/>
            <a:ext cx="3876675" cy="4476750"/>
          </a:xfrm>
          <a:prstGeom prst="roundRect">
            <a:avLst>
              <a:gd name="adj" fmla="val 3440"/>
            </a:avLst>
          </a:prstGeom>
          <a:solidFill>
            <a:srgbClr val="F1F6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1" descr="/tmp/html2pptx-41VIH5/html2pptx-bg-1786380919507-a22f1cf39add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825" y="1533525"/>
            <a:ext cx="3876675" cy="148054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943475" y="3242667"/>
            <a:ext cx="1003697" cy="228600"/>
          </a:xfrm>
          <a:prstGeom prst="roundRect">
            <a:avLst>
              <a:gd name="adj" fmla="val 66667"/>
            </a:avLst>
          </a:prstGeom>
          <a:solidFill>
            <a:srgbClr val="2A6FA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5057775" y="3280767"/>
            <a:ext cx="79059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RETENTION</a:t>
            </a:r>
            <a:endParaRPr lang="en-US" sz="825" dirty="0"/>
          </a:p>
        </p:txBody>
      </p:sp>
      <p:sp>
        <p:nvSpPr>
          <p:cNvPr id="19" name="Text 15"/>
          <p:cNvSpPr/>
          <p:nvPr/>
        </p:nvSpPr>
        <p:spPr>
          <a:xfrm>
            <a:off x="4943475" y="3566517"/>
            <a:ext cx="3449002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buNone/>
            </a:pPr>
            <a:r>
              <a:rPr lang="en-US" sz="1575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员工保留</a:t>
            </a:r>
            <a:endParaRPr lang="en-US" sz="1575" dirty="0"/>
          </a:p>
        </p:txBody>
      </p:sp>
      <p:sp>
        <p:nvSpPr>
          <p:cNvPr id="20" name="Text 16"/>
          <p:cNvSpPr/>
          <p:nvPr/>
        </p:nvSpPr>
        <p:spPr>
          <a:xfrm>
            <a:off x="4943475" y="3880842"/>
            <a:ext cx="344900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25"/>
              </a:spcBef>
              <a:buNone/>
            </a:pPr>
            <a:r>
              <a:rPr lang="en-US" sz="97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把"敌意氛围预的离职预警。</a:t>
            </a:r>
            <a:endParaRPr lang="en-US" sz="975" dirty="0"/>
          </a:p>
        </p:txBody>
      </p:sp>
      <p:sp>
        <p:nvSpPr>
          <p:cNvPr id="21" name="Text 17"/>
          <p:cNvSpPr/>
          <p:nvPr/>
        </p:nvSpPr>
        <p:spPr>
          <a:xfrm>
            <a:off x="4943475" y="4195167"/>
            <a:ext cx="344900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50"/>
              </a:spcBef>
              <a:buNone/>
            </a:pPr>
            <a:r>
              <a:rPr lang="en-US" sz="975" b="1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关键举措</a:t>
            </a:r>
            <a:endParaRPr lang="en-US" sz="975" dirty="0"/>
          </a:p>
        </p:txBody>
      </p:sp>
      <p:sp>
        <p:nvSpPr>
          <p:cNvPr id="22" name="Text 18"/>
          <p:cNvSpPr/>
          <p:nvPr/>
        </p:nvSpPr>
        <p:spPr>
          <a:xfrm>
            <a:off x="4943475" y="4433292"/>
            <a:ext cx="3381375" cy="8816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ts val="1510"/>
              </a:lnSpc>
              <a:spcAft>
                <a:spcPts val="300"/>
              </a:spcAft>
              <a:buSzPct val="100000"/>
              <a:buChar char="●"/>
            </a:pPr>
            <a:r>
              <a:rPr lang="en-US" sz="97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定期监测团聚合得分趋势</a:t>
            </a:r>
            <a:endParaRPr lang="en-US" sz="975" dirty="0"/>
          </a:p>
          <a:p>
            <a:pPr marL="152400" indent="-152400" algn="l">
              <a:lnSpc>
                <a:spcPts val="1510"/>
              </a:lnSpc>
              <a:spcAft>
                <a:spcPts val="300"/>
              </a:spcAft>
              <a:buSzPct val="100000"/>
              <a:buChar char="●"/>
            </a:pPr>
            <a:r>
              <a:rPr lang="en-US" sz="97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对高敌意项关怀与调解</a:t>
            </a:r>
            <a:endParaRPr lang="en-US" sz="975" dirty="0"/>
          </a:p>
          <a:p>
            <a:pPr marL="152400" indent="-152400" algn="l">
              <a:lnSpc>
                <a:spcPts val="1510"/>
              </a:lnSpc>
              <a:spcAft>
                <a:spcPts val="300"/>
              </a:spcAft>
              <a:buSzPct val="100000"/>
              <a:buChar char="●"/>
            </a:pPr>
            <a:r>
              <a:rPr lang="en-US" sz="97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结合敬业度调别流失风险点</a:t>
            </a:r>
            <a:endParaRPr lang="en-US" sz="975" dirty="0"/>
          </a:p>
          <a:p>
            <a:pPr marL="152400" indent="-152400" algn="l">
              <a:lnSpc>
                <a:spcPts val="1510"/>
              </a:lnSpc>
              <a:spcAft>
                <a:spcPts val="300"/>
              </a:spcAft>
              <a:buSzPct val="100000"/>
              <a:buChar char="●"/>
            </a:pPr>
            <a:r>
              <a:rPr lang="en-US" sz="97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为新员工匹合适风格的支持导师</a:t>
            </a:r>
            <a:endParaRPr lang="en-US" sz="975" dirty="0"/>
          </a:p>
        </p:txBody>
      </p:sp>
      <p:sp>
        <p:nvSpPr>
          <p:cNvPr id="23" name="Text 19"/>
          <p:cNvSpPr/>
          <p:nvPr/>
        </p:nvSpPr>
        <p:spPr>
          <a:xfrm>
            <a:off x="4943475" y="5429250"/>
            <a:ext cx="3449002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5"/>
              </a:lnSpc>
              <a:spcBef>
                <a:spcPts val="900"/>
              </a:spcBef>
              <a:buNone/>
            </a:pPr>
            <a:r>
              <a:rPr lang="en-US" sz="975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优势：</a:t>
            </a:r>
            <a:r>
              <a:rPr lang="en-US" sz="975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降低因人际发的离职与倦怠，保留关键人才与组织记忆。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419100"/>
            <a:ext cx="816102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A6F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MODULE 04 · 最佳实践 1/2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571500" y="676275"/>
            <a:ext cx="8161020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2400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综合评估策略与保密性保障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71500" y="1228725"/>
            <a:ext cx="533400" cy="38100"/>
          </a:xfrm>
          <a:prstGeom prst="roundRect">
            <a:avLst>
              <a:gd name="adj" fmla="val 50000"/>
            </a:avLst>
          </a:prstGeom>
          <a:solidFill>
            <a:srgbClr val="5FB3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1552575"/>
            <a:ext cx="3895725" cy="4381500"/>
          </a:xfrm>
          <a:prstGeom prst="roundRect">
            <a:avLst>
              <a:gd name="adj" fmla="val 3423"/>
            </a:avLst>
          </a:prstGeom>
          <a:solidFill>
            <a:srgbClr val="FFFFFF"/>
          </a:solidFill>
          <a:effectLst>
            <a:outerShdw blurRad="76200" dist="19050" dir="5400000" algn="bl" rotWithShape="0">
              <a:srgbClr val="0F2A44">
                <a:alpha val="7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09975" y="1362075"/>
            <a:ext cx="1047750" cy="1047750"/>
          </a:xfrm>
          <a:prstGeom prst="roundRect">
            <a:avLst>
              <a:gd name="adj" fmla="val 87273"/>
            </a:avLst>
          </a:prstGeom>
          <a:solidFill>
            <a:srgbClr val="EAF2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67001" y="1571625"/>
            <a:ext cx="544372" cy="628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D4E78">
                    <a:alpha val="55000"/>
                  </a:srgbClr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01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838200" y="1800225"/>
            <a:ext cx="342957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6F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INTEGRATED STRATEGY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8200" y="2019300"/>
            <a:ext cx="3429572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1650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作为综合评估策略的一部分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38200" y="2381250"/>
            <a:ext cx="3429572" cy="1918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CMHS 不应单策，必须嵌入多维评估体系。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838200" y="2744539"/>
            <a:ext cx="342957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350"/>
              </a:spcBef>
              <a:buNone/>
            </a:pPr>
            <a:r>
              <a:rPr lang="en-US" sz="975" b="1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关键做法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838200" y="3001714"/>
            <a:ext cx="3362325" cy="9941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✓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与认知能力、岗胜任力、价值观测评联用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✓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结合结构化面试境模拟交叉验证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✓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设置多评估官打分机制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✓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明确不同的决策权重与红线</a:t>
            </a:r>
            <a:endParaRPr lang="en-US" sz="1015" dirty="0"/>
          </a:p>
        </p:txBody>
      </p:sp>
      <p:sp>
        <p:nvSpPr>
          <p:cNvPr id="14" name="Text 12"/>
          <p:cNvSpPr/>
          <p:nvPr/>
        </p:nvSpPr>
        <p:spPr>
          <a:xfrm>
            <a:off x="838200" y="5176838"/>
            <a:ext cx="3362325" cy="547688"/>
          </a:xfrm>
          <a:prstGeom prst="roundRect">
            <a:avLst>
              <a:gd name="adj" fmla="val 13913"/>
            </a:avLst>
          </a:prstGeom>
          <a:solidFill>
            <a:srgbClr val="0F2A4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71550" y="5272088"/>
            <a:ext cx="3157538" cy="3571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5"/>
              </a:lnSpc>
              <a:buNone/>
            </a:pPr>
            <a:r>
              <a:rPr lang="en-US" sz="940" b="1" dirty="0">
                <a:solidFill>
                  <a:srgbClr val="9F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原则：</a:t>
            </a:r>
            <a:r>
              <a:rPr lang="en-US" sz="940" dirty="0">
                <a:solidFill>
                  <a:srgbClr val="CFE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评估工具组合化、决策权重透明化，避免单一量表独断人事去留。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4676775" y="1552575"/>
            <a:ext cx="3895725" cy="4381500"/>
          </a:xfrm>
          <a:prstGeom prst="roundRect">
            <a:avLst>
              <a:gd name="adj" fmla="val 3423"/>
            </a:avLst>
          </a:prstGeom>
          <a:solidFill>
            <a:srgbClr val="FFFFFF"/>
          </a:solidFill>
          <a:effectLst>
            <a:outerShdw blurRad="76200" dist="19050" dir="5400000" algn="bl" rotWithShape="0">
              <a:srgbClr val="0F2A44">
                <a:alpha val="7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715250" y="1362075"/>
            <a:ext cx="1047750" cy="1047750"/>
          </a:xfrm>
          <a:prstGeom prst="roundRect">
            <a:avLst>
              <a:gd name="adj" fmla="val 87273"/>
            </a:avLst>
          </a:prstGeom>
          <a:solidFill>
            <a:srgbClr val="E3EE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72276" y="1571625"/>
            <a:ext cx="544372" cy="628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2A6FAE">
                    <a:alpha val="55000"/>
                  </a:srgbClr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02</a:t>
            </a:r>
            <a:endParaRPr lang="en-US" sz="3450" dirty="0"/>
          </a:p>
        </p:txBody>
      </p:sp>
      <p:sp>
        <p:nvSpPr>
          <p:cNvPr id="19" name="Text 17"/>
          <p:cNvSpPr/>
          <p:nvPr/>
        </p:nvSpPr>
        <p:spPr>
          <a:xfrm>
            <a:off x="4943475" y="1800225"/>
            <a:ext cx="342957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6F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CONFIDENTIALITY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43475" y="2019300"/>
            <a:ext cx="3429572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1650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确保数据保密性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4943475" y="2381250"/>
            <a:ext cx="3429572" cy="1918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保密是信任与合法合规的前提。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943475" y="2744539"/>
            <a:ext cx="342957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350"/>
              </a:spcBef>
              <a:buNone/>
            </a:pPr>
            <a:r>
              <a:rPr lang="en-US" sz="975" b="1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关键做法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943475" y="3001714"/>
            <a:ext cx="3362325" cy="9941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✓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明确告知数途、存储与销毁周期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✓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访问最小化，仅限授权 HR 角色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✓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团队层面聚合结果，不暴露个人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✓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符合个人保护法与劳动法要求</a:t>
            </a:r>
            <a:endParaRPr lang="en-US" sz="1015" dirty="0"/>
          </a:p>
        </p:txBody>
      </p:sp>
      <p:sp>
        <p:nvSpPr>
          <p:cNvPr id="24" name="Text 22"/>
          <p:cNvSpPr/>
          <p:nvPr/>
        </p:nvSpPr>
        <p:spPr>
          <a:xfrm>
            <a:off x="4943475" y="5176838"/>
            <a:ext cx="3362325" cy="547688"/>
          </a:xfrm>
          <a:prstGeom prst="roundRect">
            <a:avLst>
              <a:gd name="adj" fmla="val 13913"/>
            </a:avLst>
          </a:prstGeom>
          <a:solidFill>
            <a:srgbClr val="0F2A4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76825" y="5272088"/>
            <a:ext cx="3157538" cy="3571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5"/>
              </a:lnSpc>
              <a:buNone/>
            </a:pPr>
            <a:r>
              <a:rPr lang="en-US" sz="940" b="1" dirty="0">
                <a:solidFill>
                  <a:srgbClr val="9F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原则：</a:t>
            </a:r>
            <a:r>
              <a:rPr lang="en-US" sz="940" dirty="0">
                <a:solidFill>
                  <a:srgbClr val="CFE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个人数据"用而不露"，团队诊断"聚而不指"，守住伦理底线。</a:t>
            </a:r>
            <a:endParaRPr lang="en-US" sz="9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419100"/>
            <a:ext cx="816102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A6F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MODULE 04 · 最佳实践 2/2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571500" y="676275"/>
            <a:ext cx="8161020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2400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提供反馈与监测文化影响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71500" y="1228725"/>
            <a:ext cx="533400" cy="38100"/>
          </a:xfrm>
          <a:prstGeom prst="roundRect">
            <a:avLst>
              <a:gd name="adj" fmla="val 50000"/>
            </a:avLst>
          </a:prstGeom>
          <a:solidFill>
            <a:srgbClr val="5FB3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1552575"/>
            <a:ext cx="3895725" cy="4381500"/>
          </a:xfrm>
          <a:prstGeom prst="roundRect">
            <a:avLst>
              <a:gd name="adj" fmla="val 3423"/>
            </a:avLst>
          </a:prstGeom>
          <a:solidFill>
            <a:srgbClr val="F1F6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09975" y="1362075"/>
            <a:ext cx="1047750" cy="1047750"/>
          </a:xfrm>
          <a:prstGeom prst="roundRect">
            <a:avLst>
              <a:gd name="adj" fmla="val 87273"/>
            </a:avLst>
          </a:prstGeom>
          <a:solidFill>
            <a:srgbClr val="E3EE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67001" y="1571625"/>
            <a:ext cx="544372" cy="628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2A6FAE">
                    <a:alpha val="55000"/>
                  </a:srgbClr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03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838200" y="1800225"/>
            <a:ext cx="342957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6F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FEEDBACK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8200" y="2019300"/>
            <a:ext cx="3429572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1650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提供专业反馈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38200" y="2381250"/>
            <a:ext cx="3429572" cy="1918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反馈是评估工具产生价的关键环节。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838200" y="2744539"/>
            <a:ext cx="342957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350"/>
              </a:spcBef>
              <a:buNone/>
            </a:pPr>
            <a:r>
              <a:rPr lang="en-US" sz="975" b="1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关键做法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838200" y="3001714"/>
            <a:ext cx="3362325" cy="9941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→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由受的 HR 或心理咨询师解读结果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→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聚焦行为模标签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→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结合岗位给出可执行的发展建议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→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允许被评提问、补充与申诉</a:t>
            </a:r>
            <a:endParaRPr lang="en-US" sz="1015" dirty="0"/>
          </a:p>
        </p:txBody>
      </p:sp>
      <p:sp>
        <p:nvSpPr>
          <p:cNvPr id="14" name="Text 12"/>
          <p:cNvSpPr/>
          <p:nvPr/>
        </p:nvSpPr>
        <p:spPr>
          <a:xfrm>
            <a:off x="838200" y="5176838"/>
            <a:ext cx="3362325" cy="547688"/>
          </a:xfrm>
          <a:prstGeom prst="roundRect">
            <a:avLst>
              <a:gd name="adj" fmla="val 13913"/>
            </a:avLst>
          </a:prstGeom>
          <a:solidFill>
            <a:srgbClr val="1D4E7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71550" y="5272088"/>
            <a:ext cx="3157538" cy="3571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5"/>
              </a:lnSpc>
              <a:buNone/>
            </a:pPr>
            <a:r>
              <a:rPr lang="en-US" sz="940" b="1" dirty="0">
                <a:solidFill>
                  <a:srgbClr val="9F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原则：</a:t>
            </a:r>
            <a:r>
              <a:rPr lang="en-US" sz="940" dirty="0">
                <a:solidFill>
                  <a:srgbClr val="D7E7F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反建设性、情境化、可行动，避免诊断化与污名化。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4676775" y="1552575"/>
            <a:ext cx="3895725" cy="4381500"/>
          </a:xfrm>
          <a:prstGeom prst="roundRect">
            <a:avLst>
              <a:gd name="adj" fmla="val 3423"/>
            </a:avLst>
          </a:prstGeom>
          <a:solidFill>
            <a:srgbClr val="0F2A4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715250" y="1362075"/>
            <a:ext cx="1047750" cy="1047750"/>
          </a:xfrm>
          <a:prstGeom prst="roundRect">
            <a:avLst>
              <a:gd name="adj" fmla="val 87273"/>
            </a:avLst>
          </a:prstGeom>
          <a:solidFill>
            <a:srgbClr val="1D4E7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72276" y="1571625"/>
            <a:ext cx="544372" cy="628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9FD0FF">
                    <a:alpha val="55000"/>
                  </a:srgbClr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04</a:t>
            </a:r>
            <a:endParaRPr lang="en-US" sz="3450" dirty="0"/>
          </a:p>
        </p:txBody>
      </p:sp>
      <p:sp>
        <p:nvSpPr>
          <p:cNvPr id="19" name="Text 17"/>
          <p:cNvSpPr/>
          <p:nvPr/>
        </p:nvSpPr>
        <p:spPr>
          <a:xfrm>
            <a:off x="4943475" y="1800225"/>
            <a:ext cx="342957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F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CULTURE IMPACT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43475" y="2019300"/>
            <a:ext cx="3429572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16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监测文化影响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4943475" y="2381250"/>
            <a:ext cx="3429572" cy="1918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A9C8E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用长期数据策略的有效性。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943475" y="2744539"/>
            <a:ext cx="342957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350"/>
              </a:spcBef>
              <a:buNone/>
            </a:pPr>
            <a:r>
              <a:rPr lang="en-US" sz="975" b="1" dirty="0">
                <a:solidFill>
                  <a:srgbClr val="9F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关键做法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943475" y="3001714"/>
            <a:ext cx="3362325" cy="9941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→"/>
            </a:pPr>
            <a:r>
              <a:rPr lang="en-US" sz="1015" dirty="0">
                <a:solidFill>
                  <a:srgbClr val="CFE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建立团队级敌意指标季度追踪基线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→"/>
            </a:pPr>
            <a:r>
              <a:rPr lang="en-US" sz="1015" dirty="0">
                <a:solidFill>
                  <a:srgbClr val="CFE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关联敬业度、离、冲突事件数据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→"/>
            </a:pPr>
            <a:r>
              <a:rPr lang="en-US" sz="1015" dirty="0">
                <a:solidFill>
                  <a:srgbClr val="CFE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定期估策略对文化的净影响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→"/>
            </a:pPr>
            <a:r>
              <a:rPr lang="en-US" sz="1015" dirty="0">
                <a:solidFill>
                  <a:srgbClr val="CFE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根据数据迭代工干预方案</a:t>
            </a:r>
            <a:endParaRPr lang="en-US" sz="1015" dirty="0"/>
          </a:p>
        </p:txBody>
      </p:sp>
      <p:sp>
        <p:nvSpPr>
          <p:cNvPr id="24" name="Text 22"/>
          <p:cNvSpPr/>
          <p:nvPr/>
        </p:nvSpPr>
        <p:spPr>
          <a:xfrm>
            <a:off x="4943475" y="5176838"/>
            <a:ext cx="3362325" cy="547688"/>
          </a:xfrm>
          <a:prstGeom prst="roundRect">
            <a:avLst>
              <a:gd name="adj" fmla="val 13913"/>
            </a:avLst>
          </a:prstGeom>
          <a:solidFill>
            <a:srgbClr val="1D4E7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76825" y="5272088"/>
            <a:ext cx="3157538" cy="3571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5"/>
              </a:lnSpc>
              <a:buNone/>
            </a:pPr>
            <a:r>
              <a:rPr lang="en-US" sz="940" b="1" dirty="0">
                <a:solidFill>
                  <a:srgbClr val="9F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原则：</a:t>
            </a:r>
            <a:r>
              <a:rPr lang="en-US" sz="940" dirty="0">
                <a:solidFill>
                  <a:srgbClr val="D7E7F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把评估当续的文化诊断系统，而非一次筛查动作。</a:t>
            </a:r>
            <a:endParaRPr lang="en-US" sz="9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W8h3eX/html2pptx-bg-1786380928678-0e9b28de632de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/tmp/html2pptx-W8h3eX/html2pptx-bg-1786380929025-53c0cb868d3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000500"/>
            <a:ext cx="4381500" cy="4381500"/>
          </a:xfrm>
          <a:prstGeom prst="rect">
            <a:avLst/>
          </a:prstGeom>
        </p:spPr>
      </p:pic>
      <p:pic>
        <p:nvPicPr>
          <p:cNvPr id="4" name="Image 2" descr="/tmp/html2pptx-W8h3eX/html2pptx-bg-1786380929132-7ba5b29d31c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00" y="-666750"/>
            <a:ext cx="2286000" cy="2286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6750" y="476250"/>
            <a:ext cx="796671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9F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MODULE 05 · 总结</a:t>
            </a:r>
            <a:endParaRPr lang="en-US" sz="975" dirty="0"/>
          </a:p>
        </p:txBody>
      </p:sp>
      <p:sp>
        <p:nvSpPr>
          <p:cNvPr id="6" name="Text 1"/>
          <p:cNvSpPr/>
          <p:nvPr/>
        </p:nvSpPr>
        <p:spPr>
          <a:xfrm>
            <a:off x="666750" y="733425"/>
            <a:ext cx="7966710" cy="495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从测量到文化：HR 的行动起点</a:t>
            </a:r>
            <a:endParaRPr lang="en-US" sz="2700" dirty="0"/>
          </a:p>
        </p:txBody>
      </p:sp>
      <p:sp>
        <p:nvSpPr>
          <p:cNvPr id="7" name="Text 2"/>
          <p:cNvSpPr/>
          <p:nvPr/>
        </p:nvSpPr>
        <p:spPr>
          <a:xfrm>
            <a:off x="666750" y="1343025"/>
            <a:ext cx="533400" cy="38100"/>
          </a:xfrm>
          <a:prstGeom prst="roundRect">
            <a:avLst>
              <a:gd name="adj" fmla="val 50000"/>
            </a:avLst>
          </a:prstGeom>
          <a:solidFill>
            <a:srgbClr val="5FB3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666750" y="1647825"/>
            <a:ext cx="3932197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9F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关键洞察</a:t>
            </a:r>
            <a:endParaRPr lang="en-US" sz="1200" dirty="0"/>
          </a:p>
        </p:txBody>
      </p:sp>
      <p:sp>
        <p:nvSpPr>
          <p:cNvPr id="9" name="Text 4"/>
          <p:cNvSpPr/>
          <p:nvPr>
            <p:custDataLst>
              <p:tags r:id="rId4"/>
            </p:custDataLst>
          </p:nvPr>
        </p:nvSpPr>
        <p:spPr>
          <a:xfrm>
            <a:off x="666750" y="20097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9FD0FF">
              <a:alpha val="18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5"/>
          <p:cNvSpPr/>
          <p:nvPr>
            <p:custDataLst>
              <p:tags r:id="rId5"/>
            </p:custDataLst>
          </p:nvPr>
        </p:nvSpPr>
        <p:spPr>
          <a:xfrm>
            <a:off x="779711" y="2066925"/>
            <a:ext cx="8030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F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6"/>
          <p:cNvSpPr/>
          <p:nvPr>
            <p:custDataLst>
              <p:tags r:id="rId6"/>
            </p:custDataLst>
          </p:nvPr>
        </p:nvSpPr>
        <p:spPr>
          <a:xfrm>
            <a:off x="1104900" y="2009775"/>
            <a:ext cx="3485284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敌意是可测量的人格倾向</a:t>
            </a:r>
            <a:endParaRPr lang="en-US" sz="1125" dirty="0"/>
          </a:p>
        </p:txBody>
      </p:sp>
      <p:sp>
        <p:nvSpPr>
          <p:cNvPr id="12" name="Text 7"/>
          <p:cNvSpPr/>
          <p:nvPr>
            <p:custDataLst>
              <p:tags r:id="rId7"/>
            </p:custDataLst>
          </p:nvPr>
        </p:nvSpPr>
        <p:spPr>
          <a:xfrm>
            <a:off x="1104900" y="2238375"/>
            <a:ext cx="3485284" cy="1785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5"/>
              </a:lnSpc>
              <a:spcBef>
                <a:spcPts val="225"/>
              </a:spcBef>
              <a:buNone/>
            </a:pPr>
            <a:r>
              <a:rPr lang="en-US" sz="940" dirty="0">
                <a:solidFill>
                  <a:srgbClr val="CFE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CMHS 提供、可追踪的认知-情感画像。</a:t>
            </a:r>
            <a:endParaRPr lang="en-US" sz="940" dirty="0"/>
          </a:p>
        </p:txBody>
      </p:sp>
      <p:sp>
        <p:nvSpPr>
          <p:cNvPr id="13" name="Text 8"/>
          <p:cNvSpPr/>
          <p:nvPr>
            <p:custDataLst>
              <p:tags r:id="rId8"/>
            </p:custDataLst>
          </p:nvPr>
        </p:nvSpPr>
        <p:spPr>
          <a:xfrm>
            <a:off x="666750" y="2550319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9FD0FF">
              <a:alpha val="18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9"/>
          <p:cNvSpPr/>
          <p:nvPr>
            <p:custDataLst>
              <p:tags r:id="rId9"/>
            </p:custDataLst>
          </p:nvPr>
        </p:nvSpPr>
        <p:spPr>
          <a:xfrm>
            <a:off x="779711" y="2607469"/>
            <a:ext cx="8030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F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0"/>
          <p:cNvSpPr/>
          <p:nvPr>
            <p:custDataLst>
              <p:tags r:id="rId10"/>
            </p:custDataLst>
          </p:nvPr>
        </p:nvSpPr>
        <p:spPr>
          <a:xfrm>
            <a:off x="1104900" y="2550319"/>
            <a:ext cx="3485284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价值在于干预，而非筛选</a:t>
            </a:r>
            <a:endParaRPr lang="en-US" sz="1125" dirty="0"/>
          </a:p>
        </p:txBody>
      </p:sp>
      <p:sp>
        <p:nvSpPr>
          <p:cNvPr id="16" name="Text 11"/>
          <p:cNvSpPr/>
          <p:nvPr>
            <p:custDataLst>
              <p:tags r:id="rId11"/>
            </p:custDataLst>
          </p:nvPr>
        </p:nvSpPr>
        <p:spPr>
          <a:xfrm>
            <a:off x="1104900" y="2778919"/>
            <a:ext cx="3485284" cy="1785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5"/>
              </a:lnSpc>
              <a:spcBef>
                <a:spcPts val="225"/>
              </a:spcBef>
              <a:buNone/>
            </a:pPr>
            <a:r>
              <a:rPr lang="en-US" sz="940" dirty="0">
                <a:solidFill>
                  <a:srgbClr val="CFE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将数据用队诊断、辅展，而非简单淘汰。</a:t>
            </a:r>
            <a:endParaRPr lang="en-US" sz="940" dirty="0"/>
          </a:p>
        </p:txBody>
      </p:sp>
      <p:sp>
        <p:nvSpPr>
          <p:cNvPr id="17" name="Text 12"/>
          <p:cNvSpPr/>
          <p:nvPr>
            <p:custDataLst>
              <p:tags r:id="rId12"/>
            </p:custDataLst>
          </p:nvPr>
        </p:nvSpPr>
        <p:spPr>
          <a:xfrm>
            <a:off x="666750" y="3090863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9FD0FF">
              <a:alpha val="18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>
            <p:custDataLst>
              <p:tags r:id="rId13"/>
            </p:custDataLst>
          </p:nvPr>
        </p:nvSpPr>
        <p:spPr>
          <a:xfrm>
            <a:off x="779711" y="3148013"/>
            <a:ext cx="8030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F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4"/>
          <p:cNvSpPr/>
          <p:nvPr>
            <p:custDataLst>
              <p:tags r:id="rId14"/>
            </p:custDataLst>
          </p:nvPr>
        </p:nvSpPr>
        <p:spPr>
          <a:xfrm>
            <a:off x="1104900" y="3090863"/>
            <a:ext cx="3485284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合规与伦理是底线</a:t>
            </a:r>
            <a:endParaRPr lang="en-US" sz="1125" dirty="0"/>
          </a:p>
        </p:txBody>
      </p:sp>
      <p:sp>
        <p:nvSpPr>
          <p:cNvPr id="20" name="Text 15"/>
          <p:cNvSpPr/>
          <p:nvPr>
            <p:custDataLst>
              <p:tags r:id="rId15"/>
            </p:custDataLst>
          </p:nvPr>
        </p:nvSpPr>
        <p:spPr>
          <a:xfrm>
            <a:off x="1104900" y="3319463"/>
            <a:ext cx="3485284" cy="1785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5"/>
              </a:lnSpc>
              <a:spcBef>
                <a:spcPts val="225"/>
              </a:spcBef>
              <a:buNone/>
            </a:pPr>
            <a:r>
              <a:rPr lang="en-US" sz="940" dirty="0">
                <a:solidFill>
                  <a:srgbClr val="CFE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保密、反馈、综合同构成可信使用框架。</a:t>
            </a:r>
            <a:endParaRPr lang="en-US" sz="940" dirty="0"/>
          </a:p>
        </p:txBody>
      </p:sp>
      <p:sp>
        <p:nvSpPr>
          <p:cNvPr id="21" name="Text 16"/>
          <p:cNvSpPr/>
          <p:nvPr/>
        </p:nvSpPr>
        <p:spPr>
          <a:xfrm>
            <a:off x="4788545" y="1647825"/>
            <a:ext cx="3688705" cy="2257127"/>
          </a:xfrm>
          <a:prstGeom prst="roundRect">
            <a:avLst>
              <a:gd name="adj" fmla="val 5908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9FD0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5026670" y="1866900"/>
            <a:ext cx="3276704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9F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下一步行动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026670" y="2228850"/>
            <a:ext cx="3212455" cy="13713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620"/>
              </a:lnSpc>
              <a:spcAft>
                <a:spcPts val="675"/>
              </a:spcAft>
              <a:buSzPct val="100000"/>
              <a:buChar char="▸"/>
            </a:pPr>
            <a:r>
              <a:rPr lang="en-US" sz="1015" dirty="0">
                <a:solidFill>
                  <a:srgbClr val="E3EE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组建小组评估 CMHS 适用性</a:t>
            </a:r>
            <a:endParaRPr lang="en-US" sz="1015" dirty="0"/>
          </a:p>
          <a:p>
            <a:pPr marL="190500" indent="-190500" algn="l">
              <a:lnSpc>
                <a:spcPts val="1620"/>
              </a:lnSpc>
              <a:spcAft>
                <a:spcPts val="675"/>
              </a:spcAft>
              <a:buSzPct val="100000"/>
              <a:buChar char="▸"/>
            </a:pPr>
            <a:r>
              <a:rPr lang="en-US" sz="1015" dirty="0">
                <a:solidFill>
                  <a:srgbClr val="E3EE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 1-2 个团队进行试点测评</a:t>
            </a:r>
            <a:endParaRPr lang="en-US" sz="1015" dirty="0"/>
          </a:p>
          <a:p>
            <a:pPr marL="190500" indent="-190500" algn="l">
              <a:lnSpc>
                <a:spcPts val="1620"/>
              </a:lnSpc>
              <a:spcAft>
                <a:spcPts val="675"/>
              </a:spcAft>
              <a:buSzPct val="100000"/>
              <a:buChar char="▸"/>
            </a:pPr>
            <a:r>
              <a:rPr lang="en-US" sz="1015" dirty="0">
                <a:solidFill>
                  <a:srgbClr val="E3EE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制定反馈数据治理规范</a:t>
            </a:r>
            <a:endParaRPr lang="en-US" sz="1015" dirty="0"/>
          </a:p>
          <a:p>
            <a:pPr marL="190500" indent="-190500" algn="l">
              <a:lnSpc>
                <a:spcPts val="1620"/>
              </a:lnSpc>
              <a:spcAft>
                <a:spcPts val="675"/>
              </a:spcAft>
              <a:buSzPct val="100000"/>
              <a:buChar char="▸"/>
            </a:pPr>
            <a:r>
              <a:rPr lang="en-US" sz="1015" dirty="0">
                <a:solidFill>
                  <a:srgbClr val="E3EE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建文化指标追踪看板</a:t>
            </a:r>
            <a:endParaRPr lang="en-US" sz="1015" dirty="0"/>
          </a:p>
          <a:p>
            <a:pPr marL="190500" indent="-190500" algn="l">
              <a:lnSpc>
                <a:spcPts val="1620"/>
              </a:lnSpc>
              <a:spcAft>
                <a:spcPts val="675"/>
              </a:spcAft>
              <a:buSzPct val="100000"/>
              <a:buChar char="▸"/>
            </a:pPr>
            <a:r>
              <a:rPr lang="en-US" sz="1015" dirty="0">
                <a:solidFill>
                  <a:srgbClr val="E3EE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将结果纳人才与文化复盘</a:t>
            </a:r>
            <a:endParaRPr lang="en-US" sz="1015" dirty="0"/>
          </a:p>
        </p:txBody>
      </p:sp>
      <p:sp>
        <p:nvSpPr>
          <p:cNvPr id="24" name="Text 19"/>
          <p:cNvSpPr/>
          <p:nvPr/>
        </p:nvSpPr>
        <p:spPr>
          <a:xfrm>
            <a:off x="666750" y="6041827"/>
            <a:ext cx="7810500" cy="473273"/>
          </a:xfrm>
          <a:prstGeom prst="roundRect">
            <a:avLst>
              <a:gd name="adj" fmla="val 20126"/>
            </a:avLst>
          </a:prstGeom>
          <a:solidFill>
            <a:srgbClr val="0F2A44">
              <a:alpha val="55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0"/>
          <p:cNvSpPr/>
          <p:nvPr/>
        </p:nvSpPr>
        <p:spPr>
          <a:xfrm>
            <a:off x="685800" y="6175177"/>
            <a:ext cx="0" cy="206573"/>
          </a:xfrm>
          <a:prstGeom prst="line">
            <a:avLst/>
          </a:prstGeom>
          <a:noFill/>
          <a:ln w="38100">
            <a:solidFill>
              <a:srgbClr val="5FB3F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33450" y="6175177"/>
            <a:ext cx="7461504" cy="2065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050" b="1" dirty="0">
                <a:solidFill>
                  <a:srgbClr val="9F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核心信念：</a:t>
            </a:r>
            <a:r>
              <a:rPr lang="en-US" sz="1050" dirty="0">
                <a:solidFill>
                  <a:srgbClr val="D7E7F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健康的不是天赋，而是可被设计、测量续培养的组能力——CMHS 是 HR 手中一把关键的尺子。</a:t>
            </a:r>
            <a:endParaRPr lang="en-US" sz="10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3.87503937007875,&quot;left&quot;:255,&quot;top&quot;:108,&quot;width&quot;:427.35}"/>
</p:tagLst>
</file>

<file path=ppt/tags/tag2.xml><?xml version="1.0" encoding="utf-8"?>
<p:tagLst xmlns:p="http://schemas.openxmlformats.org/presentationml/2006/main">
  <p:tag name="KSO_WM_DIAGRAM_VIRTUALLY_FRAME" val="{&quot;height&quot;:283.87503937007875,&quot;left&quot;:255,&quot;top&quot;:108,&quot;width&quot;:427.35}"/>
</p:tagLst>
</file>

<file path=ppt/tags/tag3.xml><?xml version="1.0" encoding="utf-8"?>
<p:tagLst xmlns:p="http://schemas.openxmlformats.org/presentationml/2006/main">
  <p:tag name="KSO_WM_DIAGRAM_VIRTUALLY_FRAME" val="{&quot;height&quot;:283.87503937007875,&quot;left&quot;:255,&quot;top&quot;:108,&quot;width&quot;:427.35}"/>
</p:tagLst>
</file>

<file path=ppt/tags/tag4.xml><?xml version="1.0" encoding="utf-8"?>
<p:tagLst xmlns:p="http://schemas.openxmlformats.org/presentationml/2006/main">
  <p:tag name="KSO_WM_DIAGRAM_VIRTUALLY_FRAME" val="{&quot;height&quot;:283.87503937007875,&quot;left&quot;:255,&quot;top&quot;:108,&quot;width&quot;:427.35}"/>
</p:tagLst>
</file>

<file path=ppt/tags/tag5.xml><?xml version="1.0" encoding="utf-8"?>
<p:tagLst xmlns:p="http://schemas.openxmlformats.org/presentationml/2006/main">
  <p:tag name="KSO_WM_DIAGRAM_VIRTUALLY_FRAME" val="{&quot;height&quot;:283.87503937007875,&quot;left&quot;:255,&quot;top&quot;:108,&quot;width&quot;:427.35}"/>
</p:tagLst>
</file>

<file path=ppt/tags/tag6.xml><?xml version="1.0" encoding="utf-8"?>
<p:tagLst xmlns:p="http://schemas.openxmlformats.org/presentationml/2006/main">
  <p:tag name="KSO_WM_DIAGRAM_VIRTUALLY_FRAME" val="{&quot;height&quot;:283.87503937007875,&quot;left&quot;:255,&quot;top&quot;:108,&quot;width&quot;:427.35}"/>
</p:tagLst>
</file>

<file path=ppt/tags/tag7.xml><?xml version="1.0" encoding="utf-8"?>
<p:tagLst xmlns:p="http://schemas.openxmlformats.org/presentationml/2006/main">
  <p:tag name="KSO_WM_DIAGRAM_VIRTUALLY_FRAME" val="{&quot;height&quot;:283.87503937007875,&quot;left&quot;:255,&quot;top&quot;:108,&quot;width&quot;:427.35}"/>
</p:tagLst>
</file>

<file path=ppt/tags/tag8.xml><?xml version="1.0" encoding="utf-8"?>
<p:tagLst xmlns:p="http://schemas.openxmlformats.org/presentationml/2006/main">
  <p:tag name="KSO_WM_DIAGRAM_VIRTUALLY_FRAME" val="{&quot;height&quot;:283.87503937007875,&quot;left&quot;:255,&quot;top&quot;:108,&quot;width&quot;:427.35}"/>
</p:tagLst>
</file>

<file path=ppt/tags/tag9.xml><?xml version="1.0" encoding="utf-8"?>
<p:tagLst xmlns:p="http://schemas.openxmlformats.org/presentationml/2006/main">
  <p:tag name="KSO_WM_DIAGRAM_VIRTUALLY_FRAME" val="{&quot;height&quot;:283.87503937007875,&quot;left&quot;:255,&quot;top&quot;:108,&quot;width&quot;:427.35}"/>
</p:tagLst>
</file>

<file path=ppt/tags/tag10.xml><?xml version="1.0" encoding="utf-8"?>
<p:tagLst xmlns:p="http://schemas.openxmlformats.org/presentationml/2006/main">
  <p:tag name="KSO_WM_DIAGRAM_VIRTUALLY_FRAME" val="{&quot;height&quot;:283.87503937007875,&quot;left&quot;:255,&quot;top&quot;:108,&quot;width&quot;:427.35}"/>
</p:tagLst>
</file>

<file path=ppt/tags/tag11.xml><?xml version="1.0" encoding="utf-8"?>
<p:tagLst xmlns:p="http://schemas.openxmlformats.org/presentationml/2006/main">
  <p:tag name="KSO_WM_DIAGRAM_VIRTUALLY_FRAME" val="{&quot;height&quot;:283.87503937007875,&quot;left&quot;:255,&quot;top&quot;:108,&quot;width&quot;:427.35}"/>
</p:tagLst>
</file>

<file path=ppt/tags/tag12.xml><?xml version="1.0" encoding="utf-8"?>
<p:tagLst xmlns:p="http://schemas.openxmlformats.org/presentationml/2006/main">
  <p:tag name="KSO_WM_DIAGRAM_VIRTUALLY_FRAME" val="{&quot;height&quot;:283.87503937007875,&quot;left&quot;:255,&quot;top&quot;:108,&quot;width&quot;:427.35}"/>
</p:tagLst>
</file>

<file path=ppt/tags/tag13.xml><?xml version="1.0" encoding="utf-8"?>
<p:tagLst xmlns:p="http://schemas.openxmlformats.org/presentationml/2006/main">
  <p:tag name="KSO_WM_DIAGRAM_VIRTUALLY_FRAME" val="{&quot;height&quot;:283.87503937007875,&quot;left&quot;:255,&quot;top&quot;:108,&quot;width&quot;:427.35}"/>
</p:tagLst>
</file>

<file path=ppt/tags/tag14.xml><?xml version="1.0" encoding="utf-8"?>
<p:tagLst xmlns:p="http://schemas.openxmlformats.org/presentationml/2006/main">
  <p:tag name="KSO_WM_DIAGRAM_VIRTUALLY_FRAME" val="{&quot;height&quot;:283.87503937007875,&quot;left&quot;:255,&quot;top&quot;:108,&quot;width&quot;:427.35}"/>
</p:tagLst>
</file>

<file path=ppt/tags/tag15.xml><?xml version="1.0" encoding="utf-8"?>
<p:tagLst xmlns:p="http://schemas.openxmlformats.org/presentationml/2006/main">
  <p:tag name="KSO_WM_DIAGRAM_VIRTUALLY_FRAME" val="{&quot;height&quot;:283.87503937007875,&quot;left&quot;:255,&quot;top&quot;:108,&quot;width&quot;:427.35}"/>
</p:tagLst>
</file>

<file path=ppt/tags/tag16.xml><?xml version="1.0" encoding="utf-8"?>
<p:tagLst xmlns:p="http://schemas.openxmlformats.org/presentationml/2006/main">
  <p:tag name="KSO_WM_DIAGRAM_VIRTUALLY_FRAME" val="{&quot;height&quot;:283.87503937007875,&quot;left&quot;:255,&quot;top&quot;:108,&quot;width&quot;:427.35}"/>
</p:tagLst>
</file>

<file path=ppt/tags/tag17.xml><?xml version="1.0" encoding="utf-8"?>
<p:tagLst xmlns:p="http://schemas.openxmlformats.org/presentationml/2006/main">
  <p:tag name="KSO_WM_DIAGRAM_VIRTUALLY_FRAME" val="{&quot;height&quot;:283.87503937007875,&quot;left&quot;:255,&quot;top&quot;:108,&quot;width&quot;:427.35}"/>
</p:tagLst>
</file>

<file path=ppt/tags/tag18.xml><?xml version="1.0" encoding="utf-8"?>
<p:tagLst xmlns:p="http://schemas.openxmlformats.org/presentationml/2006/main">
  <p:tag name="KSO_WM_DIAGRAM_VIRTUALLY_FRAME" val="{&quot;height&quot;:283.87503937007875,&quot;left&quot;:255,&quot;top&quot;:108,&quot;width&quot;:427.35}"/>
</p:tagLst>
</file>

<file path=ppt/tags/tag19.xml><?xml version="1.0" encoding="utf-8"?>
<p:tagLst xmlns:p="http://schemas.openxmlformats.org/presentationml/2006/main">
  <p:tag name="KSO_WM_DIAGRAM_VIRTUALLY_FRAME" val="{&quot;height&quot;:283.87503937007875,&quot;left&quot;:255,&quot;top&quot;:108,&quot;width&quot;:427.35}"/>
</p:tagLst>
</file>

<file path=ppt/tags/tag20.xml><?xml version="1.0" encoding="utf-8"?>
<p:tagLst xmlns:p="http://schemas.openxmlformats.org/presentationml/2006/main">
  <p:tag name="KSO_WM_DIAGRAM_VIRTUALLY_FRAME" val="{&quot;height&quot;:283.87503937007875,&quot;left&quot;:255,&quot;top&quot;:108,&quot;width&quot;:427.35}"/>
</p:tagLst>
</file>

<file path=ppt/tags/tag21.xml><?xml version="1.0" encoding="utf-8"?>
<p:tagLst xmlns:p="http://schemas.openxmlformats.org/presentationml/2006/main">
  <p:tag name="KSO_WM_DIAGRAM_VIRTUALLY_FRAME" val="{&quot;height&quot;:283.87503937007875,&quot;left&quot;:255,&quot;top&quot;:108,&quot;width&quot;:427.35}"/>
</p:tagLst>
</file>

<file path=ppt/tags/tag22.xml><?xml version="1.0" encoding="utf-8"?>
<p:tagLst xmlns:p="http://schemas.openxmlformats.org/presentationml/2006/main">
  <p:tag name="KSO_WM_DIAGRAM_VIRTUALLY_FRAME" val="{&quot;height&quot;:283.87503937007875,&quot;left&quot;:255,&quot;top&quot;:108,&quot;width&quot;:427.35}"/>
</p:tagLst>
</file>

<file path=ppt/tags/tag23.xml><?xml version="1.0" encoding="utf-8"?>
<p:tagLst xmlns:p="http://schemas.openxmlformats.org/presentationml/2006/main">
  <p:tag name="KSO_WM_DIAGRAM_VIRTUALLY_FRAME" val="{&quot;height&quot;:283.87503937007875,&quot;left&quot;:255,&quot;top&quot;:108,&quot;width&quot;:427.35}"/>
</p:tagLst>
</file>

<file path=ppt/tags/tag24.xml><?xml version="1.0" encoding="utf-8"?>
<p:tagLst xmlns:p="http://schemas.openxmlformats.org/presentationml/2006/main">
  <p:tag name="KSO_WM_DIAGRAM_VIRTUALLY_FRAME" val="{&quot;height&quot;:283.87503937007875,&quot;left&quot;:255,&quot;top&quot;:108,&quot;width&quot;:427.35}"/>
</p:tagLst>
</file>

<file path=ppt/tags/tag25.xml><?xml version="1.0" encoding="utf-8"?>
<p:tagLst xmlns:p="http://schemas.openxmlformats.org/presentationml/2006/main">
  <p:tag name="KSO_WM_DIAGRAM_VIRTUALLY_FRAME" val="{&quot;height&quot;:283.87503937007875,&quot;left&quot;:255,&quot;top&quot;:108,&quot;width&quot;:427.35}"/>
</p:tagLst>
</file>

<file path=ppt/tags/tag26.xml><?xml version="1.0" encoding="utf-8"?>
<p:tagLst xmlns:p="http://schemas.openxmlformats.org/presentationml/2006/main">
  <p:tag name="KSO_WM_DIAGRAM_VIRTUALLY_FRAME" val="{&quot;height&quot;:112.5,&quot;left&quot;:45,&quot;top&quot;:321.75,&quot;width&quot;:630.0000787401575}"/>
</p:tagLst>
</file>

<file path=ppt/tags/tag27.xml><?xml version="1.0" encoding="utf-8"?>
<p:tagLst xmlns:p="http://schemas.openxmlformats.org/presentationml/2006/main">
  <p:tag name="KSO_WM_DIAGRAM_VIRTUALLY_FRAME" val="{&quot;height&quot;:112.5,&quot;left&quot;:45,&quot;top&quot;:321.75,&quot;width&quot;:630.0000787401575}"/>
</p:tagLst>
</file>

<file path=ppt/tags/tag28.xml><?xml version="1.0" encoding="utf-8"?>
<p:tagLst xmlns:p="http://schemas.openxmlformats.org/presentationml/2006/main">
  <p:tag name="KSO_WM_DIAGRAM_VIRTUALLY_FRAME" val="{&quot;height&quot;:112.5,&quot;left&quot;:45,&quot;top&quot;:321.75,&quot;width&quot;:630.0000787401575}"/>
</p:tagLst>
</file>

<file path=ppt/tags/tag29.xml><?xml version="1.0" encoding="utf-8"?>
<p:tagLst xmlns:p="http://schemas.openxmlformats.org/presentationml/2006/main">
  <p:tag name="KSO_WM_DIAGRAM_VIRTUALLY_FRAME" val="{&quot;height&quot;:112.5,&quot;left&quot;:45,&quot;top&quot;:321.75,&quot;width&quot;:630.0000787401575}"/>
</p:tagLst>
</file>

<file path=ppt/tags/tag30.xml><?xml version="1.0" encoding="utf-8"?>
<p:tagLst xmlns:p="http://schemas.openxmlformats.org/presentationml/2006/main">
  <p:tag name="KSO_WM_DIAGRAM_VIRTUALLY_FRAME" val="{&quot;height&quot;:112.5,&quot;left&quot;:45,&quot;top&quot;:321.75,&quot;width&quot;:630.0000787401575}"/>
</p:tagLst>
</file>

<file path=ppt/tags/tag31.xml><?xml version="1.0" encoding="utf-8"?>
<p:tagLst xmlns:p="http://schemas.openxmlformats.org/presentationml/2006/main">
  <p:tag name="KSO_WM_DIAGRAM_VIRTUALLY_FRAME" val="{&quot;height&quot;:112.5,&quot;left&quot;:45,&quot;top&quot;:321.75,&quot;width&quot;:630.0000787401575}"/>
</p:tagLst>
</file>

<file path=ppt/tags/tag32.xml><?xml version="1.0" encoding="utf-8"?>
<p:tagLst xmlns:p="http://schemas.openxmlformats.org/presentationml/2006/main">
  <p:tag name="KSO_WM_DIAGRAM_VIRTUALLY_FRAME" val="{&quot;height&quot;:112.5,&quot;left&quot;:45,&quot;top&quot;:321.75,&quot;width&quot;:630.0000787401575}"/>
</p:tagLst>
</file>

<file path=ppt/tags/tag33.xml><?xml version="1.0" encoding="utf-8"?>
<p:tagLst xmlns:p="http://schemas.openxmlformats.org/presentationml/2006/main">
  <p:tag name="KSO_WM_DIAGRAM_VIRTUALLY_FRAME" val="{&quot;height&quot;:112.5,&quot;left&quot;:45,&quot;top&quot;:321.75,&quot;width&quot;:630.0000787401575}"/>
</p:tagLst>
</file>

<file path=ppt/tags/tag34.xml><?xml version="1.0" encoding="utf-8"?>
<p:tagLst xmlns:p="http://schemas.openxmlformats.org/presentationml/2006/main">
  <p:tag name="KSO_WM_DIAGRAM_VIRTUALLY_FRAME" val="{&quot;height&quot;:112.5,&quot;left&quot;:45,&quot;top&quot;:321.75,&quot;width&quot;:630.0000787401575}"/>
</p:tagLst>
</file>

<file path=ppt/tags/tag35.xml><?xml version="1.0" encoding="utf-8"?>
<p:tagLst xmlns:p="http://schemas.openxmlformats.org/presentationml/2006/main">
  <p:tag name="KSO_WM_DIAGRAM_VIRTUALLY_FRAME" val="{&quot;height&quot;:112.5,&quot;left&quot;:45,&quot;top&quot;:321.75,&quot;width&quot;:630.0000787401575}"/>
</p:tagLst>
</file>

<file path=ppt/tags/tag36.xml><?xml version="1.0" encoding="utf-8"?>
<p:tagLst xmlns:p="http://schemas.openxmlformats.org/presentationml/2006/main">
  <p:tag name="KSO_WM_DIAGRAM_VIRTUALLY_FRAME" val="{&quot;height&quot;:112.5,&quot;left&quot;:45,&quot;top&quot;:321.75,&quot;width&quot;:630.0000787401575}"/>
</p:tagLst>
</file>

<file path=ppt/tags/tag37.xml><?xml version="1.0" encoding="utf-8"?>
<p:tagLst xmlns:p="http://schemas.openxmlformats.org/presentationml/2006/main">
  <p:tag name="KSO_WM_DIAGRAM_VIRTUALLY_FRAME" val="{&quot;height&quot;:112.5,&quot;left&quot;:45,&quot;top&quot;:321.75,&quot;width&quot;:630.0000787401575}"/>
</p:tagLst>
</file>

<file path=ppt/tags/tag38.xml><?xml version="1.0" encoding="utf-8"?>
<p:tagLst xmlns:p="http://schemas.openxmlformats.org/presentationml/2006/main">
  <p:tag name="KSO_WM_DIAGRAM_VIRTUALLY_FRAME" val="{&quot;height&quot;:112.5,&quot;left&quot;:45,&quot;top&quot;:321.75,&quot;width&quot;:630.0000787401575}"/>
</p:tagLst>
</file>

<file path=ppt/tags/tag39.xml><?xml version="1.0" encoding="utf-8"?>
<p:tagLst xmlns:p="http://schemas.openxmlformats.org/presentationml/2006/main">
  <p:tag name="KSO_WM_DIAGRAM_VIRTUALLY_FRAME" val="{&quot;height&quot;:112.5,&quot;left&quot;:45,&quot;top&quot;:321.75,&quot;width&quot;:630.0000787401575}"/>
</p:tagLst>
</file>

<file path=ppt/tags/tag40.xml><?xml version="1.0" encoding="utf-8"?>
<p:tagLst xmlns:p="http://schemas.openxmlformats.org/presentationml/2006/main">
  <p:tag name="KSO_WM_DIAGRAM_VIRTUALLY_FRAME" val="{&quot;height&quot;:112.5,&quot;left&quot;:45,&quot;top&quot;:321.75,&quot;width&quot;:630.0000787401575}"/>
</p:tagLst>
</file>

<file path=ppt/tags/tag41.xml><?xml version="1.0" encoding="utf-8"?>
<p:tagLst xmlns:p="http://schemas.openxmlformats.org/presentationml/2006/main">
  <p:tag name="KSO_WM_DIAGRAM_VIRTUALLY_FRAME" val="{&quot;height&quot;:112.5,&quot;left&quot;:45,&quot;top&quot;:321.75,&quot;width&quot;:630.0000787401575}"/>
</p:tagLst>
</file>

<file path=ppt/tags/tag42.xml><?xml version="1.0" encoding="utf-8"?>
<p:tagLst xmlns:p="http://schemas.openxmlformats.org/presentationml/2006/main">
  <p:tag name="KSO_WM_DIAGRAM_VIRTUALLY_FRAME" val="{&quot;height&quot;:112.5,&quot;left&quot;:45,&quot;top&quot;:321.75,&quot;width&quot;:630.0000787401575}"/>
</p:tagLst>
</file>

<file path=ppt/tags/tag43.xml><?xml version="1.0" encoding="utf-8"?>
<p:tagLst xmlns:p="http://schemas.openxmlformats.org/presentationml/2006/main">
  <p:tag name="KSO_WM_DIAGRAM_VIRTUALLY_FRAME" val="{&quot;height&quot;:112.5,&quot;left&quot;:45,&quot;top&quot;:321.75,&quot;width&quot;:630.0000787401575}"/>
</p:tagLst>
</file>

<file path=ppt/tags/tag44.xml><?xml version="1.0" encoding="utf-8"?>
<p:tagLst xmlns:p="http://schemas.openxmlformats.org/presentationml/2006/main">
  <p:tag name="KSO_WM_DIAGRAM_VIRTUALLY_FRAME" val="{&quot;height&quot;:112.5,&quot;left&quot;:45,&quot;top&quot;:321.75,&quot;width&quot;:630.0000787401575}"/>
</p:tagLst>
</file>

<file path=ppt/tags/tag45.xml><?xml version="1.0" encoding="utf-8"?>
<p:tagLst xmlns:p="http://schemas.openxmlformats.org/presentationml/2006/main">
  <p:tag name="KSO_WM_DIAGRAM_VIRTUALLY_FRAME" val="{&quot;height&quot;:112.5,&quot;left&quot;:45,&quot;top&quot;:321.75,&quot;width&quot;:630.0000787401575}"/>
</p:tagLst>
</file>

<file path=ppt/tags/tag46.xml><?xml version="1.0" encoding="utf-8"?>
<p:tagLst xmlns:p="http://schemas.openxmlformats.org/presentationml/2006/main">
  <p:tag name="KSO_WM_DIAGRAM_VIRTUALLY_FRAME" val="{&quot;height&quot;:112.5,&quot;left&quot;:45,&quot;top&quot;:321.75,&quot;width&quot;:630.0000787401575}"/>
</p:tagLst>
</file>

<file path=ppt/tags/tag47.xml><?xml version="1.0" encoding="utf-8"?>
<p:tagLst xmlns:p="http://schemas.openxmlformats.org/presentationml/2006/main">
  <p:tag name="KSO_WM_DIAGRAM_VIRTUALLY_FRAME" val="{&quot;height&quot;:112.5,&quot;left&quot;:45,&quot;top&quot;:321.75,&quot;width&quot;:630.0000787401575}"/>
</p:tagLst>
</file>

<file path=ppt/tags/tag48.xml><?xml version="1.0" encoding="utf-8"?>
<p:tagLst xmlns:p="http://schemas.openxmlformats.org/presentationml/2006/main">
  <p:tag name="KSO_WM_DIAGRAM_VIRTUALLY_FRAME" val="{&quot;height&quot;:112.5,&quot;left&quot;:45,&quot;top&quot;:321.75,&quot;width&quot;:630.0000787401575}"/>
</p:tagLst>
</file>

<file path=ppt/tags/tag49.xml><?xml version="1.0" encoding="utf-8"?>
<p:tagLst xmlns:p="http://schemas.openxmlformats.org/presentationml/2006/main">
  <p:tag name="KSO_WM_DIAGRAM_VIRTUALLY_FRAME" val="{&quot;height&quot;:112.5,&quot;left&quot;:45,&quot;top&quot;:321.75,&quot;width&quot;:630.0000787401575}"/>
</p:tagLst>
</file>

<file path=ppt/tags/tag50.xml><?xml version="1.0" encoding="utf-8"?>
<p:tagLst xmlns:p="http://schemas.openxmlformats.org/presentationml/2006/main">
  <p:tag name="KSO_WM_DIAGRAM_VIRTUALLY_FRAME" val="{&quot;height&quot;:117.18755905511811,&quot;left&quot;:52.5,&quot;top&quot;:158.25,&quot;width&quot;:308.93181102362206}"/>
</p:tagLst>
</file>

<file path=ppt/tags/tag51.xml><?xml version="1.0" encoding="utf-8"?>
<p:tagLst xmlns:p="http://schemas.openxmlformats.org/presentationml/2006/main">
  <p:tag name="KSO_WM_DIAGRAM_VIRTUALLY_FRAME" val="{&quot;height&quot;:117.18755905511811,&quot;left&quot;:52.5,&quot;top&quot;:158.25,&quot;width&quot;:308.93181102362206}"/>
</p:tagLst>
</file>

<file path=ppt/tags/tag52.xml><?xml version="1.0" encoding="utf-8"?>
<p:tagLst xmlns:p="http://schemas.openxmlformats.org/presentationml/2006/main">
  <p:tag name="KSO_WM_DIAGRAM_VIRTUALLY_FRAME" val="{&quot;height&quot;:117.18755905511811,&quot;left&quot;:52.5,&quot;top&quot;:158.25,&quot;width&quot;:308.93181102362206}"/>
</p:tagLst>
</file>

<file path=ppt/tags/tag53.xml><?xml version="1.0" encoding="utf-8"?>
<p:tagLst xmlns:p="http://schemas.openxmlformats.org/presentationml/2006/main">
  <p:tag name="KSO_WM_DIAGRAM_VIRTUALLY_FRAME" val="{&quot;height&quot;:117.18755905511811,&quot;left&quot;:52.5,&quot;top&quot;:158.25,&quot;width&quot;:308.93181102362206}"/>
</p:tagLst>
</file>

<file path=ppt/tags/tag54.xml><?xml version="1.0" encoding="utf-8"?>
<p:tagLst xmlns:p="http://schemas.openxmlformats.org/presentationml/2006/main">
  <p:tag name="KSO_WM_DIAGRAM_VIRTUALLY_FRAME" val="{&quot;height&quot;:117.18755905511811,&quot;left&quot;:52.5,&quot;top&quot;:158.25,&quot;width&quot;:308.93181102362206}"/>
</p:tagLst>
</file>

<file path=ppt/tags/tag55.xml><?xml version="1.0" encoding="utf-8"?>
<p:tagLst xmlns:p="http://schemas.openxmlformats.org/presentationml/2006/main">
  <p:tag name="KSO_WM_DIAGRAM_VIRTUALLY_FRAME" val="{&quot;height&quot;:117.18755905511811,&quot;left&quot;:52.5,&quot;top&quot;:158.25,&quot;width&quot;:308.93181102362206}"/>
</p:tagLst>
</file>

<file path=ppt/tags/tag56.xml><?xml version="1.0" encoding="utf-8"?>
<p:tagLst xmlns:p="http://schemas.openxmlformats.org/presentationml/2006/main">
  <p:tag name="KSO_WM_DIAGRAM_VIRTUALLY_FRAME" val="{&quot;height&quot;:117.18755905511811,&quot;left&quot;:52.5,&quot;top&quot;:158.25,&quot;width&quot;:308.93181102362206}"/>
</p:tagLst>
</file>

<file path=ppt/tags/tag57.xml><?xml version="1.0" encoding="utf-8"?>
<p:tagLst xmlns:p="http://schemas.openxmlformats.org/presentationml/2006/main">
  <p:tag name="KSO_WM_DIAGRAM_VIRTUALLY_FRAME" val="{&quot;height&quot;:117.18755905511811,&quot;left&quot;:52.5,&quot;top&quot;:158.25,&quot;width&quot;:308.93181102362206}"/>
</p:tagLst>
</file>

<file path=ppt/tags/tag58.xml><?xml version="1.0" encoding="utf-8"?>
<p:tagLst xmlns:p="http://schemas.openxmlformats.org/presentationml/2006/main">
  <p:tag name="KSO_WM_DIAGRAM_VIRTUALLY_FRAME" val="{&quot;height&quot;:117.18755905511811,&quot;left&quot;:52.5,&quot;top&quot;:158.25,&quot;width&quot;:308.93181102362206}"/>
</p:tagLst>
</file>

<file path=ppt/tags/tag59.xml><?xml version="1.0" encoding="utf-8"?>
<p:tagLst xmlns:p="http://schemas.openxmlformats.org/presentationml/2006/main">
  <p:tag name="KSO_WM_DIAGRAM_VIRTUALLY_FRAME" val="{&quot;height&quot;:117.18755905511811,&quot;left&quot;:52.5,&quot;top&quot;:158.25,&quot;width&quot;:308.93181102362206}"/>
</p:tagLst>
</file>

<file path=ppt/tags/tag60.xml><?xml version="1.0" encoding="utf-8"?>
<p:tagLst xmlns:p="http://schemas.openxmlformats.org/presentationml/2006/main">
  <p:tag name="KSO_WM_DIAGRAM_VIRTUALLY_FRAME" val="{&quot;height&quot;:117.18755905511811,&quot;left&quot;:52.5,&quot;top&quot;:158.25,&quot;width&quot;:308.93181102362206}"/>
</p:tagLst>
</file>

<file path=ppt/tags/tag61.xml><?xml version="1.0" encoding="utf-8"?>
<p:tagLst xmlns:p="http://schemas.openxmlformats.org/presentationml/2006/main">
  <p:tag name="KSO_WM_DIAGRAM_VIRTUALLY_FRAME" val="{&quot;height&quot;:117.18755905511811,&quot;left&quot;:52.5,&quot;top&quot;:158.25,&quot;width&quot;:308.9318110236220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2585</Words>
  <Application>WPS 演示</Application>
  <PresentationFormat>On-screen Show (16:9)</PresentationFormat>
  <Paragraphs>353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9" baseType="lpstr">
      <vt:lpstr>Arial</vt:lpstr>
      <vt:lpstr>宋体</vt:lpstr>
      <vt:lpstr>Wingdings</vt:lpstr>
      <vt:lpstr>Noto Sans CJK SC Medium</vt:lpstr>
      <vt:lpstr>Segoe Print</vt:lpstr>
      <vt:lpstr>Noto Sans CJK SC Medium</vt:lpstr>
      <vt:lpstr>Noto Sans CJK SC Medium</vt:lpstr>
      <vt:lpstr>Noto Sans CJK SC</vt:lpstr>
      <vt:lpstr>Noto Sans CJK SC</vt:lpstr>
      <vt:lpstr>Noto Sans CJK SC</vt:lpstr>
      <vt:lpstr>Noto Sans CJK SC Black</vt:lpstr>
      <vt:lpstr>Noto Sans CJK SC Black</vt:lpstr>
      <vt:lpstr>Noto Sans CJK SC Black</vt:lpstr>
      <vt:lpstr>Calibri</vt:lpstr>
      <vt:lpstr>微软雅黑</vt:lpstr>
      <vt:lpstr>Arial Unicode MS</vt:lpstr>
      <vt:lpstr>等线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DeepPresenter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DeepPresenter Presentation</dc:title>
  <dc:creator>DeepPresenter</dc:creator>
  <cp:lastModifiedBy>陌路</cp:lastModifiedBy>
  <cp:revision>3</cp:revision>
  <dcterms:created xsi:type="dcterms:W3CDTF">2026-08-10T16:55:00Z</dcterms:created>
  <dcterms:modified xsi:type="dcterms:W3CDTF">2026-08-17T07:57:35Z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E1F44B5CE9B44FE5BA8ACBE77F1F5AE6_12</vt:lpwstr>
  </property>
  <property fmtid="{D5CDD505-2E9C-101B-9397-08002B2CF9AE}" pid="3" name="KSOProductBuildVer">
    <vt:lpwstr>2052-12.1.0.28022</vt:lpwstr>
  </property>
</Properties>
</file>