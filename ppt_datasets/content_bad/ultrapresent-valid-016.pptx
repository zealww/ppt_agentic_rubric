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image" Target="../media/image4.pn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image" Target="../media/image6.png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7.png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1.png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3HpLAZ/html2pptx-bg-1786382163701-dc21863a4951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html2pptx-3HpLAZ/html2pptx-bg-1786382164008-f2b9d65b7c77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-381000"/>
            <a:ext cx="7239000" cy="7239000"/>
          </a:xfrm>
          <a:prstGeom prst="rect">
            <a:avLst/>
          </a:prstGeom>
        </p:spPr>
      </p:pic>
      <p:pic>
        <p:nvPicPr>
          <p:cNvPr id="4" name="Image 2" descr="/tmp/html2pptx-3HpLAZ/html2pptx-bg-1786382164314-61c7dea259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335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47750" y="1619250"/>
            <a:ext cx="952119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50"/>
              </a:spcAft>
              <a:buNone/>
            </a:pPr>
            <a:r>
              <a:rPr lang="en-US" sz="1650" dirty="0">
                <a:solidFill>
                  <a:srgbClr val="FFB347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LIGHT NOVEL · 社会观察</a:t>
            </a:r>
            <a:endParaRPr lang="en-US" sz="1650" dirty="0"/>
          </a:p>
        </p:txBody>
      </p:sp>
      <p:sp>
        <p:nvSpPr>
          <p:cNvPr id="6" name="Text 1"/>
          <p:cNvSpPr/>
          <p:nvPr/>
        </p:nvSpPr>
        <p:spPr>
          <a:xfrm>
            <a:off x="1047750" y="2133600"/>
            <a:ext cx="9521190" cy="1664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50"/>
              </a:lnSpc>
              <a:spcAft>
                <a:spcPts val="2100"/>
              </a:spcAft>
              <a:buNone/>
            </a:pPr>
            <a:r>
              <a:rPr lang="en-US" sz="58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日本</a:t>
            </a:r>
            <a:r>
              <a:rPr lang="en-US" sz="58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轻小说</a:t>
            </a:r>
            <a:r>
              <a:rPr lang="en-US" sz="58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的</a:t>
            </a:r>
            <a:endParaRPr lang="en-US" sz="5850" dirty="0"/>
          </a:p>
          <a:p>
            <a:pPr marL="0" indent="0" algn="l">
              <a:lnSpc>
                <a:spcPts val="6550"/>
              </a:lnSpc>
              <a:spcAft>
                <a:spcPts val="2100"/>
              </a:spcAft>
              <a:buNone/>
            </a:pPr>
            <a:r>
              <a:rPr lang="en-US" sz="58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社会wd影响</a:t>
            </a:r>
            <a:endParaRPr lang="en-US" sz="5850" dirty="0"/>
          </a:p>
        </p:txBody>
      </p:sp>
      <p:sp>
        <p:nvSpPr>
          <p:cNvPr id="7" name="Text 2"/>
          <p:cNvSpPr/>
          <p:nvPr/>
        </p:nvSpPr>
        <p:spPr>
          <a:xfrm>
            <a:off x="1047750" y="4064496"/>
            <a:ext cx="7966710" cy="857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dirty="0">
                <a:solidFill>
                  <a:srgbClr val="E7D6FF"/>
                </a:solidFill>
                <a:latin typeface="Noto Sans CJK SC Light" pitchFamily="34" charset="0"/>
                <a:ea typeface="Noto Sans CJK SC Light" pitchFamily="34" charset="-122"/>
                <a:cs typeface="Noto Sans CJK SC Light" pitchFamily="34" charset="-120"/>
              </a:rPr>
              <a:t>从口袋文库dad到国民</a:t>
            </a:r>
            <a:r>
              <a:rPr lang="en-US" sz="2250" dirty="0">
                <a:solidFill>
                  <a:srgbClr val="E7D6FF"/>
                </a:solidFill>
                <a:latin typeface="Noto Sans CJK SC Light" pitchFamily="34" charset="0"/>
                <a:ea typeface="Noto Sans CJK SC Light" pitchFamily="34" charset="-122"/>
                <a:cs typeface="Noto Sans CJK SC Light" pitchFamily="34" charset="-120"/>
              </a:rPr>
              <a:t>dada级亚文化——解析一种文学形态如何重塑日本当代文化的精神面貌与产业生态。</a:t>
            </a:r>
            <a:endParaRPr lang="en-US" sz="2250" dirty="0"/>
          </a:p>
        </p:txBody>
      </p:sp>
      <p:sp>
        <p:nvSpPr>
          <p:cNvPr id="8" name="Text 3"/>
          <p:cNvSpPr/>
          <p:nvPr/>
        </p:nvSpPr>
        <p:spPr>
          <a:xfrm>
            <a:off x="1047750" y="6000750"/>
            <a:ext cx="137110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 / </a:t>
            </a: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文化研究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2849166" y="6000750"/>
            <a:ext cx="839176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/ </a:t>
            </a: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129088" y="6000750"/>
            <a:ext cx="98248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地区 / </a:t>
            </a: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日本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889802" y="6019800"/>
            <a:ext cx="249384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D8AB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PRESENTATION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3672459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01 / 定义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2000" y="933450"/>
            <a:ext cx="3672459" cy="752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4050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什么是</a:t>
            </a:r>
            <a:r>
              <a:rPr lang="en-US" sz="40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轻说</a:t>
            </a:r>
            <a:r>
              <a:rPr lang="en-US" sz="4050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？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5455405" cy="19429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轻小说（ライトノベル）是起源于日本、以青少年为核心读者的</a:t>
            </a:r>
            <a:r>
              <a:rPr lang="en-US" sz="1800" b="1" dirty="0">
                <a:solidFill>
                  <a:srgbClr val="C4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娱乐向小说</a:t>
            </a:r>
            <a:r>
              <a:rPr lang="en-US" sz="1800" dirty="0">
                <a:solidFill>
                  <a:srgbClr val="3A2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体裁。dadsa它以"轻松可读"为美学原则，融合动画、漫画风格的插画，常以廉价文库本形式出wda版，题材涵盖恋爱、奇幻、科幻、推理、恐怖等多元门类。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6288" y="4019401"/>
            <a:ext cx="0" cy="548580"/>
          </a:xfrm>
          <a:prstGeom prst="line">
            <a:avLst/>
          </a:prstGeom>
          <a:noFill/>
          <a:ln w="28575">
            <a:solidFill>
              <a:srgbClr val="C4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925" y="4019401"/>
            <a:ext cx="5290242" cy="548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i="1" dirty="0">
                <a:solidFill>
                  <a:srgbClr val="7A4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"轻"既指阅读的轻dadsd盈节奏，也指向一种通俗、贴近年轻世代情感的叙事姿态。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7636" y="1905000"/>
            <a:ext cx="4862364" cy="2830264"/>
          </a:xfrm>
          <a:prstGeom prst="roundRect">
            <a:avLst>
              <a:gd name="adj" fmla="val 2019"/>
            </a:avLst>
          </a:prstGeom>
          <a:solidFill>
            <a:srgbClr val="2A1C1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91486" y="2247900"/>
            <a:ext cx="429895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050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CONCEPT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91486" y="2571750"/>
            <a:ext cx="4298957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F6F1E9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轻 · 小 · 说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891486" y="3171825"/>
            <a:ext cx="4298957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350"/>
              </a:spcAft>
              <a:buNone/>
            </a:pPr>
            <a:r>
              <a:rPr lang="en-US" sz="135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 NOVEL / ラノベ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91486" y="3590925"/>
            <a:ext cx="4298957" cy="801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5"/>
              </a:lnSpc>
              <a:buNone/>
            </a:pPr>
            <a:r>
              <a:rPr lang="en-US" sz="127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面向年轻读者、以娱乐为目的；附有动漫风格插图；语言明快、节奏wdasd紧凑；多以文库本（450–600日元）形式发售；与动画、漫画、游戏形成紧密产业链共生。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762000" y="5972175"/>
            <a:ext cx="895499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3925" y="6057900"/>
            <a:ext cx="58308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娱乐为先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790849" y="5972175"/>
            <a:ext cx="895499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2774" y="6057900"/>
            <a:ext cx="58308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动漫插画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819698" y="5972175"/>
            <a:ext cx="1038374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81623" y="6057900"/>
            <a:ext cx="72881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文库本形态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991421" y="5972175"/>
            <a:ext cx="1015305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53346" y="6057900"/>
            <a:ext cx="70528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ACGN 共生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140077" y="5972175"/>
            <a:ext cx="895499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02002" y="6057900"/>
            <a:ext cx="58308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年轻世代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332565" y="6153150"/>
            <a:ext cx="213938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02 · SLIDE 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42710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02 / 历史脉络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76300"/>
            <a:ext cx="4271025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3750" dirty="0">
                <a:solidFill>
                  <a:srgbClr val="EEF2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起源与</a:t>
            </a:r>
            <a:r>
              <a:rPr lang="en-US" sz="37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发展脉络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2000" y="1638300"/>
            <a:ext cx="427102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350" dirty="0">
                <a:solidFill>
                  <a:srgbClr val="9FB0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FROM 1970s TO TODAY · 半个世纪的演化轨迹</a:t>
            </a:r>
            <a:endParaRPr lang="en-US" sz="1350" dirty="0"/>
          </a:p>
        </p:txBody>
      </p:sp>
      <p:pic>
        <p:nvPicPr>
          <p:cNvPr id="6" name="Image 0" descr="/tmp/html2pptx-55lkzI/html2pptx-bg-1786382166053-5d0b140d0f20a8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19250" y="2286000"/>
            <a:ext cx="28575" cy="3621881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729615" y="2000250"/>
            <a:ext cx="165163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1970s</a:t>
            </a:r>
            <a:endParaRPr lang="en-US" sz="21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2667000" y="2000250"/>
            <a:ext cx="8763000" cy="821531"/>
          </a:xfrm>
          <a:prstGeom prst="roundRect">
            <a:avLst>
              <a:gd name="adj" fmla="val 4638"/>
            </a:avLst>
          </a:prstGeom>
          <a:solidFill>
            <a:srgbClr val="FFFFFF">
              <a:alpha val="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2686050" y="2133600"/>
            <a:ext cx="0" cy="554831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2914650" y="2133600"/>
            <a:ext cx="8471916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索诺拉马文库等先wad驱</a:t>
            </a:r>
            <a:endParaRPr lang="en-US" sz="1500" dirty="0"/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2914650" y="2466975"/>
            <a:ext cx="8471916" cy="221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buNone/>
            </a:pPr>
            <a:r>
              <a:rPr lang="en-US" sz="112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朝日ソノラマ、角川文库率先推出dsa面向少年的娱乐小说，《幻魔大战》《吸血鬼猎人D》等作品奠定"通俗奇幻 + 插画"雏形。</a:t>
            </a:r>
            <a:endParaRPr lang="en-US" sz="1125" dirty="0"/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729615" y="2993231"/>
            <a:ext cx="165163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1990s</a:t>
            </a:r>
            <a:endParaRPr lang="en-US" sz="2100" dirty="0"/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2667000" y="2993231"/>
            <a:ext cx="8763000" cy="1042988"/>
          </a:xfrm>
          <a:prstGeom prst="roundRect">
            <a:avLst>
              <a:gd name="adj" fmla="val 3653"/>
            </a:avLst>
          </a:prstGeom>
          <a:solidFill>
            <a:srgbClr val="FFFFFF">
              <a:alpha val="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2686050" y="3126581"/>
            <a:ext cx="0" cy="776288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2914650" y="3126581"/>
            <a:ext cx="8471916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电击文库登dwad场</a:t>
            </a:r>
            <a:endParaRPr lang="en-US" sz="1500" dirty="0"/>
          </a:p>
        </p:txBody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2914650" y="3459956"/>
            <a:ext cx="8471916" cy="44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buNone/>
            </a:pPr>
            <a:r>
              <a:rPr lang="en-US" sz="112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1993 年角川书店主刊电击文库wda创刊，《秀逗dwad魔导士》《不思议游戏》确立现代轻小说形态：动画化封面、文库本定价、青少年主角群。</a:t>
            </a:r>
            <a:endParaRPr lang="en-US" sz="1125" dirty="0"/>
          </a:p>
        </p:txBody>
      </p:sp>
      <p:sp>
        <p:nvSpPr>
          <p:cNvPr id="17" name="Text 14"/>
          <p:cNvSpPr/>
          <p:nvPr>
            <p:custDataLst>
              <p:tags r:id="rId13"/>
            </p:custDataLst>
          </p:nvPr>
        </p:nvSpPr>
        <p:spPr>
          <a:xfrm>
            <a:off x="729615" y="4207669"/>
            <a:ext cx="165163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2000s</a:t>
            </a:r>
            <a:endParaRPr lang="en-US" sz="2100" dirty="0"/>
          </a:p>
        </p:txBody>
      </p:sp>
      <p:sp>
        <p:nvSpPr>
          <p:cNvPr id="18" name="Text 15"/>
          <p:cNvSpPr/>
          <p:nvPr>
            <p:custDataLst>
              <p:tags r:id="rId14"/>
            </p:custDataLst>
          </p:nvPr>
        </p:nvSpPr>
        <p:spPr>
          <a:xfrm>
            <a:off x="2667000" y="4207669"/>
            <a:ext cx="8763000" cy="821531"/>
          </a:xfrm>
          <a:prstGeom prst="roundRect">
            <a:avLst>
              <a:gd name="adj" fmla="val 4638"/>
            </a:avLst>
          </a:prstGeom>
          <a:solidFill>
            <a:srgbClr val="FFFFFF">
              <a:alpha val="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>
            <p:custDataLst>
              <p:tags r:id="rId15"/>
            </p:custDataLst>
          </p:nvPr>
        </p:nvSpPr>
        <p:spPr>
          <a:xfrm>
            <a:off x="2686050" y="4341019"/>
            <a:ext cx="0" cy="554831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6"/>
            </p:custDataLst>
          </p:nvPr>
        </p:nvSpPr>
        <p:spPr>
          <a:xfrm>
            <a:off x="2914650" y="4341019"/>
            <a:ext cx="8471916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"凉宫"现象与dwada产业飞跃</a:t>
            </a:r>
            <a:endParaRPr lang="en-US" sz="1500" dirty="0"/>
          </a:p>
        </p:txBody>
      </p:sp>
      <p:sp>
        <p:nvSpPr>
          <p:cNvPr id="21" name="Text 18"/>
          <p:cNvSpPr/>
          <p:nvPr>
            <p:custDataLst>
              <p:tags r:id="rId17"/>
            </p:custDataLst>
          </p:nvPr>
        </p:nvSpPr>
        <p:spPr>
          <a:xfrm>
            <a:off x="2914650" y="4674394"/>
            <a:ext cx="8471916" cy="221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buNone/>
            </a:pPr>
            <a:r>
              <a:rPr lang="en-US" sz="112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《凉宫春日的a忧郁》《狼与香辛料》引爆跨媒体改编潮；轻小说销量在 2000 年代后期跃居出版业增长冠军。</a:t>
            </a:r>
            <a:endParaRPr lang="en-US" sz="1125" dirty="0"/>
          </a:p>
        </p:txBody>
      </p:sp>
      <p:sp>
        <p:nvSpPr>
          <p:cNvPr id="22" name="Text 19"/>
          <p:cNvSpPr/>
          <p:nvPr>
            <p:custDataLst>
              <p:tags r:id="rId18"/>
            </p:custDataLst>
          </p:nvPr>
        </p:nvSpPr>
        <p:spPr>
          <a:xfrm>
            <a:off x="729615" y="5200650"/>
            <a:ext cx="165163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2010s+</a:t>
            </a:r>
            <a:endParaRPr lang="en-US" sz="2100" dirty="0"/>
          </a:p>
        </p:txBody>
      </p:sp>
      <p:sp>
        <p:nvSpPr>
          <p:cNvPr id="23" name="Text 20"/>
          <p:cNvSpPr/>
          <p:nvPr>
            <p:custDataLst>
              <p:tags r:id="rId19"/>
            </p:custDataLst>
          </p:nvPr>
        </p:nvSpPr>
        <p:spPr>
          <a:xfrm>
            <a:off x="2667000" y="5200650"/>
            <a:ext cx="8763000" cy="821531"/>
          </a:xfrm>
          <a:prstGeom prst="roundRect">
            <a:avLst>
              <a:gd name="adj" fmla="val 4638"/>
            </a:avLst>
          </a:prstGeom>
          <a:solidFill>
            <a:srgbClr val="FFFFFF">
              <a:alpha val="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>
            <p:custDataLst>
              <p:tags r:id="rId20"/>
            </p:custDataLst>
          </p:nvPr>
        </p:nvSpPr>
        <p:spPr>
          <a:xfrm>
            <a:off x="2686050" y="5334000"/>
            <a:ext cx="0" cy="554831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25" name="Text 22"/>
          <p:cNvSpPr/>
          <p:nvPr>
            <p:custDataLst>
              <p:tags r:id="rId21"/>
            </p:custDataLst>
          </p:nvPr>
        </p:nvSpPr>
        <p:spPr>
          <a:xfrm>
            <a:off x="2914650" y="5334000"/>
            <a:ext cx="8471916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网文投稿与"なろうdawdad系"</a:t>
            </a:r>
            <a:endParaRPr lang="en-US" sz="1500" dirty="0"/>
          </a:p>
        </p:txBody>
      </p:sp>
      <p:sp>
        <p:nvSpPr>
          <p:cNvPr id="26" name="Text 23"/>
          <p:cNvSpPr/>
          <p:nvPr>
            <p:custDataLst>
              <p:tags r:id="rId22"/>
            </p:custDataLst>
          </p:nvPr>
        </p:nvSpPr>
        <p:spPr>
          <a:xfrm>
            <a:off x="2914650" y="5667375"/>
            <a:ext cx="8471916" cy="221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buNone/>
            </a:pPr>
            <a:r>
              <a:rPr lang="en-US" sz="112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"成为小说家吧"等平台兴起，异世界dasda转生题材席卷市场；《刀剑神域》《Re:Zero》《鬼灭之刃》原作小说走向全球。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A7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03 · SLIDE 03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/tmp/html2pptx-u2DFrZ/html2pptx-bg-1786382166877-663f94b676b45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53000" cy="6858000"/>
          </a:xfrm>
          <a:prstGeom prst="rect">
            <a:avLst/>
          </a:prstGeom>
        </p:spPr>
      </p:pic>
      <p:pic>
        <p:nvPicPr>
          <p:cNvPr id="4" name="Image 1" descr="/tmp/html2pptx-u2DFrZ/html2pptx-bg-1786382167188-29c3054735a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53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2900" y="476250"/>
            <a:ext cx="4103736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03 / 流行背景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42900" y="723900"/>
            <a:ext cx="4103736" cy="10513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40"/>
              </a:lnSpc>
              <a:spcBef>
                <a:spcPts val="45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为何在</a:t>
            </a:r>
            <a:endParaRPr lang="en-US" sz="3600" dirty="0"/>
          </a:p>
          <a:p>
            <a:pPr marL="0" indent="0" algn="l">
              <a:lnSpc>
                <a:spcPts val="4140"/>
              </a:lnSpc>
              <a:spcBef>
                <a:spcPts val="45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日asdaw本流行？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342900" y="1908572"/>
            <a:ext cx="410373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buNone/>
            </a:pP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POPULARIZwadATION CONTEXT · 1990–2010s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42900" y="6410325"/>
            <a:ext cx="244420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图：东京秋叶原 K-Books 动漫书店街区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334000" y="762000"/>
            <a:ext cx="6217920" cy="971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3A2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轻小说的爆发式流行并非偶然。它诞生于日本</a:t>
            </a:r>
            <a:r>
              <a:rPr lang="en-US" sz="1500" b="1" dirty="0">
                <a:solidFill>
                  <a:srgbClr val="C4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泡沫经济瓦解后</a:t>
            </a:r>
            <a:r>
              <a:rPr lang="en-US" sz="1500" dirty="0">
                <a:solidFill>
                  <a:srgbClr val="3A2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的文化消费转型期，伴随dsadwdasda出版业文库本策略、动画产业外溢、便利店分销网络以及青少年阅读时间碎片化共同催生。</a:t>
            </a:r>
            <a:endParaRPr lang="en-US" sz="1500" dirty="0"/>
          </a:p>
        </p:txBody>
      </p:sp>
      <p:sp>
        <p:nvSpPr>
          <p:cNvPr id="10" name="Text 6"/>
          <p:cNvSpPr/>
          <p:nvPr>
            <p:custDataLst>
              <p:tags r:id="rId3"/>
            </p:custDataLst>
          </p:nvPr>
        </p:nvSpPr>
        <p:spPr>
          <a:xfrm>
            <a:off x="5334000" y="2038350"/>
            <a:ext cx="2962275" cy="136267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7"/>
          <p:cNvSpPr/>
          <p:nvPr>
            <p:custDataLst>
              <p:tags r:id="rId4"/>
            </p:custDataLst>
          </p:nvPr>
        </p:nvSpPr>
        <p:spPr>
          <a:xfrm>
            <a:off x="5524500" y="2057400"/>
            <a:ext cx="2581275" cy="0"/>
          </a:xfrm>
          <a:prstGeom prst="line">
            <a:avLst/>
          </a:prstGeom>
          <a:noFill/>
          <a:ln w="38100">
            <a:solidFill>
              <a:srgbClr val="C44B6E"/>
            </a:solidFill>
            <a:prstDash val="solid"/>
          </a:ln>
        </p:spPr>
      </p:sp>
      <p:sp>
        <p:nvSpPr>
          <p:cNvPr id="12" name="Text 8"/>
          <p:cNvSpPr/>
          <p:nvPr>
            <p:custDataLst>
              <p:tags r:id="rId5"/>
            </p:custDataLst>
          </p:nvPr>
        </p:nvSpPr>
        <p:spPr>
          <a:xfrm>
            <a:off x="5524500" y="2247900"/>
            <a:ext cx="2632901" cy="206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FACTOR 01</a:t>
            </a:r>
            <a:endParaRPr lang="en-US" sz="1050" dirty="0"/>
          </a:p>
        </p:txBody>
      </p:sp>
      <p:sp>
        <p:nvSpPr>
          <p:cNvPr id="13" name="Text 9"/>
          <p:cNvSpPr/>
          <p:nvPr>
            <p:custDataLst>
              <p:tags r:id="rId6"/>
            </p:custDataLst>
          </p:nvPr>
        </p:nvSpPr>
        <p:spPr>
          <a:xfrm>
            <a:off x="5524500" y="2511623"/>
            <a:ext cx="263290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dawda廉价文库本策略</a:t>
            </a:r>
            <a:endParaRPr lang="en-US" sz="1350" dirty="0"/>
          </a:p>
        </p:txBody>
      </p:sp>
      <p:sp>
        <p:nvSpPr>
          <p:cNvPr id="14" name="Text 10"/>
          <p:cNvSpPr/>
          <p:nvPr>
            <p:custDataLst>
              <p:tags r:id="rId7"/>
            </p:custDataLst>
          </p:nvPr>
        </p:nvSpPr>
        <p:spPr>
          <a:xfrm>
            <a:off x="5524500" y="2816423"/>
            <a:ext cx="2632901" cy="4131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dirty="0">
                <a:solidFill>
                  <a:srgbClr val="5A4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450–600 日元定价契asdad合学生零花钱；便利店与书店全国铺货降低获取门槛。</a:t>
            </a:r>
            <a:endParaRPr lang="en-US" sz="1050" dirty="0"/>
          </a:p>
        </p:txBody>
      </p:sp>
      <p:sp>
        <p:nvSpPr>
          <p:cNvPr id="15" name="Text 11"/>
          <p:cNvSpPr/>
          <p:nvPr>
            <p:custDataLst>
              <p:tags r:id="rId8"/>
            </p:custDataLst>
          </p:nvPr>
        </p:nvSpPr>
        <p:spPr>
          <a:xfrm>
            <a:off x="8467725" y="2038350"/>
            <a:ext cx="2962275" cy="136267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>
            <p:custDataLst>
              <p:tags r:id="rId9"/>
            </p:custDataLst>
          </p:nvPr>
        </p:nvSpPr>
        <p:spPr>
          <a:xfrm>
            <a:off x="8658225" y="2057400"/>
            <a:ext cx="2581275" cy="0"/>
          </a:xfrm>
          <a:prstGeom prst="line">
            <a:avLst/>
          </a:prstGeom>
          <a:noFill/>
          <a:ln w="38100">
            <a:solidFill>
              <a:srgbClr val="C44B6E"/>
            </a:solidFill>
            <a:prstDash val="solid"/>
          </a:ln>
        </p:spPr>
      </p:sp>
      <p:sp>
        <p:nvSpPr>
          <p:cNvPr id="17" name="Text 13"/>
          <p:cNvSpPr/>
          <p:nvPr>
            <p:custDataLst>
              <p:tags r:id="rId10"/>
            </p:custDataLst>
          </p:nvPr>
        </p:nvSpPr>
        <p:spPr>
          <a:xfrm>
            <a:off x="8658225" y="2247900"/>
            <a:ext cx="2632901" cy="206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FACTOR 02</a:t>
            </a:r>
            <a:endParaRPr lang="en-US" sz="1050" dirty="0"/>
          </a:p>
        </p:txBody>
      </p:sp>
      <p:sp>
        <p:nvSpPr>
          <p:cNvPr id="18" name="Text 14"/>
          <p:cNvSpPr/>
          <p:nvPr>
            <p:custDataLst>
              <p:tags r:id="rId11"/>
            </p:custDataLst>
          </p:nvPr>
        </p:nvSpPr>
        <p:spPr>
          <a:xfrm>
            <a:off x="8658225" y="2511623"/>
            <a:ext cx="263290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动画化联动dwad放大</a:t>
            </a:r>
            <a:endParaRPr lang="en-US" sz="1350" dirty="0"/>
          </a:p>
        </p:txBody>
      </p:sp>
      <p:sp>
        <p:nvSpPr>
          <p:cNvPr id="19" name="Text 15"/>
          <p:cNvSpPr/>
          <p:nvPr>
            <p:custDataLst>
              <p:tags r:id="rId12"/>
            </p:custDataLst>
          </p:nvPr>
        </p:nvSpPr>
        <p:spPr>
          <a:xfrm>
            <a:off x="8658225" y="2816423"/>
            <a:ext cx="2632901" cy="4131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dirty="0">
                <a:solidFill>
                  <a:srgbClr val="5A4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深夜动画栏目扩展为强曝光渠道，原作小说随改编动画同步sdawd热销。</a:t>
            </a:r>
            <a:endParaRPr lang="en-US" sz="1050" dirty="0"/>
          </a:p>
        </p:txBody>
      </p:sp>
      <p:sp>
        <p:nvSpPr>
          <p:cNvPr id="20" name="Text 16"/>
          <p:cNvSpPr/>
          <p:nvPr>
            <p:custDataLst>
              <p:tags r:id="rId13"/>
            </p:custDataLst>
          </p:nvPr>
        </p:nvSpPr>
        <p:spPr>
          <a:xfrm>
            <a:off x="5334000" y="3572470"/>
            <a:ext cx="2962275" cy="136267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7"/>
          <p:cNvSpPr/>
          <p:nvPr>
            <p:custDataLst>
              <p:tags r:id="rId14"/>
            </p:custDataLst>
          </p:nvPr>
        </p:nvSpPr>
        <p:spPr>
          <a:xfrm>
            <a:off x="5524500" y="3591520"/>
            <a:ext cx="2581275" cy="0"/>
          </a:xfrm>
          <a:prstGeom prst="line">
            <a:avLst/>
          </a:prstGeom>
          <a:noFill/>
          <a:ln w="38100">
            <a:solidFill>
              <a:srgbClr val="C44B6E"/>
            </a:solidFill>
            <a:prstDash val="solid"/>
          </a:ln>
        </p:spPr>
      </p:sp>
      <p:sp>
        <p:nvSpPr>
          <p:cNvPr id="22" name="Text 18"/>
          <p:cNvSpPr/>
          <p:nvPr>
            <p:custDataLst>
              <p:tags r:id="rId15"/>
            </p:custDataLst>
          </p:nvPr>
        </p:nvSpPr>
        <p:spPr>
          <a:xfrm>
            <a:off x="5524500" y="3782020"/>
            <a:ext cx="2632901" cy="206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FACTOR 03</a:t>
            </a:r>
            <a:endParaRPr lang="en-US" sz="1050" dirty="0"/>
          </a:p>
        </p:txBody>
      </p:sp>
      <p:sp>
        <p:nvSpPr>
          <p:cNvPr id="23" name="Text 19"/>
          <p:cNvSpPr/>
          <p:nvPr>
            <p:custDataLst>
              <p:tags r:id="rId16"/>
            </p:custDataLst>
          </p:nvPr>
        </p:nvSpPr>
        <p:spPr>
          <a:xfrm>
            <a:off x="5524500" y="4045744"/>
            <a:ext cx="263290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插画文化的wadas吸附</a:t>
            </a:r>
            <a:endParaRPr lang="en-US" sz="1350" dirty="0"/>
          </a:p>
        </p:txBody>
      </p:sp>
      <p:sp>
        <p:nvSpPr>
          <p:cNvPr id="24" name="Text 20"/>
          <p:cNvSpPr/>
          <p:nvPr>
            <p:custDataLst>
              <p:tags r:id="rId17"/>
            </p:custDataLst>
          </p:nvPr>
        </p:nvSpPr>
        <p:spPr>
          <a:xfrm>
            <a:off x="5524500" y="4350544"/>
            <a:ext cx="2632901" cy="4131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dirty="0">
                <a:solidFill>
                  <a:srgbClr val="5A4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知名插画师封面dwadas与彩页使轻小说具备"角色商品"属性，吸引视觉先行的读者。</a:t>
            </a:r>
            <a:endParaRPr lang="en-US" sz="1050" dirty="0"/>
          </a:p>
        </p:txBody>
      </p:sp>
      <p:sp>
        <p:nvSpPr>
          <p:cNvPr id="25" name="Text 21"/>
          <p:cNvSpPr/>
          <p:nvPr>
            <p:custDataLst>
              <p:tags r:id="rId18"/>
            </p:custDataLst>
          </p:nvPr>
        </p:nvSpPr>
        <p:spPr>
          <a:xfrm>
            <a:off x="8467725" y="3572470"/>
            <a:ext cx="2962275" cy="136267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2"/>
          <p:cNvSpPr/>
          <p:nvPr>
            <p:custDataLst>
              <p:tags r:id="rId19"/>
            </p:custDataLst>
          </p:nvPr>
        </p:nvSpPr>
        <p:spPr>
          <a:xfrm>
            <a:off x="8658225" y="3591520"/>
            <a:ext cx="2581275" cy="0"/>
          </a:xfrm>
          <a:prstGeom prst="line">
            <a:avLst/>
          </a:prstGeom>
          <a:noFill/>
          <a:ln w="38100">
            <a:solidFill>
              <a:srgbClr val="C44B6E"/>
            </a:solidFill>
            <a:prstDash val="solid"/>
          </a:ln>
        </p:spPr>
      </p:sp>
      <p:sp>
        <p:nvSpPr>
          <p:cNvPr id="27" name="Text 23"/>
          <p:cNvSpPr/>
          <p:nvPr>
            <p:custDataLst>
              <p:tags r:id="rId20"/>
            </p:custDataLst>
          </p:nvPr>
        </p:nvSpPr>
        <p:spPr>
          <a:xfrm>
            <a:off x="8658225" y="3782020"/>
            <a:ext cx="2632901" cy="206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FACTOR 04</a:t>
            </a:r>
            <a:endParaRPr lang="en-US" sz="1050" dirty="0"/>
          </a:p>
        </p:txBody>
      </p:sp>
      <p:sp>
        <p:nvSpPr>
          <p:cNvPr id="28" name="Text 24"/>
          <p:cNvSpPr/>
          <p:nvPr>
            <p:custDataLst>
              <p:tags r:id="rId21"/>
            </p:custDataLst>
          </p:nvPr>
        </p:nvSpPr>
        <p:spPr>
          <a:xfrm>
            <a:off x="8658225" y="4045744"/>
            <a:ext cx="263290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网络投dasdw稿平台</a:t>
            </a:r>
            <a:endParaRPr lang="en-US" sz="1350" dirty="0"/>
          </a:p>
        </p:txBody>
      </p:sp>
      <p:sp>
        <p:nvSpPr>
          <p:cNvPr id="29" name="Text 25"/>
          <p:cNvSpPr/>
          <p:nvPr>
            <p:custDataLst>
              <p:tags r:id="rId22"/>
            </p:custDataLst>
          </p:nvPr>
        </p:nvSpPr>
        <p:spPr>
          <a:xfrm>
            <a:off x="8658225" y="4350544"/>
            <a:ext cx="2632901" cy="4131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050" dirty="0">
                <a:solidFill>
                  <a:srgbClr val="5A4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"成为小说家吧awdads"等免费平台让业余作者绕过出版社直接触达读者，催生新题材洪流。</a:t>
            </a:r>
            <a:endParaRPr lang="en-US" sz="1050" dirty="0"/>
          </a:p>
        </p:txBody>
      </p:sp>
      <p:sp>
        <p:nvSpPr>
          <p:cNvPr id="30" name="Text 26"/>
          <p:cNvSpPr/>
          <p:nvPr>
            <p:custDataLst>
              <p:tags r:id="rId23"/>
            </p:custDataLst>
          </p:nvPr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04 · SLIDE 04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04 / 主要受众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57250"/>
            <a:ext cx="1088136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3900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谁在读</a:t>
            </a:r>
            <a:r>
              <a:rPr lang="en-US" sz="390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轻小ad说</a:t>
            </a:r>
            <a:r>
              <a:rPr lang="en-US" sz="3900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？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62000" y="1628775"/>
            <a:ext cx="1088136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275" dirty="0">
                <a:solidFill>
                  <a:srgbClr val="7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POadaRTRAIT · 主要受众ad画像与构成</a:t>
            </a:r>
            <a:endParaRPr lang="en-US" sz="1275" dirty="0"/>
          </a:p>
        </p:txBody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2567732" cy="2113955"/>
          </a:xfrm>
          <a:prstGeom prst="roundRect">
            <a:avLst>
              <a:gd name="adj" fmla="val 3605"/>
            </a:avLst>
          </a:prstGeom>
          <a:solidFill>
            <a:srgbClr val="FFFFFF"/>
          </a:solidFill>
          <a:effectLst>
            <a:outerShdw blurRad="95250" dist="2857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785813" y="2076450"/>
            <a:ext cx="0" cy="1771055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981075" y="2076450"/>
            <a:ext cx="2220751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01</a:t>
            </a:r>
            <a:endParaRPr lang="en-US" sz="975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981075" y="2306389"/>
            <a:ext cx="2220751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初dawd高中生</a:t>
            </a:r>
            <a:endParaRPr lang="en-US" sz="15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981075" y="2658814"/>
            <a:ext cx="2220751" cy="5978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01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10–18 岁学生是核dsadaw心读者群，校园生活与异世界幻想题材契合成长期心理需求。</a:t>
            </a:r>
            <a:endParaRPr lang="en-US" sz="1015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463082" y="1905000"/>
            <a:ext cx="2567732" cy="2113955"/>
          </a:xfrm>
          <a:prstGeom prst="roundRect">
            <a:avLst>
              <a:gd name="adj" fmla="val 3605"/>
            </a:avLst>
          </a:prstGeom>
          <a:solidFill>
            <a:srgbClr val="FFFFFF"/>
          </a:solidFill>
          <a:effectLst>
            <a:outerShdw blurRad="95250" dist="2857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3486894" y="2076450"/>
            <a:ext cx="0" cy="1771055"/>
          </a:xfrm>
          <a:prstGeom prst="line">
            <a:avLst/>
          </a:prstGeom>
          <a:noFill/>
          <a:ln w="47625">
            <a:solidFill>
              <a:srgbClr val="5A4A8A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3682157" y="2076450"/>
            <a:ext cx="2220751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02</a:t>
            </a:r>
            <a:endParaRPr lang="en-US" sz="975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3696127" y="2306389"/>
            <a:ext cx="2220751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A4A8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dawd大学 / 适龄青年</a:t>
            </a:r>
            <a:endParaRPr lang="en-US" sz="15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3682157" y="2658814"/>
            <a:ext cx="2220751" cy="3985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01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20–30 岁群体延续阅读习惯，对剧情复杂度与社会dawd隐喻有更高诉求。</a:t>
            </a:r>
            <a:endParaRPr lang="en-US" sz="1015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762000" y="4152305"/>
            <a:ext cx="2567732" cy="2114104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effectLst>
            <a:outerShdw blurRad="95250" dist="2857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785813" y="4323755"/>
            <a:ext cx="0" cy="1771204"/>
          </a:xfrm>
          <a:prstGeom prst="line">
            <a:avLst/>
          </a:prstGeom>
          <a:noFill/>
          <a:ln w="47625">
            <a:solidFill>
              <a:srgbClr val="5A4A8A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981075" y="4323755"/>
            <a:ext cx="2220751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EXT 03</a:t>
            </a:r>
            <a:endParaRPr lang="en-US" sz="975" dirty="0"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981075" y="4553694"/>
            <a:ext cx="2220751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A4A8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通勤上ada班族</a:t>
            </a:r>
            <a:endParaRPr lang="en-US" sz="15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981075" y="4906119"/>
            <a:ext cx="2220751" cy="3985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01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文库本便携、dad章节短小，契合地铁通勤场景的碎片化阅读需求。</a:t>
            </a:r>
            <a:endParaRPr lang="en-US" sz="1015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3463082" y="4152305"/>
            <a:ext cx="2567732" cy="2114104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effectLst>
            <a:outerShdw blurRad="95250" dist="2857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3486894" y="4323755"/>
            <a:ext cx="0" cy="1771204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3682157" y="4323755"/>
            <a:ext cx="2220751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EXT 04</a:t>
            </a:r>
            <a:endParaRPr lang="en-US" sz="975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3682157" y="4553694"/>
            <a:ext cx="2220751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海外爱好ad者</a:t>
            </a:r>
            <a:endParaRPr lang="en-US" sz="15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3682157" y="4906119"/>
            <a:ext cx="2220751" cy="5978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01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通过翻译版本与动画入口接触日轻，构成中、韩、东南亚wdasd及欧美亚文化圈。</a:t>
            </a:r>
            <a:endParaRPr lang="en-US" sz="1015" dirty="0"/>
          </a:p>
        </p:txBody>
      </p:sp>
      <p:pic>
        <p:nvPicPr>
          <p:cNvPr id="26" name="Image 0" descr="/tmp/html2pptx-bwPEHK/html2pptx-bg-1786382168310-bcde67cb8bbae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1813" y="1905000"/>
            <a:ext cx="5018187" cy="43614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678513" y="2190750"/>
            <a:ext cx="457448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REACH SNAPSHOT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6678513" y="2428875"/>
            <a:ext cx="4574482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受众规模与结构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678513" y="3795713"/>
            <a:ext cx="448478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8513" y="2933700"/>
            <a:ext cx="1224305" cy="723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≈ 60%</a:t>
            </a:r>
            <a:endParaRPr lang="en-US" sz="2850" dirty="0"/>
          </a:p>
        </p:txBody>
      </p:sp>
      <p:sp>
        <p:nvSpPr>
          <p:cNvPr id="31" name="Text 28"/>
          <p:cNvSpPr/>
          <p:nvPr/>
        </p:nvSpPr>
        <p:spPr>
          <a:xfrm>
            <a:off x="8012162" y="3114675"/>
            <a:ext cx="3214161" cy="385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日本轻小说读者集中在 10–29 岁年龄段，是青少年主流阅读品类之dsadaw一。</a:t>
            </a:r>
            <a:endParaRPr lang="en-US" sz="1015" dirty="0"/>
          </a:p>
        </p:txBody>
      </p:sp>
      <p:sp>
        <p:nvSpPr>
          <p:cNvPr id="32" name="Shape 29"/>
          <p:cNvSpPr/>
          <p:nvPr/>
        </p:nvSpPr>
        <p:spPr>
          <a:xfrm>
            <a:off x="6678513" y="4814888"/>
            <a:ext cx="448478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8513" y="3952875"/>
            <a:ext cx="1291858" cy="723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≈ 40%</a:t>
            </a:r>
            <a:endParaRPr lang="en-US" sz="2850" dirty="0"/>
          </a:p>
        </p:txBody>
      </p:sp>
      <p:sp>
        <p:nvSpPr>
          <p:cNvPr id="34" name="Text 31"/>
          <p:cNvSpPr/>
          <p:nvPr/>
        </p:nvSpPr>
        <p:spPr>
          <a:xfrm>
            <a:off x="8078391" y="4133850"/>
            <a:ext cx="3146608" cy="385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读者为女性，少wadas女向作品与"乙女游戏"改编小说形成稳定子市场。</a:t>
            </a:r>
            <a:endParaRPr lang="en-US" sz="1015" dirty="0"/>
          </a:p>
        </p:txBody>
      </p:sp>
      <p:sp>
        <p:nvSpPr>
          <p:cNvPr id="35" name="Shape 32"/>
          <p:cNvSpPr/>
          <p:nvPr/>
        </p:nvSpPr>
        <p:spPr>
          <a:xfrm>
            <a:off x="6678513" y="5681663"/>
            <a:ext cx="448478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78513" y="4972050"/>
            <a:ext cx="1216411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200wad0+</a:t>
            </a:r>
            <a:endParaRPr lang="en-US" sz="2850" dirty="0"/>
          </a:p>
        </p:txBody>
      </p:sp>
      <p:sp>
        <p:nvSpPr>
          <p:cNvPr id="37" name="Text 34"/>
          <p:cNvSpPr/>
          <p:nvPr/>
        </p:nvSpPr>
        <p:spPr>
          <a:xfrm>
            <a:off x="8004423" y="5153025"/>
            <a:ext cx="3222054" cy="385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101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每年新刊wdad出版品种，电击、MF、角川 Sneaker 等文库贡献主力。</a:t>
            </a:r>
            <a:endParaRPr lang="en-US" sz="1015" dirty="0"/>
          </a:p>
        </p:txBody>
      </p:sp>
      <p:sp>
        <p:nvSpPr>
          <p:cNvPr id="38" name="Text 35"/>
          <p:cNvSpPr/>
          <p:nvPr/>
        </p:nvSpPr>
        <p:spPr>
          <a:xfrm>
            <a:off x="6678513" y="5834063"/>
            <a:ext cx="457448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9D8AB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注：比例为公开研究综述估算，用于呈现结构特征，非精确统计。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05 · SLIDE 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22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6202891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05 / 产业链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57250"/>
            <a:ext cx="6202891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37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ACGN：</a:t>
            </a:r>
            <a:r>
              <a:rPr lang="en-US" sz="37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循环dsa共振</a:t>
            </a:r>
            <a:r>
              <a:rPr lang="en-US" sz="37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的产业生态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6202891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200" dirty="0">
                <a:solidFill>
                  <a:srgbClr val="9FB0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ANIME · COMIC · GAMEdsa · NOVEL · 跨媒体共生体系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000250"/>
            <a:ext cx="1691580" cy="1609725"/>
          </a:xfrm>
          <a:prstGeom prst="roundRect">
            <a:avLst>
              <a:gd name="adj" fmla="val 59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9679" y="2219325"/>
            <a:ext cx="1356223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A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929679" y="2695575"/>
            <a:ext cx="135622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动画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29679" y="3019425"/>
            <a:ext cx="1356223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深夜档与流媒dsa体放大原作热度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684859" y="2614613"/>
            <a:ext cx="9169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006030" y="2000250"/>
            <a:ext cx="1691580" cy="1609725"/>
          </a:xfrm>
          <a:prstGeom prst="roundRect">
            <a:avLst>
              <a:gd name="adj" fmla="val 59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73709" y="2219325"/>
            <a:ext cx="1356223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C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3173709" y="2695575"/>
            <a:ext cx="135622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漫画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3709" y="3019425"/>
            <a:ext cx="1356223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杂志连dsa载与单行本扩展受众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28890" y="2614613"/>
            <a:ext cx="9169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2100" dirty="0"/>
          </a:p>
        </p:txBody>
      </p:sp>
      <p:pic>
        <p:nvPicPr>
          <p:cNvPr id="16" name="Image 0" descr="/tmp/html2pptx-GCkM90/html2pptx-bg-1786382169635-342609e82eb68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061" y="2000250"/>
            <a:ext cx="1691580" cy="160972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421511" y="2005013"/>
            <a:ext cx="1348680" cy="0"/>
          </a:xfrm>
          <a:prstGeom prst="line">
            <a:avLst/>
          </a:prstGeom>
          <a:noFill/>
          <a:ln w="9525">
            <a:solidFill>
              <a:srgbClr val="FF6A9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40748" y="2209800"/>
            <a:ext cx="0" cy="1190625"/>
          </a:xfrm>
          <a:prstGeom prst="line">
            <a:avLst/>
          </a:prstGeom>
          <a:noFill/>
          <a:ln w="9525">
            <a:solidFill>
              <a:srgbClr val="FF6A9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21511" y="3605213"/>
            <a:ext cx="1348680" cy="0"/>
          </a:xfrm>
          <a:prstGeom prst="line">
            <a:avLst/>
          </a:prstGeom>
          <a:noFill/>
          <a:ln w="9525">
            <a:solidFill>
              <a:srgbClr val="FF6A9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54823" y="2209800"/>
            <a:ext cx="0" cy="1190625"/>
          </a:xfrm>
          <a:prstGeom prst="line">
            <a:avLst/>
          </a:prstGeom>
          <a:noFill/>
          <a:ln w="9525">
            <a:solidFill>
              <a:srgbClr val="FF6A9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17740" y="2219325"/>
            <a:ext cx="1356223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N</a:t>
            </a:r>
            <a:endParaRPr lang="en-US" sz="3150" dirty="0"/>
          </a:p>
        </p:txBody>
      </p:sp>
      <p:sp>
        <p:nvSpPr>
          <p:cNvPr id="22" name="Text 19"/>
          <p:cNvSpPr/>
          <p:nvPr/>
        </p:nvSpPr>
        <p:spPr>
          <a:xfrm>
            <a:off x="5417740" y="2695575"/>
            <a:ext cx="135622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17740" y="3019425"/>
            <a:ext cx="1356223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原作源dasd头 / 世界观母本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7172920" y="2614613"/>
            <a:ext cx="9169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7494091" y="2000250"/>
            <a:ext cx="1691580" cy="1609725"/>
          </a:xfrm>
          <a:prstGeom prst="roundRect">
            <a:avLst>
              <a:gd name="adj" fmla="val 59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661770" y="2219325"/>
            <a:ext cx="1356223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G</a:t>
            </a:r>
            <a:endParaRPr lang="en-US" sz="3150" dirty="0"/>
          </a:p>
        </p:txBody>
      </p:sp>
      <p:sp>
        <p:nvSpPr>
          <p:cNvPr id="27" name="Text 24"/>
          <p:cNvSpPr/>
          <p:nvPr/>
        </p:nvSpPr>
        <p:spPr>
          <a:xfrm>
            <a:off x="7661770" y="2695575"/>
            <a:ext cx="135622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游戏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661770" y="3019425"/>
            <a:ext cx="1356223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RPG/手游dsad反哺叙事与角色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9416951" y="2614613"/>
            <a:ext cx="9169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9738122" y="2000250"/>
            <a:ext cx="1691580" cy="1609725"/>
          </a:xfrm>
          <a:prstGeom prst="roundRect">
            <a:avLst>
              <a:gd name="adj" fmla="val 59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9905801" y="2219325"/>
            <a:ext cx="1356223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¥</a:t>
            </a:r>
            <a:endParaRPr lang="en-US" sz="3150" dirty="0"/>
          </a:p>
        </p:txBody>
      </p:sp>
      <p:sp>
        <p:nvSpPr>
          <p:cNvPr id="32" name="Text 29"/>
          <p:cNvSpPr/>
          <p:nvPr/>
        </p:nvSpPr>
        <p:spPr>
          <a:xfrm>
            <a:off x="9905801" y="2695575"/>
            <a:ext cx="135622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周边观光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9905801" y="3019425"/>
            <a:ext cx="1356223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圣地巡礼、asd商品、活动展会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762000" y="3895725"/>
            <a:ext cx="10668000" cy="1247775"/>
          </a:xfrm>
          <a:prstGeom prst="roundRect">
            <a:avLst>
              <a:gd name="adj" fmla="val 7634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781050" y="4105275"/>
            <a:ext cx="0" cy="828675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47750" y="4105275"/>
            <a:ext cx="1033729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VALUE FLOW · 价值流动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1047750" y="4448175"/>
            <a:ext cx="10337292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轻小说在 ACGN 体系中常承担</a:t>
            </a:r>
            <a:r>
              <a:rPr lang="en-US" sz="1125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"原作asd母本"</a:t>
            </a: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角色：以低成本试错发asd现新题材，成功作品迅速漫画化asd、动画化、游戏化，并通过周边、舞台剧、圣地巡礼形成长尾收益。这一闭环使文学创作与视觉asd产业深度耦合，构建了日本独有的</a:t>
            </a:r>
            <a:r>
              <a:rPr lang="en-US" sz="1125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内容孵化引擎</a:t>
            </a: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A7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06 · SLIDE 06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53435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06 / 代表作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57250"/>
            <a:ext cx="5343525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3750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现象级作品与</a:t>
            </a:r>
            <a:r>
              <a:rPr lang="en-US" sz="37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跨媒体改编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53435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200" dirty="0">
                <a:solidFill>
                  <a:srgbClr val="7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FLAGSHIP TITLES · 改写产业格局的关键节点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3429000" cy="2195959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71550" y="1928813"/>
            <a:ext cx="30099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" y="2181225"/>
            <a:ext cx="3070098" cy="198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2003 · 电击文库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71550" y="2436465"/>
            <a:ext cx="3070098" cy="251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凉宫春日的忧郁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71550" y="2725936"/>
            <a:ext cx="3070098" cy="182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Melancholy of Haruhi Suzumiya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1550" y="3042047"/>
            <a:ext cx="3070098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校园科幻 + 元叙事，引发 2000 年代后期轻小说爆发，动画化带动角色歌、社群"凉宫日"现象。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1550" y="3601938"/>
            <a:ext cx="43815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57275" y="3630513"/>
            <a:ext cx="27203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校园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66850" y="3601938"/>
            <a:ext cx="43815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52575" y="3630513"/>
            <a:ext cx="27203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科幻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62150" y="3601938"/>
            <a:ext cx="57150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47875" y="3630513"/>
            <a:ext cx="40805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元叙事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1500" y="1905000"/>
            <a:ext cx="3429000" cy="2195959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91050" y="1928813"/>
            <a:ext cx="30099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1050" y="2181225"/>
            <a:ext cx="3070098" cy="198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2009 · 电击文库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591050" y="2436465"/>
            <a:ext cx="3070098" cy="251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刀剑神域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591050" y="2725936"/>
            <a:ext cx="3070098" cy="182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Sword Art Online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1050" y="3042047"/>
            <a:ext cx="3070098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VRMMO 题材全球化先锋，掀起"死亡游戏 / 异世界"风潮，海外销量长期领跑日轻出口榜。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91050" y="3601938"/>
            <a:ext cx="332929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76775" y="3630513"/>
            <a:ext cx="164708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81129" y="3601938"/>
            <a:ext cx="43815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66854" y="3630513"/>
            <a:ext cx="27203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76429" y="3601938"/>
            <a:ext cx="57150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62154" y="3630513"/>
            <a:ext cx="40805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异世界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01000" y="1905000"/>
            <a:ext cx="3429000" cy="2195959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8210550" y="1928813"/>
            <a:ext cx="30099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0550" y="2181225"/>
            <a:ext cx="3070098" cy="198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2012 · MF 文库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8210550" y="2436465"/>
            <a:ext cx="3070098" cy="251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Re:从零开始的异世界生活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210550" y="2725936"/>
            <a:ext cx="3070098" cy="182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Re:Zero − Starting Life in Another World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10550" y="3042047"/>
            <a:ext cx="3070098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"なろう系"代表作，把"死亡回归"心理剧推入主流，拓展了网文转出版工业的范式。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10550" y="3601938"/>
            <a:ext cx="57150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296275" y="3630513"/>
            <a:ext cx="40805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异世界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839200" y="3601938"/>
            <a:ext cx="43815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924925" y="3630513"/>
            <a:ext cx="27203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悬疑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334500" y="3601938"/>
            <a:ext cx="57150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420225" y="3630513"/>
            <a:ext cx="40805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心理剧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62000" y="5241131"/>
            <a:ext cx="10668000" cy="1007269"/>
          </a:xfrm>
          <a:prstGeom prst="roundRect">
            <a:avLst>
              <a:gd name="adj" fmla="val 5674"/>
            </a:avLst>
          </a:prstGeom>
          <a:solidFill>
            <a:srgbClr val="2A1C1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09650" y="5478959"/>
            <a:ext cx="5071491" cy="5314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★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6210300" y="5412581"/>
            <a:ext cx="5071491" cy="6643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buNone/>
            </a:pP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跨媒体改编使轻小说超越</a:t>
            </a:r>
            <a:r>
              <a:rPr lang="en-US" sz="1125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"读物"</a:t>
            </a: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本身：成功的 IP 在动画化后原作销量常呈 5–20 倍跃升，并反向催生周边、手游、舞台剧、圣地巡礼等衍生经济——这是轻小说社会影响力的产业杠杆。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07 · SLIDE 07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3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/tmp/html2pptx-1Vj7pK/html2pptx-bg-1786382171909-06629b935dd18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4" name="Image 1" descr="/tmp/html2pptx-1Vj7pK/html2pptx-bg-1786382172241-e3608c0f909f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" y="5434013"/>
            <a:ext cx="4080510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07 / 亚文化</a:t>
            </a:r>
            <a:endParaRPr lang="en-US" sz="975" dirty="0"/>
          </a:p>
        </p:txBody>
      </p:sp>
      <p:sp>
        <p:nvSpPr>
          <p:cNvPr id="6" name="Text 2"/>
          <p:cNvSpPr/>
          <p:nvPr/>
        </p:nvSpPr>
        <p:spPr>
          <a:xfrm>
            <a:off x="285750" y="5676900"/>
            <a:ext cx="4080510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御宅族身份的</a:t>
            </a:r>
            <a:endParaRPr lang="en-US" sz="1800" dirty="0"/>
          </a:p>
          <a:p>
            <a:pPr marL="0" indent="0" algn="l">
              <a:spcBef>
                <a:spcPts val="45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正面化转向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285750" y="6400800"/>
            <a:ext cx="408051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图：日本 cosplay 文化现场——亚文化的可见度持续上升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953000" y="571500"/>
            <a:ext cx="66065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07 / 亚文化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953000" y="857250"/>
            <a:ext cx="6606540" cy="10513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40"/>
              </a:lnSpc>
              <a:spcBef>
                <a:spcPts val="45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从"御宅"污名到
</a:t>
            </a:r>
            <a:r>
              <a:rPr lang="en-US" sz="36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主流文化资本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4953000" y="2080022"/>
            <a:ext cx="6606540" cy="874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spcBef>
                <a:spcPts val="1350"/>
              </a:spcBef>
              <a:buNone/>
            </a:pPr>
            <a:r>
              <a:rPr lang="en-US" sz="135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轻小说是</a:t>
            </a: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御宅族（オタク）</a:t>
            </a:r>
            <a:r>
              <a:rPr lang="en-US" sz="135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身份认同的核心载体之一。1980–90 年代，"御宅"曾被主流社会视为社交退缩的标签；随着轻小说产业扩张与互联网社群成熟，它逐渐转为一种被青少年主动认领的</a:t>
            </a: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文化资本</a:t>
            </a:r>
            <a:r>
              <a:rPr lang="en-US" sz="135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53000" y="3182838"/>
            <a:ext cx="3152775" cy="1036737"/>
          </a:xfrm>
          <a:prstGeom prst="roundRect">
            <a:avLst>
              <a:gd name="adj" fmla="val 735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4972050" y="3354288"/>
            <a:ext cx="0" cy="693837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81600" y="3354288"/>
            <a:ext cx="2788349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身份认同</a:t>
            </a:r>
            <a:endParaRPr lang="en-US" sz="1275" dirty="0"/>
          </a:p>
        </p:txBody>
      </p:sp>
      <p:sp>
        <p:nvSpPr>
          <p:cNvPr id="14" name="Text 10"/>
          <p:cNvSpPr/>
          <p:nvPr/>
        </p:nvSpPr>
        <p:spPr>
          <a:xfrm>
            <a:off x="5181600" y="3649563"/>
            <a:ext cx="2788349" cy="3985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01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轻小说的角色宅、作品宅标签成为社群归属符码，构建跨地域的青年精神共同体。</a:t>
            </a:r>
            <a:endParaRPr lang="en-US" sz="1015" dirty="0"/>
          </a:p>
        </p:txBody>
      </p:sp>
      <p:sp>
        <p:nvSpPr>
          <p:cNvPr id="15" name="Text 11"/>
          <p:cNvSpPr/>
          <p:nvPr/>
        </p:nvSpPr>
        <p:spPr>
          <a:xfrm>
            <a:off x="8277225" y="3182838"/>
            <a:ext cx="3152775" cy="1036737"/>
          </a:xfrm>
          <a:prstGeom prst="roundRect">
            <a:avLst>
              <a:gd name="adj" fmla="val 735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8296275" y="3354288"/>
            <a:ext cx="0" cy="693837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05825" y="3354288"/>
            <a:ext cx="2788349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话语空间</a:t>
            </a:r>
            <a:endParaRPr lang="en-US" sz="1275" dirty="0"/>
          </a:p>
        </p:txBody>
      </p:sp>
      <p:sp>
        <p:nvSpPr>
          <p:cNvPr id="18" name="Text 14"/>
          <p:cNvSpPr/>
          <p:nvPr/>
        </p:nvSpPr>
        <p:spPr>
          <a:xfrm>
            <a:off x="8505825" y="3649563"/>
            <a:ext cx="2788349" cy="3985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01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2ch / Twitter 等平台的"考据、二创、争论"使读者从被动消费者变为意义生产者。</a:t>
            </a:r>
            <a:endParaRPr lang="en-US" sz="1015" dirty="0"/>
          </a:p>
        </p:txBody>
      </p:sp>
      <p:sp>
        <p:nvSpPr>
          <p:cNvPr id="19" name="Text 15"/>
          <p:cNvSpPr/>
          <p:nvPr/>
        </p:nvSpPr>
        <p:spPr>
          <a:xfrm>
            <a:off x="4953000" y="4391025"/>
            <a:ext cx="3152775" cy="1036737"/>
          </a:xfrm>
          <a:prstGeom prst="roundRect">
            <a:avLst>
              <a:gd name="adj" fmla="val 735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4972050" y="4562475"/>
            <a:ext cx="0" cy="693837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81600" y="4562475"/>
            <a:ext cx="2788349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去污名化</a:t>
            </a:r>
            <a:endParaRPr lang="en-US" sz="1275" dirty="0"/>
          </a:p>
        </p:txBody>
      </p:sp>
      <p:sp>
        <p:nvSpPr>
          <p:cNvPr id="22" name="Text 18"/>
          <p:cNvSpPr/>
          <p:nvPr/>
        </p:nvSpPr>
        <p:spPr>
          <a:xfrm>
            <a:off x="5181600" y="4857750"/>
            <a:ext cx="2788349" cy="3985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01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《电车男》等以御宅为原型的作品，使主流媒介重新审视并部分接纳这一群体。</a:t>
            </a:r>
            <a:endParaRPr lang="en-US" sz="1015" dirty="0"/>
          </a:p>
        </p:txBody>
      </p:sp>
      <p:sp>
        <p:nvSpPr>
          <p:cNvPr id="23" name="Text 19"/>
          <p:cNvSpPr/>
          <p:nvPr/>
        </p:nvSpPr>
        <p:spPr>
          <a:xfrm>
            <a:off x="8277225" y="4391025"/>
            <a:ext cx="3152775" cy="1036737"/>
          </a:xfrm>
          <a:prstGeom prst="roundRect">
            <a:avLst>
              <a:gd name="adj" fmla="val 735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8296275" y="4562475"/>
            <a:ext cx="0" cy="693837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05825" y="4562475"/>
            <a:ext cx="2788349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海外扩散</a:t>
            </a:r>
            <a:endParaRPr lang="en-US" sz="1275" dirty="0"/>
          </a:p>
        </p:txBody>
      </p:sp>
      <p:sp>
        <p:nvSpPr>
          <p:cNvPr id="26" name="Text 22"/>
          <p:cNvSpPr/>
          <p:nvPr/>
        </p:nvSpPr>
        <p:spPr>
          <a:xfrm>
            <a:off x="8505825" y="4857750"/>
            <a:ext cx="2788349" cy="3985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01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东亚与英语圈"otaku"概念输出，使日本式亚文化身份被全球青年借用与再生产。</a:t>
            </a:r>
            <a:endParaRPr lang="en-US" sz="1015" dirty="0"/>
          </a:p>
        </p:txBody>
      </p:sp>
      <p:sp>
        <p:nvSpPr>
          <p:cNvPr id="27" name="Text 23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7A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08 · SLIDE 08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08 / 文化角色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5725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3750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当代日本文化dasd中的</a:t>
            </a:r>
            <a:r>
              <a:rPr lang="en-US" sz="37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多重角色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200" dirty="0">
                <a:solidFill>
                  <a:srgbClr val="7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CULTURAL ROLES · 轻小说在社dasd会文化中承担的四重功能</a:t>
            </a:r>
            <a:endParaRPr lang="en-US" sz="1200" dirty="0"/>
          </a:p>
        </p:txBody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2552700" cy="2667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933450" y="1928813"/>
            <a:ext cx="22098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933450" y="2143125"/>
            <a:ext cx="225399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①</a:t>
            </a:r>
            <a:endParaRPr lang="en-US" sz="225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933450" y="2524125"/>
            <a:ext cx="2253996" cy="214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青年精神消费品</a:t>
            </a:r>
            <a:endParaRPr lang="en-US" sz="135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933450" y="2814638"/>
            <a:ext cx="2253996" cy="594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为升学压力下的青dsad少年提供幻想出口与情感代偿，dasd成为校园之外的精神呼吸空间。</a:t>
            </a:r>
            <a:endParaRPr lang="en-US" sz="975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467100" y="1905000"/>
            <a:ext cx="2552700" cy="2667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3638550" y="1928813"/>
            <a:ext cx="2209800" cy="0"/>
          </a:xfrm>
          <a:prstGeom prst="line">
            <a:avLst/>
          </a:prstGeom>
          <a:noFill/>
          <a:ln w="47625">
            <a:solidFill>
              <a:srgbClr val="5A4A8A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3638550" y="2143125"/>
            <a:ext cx="225399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5A4A8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②</a:t>
            </a:r>
            <a:endParaRPr lang="en-US" sz="225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3638550" y="2524125"/>
            <a:ext cx="2253996" cy="214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价值观塑造媒介</a:t>
            </a:r>
            <a:endParaRPr lang="en-US" sz="135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3638550" y="2814638"/>
            <a:ext cx="2253996" cy="594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异世界、转生、能力觉醒等dsa叙事折射对"重置人生"的渴望dsa，影响一代das人对自我与社会的关系想象。</a:t>
            </a:r>
            <a:endParaRPr lang="en-US" sz="975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6172200" y="1905000"/>
            <a:ext cx="2552700" cy="2667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6343650" y="1928813"/>
            <a:ext cx="22098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6343650" y="2143125"/>
            <a:ext cx="225399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③</a:t>
            </a:r>
            <a:endParaRPr lang="en-US" sz="2250" dirty="0"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6343650" y="2524125"/>
            <a:ext cx="2253996" cy="214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语言风格影响源</a:t>
            </a:r>
            <a:endParaRPr lang="en-US" sz="135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6343650" y="2814638"/>
            <a:ext cx="2253996" cy="594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"中二病""傲娇""异世界"等词汇进das入日常语料，重塑青少年dsaasd乃dsa至大众媒体的语用习惯。</a:t>
            </a:r>
            <a:endParaRPr lang="en-US" sz="975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8877300" y="1905000"/>
            <a:ext cx="2552700" cy="2667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9048750" y="1928813"/>
            <a:ext cx="2209800" cy="0"/>
          </a:xfrm>
          <a:prstGeom prst="line">
            <a:avLst/>
          </a:prstGeom>
          <a:noFill/>
          <a:ln w="47625">
            <a:solidFill>
              <a:srgbClr val="5A4A8A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9048750" y="2143125"/>
            <a:ext cx="225399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5A4A8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④</a:t>
            </a:r>
            <a:endParaRPr lang="en-US" sz="225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9048750" y="2524125"/>
            <a:ext cx="2253996" cy="214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软实力出口载体</a:t>
            </a:r>
            <a:endParaRPr lang="en-US" sz="135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9048750" y="2814638"/>
            <a:ext cx="2253996" cy="594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翻译版与改编动画将日dsad式叙事美学输出海外，是日本"酷文化"软实力的核心母本之一。</a:t>
            </a:r>
            <a:endParaRPr lang="en-US" sz="975" dirty="0"/>
          </a:p>
        </p:txBody>
      </p:sp>
      <p:pic>
        <p:nvPicPr>
          <p:cNvPr id="26" name="Image 0" descr="/tmp/html2pptx-eYSsYX/html2pptx-bg-1786382173258-f451b197277fe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515570"/>
            <a:ext cx="10668000" cy="77093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9650" y="5694313"/>
            <a:ext cx="5090922" cy="413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◆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6191250" y="5687020"/>
            <a:ext cx="5090922" cy="428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5"/>
              </a:lnSpc>
              <a:buNone/>
            </a:pPr>
            <a:r>
              <a:rPr lang="en-US" sz="109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d在社会w层面，轻小说已不只awda是</a:t>
            </a:r>
            <a:r>
              <a:rPr lang="en-US" sz="109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读物</a:t>
            </a:r>
            <a:r>
              <a:rPr lang="en-US" sz="109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，而是一面折射日本青年世代焦虑、想象与价值偏好的</a:t>
            </a:r>
            <a:r>
              <a:rPr lang="en-US" sz="109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文化棱镜</a:t>
            </a:r>
            <a:r>
              <a:rPr lang="en-US" sz="109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——既dwda是消费品，也是被消费的文化符号。</a:t>
            </a:r>
            <a:endParaRPr lang="en-US" sz="1090" dirty="0"/>
          </a:p>
        </p:txBody>
      </p:sp>
      <p:sp>
        <p:nvSpPr>
          <p:cNvPr id="29" name="Text 26"/>
          <p:cNvSpPr/>
          <p:nvPr/>
        </p:nvSpPr>
        <p:spPr>
          <a:xfrm>
            <a:off x="9546431" y="6467475"/>
            <a:ext cx="192124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09 · SLIDE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iEryDg/html2pptx-bg-1786382174346-fc7f7ce732b4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html2pptx-iEryDg/html2pptx-bg-1786382174665-18134881f518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0" y="571500"/>
            <a:ext cx="7239000" cy="723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7150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09 / 反思与展望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762000" y="857250"/>
            <a:ext cx="10881360" cy="565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5"/>
              </a:lnSpc>
              <a:spcBef>
                <a:spcPts val="450"/>
              </a:spcBef>
              <a:buNone/>
            </a:pPr>
            <a:r>
              <a:rPr lang="en-US" sz="40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反思与</a:t>
            </a:r>
            <a:r>
              <a:rPr lang="en-US" sz="40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展望</a:t>
            </a:r>
            <a:endParaRPr lang="en-US" sz="4050" dirty="0"/>
          </a:p>
        </p:txBody>
      </p:sp>
      <p:sp>
        <p:nvSpPr>
          <p:cNvPr id="6" name="Text 2"/>
          <p:cNvSpPr/>
          <p:nvPr/>
        </p:nvSpPr>
        <p:spPr>
          <a:xfrm>
            <a:off x="762000" y="1905000"/>
            <a:ext cx="536432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REFLECTION · 反思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62000" y="2286000"/>
            <a:ext cx="5364322" cy="800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轻小说的繁荣背后也存在结构性问题：</a:t>
            </a: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套路化</a:t>
            </a: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题材同质化、网文流水线生产稀释文学性、"转生逃避"叙事被批评为回避现实关怀。部分评论者担忧它从青少年</a:t>
            </a: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想象力训练场</a:t>
            </a: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退化为消费性安慰剂。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62000" y="3219450"/>
            <a:ext cx="5364322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同时，性别刻板印象、过度商业化的角色商品化等议题，亦持续受到学界与女性主义批评的关注。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21189" y="1905000"/>
            <a:ext cx="5008811" cy="2016919"/>
          </a:xfrm>
          <a:prstGeom prst="roundRect">
            <a:avLst>
              <a:gd name="adj" fmla="val 377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440239" y="2114550"/>
            <a:ext cx="0" cy="1597819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87889" y="2114550"/>
            <a:ext cx="4603781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5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OUTLOOK · 展望</a:t>
            </a:r>
            <a:endParaRPr lang="en-US" sz="1405" dirty="0"/>
          </a:p>
        </p:txBody>
      </p:sp>
      <p:sp>
        <p:nvSpPr>
          <p:cNvPr id="12" name="Text 8"/>
          <p:cNvSpPr/>
          <p:nvPr/>
        </p:nvSpPr>
        <p:spPr>
          <a:xfrm>
            <a:off x="6687889" y="2371725"/>
            <a:ext cx="4513511" cy="1340644"/>
          </a:xfrm>
          <a:prstGeom prst="rect">
            <a:avLst/>
          </a:prstGeom>
          <a:noFill/>
        </p:spPr>
        <p:txBody>
          <a:bodyPr wrap="square" lIns="228600" tIns="57150" rIns="0" bIns="57150" rtlCol="0" anchor="t"/>
          <a:lstStyle/>
          <a:p>
            <a:pPr marL="342900" indent="-342900" algn="l">
              <a:lnSpc>
                <a:spcPts val="1740"/>
              </a:lnSpc>
              <a:buSzPct val="100000"/>
              <a:buChar char="•"/>
            </a:pPr>
            <a:r>
              <a:rPr lang="en-US" sz="109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多元题材崛起：科幻、推理、社会议题向作品持续扩展边界。</a:t>
            </a:r>
            <a:endParaRPr lang="en-US" sz="1090" dirty="0"/>
          </a:p>
          <a:p>
            <a:pPr marL="342900" indent="-342900" algn="l">
              <a:lnSpc>
                <a:spcPts val="1740"/>
              </a:lnSpc>
              <a:buSzPct val="100000"/>
              <a:buChar char="•"/>
            </a:pPr>
            <a:r>
              <a:rPr lang="en-US" sz="109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全球化加速：东南亚、英语圈翻译市场持续扩大，IP 跨境共生。</a:t>
            </a:r>
            <a:endParaRPr lang="en-US" sz="1090" dirty="0"/>
          </a:p>
          <a:p>
            <a:pPr marL="342900" indent="-342900" algn="l">
              <a:lnSpc>
                <a:spcPts val="1740"/>
              </a:lnSpc>
              <a:buSzPct val="100000"/>
              <a:buChar char="•"/>
            </a:pPr>
            <a:r>
              <a:rPr lang="en-US" sz="109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媒介融合：手游、VTuber、AI 协同创作延伸叙事形态。</a:t>
            </a:r>
            <a:endParaRPr lang="en-US" sz="1090" dirty="0"/>
          </a:p>
          <a:p>
            <a:pPr marL="342900" indent="-342900" algn="l">
              <a:lnSpc>
                <a:spcPts val="1740"/>
              </a:lnSpc>
              <a:buSzPct val="100000"/>
              <a:buChar char="•"/>
            </a:pPr>
            <a:r>
              <a:rPr lang="en-US" sz="109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作为观察镜：轻小说将持续作为研究日本青年世代文化的关键样本。</a:t>
            </a:r>
            <a:endParaRPr lang="en-US" sz="1090" dirty="0"/>
          </a:p>
        </p:txBody>
      </p:sp>
      <p:sp>
        <p:nvSpPr>
          <p:cNvPr id="13" name="Shape 9"/>
          <p:cNvSpPr/>
          <p:nvPr/>
        </p:nvSpPr>
        <p:spPr>
          <a:xfrm>
            <a:off x="762000" y="5919788"/>
            <a:ext cx="10668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2000" y="6124575"/>
            <a:ext cx="294744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D8AB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THANK YOU · 日本轻小说的社会影响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252918" y="6096000"/>
            <a:ext cx="120062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 END —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2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3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4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5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6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7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8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9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0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1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2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3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4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5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6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7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8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19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20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21.xml><?xml version="1.0" encoding="utf-8"?>
<p:tagLst xmlns:p="http://schemas.openxmlformats.org/presentationml/2006/main">
  <p:tag name="KSO_WM_DIAGRAM_VIRTUALLY_FRAME" val="{&quot;height&quot;:316.6874803149606,&quot;left&quot;:57.45,&quot;top&quot;:157.5,&quot;width&quot;:842.55}"/>
</p:tagLst>
</file>

<file path=ppt/tags/tag22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23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24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25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26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27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28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29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0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1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2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3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4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5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6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7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8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39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40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41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42.xml><?xml version="1.0" encoding="utf-8"?>
<p:tagLst xmlns:p="http://schemas.openxmlformats.org/presentationml/2006/main">
  <p:tag name="KSO_WM_DIAGRAM_VIRTUALLY_FRAME" val="{&quot;height&quot;:352.5,&quot;left&quot;:420,&quot;top&quot;:160.5,&quot;width&quot;:483.1345669291339}"/>
</p:tagLst>
</file>

<file path=ppt/tags/tag43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44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45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46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47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48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49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0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1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2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3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4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5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6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7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8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59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60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61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62.xml><?xml version="1.0" encoding="utf-8"?>
<p:tagLst xmlns:p="http://schemas.openxmlformats.org/presentationml/2006/main">
  <p:tag name="KSO_WM_DIAGRAM_VIRTUALLY_FRAME" val="{&quot;height&quot;:343.41803149606295,&quot;left&quot;:60,&quot;top&quot;:150,&quot;width&quot;:414.86724409448817}"/>
</p:tagLst>
</file>

<file path=ppt/tags/tag63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64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65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66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67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68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69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0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1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2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3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4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5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6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7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8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79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80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81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ags/tag82.xml><?xml version="1.0" encoding="utf-8"?>
<p:tagLst xmlns:p="http://schemas.openxmlformats.org/presentationml/2006/main">
  <p:tag name="KSO_WM_DIAGRAM_VIRTUALLY_FRAME" val="{&quot;height&quot;:210,&quot;left&quot;:60,&quot;top&quot;:150,&quot;width&quot;:84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3648</Words>
  <Application>WPS 演示</Application>
  <PresentationFormat>On-screen Show (16:9)</PresentationFormat>
  <Paragraphs>354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宋体</vt:lpstr>
      <vt:lpstr>Wingdings</vt:lpstr>
      <vt:lpstr>Noto Sans CJK SC Medium</vt:lpstr>
      <vt:lpstr>Segoe Print</vt:lpstr>
      <vt:lpstr>Noto Sans CJK SC Medium</vt:lpstr>
      <vt:lpstr>Noto Sans CJK SC Medium</vt:lpstr>
      <vt:lpstr>Noto Sans CJK SC Black</vt:lpstr>
      <vt:lpstr>Noto Sans CJK SC Black</vt:lpstr>
      <vt:lpstr>Noto Sans CJK SC Black</vt:lpstr>
      <vt:lpstr>Noto Sans CJK SC Light</vt:lpstr>
      <vt:lpstr>Noto Sans CJK SC Light</vt:lpstr>
      <vt:lpstr>Noto Sans CJK SC Light</vt:lpstr>
      <vt:lpstr>Noto Sans CJK SC</vt:lpstr>
      <vt:lpstr>Noto Sans CJK SC</vt:lpstr>
      <vt:lpstr>Noto Sans CJK SC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2</cp:revision>
  <dcterms:created xsi:type="dcterms:W3CDTF">2026-08-10T17:16:00Z</dcterms:created>
  <dcterms:modified xsi:type="dcterms:W3CDTF">2026-08-17T08:07:18Z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D88A919F5B8940ECBF68142A9B34DF3B_12</vt:lpwstr>
  </property>
  <property fmtid="{D5CDD505-2E9C-101B-9397-08002B2CF9AE}" pid="3" name="KSOProductBuildVer">
    <vt:lpwstr>2052-12.1.0.28022</vt:lpwstr>
  </property>
</Properties>
</file>