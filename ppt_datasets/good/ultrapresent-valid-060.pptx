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0" y="0"/>
            <a:ext cx="3429000" cy="3429000"/>
          </a:xfrm>
          <a:prstGeom prst="roundRect">
            <a:avLst>
              <a:gd name="adj" fmla="val 26667"/>
            </a:avLst>
          </a:prstGeom>
          <a:solidFill>
            <a:srgbClr val="FFFFFF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762500"/>
            <a:ext cx="2095500" cy="2095500"/>
          </a:xfrm>
          <a:prstGeom prst="roundRect">
            <a:avLst>
              <a:gd name="adj" fmla="val 4363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715500" y="4762500"/>
            <a:ext cx="1143000" cy="1143000"/>
          </a:xfrm>
          <a:prstGeom prst="roundRect">
            <a:avLst>
              <a:gd name="adj" fmla="val 8000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609600"/>
            <a:ext cx="29011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9F3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YOGA FOR ATHLETES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1619250"/>
            <a:ext cx="8549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释放巅峰表现
</a:t>
            </a:r>
            <a:pPr algn="l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D97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坐姿前屈式</a:t>
            </a:r>
            <a:pPr algn="l" indent="0" marL="0">
              <a:lnSpc>
                <a:spcPts val="54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如何提升运动员的</a:t>
            </a:r>
            <a:endParaRPr lang="en-US" sz="4500" dirty="0"/>
          </a:p>
          <a:p>
            <a:pPr algn="l" indent="0" marL="0">
              <a:lnSpc>
                <a:spcPts val="54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柔韧性 · 专注力 · 恢复能力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762000" y="4191000"/>
            <a:ext cx="7966710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E8FF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Paschimottanasana 在运动训练中的实操指南 ——</a:t>
            </a:r>
            <a:endParaRPr lang="en-US" sz="1650" dirty="0"/>
          </a:p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E8FF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从体式定义到训练计划融入，写给教练团队与运动员的实战手册。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62000" y="6124575"/>
            <a:ext cx="1787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●</a:t>
            </a:r>
            <a:pPr algn="l" indent="0" marL="0">
              <a:buNone/>
            </a:pPr>
            <a:r>
              <a:rPr lang="en-US" sz="1125" dirty="0">
                <a:solidFill>
                  <a:srgbClr val="CFE9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主题：运动拉伸与恢复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743498" y="6124575"/>
            <a:ext cx="1787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●</a:t>
            </a:r>
            <a:pPr algn="l" indent="0" marL="0">
              <a:buNone/>
            </a:pPr>
            <a:r>
              <a:rPr lang="en-US" sz="1125" dirty="0">
                <a:solidFill>
                  <a:srgbClr val="CFE9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分享人：体育教练视角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724995" y="6124575"/>
            <a:ext cx="11746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●</a:t>
            </a:r>
            <a:pPr algn="l" indent="0" marL="0">
              <a:buNone/>
            </a:pPr>
            <a:r>
              <a:rPr lang="en-US" sz="1125" dirty="0">
                <a:solidFill>
                  <a:srgbClr val="CFE9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页 · 16:9</a:t>
            </a:r>
            <a:endParaRPr lang="en-US" sz="1125" dirty="0"/>
          </a:p>
        </p:txBody>
      </p:sp>
      <p:pic>
        <p:nvPicPr>
          <p:cNvPr id="11" name="Image 0" descr="/tmp/html2pptx-7WpXoZ/html2pptx-bg-1786385720073-877572590bc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050" y="4114800"/>
            <a:ext cx="2171700" cy="21717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163050" y="4133850"/>
            <a:ext cx="217170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315700" y="4114800"/>
            <a:ext cx="0" cy="217170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63050" y="6267450"/>
            <a:ext cx="217170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82100" y="4114800"/>
            <a:ext cx="0" cy="217170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6585793" cy="342900"/>
          </a:xfrm>
          <a:prstGeom prst="roundRect">
            <a:avLst>
              <a:gd name="adj" fmla="val 11111"/>
            </a:avLst>
          </a:prstGeom>
          <a:solidFill>
            <a:srgbClr val="1C6B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95350" y="609600"/>
            <a:ext cx="644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· 体式定义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62000" y="971550"/>
            <a:ext cx="671750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buNone/>
            </a:pPr>
            <a:r>
              <a:rPr lang="en-US" sz="285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什么是坐姿前屈式 Paschimottanasana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62000" y="1495425"/>
            <a:ext cx="67175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源自梵文 Paschima（西方 / 身体后侧）+ Uttana（强烈伸展）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62000" y="1905000"/>
            <a:ext cx="5246370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94"/>
              </a:lnSpc>
              <a:spcAft>
                <a:spcPts val="1050"/>
              </a:spcAft>
              <a:buNone/>
            </a:pPr>
            <a:r>
              <a:rPr lang="en-US" sz="1425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坐姿前屈式是瑜伽经典的前屈体式，是运动员拉伸后侧链最直接、最易上手的工具之一。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762000" y="2671763"/>
            <a:ext cx="5246370" cy="85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1"/>
              </a:lnSpc>
              <a:spcAft>
                <a:spcPts val="1050"/>
              </a:spcAft>
              <a:buNone/>
            </a:pPr>
            <a:r>
              <a:rPr lang="en-US" sz="12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动作以坐骨为支点，双腿向前伸直，脊柱节段性地向前折叠，腹部贴近大腿。它一次性牵拉小腿、腘绳肌、臀部、腰背与颈后，覆盖运动中最容易紧绷的「后侧链」。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762000" y="3655219"/>
            <a:ext cx="5246370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1"/>
              </a:lnSpc>
              <a:spcAft>
                <a:spcPts val="1050"/>
              </a:spcAft>
              <a:buNone/>
            </a:pPr>
            <a:r>
              <a:rPr lang="en-US" sz="12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对运动员而言，它不仅是一个拉伸动作，更是一个可以测量、可以分阶段进阶、可以与呼吸同步的恢复工具。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762000" y="4476750"/>
            <a:ext cx="52463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C6B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基础进入流程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2000" y="4762500"/>
            <a:ext cx="1185863" cy="1007566"/>
          </a:xfrm>
          <a:prstGeom prst="roundRect">
            <a:avLst>
              <a:gd name="adj" fmla="val 37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81050" y="4876800"/>
            <a:ext cx="0" cy="778966"/>
          </a:xfrm>
          <a:prstGeom prst="line">
            <a:avLst/>
          </a:prstGeom>
          <a:noFill/>
          <a:ln w="38100">
            <a:solidFill>
              <a:srgbClr val="2A8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3450" y="4876800"/>
            <a:ext cx="89868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8A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1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933450" y="5095875"/>
            <a:ext cx="898684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1F2D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坐骨压实，双腿伸直脚尖回勾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81212" y="4762500"/>
            <a:ext cx="1185863" cy="1007566"/>
          </a:xfrm>
          <a:prstGeom prst="roundRect">
            <a:avLst>
              <a:gd name="adj" fmla="val 37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100263" y="4876800"/>
            <a:ext cx="0" cy="778966"/>
          </a:xfrm>
          <a:prstGeom prst="line">
            <a:avLst/>
          </a:prstGeom>
          <a:noFill/>
          <a:ln w="38100">
            <a:solidFill>
              <a:srgbClr val="2A8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52663" y="4876800"/>
            <a:ext cx="89868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8A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2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2252663" y="5095875"/>
            <a:ext cx="898684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1F2D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吸气延展脊柱，呼气从髋折叠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00425" y="4762500"/>
            <a:ext cx="1185863" cy="1007566"/>
          </a:xfrm>
          <a:prstGeom prst="roundRect">
            <a:avLst>
              <a:gd name="adj" fmla="val 37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419475" y="4876800"/>
            <a:ext cx="0" cy="778966"/>
          </a:xfrm>
          <a:prstGeom prst="line">
            <a:avLst/>
          </a:prstGeom>
          <a:noFill/>
          <a:ln w="38100">
            <a:solidFill>
              <a:srgbClr val="2A8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71875" y="4876800"/>
            <a:ext cx="89868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8A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3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3571875" y="5095875"/>
            <a:ext cx="898684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1F2D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手抓小腿或脚，颈部保持延伸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19638" y="4762500"/>
            <a:ext cx="1185863" cy="1007566"/>
          </a:xfrm>
          <a:prstGeom prst="roundRect">
            <a:avLst>
              <a:gd name="adj" fmla="val 37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38687" y="4876800"/>
            <a:ext cx="0" cy="778966"/>
          </a:xfrm>
          <a:prstGeom prst="line">
            <a:avLst/>
          </a:prstGeom>
          <a:noFill/>
          <a:ln w="38100">
            <a:solidFill>
              <a:srgbClr val="2A8A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1088" y="4876800"/>
            <a:ext cx="89868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8A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4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891088" y="5095875"/>
            <a:ext cx="89868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1F2D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 3–5 个呼吸，缓慢退出</a:t>
            </a:r>
            <a:endParaRPr lang="en-US" sz="1050" dirty="0"/>
          </a:p>
        </p:txBody>
      </p:sp>
      <p:pic>
        <p:nvPicPr>
          <p:cNvPr id="26" name="Image 0" descr="/tmp/html2pptx-w8oZhY/html2pptx-bg-1786385720957-99a4ee1dc2f2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400" y="1771650"/>
            <a:ext cx="5410200" cy="35052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477000" y="5048250"/>
            <a:ext cx="50520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buNone/>
            </a:pPr>
            <a:r>
              <a:rPr lang="en-US" sz="975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图：坐姿前屈式标准形态（图片用于教学示意，源自 Yoga Journal）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6477000" y="5400675"/>
            <a:ext cx="4953000" cy="1299121"/>
          </a:xfrm>
          <a:prstGeom prst="roundRect">
            <a:avLst>
              <a:gd name="adj" fmla="val 7332"/>
            </a:avLst>
          </a:prstGeom>
          <a:solidFill>
            <a:srgbClr val="0F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667500" y="5572125"/>
            <a:ext cx="46634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9F3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教练关注要点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6667500" y="5848350"/>
            <a:ext cx="4572000" cy="679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脊柱先延展、再前屈——避免圆背代偿</a:t>
            </a:r>
            <a:endParaRPr lang="en-US" sz="1050" dirty="0"/>
          </a:p>
          <a:p>
            <a:pPr algn="l" marL="190500" indent="-190500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从髋关节折叠，而不是把头硬压向腿</a:t>
            </a:r>
            <a:endParaRPr lang="en-US" sz="1050" dirty="0"/>
          </a:p>
          <a:p>
            <a:pPr algn="l" marL="190500" indent="-190500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呼吸节奏 &gt; 折叠幅度——呼气进入、吸气延展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683841" cy="390525"/>
          </a:xfrm>
          <a:prstGeom prst="roundRect">
            <a:avLst>
              <a:gd name="adj" fmla="val 9756"/>
            </a:avLst>
          </a:prstGeom>
          <a:solidFill>
            <a:srgbClr val="1C6B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95350" y="609600"/>
            <a:ext cx="14454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· 益处总览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762000" y="1038225"/>
            <a:ext cx="58293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50"/>
              </a:spcAft>
              <a:buNone/>
            </a:pPr>
            <a:r>
              <a:rPr lang="en-US" sz="300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坐姿前屈式带给运动员的三重收益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62000" y="1647825"/>
            <a:ext cx="58293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从身体、心理、恢复三个维度，构建一个可持续训练的「柔韧-专注-恢复」循环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054554" y="1695450"/>
            <a:ext cx="24229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A95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Paschimottanasana Benefits Overview</a:t>
            </a:r>
            <a:endParaRPr lang="en-US" sz="1050" dirty="0"/>
          </a:p>
        </p:txBody>
      </p:sp>
      <p:pic>
        <p:nvPicPr>
          <p:cNvPr id="7" name="Image 0" descr="/tmp/html2pptx-1O9G9H/html2pptx-bg-1786385721879-c1c2136f495d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981200"/>
            <a:ext cx="3784550" cy="4533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9650" y="2362200"/>
            <a:ext cx="296641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FFFFFF">
                    <a:alpha val="25000"/>
                  </a:srgbClr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01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1009650" y="2719388"/>
            <a:ext cx="296641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🤸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1009650" y="3190875"/>
            <a:ext cx="296641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柔韧性与活动度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09650" y="3581400"/>
            <a:ext cx="2966415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FFFFFF">
                    <a:alpha val="75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FLEXIBILITY &amp; MOBILITY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1009650" y="3925193"/>
            <a:ext cx="296641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系统拉伸后侧链：腘绳肌、小腿、臀部、腰背，直接改善关节活动范围。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1009650" y="4525268"/>
            <a:ext cx="2908250" cy="679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提升跑、跳、深蹲动作幅度</a:t>
            </a:r>
            <a:endParaRPr lang="en-US" sz="1050" dirty="0"/>
          </a:p>
          <a:p>
            <a:pPr algn="l" marL="171450" indent="-171450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降低腘绳肌拉伤风险</a:t>
            </a:r>
            <a:endParaRPr lang="en-US" sz="1050" dirty="0"/>
          </a:p>
          <a:p>
            <a:pPr algn="l" marL="171450" indent="-171450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改善脊柱节段伸展能力</a:t>
            </a:r>
            <a:endParaRPr lang="en-US" sz="1050" dirty="0"/>
          </a:p>
        </p:txBody>
      </p:sp>
      <p:pic>
        <p:nvPicPr>
          <p:cNvPr id="14" name="Image 1" descr="/tmp/html2pptx-1O9G9H/html2pptx-bg-1786385721975-82fe6e88d42df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650" y="1981200"/>
            <a:ext cx="3784550" cy="4533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41800" y="2362200"/>
            <a:ext cx="296641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FFFFFF">
                    <a:alpha val="25000"/>
                  </a:srgbClr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02</a:t>
            </a:r>
            <a:endParaRPr lang="en-US" sz="1125" dirty="0"/>
          </a:p>
        </p:txBody>
      </p:sp>
      <p:sp>
        <p:nvSpPr>
          <p:cNvPr id="16" name="Text 12"/>
          <p:cNvSpPr/>
          <p:nvPr/>
        </p:nvSpPr>
        <p:spPr>
          <a:xfrm>
            <a:off x="4641800" y="2719388"/>
            <a:ext cx="296641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🧘</a:t>
            </a:r>
            <a:endParaRPr lang="en-US" sz="1125" dirty="0"/>
          </a:p>
        </p:txBody>
      </p:sp>
      <p:sp>
        <p:nvSpPr>
          <p:cNvPr id="17" name="Text 13"/>
          <p:cNvSpPr/>
          <p:nvPr/>
        </p:nvSpPr>
        <p:spPr>
          <a:xfrm>
            <a:off x="4641800" y="3190875"/>
            <a:ext cx="296641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心理专注与放松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641800" y="3581400"/>
            <a:ext cx="2966415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FFFFFF">
                    <a:alpha val="75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FOCUS &amp; MENTAL CALM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4641800" y="3925193"/>
            <a:ext cx="296641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前屈伴随内观与深呼吸，激活副交感神经，帮助运动员进入比赛心流。</a:t>
            </a:r>
            <a:endParaRPr lang="en-US" sz="1125" dirty="0"/>
          </a:p>
        </p:txBody>
      </p:sp>
      <p:sp>
        <p:nvSpPr>
          <p:cNvPr id="20" name="Text 16"/>
          <p:cNvSpPr/>
          <p:nvPr/>
        </p:nvSpPr>
        <p:spPr>
          <a:xfrm>
            <a:off x="4641800" y="4525268"/>
            <a:ext cx="2908250" cy="679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降低赛前焦虑与心率</a:t>
            </a:r>
            <a:endParaRPr lang="en-US" sz="1050" dirty="0"/>
          </a:p>
          <a:p>
            <a:pPr algn="l" marL="171450" indent="-171450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提升专注力与呼吸控制</a:t>
            </a:r>
            <a:endParaRPr lang="en-US" sz="1050" dirty="0"/>
          </a:p>
          <a:p>
            <a:pPr algn="l" marL="171450" indent="-171450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建立「可调用」的冷静状态</a:t>
            </a:r>
            <a:endParaRPr lang="en-US" sz="1050" dirty="0"/>
          </a:p>
        </p:txBody>
      </p:sp>
      <p:pic>
        <p:nvPicPr>
          <p:cNvPr id="21" name="Image 2" descr="/tmp/html2pptx-1O9G9H/html2pptx-bg-1786385722069-40746afb0615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801" y="1981200"/>
            <a:ext cx="3784550" cy="45339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73951" y="2362200"/>
            <a:ext cx="296641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FFFFFF">
                    <a:alpha val="25000"/>
                  </a:srgbClr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03</a:t>
            </a:r>
            <a:endParaRPr lang="en-US" sz="1125" dirty="0"/>
          </a:p>
        </p:txBody>
      </p:sp>
      <p:sp>
        <p:nvSpPr>
          <p:cNvPr id="23" name="Text 18"/>
          <p:cNvSpPr/>
          <p:nvPr/>
        </p:nvSpPr>
        <p:spPr>
          <a:xfrm>
            <a:off x="8273951" y="2719388"/>
            <a:ext cx="296641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🌙</a:t>
            </a:r>
            <a:endParaRPr lang="en-US" sz="1125" dirty="0"/>
          </a:p>
        </p:txBody>
      </p:sp>
      <p:sp>
        <p:nvSpPr>
          <p:cNvPr id="24" name="Text 19"/>
          <p:cNvSpPr/>
          <p:nvPr/>
        </p:nvSpPr>
        <p:spPr>
          <a:xfrm>
            <a:off x="8273951" y="3190875"/>
            <a:ext cx="296641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恢复能力与防护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273951" y="3581400"/>
            <a:ext cx="2966415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FFFFFF">
                    <a:alpha val="75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RECOVERY &amp; INJURY PREVENTION</a:t>
            </a:r>
            <a:endParaRPr lang="en-US" sz="975" dirty="0"/>
          </a:p>
        </p:txBody>
      </p:sp>
      <p:sp>
        <p:nvSpPr>
          <p:cNvPr id="26" name="Text 21"/>
          <p:cNvSpPr/>
          <p:nvPr/>
        </p:nvSpPr>
        <p:spPr>
          <a:xfrm>
            <a:off x="8273951" y="3925193"/>
            <a:ext cx="296641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低负荷拉伸促进血液循环与筋膜松解，加速训练后清理与软组织修复。</a:t>
            </a:r>
            <a:endParaRPr lang="en-US" sz="1125" dirty="0"/>
          </a:p>
        </p:txBody>
      </p:sp>
      <p:sp>
        <p:nvSpPr>
          <p:cNvPr id="27" name="Text 22"/>
          <p:cNvSpPr/>
          <p:nvPr/>
        </p:nvSpPr>
        <p:spPr>
          <a:xfrm>
            <a:off x="8273951" y="4525268"/>
            <a:ext cx="2908250" cy="679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缓解 DOMS 延迟性酸痛</a:t>
            </a:r>
            <a:endParaRPr lang="en-US" sz="1050" dirty="0"/>
          </a:p>
          <a:p>
            <a:pPr algn="l" marL="171450" indent="-171450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改善下背僵硬与疲劳</a:t>
            </a:r>
            <a:endParaRPr lang="en-US" sz="1050" dirty="0"/>
          </a:p>
          <a:p>
            <a:pPr algn="l" marL="171450" indent="-171450">
              <a:lnSpc>
                <a:spcPts val="1785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辅助睡眠与神经系统恢复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762000" y="5997029"/>
            <a:ext cx="10668000" cy="479971"/>
          </a:xfrm>
          <a:prstGeom prst="roundRect">
            <a:avLst>
              <a:gd name="adj" fmla="val 7938"/>
            </a:avLst>
          </a:prstGeom>
          <a:solidFill>
            <a:srgbClr val="F6F4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4"/>
          <p:cNvSpPr/>
          <p:nvPr/>
        </p:nvSpPr>
        <p:spPr>
          <a:xfrm>
            <a:off x="781050" y="6130379"/>
            <a:ext cx="0" cy="213271"/>
          </a:xfrm>
          <a:prstGeom prst="line">
            <a:avLst/>
          </a:prstGeom>
          <a:noFill/>
          <a:ln w="38100">
            <a:solidFill>
              <a:srgbClr val="1C6B5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971550" y="6130379"/>
            <a:ext cx="104927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教练视角：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这三类收益不是并列存在，而是相互叠加 —— 柔韧性改善让动作更省力，专注力提升让训练更高质量，恢复加速让你下一节训练课能再次进入巅峰状态。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0" cy="6858000"/>
          </a:xfrm>
          <a:prstGeom prst="rect">
            <a:avLst/>
          </a:prstGeom>
          <a:solidFill>
            <a:srgbClr val="0F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16200000">
            <a:off x="-1393627" y="3333750"/>
            <a:ext cx="36202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F3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BENEFIT 01 · FLEXIBILITY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38250" y="533400"/>
            <a:ext cx="1231106" cy="295275"/>
          </a:xfrm>
          <a:prstGeom prst="roundRect">
            <a:avLst>
              <a:gd name="adj" fmla="val 12903"/>
            </a:avLst>
          </a:prstGeom>
          <a:solidFill>
            <a:srgbClr val="1C6B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52550" y="590550"/>
            <a:ext cx="10225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· 益处一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238250" y="942975"/>
            <a:ext cx="1039558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285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柔韧性与活动度：打开运动员的后侧链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238250" y="1504950"/>
            <a:ext cx="103955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坐姿前屈是少有的「一站式」后侧链拉伸动作，对跑、跳、蹲类项目意义显著</a:t>
            </a:r>
            <a:endParaRPr lang="en-US" sz="1200" dirty="0"/>
          </a:p>
        </p:txBody>
      </p:sp>
      <p:pic>
        <p:nvPicPr>
          <p:cNvPr id="8" name="Image 0" descr="/tmp/html2pptx-ZyWnKH/html2pptx-bg-1786385722896-f27cb05ad897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1619250"/>
            <a:ext cx="3771900" cy="2438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8250" y="3886200"/>
            <a:ext cx="34975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图：坐姿前屈在运动员恢复场景中的应用示意（图片用于教学示意）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38250" y="4229100"/>
            <a:ext cx="3429000" cy="1352996"/>
          </a:xfrm>
          <a:prstGeom prst="roundRect">
            <a:avLst>
              <a:gd name="adj" fmla="val 7040"/>
            </a:avLst>
          </a:prstGeom>
          <a:solidFill>
            <a:srgbClr val="0F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409700" y="4457700"/>
            <a:ext cx="3147822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B9F3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教练经验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409700" y="4722465"/>
            <a:ext cx="3147822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spcBef>
                <a:spcPts val="600"/>
              </a:spcBef>
              <a:buNone/>
            </a:pPr>
            <a:r>
              <a:rPr lang="en-US" sz="1125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「在我们队伍里，每周 2–3 次、每次 3–5 个呼吸的坐姿前屈，3 周后立位体前屈平均提升 4–6 cm。腘绳肌拉伤就诊次数明显下降。」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4933950" y="1714500"/>
            <a:ext cx="662597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牵拉覆盖的目标结构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33950" y="2105025"/>
            <a:ext cx="3190875" cy="649039"/>
          </a:xfrm>
          <a:prstGeom prst="roundRect">
            <a:avLst>
              <a:gd name="adj" fmla="val 5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953000" y="2219325"/>
            <a:ext cx="0" cy="420439"/>
          </a:xfrm>
          <a:prstGeom prst="line">
            <a:avLst/>
          </a:prstGeom>
          <a:noFill/>
          <a:ln w="38100">
            <a:solidFill>
              <a:srgbClr val="2A8A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05400" y="2219325"/>
            <a:ext cx="29437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腘绳肌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105400" y="2447925"/>
            <a:ext cx="2943797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三个起止点同步被拉伸，改善伸髋与屈膝的协调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8239125" y="2105025"/>
            <a:ext cx="3190875" cy="649039"/>
          </a:xfrm>
          <a:prstGeom prst="roundRect">
            <a:avLst>
              <a:gd name="adj" fmla="val 5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8258175" y="2219325"/>
            <a:ext cx="0" cy="420439"/>
          </a:xfrm>
          <a:prstGeom prst="line">
            <a:avLst/>
          </a:prstGeom>
          <a:noFill/>
          <a:ln w="38100">
            <a:solidFill>
              <a:srgbClr val="2A8A6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0575" y="2219325"/>
            <a:ext cx="29437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小腿与跟腱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410575" y="2447925"/>
            <a:ext cx="2943797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脚尖回勾时被动牵拉，对跑者与跳跃项目尤为重要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4933950" y="2868364"/>
            <a:ext cx="3190875" cy="649039"/>
          </a:xfrm>
          <a:prstGeom prst="roundRect">
            <a:avLst>
              <a:gd name="adj" fmla="val 5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953000" y="2982664"/>
            <a:ext cx="0" cy="420439"/>
          </a:xfrm>
          <a:prstGeom prst="line">
            <a:avLst/>
          </a:prstGeom>
          <a:noFill/>
          <a:ln w="38100">
            <a:solidFill>
              <a:srgbClr val="2A8A6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05400" y="2982664"/>
            <a:ext cx="29437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臀大肌与梨状肌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105400" y="3211264"/>
            <a:ext cx="2943797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髋屈加深时激活外旋肌群的延展性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8239125" y="2868364"/>
            <a:ext cx="3190875" cy="649039"/>
          </a:xfrm>
          <a:prstGeom prst="roundRect">
            <a:avLst>
              <a:gd name="adj" fmla="val 5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8258175" y="2982664"/>
            <a:ext cx="0" cy="420439"/>
          </a:xfrm>
          <a:prstGeom prst="line">
            <a:avLst/>
          </a:prstGeom>
          <a:noFill/>
          <a:ln w="38100">
            <a:solidFill>
              <a:srgbClr val="2A8A6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10575" y="2982664"/>
            <a:ext cx="29437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腰背与胸椎筋膜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410575" y="3211264"/>
            <a:ext cx="2943797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脊柱节段性前屈，缓解长期训练造成的僵硬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4933950" y="3669804"/>
            <a:ext cx="6496050" cy="1895475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105400" y="3822204"/>
            <a:ext cx="6276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1C6B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对运动表现的直接影响</a:t>
            </a:r>
            <a:endParaRPr lang="en-US" sz="112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05400" y="4117479"/>
          <a:ext cx="9144000" cy="914400"/>
        </p:xfrm>
        <a:graphic>
          <a:graphicData uri="http://schemas.openxmlformats.org/drawingml/2006/table">
            <a:tbl>
              <a:tblPr/>
              <a:tblGrid>
                <a:gridCol w="1223516"/>
                <a:gridCol w="2061716"/>
                <a:gridCol w="2867918"/>
              </a:tblGrid>
              <a:tr h="3202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5D6B6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训练动作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5D6B6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柔韧瓶颈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5D6B6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前屈式帮助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5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0F3A2E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深蹲 / 抓举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C3A3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髋屈受限、骨盆后倾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C3A3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改善髋活动度，蹲得更低更稳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5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0F3A2E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短跑加速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C3A3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腘绳肌离心能力不足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C3A3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降低拉伤率，步幅更顺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5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0F3A2E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跳跃落地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C3A3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踝背屈与髋屈受限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C3A3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缓冲更充分，落地更稳</a:t>
                      </a:r>
                      <a:endParaRPr lang="en-US" sz="97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CE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0" y="0"/>
            <a:ext cx="2667000" cy="2667000"/>
          </a:xfrm>
          <a:prstGeom prst="roundRect">
            <a:avLst>
              <a:gd name="adj" fmla="val 34286"/>
            </a:avLst>
          </a:prstGeom>
          <a:solidFill>
            <a:srgbClr val="FFD97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953000"/>
            <a:ext cx="1905000" cy="1905000"/>
          </a:xfrm>
          <a:prstGeom prst="roundRect">
            <a:avLst>
              <a:gd name="adj" fmla="val 48000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533400"/>
            <a:ext cx="1236315" cy="295275"/>
          </a:xfrm>
          <a:prstGeom prst="roundRect">
            <a:avLst>
              <a:gd name="adj" fmla="val 12903"/>
            </a:avLst>
          </a:prstGeom>
          <a:solidFill>
            <a:srgbClr val="FFD9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6300" y="590550"/>
            <a:ext cx="10278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1C0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04 · 益处二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762000" y="942975"/>
            <a:ext cx="1088136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2850" b="1" dirty="0">
                <a:solidFill>
                  <a:srgbClr val="FFF7E0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心理专注与神经放松：进入比赛心流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762000" y="150495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D6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前屈体式 + 深长呼吸 = 副交感激活，让运动员从「紧张备战」切换到「冷静专注」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1905000"/>
            <a:ext cx="5448300" cy="4916091"/>
          </a:xfrm>
          <a:prstGeom prst="roundRect">
            <a:avLst>
              <a:gd name="adj" fmla="val 232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D9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00125" y="2124075"/>
            <a:ext cx="507149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D97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生理-心理机制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0125" y="2457450"/>
            <a:ext cx="507149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1050"/>
              </a:spcAft>
              <a:buNone/>
            </a:pPr>
            <a:r>
              <a:rPr lang="en-US" sz="900" dirty="0">
                <a:solidFill>
                  <a:srgbClr val="E8D6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MECHANISM · WHY IT WORKS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0125" y="2785021"/>
            <a:ext cx="5071491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F6EF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前屈使躯干贴近大腿，对迷走神经和腹式呼吸形成温和刺激；伴随延长呼气，心率与皮质醇水平下降，副交感神经占主导，焦虑与肌肉张力同步降低。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000125" y="338509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D9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08918" y="3416052"/>
            <a:ext cx="8880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F6EFE0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1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419225" y="3385096"/>
            <a:ext cx="4644009" cy="464641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FFF7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呼吸驱动：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F6EF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秒吸 – 6 秒呼，激活迷走神经，5 个呼吸内即可观察到心率下降。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0125" y="396403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D9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08918" y="3994993"/>
            <a:ext cx="8880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F6EFE0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2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419225" y="3964037"/>
            <a:ext cx="3808476" cy="251371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FFF7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本体感觉：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F6EF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闭眼前屈，强化对身体张力的觉察，提升专注质量。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0125" y="438313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D9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08918" y="4414093"/>
            <a:ext cx="8880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F6EFE0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3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419225" y="4383137"/>
            <a:ext cx="4624578" cy="251371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FFF7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情绪卸载：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F6EF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躯干折叠产生「内收」感，帮助运动员在比赛间隙快速平复情绪。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77000" y="1905000"/>
            <a:ext cx="4953000" cy="4916091"/>
          </a:xfrm>
          <a:prstGeom prst="roundRect">
            <a:avLst>
              <a:gd name="adj" fmla="val 232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D9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15125" y="2124075"/>
            <a:ext cx="456628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D97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赛前 / 赛后专注力方案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15125" y="2457450"/>
            <a:ext cx="456628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1050"/>
              </a:spcAft>
              <a:buNone/>
            </a:pPr>
            <a:r>
              <a:rPr lang="en-US" sz="900" dirty="0">
                <a:solidFill>
                  <a:srgbClr val="E8D6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PROTOCOL FOR ATHLETES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15125" y="2785021"/>
            <a:ext cx="456628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F6EF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在不同训练节点使用不同剂量，是我日常带队非常依赖的「心理按钮」。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6715125" y="3385096"/>
            <a:ext cx="4476750" cy="996107"/>
          </a:xfrm>
          <a:prstGeom prst="roundRect">
            <a:avLst>
              <a:gd name="adj" fmla="val 7650"/>
            </a:avLst>
          </a:prstGeom>
          <a:solidFill>
            <a:srgbClr val="000000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867525" y="3518446"/>
            <a:ext cx="425538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赛前 10 分钟 · 镇定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67525" y="3826966"/>
            <a:ext cx="4171950" cy="420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658"/>
              </a:lnSpc>
              <a:buSzPct val="100000"/>
              <a:buChar char="•"/>
            </a:pPr>
            <a:r>
              <a:rPr lang="en-US" sz="975" dirty="0">
                <a:solidFill>
                  <a:srgbClr val="F6EF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组 × 5 个呼吸，闭眼，强调呼气延长</a:t>
            </a:r>
            <a:endParaRPr lang="en-US" sz="975" dirty="0"/>
          </a:p>
          <a:p>
            <a:pPr algn="l" marL="171450" indent="-171450">
              <a:lnSpc>
                <a:spcPts val="1658"/>
              </a:lnSpc>
              <a:buSzPct val="100000"/>
              <a:buChar char="•"/>
            </a:pPr>
            <a:r>
              <a:rPr lang="en-US" sz="975" dirty="0">
                <a:solidFill>
                  <a:srgbClr val="F6EF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关注点：呼吸节奏 &gt; 折叠深度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6715125" y="4495502"/>
            <a:ext cx="4476750" cy="996107"/>
          </a:xfrm>
          <a:prstGeom prst="roundRect">
            <a:avLst>
              <a:gd name="adj" fmla="val 7650"/>
            </a:avLst>
          </a:prstGeom>
          <a:solidFill>
            <a:srgbClr val="000000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67525" y="4628852"/>
            <a:ext cx="425538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比赛间隙 · 重置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67525" y="4937373"/>
            <a:ext cx="4171950" cy="420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658"/>
              </a:lnSpc>
              <a:buSzPct val="100000"/>
              <a:buChar char="•"/>
            </a:pPr>
            <a:r>
              <a:rPr lang="en-US" sz="975" dirty="0">
                <a:solidFill>
                  <a:srgbClr val="F6EF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组 × 3 个呼吸，站姿前屈或坐姿前屈均可</a:t>
            </a:r>
            <a:endParaRPr lang="en-US" sz="975" dirty="0"/>
          </a:p>
          <a:p>
            <a:pPr algn="l" marL="171450" indent="-171450">
              <a:lnSpc>
                <a:spcPts val="1658"/>
              </a:lnSpc>
              <a:buSzPct val="100000"/>
              <a:buChar char="•"/>
            </a:pPr>
            <a:r>
              <a:rPr lang="en-US" sz="975" dirty="0">
                <a:solidFill>
                  <a:srgbClr val="F6EF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用于失误后或换项间隙快速「重启」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6715125" y="5605909"/>
            <a:ext cx="4476750" cy="996107"/>
          </a:xfrm>
          <a:prstGeom prst="roundRect">
            <a:avLst>
              <a:gd name="adj" fmla="val 7650"/>
            </a:avLst>
          </a:prstGeom>
          <a:solidFill>
            <a:srgbClr val="000000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67525" y="5739259"/>
            <a:ext cx="4255389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夜间训练后 · 降温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67525" y="6047780"/>
            <a:ext cx="4171950" cy="420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658"/>
              </a:lnSpc>
              <a:buSzPct val="100000"/>
              <a:buChar char="•"/>
            </a:pPr>
            <a:r>
              <a:rPr lang="en-US" sz="975" dirty="0">
                <a:solidFill>
                  <a:srgbClr val="F6EF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组 × 8 个呼吸，配合腹式呼吸</a:t>
            </a:r>
            <a:endParaRPr lang="en-US" sz="975" dirty="0"/>
          </a:p>
          <a:p>
            <a:pPr algn="l" marL="171450" indent="-171450">
              <a:lnSpc>
                <a:spcPts val="1658"/>
              </a:lnSpc>
              <a:buSzPct val="100000"/>
              <a:buChar char="•"/>
            </a:pPr>
            <a:r>
              <a:rPr lang="en-US" sz="975" dirty="0">
                <a:solidFill>
                  <a:srgbClr val="F6EF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帮助神经系统切换到恢复模式，改善入睡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762000" y="6391275"/>
            <a:ext cx="108813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D8C7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提示：前屈类体式对运动员而言，不是「拉伸训练」，而是「专注训练」—— 用呼吸节奏带着身体进入更深的折叠。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231106" cy="295275"/>
          </a:xfrm>
          <a:prstGeom prst="roundRect">
            <a:avLst>
              <a:gd name="adj" fmla="val 12903"/>
            </a:avLst>
          </a:prstGeom>
          <a:solidFill>
            <a:srgbClr val="2A5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76300" y="590550"/>
            <a:ext cx="10225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· 益处三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762000" y="942975"/>
            <a:ext cx="1088136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285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恢复能力与伤病预防：低负荷主动恢复工具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62000" y="150495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把前屈式放进训练后 30 分钟黄金恢复窗口，加速循环清理与软组织修复</a:t>
            </a:r>
            <a:endParaRPr lang="en-US" sz="1200" dirty="0"/>
          </a:p>
        </p:txBody>
      </p:sp>
      <p:pic>
        <p:nvPicPr>
          <p:cNvPr id="6" name="Image 0" descr="/tmp/html2pptx-I8uYVc/html2pptx-bg-1786385725015-138967861c19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619250"/>
            <a:ext cx="3619500" cy="4991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1550" y="1924050"/>
            <a:ext cx="28757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训练后 30 分钟恢复窗口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71550" y="2257425"/>
            <a:ext cx="28757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CFE2F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RECOVERY TIMELINE</a:t>
            </a:r>
            <a:endParaRPr lang="en-US" sz="900" dirty="0"/>
          </a:p>
        </p:txBody>
      </p:sp>
      <p:pic>
        <p:nvPicPr>
          <p:cNvPr id="9" name="Image 1" descr="/tmp/html2pptx-I8uYVc/html2pptx-bg-1786385725087-e96ae411cafc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2600325"/>
            <a:ext cx="152400" cy="152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19200" y="2571750"/>
            <a:ext cx="26231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T+0–5 min</a:t>
            </a:r>
            <a:endParaRPr lang="en-US" sz="975" dirty="0"/>
          </a:p>
        </p:txBody>
      </p:sp>
      <p:sp>
        <p:nvSpPr>
          <p:cNvPr id="11" name="Text 7"/>
          <p:cNvSpPr/>
          <p:nvPr/>
        </p:nvSpPr>
        <p:spPr>
          <a:xfrm>
            <a:off x="1219200" y="2876550"/>
            <a:ext cx="26231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轻度走动 + 呼吸</a:t>
            </a:r>
            <a:endParaRPr lang="en-US" sz="1125" dirty="0"/>
          </a:p>
        </p:txBody>
      </p:sp>
      <p:sp>
        <p:nvSpPr>
          <p:cNvPr id="12" name="Text 8"/>
          <p:cNvSpPr/>
          <p:nvPr/>
        </p:nvSpPr>
        <p:spPr>
          <a:xfrm>
            <a:off x="1219200" y="3219450"/>
            <a:ext cx="2623185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spcBef>
                <a:spcPts val="15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E3EE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心率回落至 120 以下，准备进入拉伸</a:t>
            </a:r>
            <a:endParaRPr lang="en-US" sz="975" dirty="0"/>
          </a:p>
        </p:txBody>
      </p:sp>
      <p:sp>
        <p:nvSpPr>
          <p:cNvPr id="13" name="Text 9"/>
          <p:cNvSpPr/>
          <p:nvPr/>
        </p:nvSpPr>
        <p:spPr>
          <a:xfrm>
            <a:off x="1047750" y="2743200"/>
            <a:ext cx="19050" cy="820341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2" descr="/tmp/html2pptx-I8uYVc/html2pptx-bg-1786385725114-b3bc93fa601bf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75" y="3573214"/>
            <a:ext cx="152400" cy="152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19200" y="3544639"/>
            <a:ext cx="26231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T+5–12 min</a:t>
            </a:r>
            <a:endParaRPr lang="en-US" sz="975" dirty="0"/>
          </a:p>
        </p:txBody>
      </p:sp>
      <p:sp>
        <p:nvSpPr>
          <p:cNvPr id="16" name="Text 11"/>
          <p:cNvSpPr/>
          <p:nvPr/>
        </p:nvSpPr>
        <p:spPr>
          <a:xfrm>
            <a:off x="1219200" y="3849439"/>
            <a:ext cx="26231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坐姿前屈 × 3 组</a:t>
            </a:r>
            <a:endParaRPr lang="en-US" sz="1125" dirty="0"/>
          </a:p>
        </p:txBody>
      </p:sp>
      <p:sp>
        <p:nvSpPr>
          <p:cNvPr id="17" name="Text 12"/>
          <p:cNvSpPr/>
          <p:nvPr/>
        </p:nvSpPr>
        <p:spPr>
          <a:xfrm>
            <a:off x="1219200" y="4192339"/>
            <a:ext cx="2623185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spcBef>
                <a:spcPts val="15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E3EE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每组 6–8 个深呼吸，组间 30 秒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1047750" y="3716089"/>
            <a:ext cx="19050" cy="820341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tmp/html2pptx-I8uYVc/html2pptx-bg-1786385725149-09a4bf0378554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75" y="4546104"/>
            <a:ext cx="152400" cy="1524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19200" y="4517529"/>
            <a:ext cx="26231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T+12–20 min</a:t>
            </a:r>
            <a:endParaRPr lang="en-US" sz="975" dirty="0"/>
          </a:p>
        </p:txBody>
      </p:sp>
      <p:sp>
        <p:nvSpPr>
          <p:cNvPr id="21" name="Text 15"/>
          <p:cNvSpPr/>
          <p:nvPr/>
        </p:nvSpPr>
        <p:spPr>
          <a:xfrm>
            <a:off x="1219200" y="4822329"/>
            <a:ext cx="26231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补充水分与蛋白</a:t>
            </a:r>
            <a:endParaRPr lang="en-US" sz="1125" dirty="0"/>
          </a:p>
        </p:txBody>
      </p:sp>
      <p:sp>
        <p:nvSpPr>
          <p:cNvPr id="22" name="Text 16"/>
          <p:cNvSpPr/>
          <p:nvPr/>
        </p:nvSpPr>
        <p:spPr>
          <a:xfrm>
            <a:off x="1219200" y="5165229"/>
            <a:ext cx="2623185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spcBef>
                <a:spcPts val="15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E3EE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在副交感占优时段摄入，吸收更优</a:t>
            </a:r>
            <a:endParaRPr lang="en-US" sz="975" dirty="0"/>
          </a:p>
        </p:txBody>
      </p:sp>
      <p:sp>
        <p:nvSpPr>
          <p:cNvPr id="23" name="Text 17"/>
          <p:cNvSpPr/>
          <p:nvPr/>
        </p:nvSpPr>
        <p:spPr>
          <a:xfrm>
            <a:off x="1047750" y="4688979"/>
            <a:ext cx="19050" cy="820341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4" descr="/tmp/html2pptx-I8uYVc/html2pptx-bg-1786385725180-8c801b0e6d536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" y="5518993"/>
            <a:ext cx="152400" cy="1524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19200" y="5490418"/>
            <a:ext cx="26231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T+20–30 min</a:t>
            </a:r>
            <a:endParaRPr lang="en-US" sz="975" dirty="0"/>
          </a:p>
        </p:txBody>
      </p:sp>
      <p:sp>
        <p:nvSpPr>
          <p:cNvPr id="26" name="Text 19"/>
          <p:cNvSpPr/>
          <p:nvPr/>
        </p:nvSpPr>
        <p:spPr>
          <a:xfrm>
            <a:off x="1219200" y="5795218"/>
            <a:ext cx="26231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静态放松 / 冥想</a:t>
            </a:r>
            <a:endParaRPr lang="en-US" sz="1125" dirty="0"/>
          </a:p>
        </p:txBody>
      </p:sp>
      <p:sp>
        <p:nvSpPr>
          <p:cNvPr id="27" name="Text 20"/>
          <p:cNvSpPr/>
          <p:nvPr/>
        </p:nvSpPr>
        <p:spPr>
          <a:xfrm>
            <a:off x="1219200" y="6138118"/>
            <a:ext cx="2623185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spcBef>
                <a:spcPts val="15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E3EE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以前屈体感为锚，进入 5 分钟身心降温</a:t>
            </a:r>
            <a:endParaRPr lang="en-US" sz="975" dirty="0"/>
          </a:p>
        </p:txBody>
      </p:sp>
      <p:sp>
        <p:nvSpPr>
          <p:cNvPr id="28" name="Text 21"/>
          <p:cNvSpPr/>
          <p:nvPr/>
        </p:nvSpPr>
        <p:spPr>
          <a:xfrm>
            <a:off x="4381500" y="1714500"/>
            <a:ext cx="3457575" cy="986730"/>
          </a:xfrm>
          <a:prstGeom prst="roundRect">
            <a:avLst>
              <a:gd name="adj" fmla="val 9653"/>
            </a:avLst>
          </a:prstGeom>
          <a:solidFill>
            <a:srgbClr val="F6F4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2"/>
          <p:cNvSpPr/>
          <p:nvPr/>
        </p:nvSpPr>
        <p:spPr>
          <a:xfrm>
            <a:off x="4552950" y="1728788"/>
            <a:ext cx="3114675" cy="0"/>
          </a:xfrm>
          <a:prstGeom prst="line">
            <a:avLst/>
          </a:prstGeom>
          <a:noFill/>
          <a:ln w="28575">
            <a:solidFill>
              <a:srgbClr val="2A5D8A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4552950" y="1895475"/>
            <a:ext cx="3176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缓解延迟性酸痛 (DOMS)</a:t>
            </a:r>
            <a:endParaRPr lang="en-US" sz="1125" dirty="0"/>
          </a:p>
        </p:txBody>
      </p:sp>
      <p:sp>
        <p:nvSpPr>
          <p:cNvPr id="31" name="Text 24"/>
          <p:cNvSpPr/>
          <p:nvPr/>
        </p:nvSpPr>
        <p:spPr>
          <a:xfrm>
            <a:off x="4552950" y="2152650"/>
            <a:ext cx="317696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低强度牵拉促进局部血流与代谢废物清理，对长跑、力量训练后第二天酸痛有显著缓解。</a:t>
            </a:r>
            <a:endParaRPr lang="en-US" sz="975" dirty="0"/>
          </a:p>
        </p:txBody>
      </p:sp>
      <p:sp>
        <p:nvSpPr>
          <p:cNvPr id="32" name="Text 25"/>
          <p:cNvSpPr/>
          <p:nvPr/>
        </p:nvSpPr>
        <p:spPr>
          <a:xfrm>
            <a:off x="7972425" y="1714500"/>
            <a:ext cx="3457575" cy="986730"/>
          </a:xfrm>
          <a:prstGeom prst="roundRect">
            <a:avLst>
              <a:gd name="adj" fmla="val 9653"/>
            </a:avLst>
          </a:prstGeom>
          <a:solidFill>
            <a:srgbClr val="F6F4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26"/>
          <p:cNvSpPr/>
          <p:nvPr/>
        </p:nvSpPr>
        <p:spPr>
          <a:xfrm>
            <a:off x="8143875" y="1728788"/>
            <a:ext cx="3114675" cy="0"/>
          </a:xfrm>
          <a:prstGeom prst="line">
            <a:avLst/>
          </a:prstGeom>
          <a:noFill/>
          <a:ln w="28575">
            <a:solidFill>
              <a:srgbClr val="2A5D8A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143875" y="1895475"/>
            <a:ext cx="3176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筋膜与结缔组织松解</a:t>
            </a:r>
            <a:endParaRPr lang="en-US" sz="1125" dirty="0"/>
          </a:p>
        </p:txBody>
      </p:sp>
      <p:sp>
        <p:nvSpPr>
          <p:cNvPr id="35" name="Text 28"/>
          <p:cNvSpPr/>
          <p:nvPr/>
        </p:nvSpPr>
        <p:spPr>
          <a:xfrm>
            <a:off x="8143875" y="2152650"/>
            <a:ext cx="317696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持续 30 秒以上的低负荷牵拉改善后侧链筋膜滑动性，减少组织粘连与僵硬。</a:t>
            </a:r>
            <a:endParaRPr lang="en-US" sz="975" dirty="0"/>
          </a:p>
        </p:txBody>
      </p:sp>
      <p:sp>
        <p:nvSpPr>
          <p:cNvPr id="36" name="Text 29"/>
          <p:cNvSpPr/>
          <p:nvPr/>
        </p:nvSpPr>
        <p:spPr>
          <a:xfrm>
            <a:off x="4381500" y="2834580"/>
            <a:ext cx="3457575" cy="986730"/>
          </a:xfrm>
          <a:prstGeom prst="roundRect">
            <a:avLst>
              <a:gd name="adj" fmla="val 9653"/>
            </a:avLst>
          </a:prstGeom>
          <a:solidFill>
            <a:srgbClr val="F6F4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0"/>
          <p:cNvSpPr/>
          <p:nvPr/>
        </p:nvSpPr>
        <p:spPr>
          <a:xfrm>
            <a:off x="4552950" y="2848868"/>
            <a:ext cx="3114675" cy="0"/>
          </a:xfrm>
          <a:prstGeom prst="line">
            <a:avLst/>
          </a:prstGeom>
          <a:noFill/>
          <a:ln w="28575">
            <a:solidFill>
              <a:srgbClr val="2A5D8A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552950" y="3015555"/>
            <a:ext cx="3176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下背疲劳与姿态</a:t>
            </a:r>
            <a:endParaRPr lang="en-US" sz="1125" dirty="0"/>
          </a:p>
        </p:txBody>
      </p:sp>
      <p:sp>
        <p:nvSpPr>
          <p:cNvPr id="39" name="Text 32"/>
          <p:cNvSpPr/>
          <p:nvPr/>
        </p:nvSpPr>
        <p:spPr>
          <a:xfrm>
            <a:off x="4552950" y="3272730"/>
            <a:ext cx="317696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反向折叠脊柱，平衡举重、自行车等项目中的长时间屈曲姿态，降低腰背劳损。</a:t>
            </a:r>
            <a:endParaRPr lang="en-US" sz="975" dirty="0"/>
          </a:p>
        </p:txBody>
      </p:sp>
      <p:sp>
        <p:nvSpPr>
          <p:cNvPr id="40" name="Text 33"/>
          <p:cNvSpPr/>
          <p:nvPr/>
        </p:nvSpPr>
        <p:spPr>
          <a:xfrm>
            <a:off x="7972425" y="2834580"/>
            <a:ext cx="3457575" cy="986730"/>
          </a:xfrm>
          <a:prstGeom prst="roundRect">
            <a:avLst>
              <a:gd name="adj" fmla="val 9653"/>
            </a:avLst>
          </a:prstGeom>
          <a:solidFill>
            <a:srgbClr val="F6F4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4"/>
          <p:cNvSpPr/>
          <p:nvPr/>
        </p:nvSpPr>
        <p:spPr>
          <a:xfrm>
            <a:off x="8143875" y="2848868"/>
            <a:ext cx="3114675" cy="0"/>
          </a:xfrm>
          <a:prstGeom prst="line">
            <a:avLst/>
          </a:prstGeom>
          <a:noFill/>
          <a:ln w="28575">
            <a:solidFill>
              <a:srgbClr val="2A5D8A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8143875" y="3015555"/>
            <a:ext cx="3176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睡眠与神经恢复</a:t>
            </a:r>
            <a:endParaRPr lang="en-US" sz="1125" dirty="0"/>
          </a:p>
        </p:txBody>
      </p:sp>
      <p:sp>
        <p:nvSpPr>
          <p:cNvPr id="43" name="Text 36"/>
          <p:cNvSpPr/>
          <p:nvPr/>
        </p:nvSpPr>
        <p:spPr>
          <a:xfrm>
            <a:off x="8143875" y="3272730"/>
            <a:ext cx="317696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夜间 3 组前屈配合延长呼气，可提升入睡效率，间接改善生长激素分泌窗口。</a:t>
            </a:r>
            <a:endParaRPr lang="en-US" sz="975" dirty="0"/>
          </a:p>
        </p:txBody>
      </p:sp>
      <p:sp>
        <p:nvSpPr>
          <p:cNvPr id="44" name="Text 37"/>
          <p:cNvSpPr/>
          <p:nvPr/>
        </p:nvSpPr>
        <p:spPr>
          <a:xfrm>
            <a:off x="4381500" y="3954661"/>
            <a:ext cx="7048500" cy="1441996"/>
          </a:xfrm>
          <a:prstGeom prst="roundRect">
            <a:avLst>
              <a:gd name="adj" fmla="val 6605"/>
            </a:avLst>
          </a:prstGeom>
          <a:solidFill>
            <a:srgbClr val="0F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4591050" y="4126111"/>
            <a:ext cx="6761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教练行动原则</a:t>
            </a:r>
            <a:endParaRPr lang="en-US" sz="1200" dirty="0"/>
          </a:p>
        </p:txBody>
      </p:sp>
      <p:sp>
        <p:nvSpPr>
          <p:cNvPr id="46" name="Text 39"/>
          <p:cNvSpPr/>
          <p:nvPr/>
        </p:nvSpPr>
        <p:spPr>
          <a:xfrm>
            <a:off x="4591050" y="4430911"/>
            <a:ext cx="6761988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恢复 ≠ 拉伸强度，恢复 = 神经系统切换 + 组织循环促进。</a:t>
            </a:r>
            <a:endParaRPr lang="en-US" sz="1050" dirty="0"/>
          </a:p>
        </p:txBody>
      </p:sp>
      <p:sp>
        <p:nvSpPr>
          <p:cNvPr id="47" name="Text 40"/>
          <p:cNvSpPr/>
          <p:nvPr/>
        </p:nvSpPr>
        <p:spPr>
          <a:xfrm>
            <a:off x="4591050" y="4714726"/>
            <a:ext cx="6761988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1ED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训练后前屈式的目标不是「更深」，而是「更慢」—— 让呼吸把身体带进放松状态，避免高强度牵拉触发保护性紧张。</a:t>
            </a:r>
            <a:endParaRPr lang="en-US" sz="1050" dirty="0"/>
          </a:p>
        </p:txBody>
      </p:sp>
      <p:sp>
        <p:nvSpPr>
          <p:cNvPr id="48" name="Text 41"/>
          <p:cNvSpPr/>
          <p:nvPr/>
        </p:nvSpPr>
        <p:spPr>
          <a:xfrm>
            <a:off x="4381500" y="5530007"/>
            <a:ext cx="2260550" cy="61719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2"/>
          <p:cNvSpPr/>
          <p:nvPr/>
        </p:nvSpPr>
        <p:spPr>
          <a:xfrm>
            <a:off x="4400550" y="5644307"/>
            <a:ext cx="0" cy="388590"/>
          </a:xfrm>
          <a:prstGeom prst="line">
            <a:avLst/>
          </a:prstGeom>
          <a:noFill/>
          <a:ln w="38100">
            <a:solidFill>
              <a:srgbClr val="2A8A66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4552950" y="5644307"/>
            <a:ext cx="19948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↓ 35%</a:t>
            </a:r>
            <a:endParaRPr lang="en-US" sz="1800" dirty="0"/>
          </a:p>
        </p:txBody>
      </p:sp>
      <p:sp>
        <p:nvSpPr>
          <p:cNvPr id="51" name="Text 44"/>
          <p:cNvSpPr/>
          <p:nvPr/>
        </p:nvSpPr>
        <p:spPr>
          <a:xfrm>
            <a:off x="4552950" y="5872907"/>
            <a:ext cx="19948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主观肌肉酸痛 (训练后 24h)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6775400" y="5530007"/>
            <a:ext cx="2260550" cy="61719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46"/>
          <p:cNvSpPr/>
          <p:nvPr/>
        </p:nvSpPr>
        <p:spPr>
          <a:xfrm>
            <a:off x="6794450" y="5644307"/>
            <a:ext cx="0" cy="388590"/>
          </a:xfrm>
          <a:prstGeom prst="line">
            <a:avLst/>
          </a:prstGeom>
          <a:noFill/>
          <a:ln w="38100">
            <a:solidFill>
              <a:srgbClr val="2A8A66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6946850" y="5644307"/>
            <a:ext cx="19948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↑ 12%</a:t>
            </a:r>
            <a:endParaRPr lang="en-US" sz="1800" dirty="0"/>
          </a:p>
        </p:txBody>
      </p:sp>
      <p:sp>
        <p:nvSpPr>
          <p:cNvPr id="55" name="Text 48"/>
          <p:cNvSpPr/>
          <p:nvPr/>
        </p:nvSpPr>
        <p:spPr>
          <a:xfrm>
            <a:off x="6946850" y="5872907"/>
            <a:ext cx="19948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下节训练课动作质量评分</a:t>
            </a:r>
            <a:endParaRPr lang="en-US" sz="900" dirty="0"/>
          </a:p>
        </p:txBody>
      </p:sp>
      <p:sp>
        <p:nvSpPr>
          <p:cNvPr id="56" name="Text 49"/>
          <p:cNvSpPr/>
          <p:nvPr/>
        </p:nvSpPr>
        <p:spPr>
          <a:xfrm>
            <a:off x="9169301" y="5530007"/>
            <a:ext cx="2260550" cy="61719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f3a2e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0"/>
          <p:cNvSpPr/>
          <p:nvPr/>
        </p:nvSpPr>
        <p:spPr>
          <a:xfrm>
            <a:off x="9188351" y="5644307"/>
            <a:ext cx="0" cy="388590"/>
          </a:xfrm>
          <a:prstGeom prst="line">
            <a:avLst/>
          </a:prstGeom>
          <a:noFill/>
          <a:ln w="38100">
            <a:solidFill>
              <a:srgbClr val="2A8A66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9340751" y="5644307"/>
            <a:ext cx="19948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3 周</a:t>
            </a:r>
            <a:endParaRPr lang="en-US" sz="1800" dirty="0"/>
          </a:p>
        </p:txBody>
      </p:sp>
      <p:sp>
        <p:nvSpPr>
          <p:cNvPr id="59" name="Text 52"/>
          <p:cNvSpPr/>
          <p:nvPr/>
        </p:nvSpPr>
        <p:spPr>
          <a:xfrm>
            <a:off x="9340751" y="5872907"/>
            <a:ext cx="19948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出现可感知恢复改善的周期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1554956" cy="295275"/>
          </a:xfrm>
          <a:prstGeom prst="roundRect">
            <a:avLst>
              <a:gd name="adj" fmla="val 12903"/>
            </a:avLst>
          </a:prstGeom>
          <a:solidFill>
            <a:srgbClr val="1C6B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76300" y="590550"/>
            <a:ext cx="13528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· 修改与变体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762000" y="942975"/>
            <a:ext cx="1088136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285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不同水平运动员的修改与变体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62000" y="150495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同一个体式，三种剂量 —— 让初学者安全进入，让进阶者持续进阶，让高水平运动员获得专项收益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1714500"/>
            <a:ext cx="3416201" cy="4381500"/>
          </a:xfrm>
          <a:prstGeom prst="roundRect">
            <a:avLst>
              <a:gd name="adj" fmla="val 33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57150" dir="5400000">
              <a:srgbClr val="0f3a2e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71550" y="1743075"/>
            <a:ext cx="2997101" cy="0"/>
          </a:xfrm>
          <a:prstGeom prst="line">
            <a:avLst/>
          </a:prstGeom>
          <a:noFill/>
          <a:ln w="57150">
            <a:solidFill>
              <a:srgbClr val="6FB9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1550" y="1981200"/>
            <a:ext cx="1365200" cy="238125"/>
          </a:xfrm>
          <a:prstGeom prst="roundRect">
            <a:avLst>
              <a:gd name="adj" fmla="val 12000"/>
            </a:avLst>
          </a:prstGeom>
          <a:solidFill>
            <a:srgbClr val="6FB9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66800" y="2019300"/>
            <a:ext cx="11981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LEVEL 1 · 初级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71550" y="2314575"/>
            <a:ext cx="30570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屈膝 + 辅具版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71550" y="2657475"/>
            <a:ext cx="30570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975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适用：柔韧基础薄弱、腰背紧、伤后回归运动员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971550" y="2971800"/>
            <a:ext cx="30570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C6B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动作要点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971550" y="3228975"/>
            <a:ext cx="2997101" cy="96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609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坐骨下方垫瑜伽砖或折叠毯</a:t>
            </a:r>
            <a:endParaRPr lang="en-US" sz="975" dirty="0"/>
          </a:p>
          <a:p>
            <a:pPr algn="l" marL="171450" indent="-171450">
              <a:lnSpc>
                <a:spcPts val="1609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双膝微屈，小腿肌肉放松</a:t>
            </a:r>
            <a:endParaRPr lang="en-US" sz="975" dirty="0"/>
          </a:p>
          <a:p>
            <a:pPr algn="l" marL="171450" indent="-171450">
              <a:lnSpc>
                <a:spcPts val="1609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用瑜伽带套在脚掌，双手握带而非抓脚</a:t>
            </a:r>
            <a:endParaRPr lang="en-US" sz="975" dirty="0"/>
          </a:p>
          <a:p>
            <a:pPr algn="l" marL="171450" indent="-171450">
              <a:lnSpc>
                <a:spcPts val="1609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脊柱始终延展，避免圆背代偿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971550" y="4312444"/>
            <a:ext cx="30570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C6B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剂量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971550" y="4569619"/>
            <a:ext cx="2997101" cy="242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609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组 × 5 个呼吸，每周 2–3 次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971550" y="5341739"/>
            <a:ext cx="2997101" cy="544711"/>
          </a:xfrm>
          <a:prstGeom prst="roundRect">
            <a:avLst>
              <a:gd name="adj" fmla="val 6995"/>
            </a:avLst>
          </a:prstGeom>
          <a:solidFill>
            <a:srgbClr val="F6F4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985838" y="5436989"/>
            <a:ext cx="0" cy="354211"/>
          </a:xfrm>
          <a:prstGeom prst="line">
            <a:avLst/>
          </a:prstGeom>
          <a:noFill/>
          <a:ln w="28575">
            <a:solidFill>
              <a:srgbClr val="1C6B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4425" y="5436989"/>
            <a:ext cx="2794724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教练关注：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先用「坐骨抬高 + 屈膝」建立髋屈模式，再逐步伸直膝盖。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7751" y="1714500"/>
            <a:ext cx="3416350" cy="4381500"/>
          </a:xfrm>
          <a:prstGeom prst="roundRect">
            <a:avLst>
              <a:gd name="adj" fmla="val 33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57150" dir="5400000">
              <a:srgbClr val="0f3a2e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597301" y="1743075"/>
            <a:ext cx="2997250" cy="0"/>
          </a:xfrm>
          <a:prstGeom prst="line">
            <a:avLst/>
          </a:prstGeom>
          <a:noFill/>
          <a:ln w="57150">
            <a:solidFill>
              <a:srgbClr val="D4A2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7301" y="1981200"/>
            <a:ext cx="1365200" cy="238125"/>
          </a:xfrm>
          <a:prstGeom prst="roundRect">
            <a:avLst>
              <a:gd name="adj" fmla="val 12000"/>
            </a:avLst>
          </a:prstGeom>
          <a:solidFill>
            <a:srgbClr val="D4A2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92551" y="2019300"/>
            <a:ext cx="11981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LEVEL 2 · 中级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97301" y="2314575"/>
            <a:ext cx="305719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标准 + 抱枕版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4597301" y="2657475"/>
            <a:ext cx="30571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975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适用：已掌握基础呼吸节奏，开始追求幅度进阶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597301" y="2971800"/>
            <a:ext cx="30571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C6B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动作要点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4597301" y="3228975"/>
            <a:ext cx="2997250" cy="96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609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双腿伸直，脚尖自然回勾</a:t>
            </a:r>
            <a:endParaRPr lang="en-US" sz="975" dirty="0"/>
          </a:p>
          <a:p>
            <a:pPr algn="l" marL="171450" indent="-171450">
              <a:lnSpc>
                <a:spcPts val="1609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大腿下方可放抱枕降低难度</a:t>
            </a:r>
            <a:endParaRPr lang="en-US" sz="975" dirty="0"/>
          </a:p>
          <a:p>
            <a:pPr algn="l" marL="171450" indent="-171450">
              <a:lnSpc>
                <a:spcPts val="1609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手抓小腿或脚，前额不刻意贴腿</a:t>
            </a:r>
            <a:endParaRPr lang="en-US" sz="975" dirty="0"/>
          </a:p>
          <a:p>
            <a:pPr algn="l" marL="171450" indent="-171450">
              <a:lnSpc>
                <a:spcPts val="1609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呼气进入更深幅度，吸气延展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597301" y="4312444"/>
            <a:ext cx="30571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C6B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剂量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4597301" y="4569619"/>
            <a:ext cx="2997250" cy="242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609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组 × 6–8 个呼吸，每周 3 次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4597301" y="5341739"/>
            <a:ext cx="2997250" cy="544711"/>
          </a:xfrm>
          <a:prstGeom prst="roundRect">
            <a:avLst>
              <a:gd name="adj" fmla="val 6995"/>
            </a:avLst>
          </a:prstGeom>
          <a:solidFill>
            <a:srgbClr val="F6F4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11588" y="5436989"/>
            <a:ext cx="0" cy="354211"/>
          </a:xfrm>
          <a:prstGeom prst="line">
            <a:avLst/>
          </a:prstGeom>
          <a:noFill/>
          <a:ln w="28575">
            <a:solidFill>
              <a:srgbClr val="1C6B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40176" y="5436989"/>
            <a:ext cx="279487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教练关注：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关注髋屈深度而非头部位置；每一组尝试在呼气末停留 2 秒。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13650" y="1714500"/>
            <a:ext cx="3416201" cy="4381500"/>
          </a:xfrm>
          <a:prstGeom prst="roundRect">
            <a:avLst>
              <a:gd name="adj" fmla="val 33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57150" dir="5400000">
              <a:srgbClr val="0f3a2e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8223200" y="1743075"/>
            <a:ext cx="2997101" cy="0"/>
          </a:xfrm>
          <a:prstGeom prst="line">
            <a:avLst/>
          </a:prstGeom>
          <a:noFill/>
          <a:ln w="57150">
            <a:solidFill>
              <a:srgbClr val="2A5D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3200" y="1981200"/>
            <a:ext cx="1365200" cy="238125"/>
          </a:xfrm>
          <a:prstGeom prst="roundRect">
            <a:avLst>
              <a:gd name="adj" fmla="val 12000"/>
            </a:avLst>
          </a:prstGeom>
          <a:solidFill>
            <a:srgbClr val="2A5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318450" y="2019300"/>
            <a:ext cx="11981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LEVEL 3 · 高级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3200" y="2314575"/>
            <a:ext cx="30570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完整版 + 专项变体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8223200" y="2657475"/>
            <a:ext cx="30570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975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适用：高水平运动员、柔韧较好、追求专项迁移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8223200" y="2971800"/>
            <a:ext cx="30570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C6B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动作要点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8223200" y="3228975"/>
            <a:ext cx="2997101" cy="96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609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腹部贴大腿，手抓脚腕或手腕超越</a:t>
            </a:r>
            <a:endParaRPr lang="en-US" sz="975" dirty="0"/>
          </a:p>
          <a:p>
            <a:pPr algn="l" marL="171450" indent="-171450">
              <a:lnSpc>
                <a:spcPts val="1609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分腿前屈 (Upavistha Konasana) 作为变体</a:t>
            </a:r>
            <a:endParaRPr lang="en-US" sz="975" dirty="0"/>
          </a:p>
          <a:p>
            <a:pPr algn="l" marL="171450" indent="-171450">
              <a:lnSpc>
                <a:spcPts val="1609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可加入扭转版，强化胸椎活动度</a:t>
            </a:r>
            <a:endParaRPr lang="en-US" sz="975" dirty="0"/>
          </a:p>
          <a:p>
            <a:pPr algn="l" marL="171450" indent="-171450">
              <a:lnSpc>
                <a:spcPts val="1609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 1–2 分钟，进入阴瑜伽式停留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8223200" y="4312444"/>
            <a:ext cx="30570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C6B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剂量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8223200" y="4569619"/>
            <a:ext cx="2997101" cy="242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609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组 × 10–12 个呼吸，或 1 组 × 2 分钟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8223200" y="5341739"/>
            <a:ext cx="2997101" cy="544711"/>
          </a:xfrm>
          <a:prstGeom prst="roundRect">
            <a:avLst>
              <a:gd name="adj" fmla="val 6995"/>
            </a:avLst>
          </a:prstGeom>
          <a:solidFill>
            <a:srgbClr val="F6F4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8237488" y="5436989"/>
            <a:ext cx="0" cy="354211"/>
          </a:xfrm>
          <a:prstGeom prst="line">
            <a:avLst/>
          </a:prstGeom>
          <a:noFill/>
          <a:ln w="28575">
            <a:solidFill>
              <a:srgbClr val="1C6B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66075" y="5436989"/>
            <a:ext cx="2794724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教练关注：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高级不等于更深，而是「更慢、更稳、更可重复」—— 避免在大赛前 48 小时做深度变体。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2011263" cy="295275"/>
          </a:xfrm>
          <a:prstGeom prst="roundRect">
            <a:avLst>
              <a:gd name="adj" fmla="val 12903"/>
            </a:avLst>
          </a:prstGeom>
          <a:solidFill>
            <a:srgbClr val="B880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76300" y="590550"/>
            <a:ext cx="18183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· 训练融入 · 热身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762000" y="942975"/>
            <a:ext cx="528583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2850" b="1" dirty="0">
                <a:solidFill>
                  <a:srgbClr val="2A1C0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热身环节：动态前屈唤醒后侧链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762000" y="1504950"/>
            <a:ext cx="52858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45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在专项热身中段加入动态版坐姿前屈，用「呼吸 + 控制」打开髋屈与脊柱节段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32407" y="1333500"/>
            <a:ext cx="15975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5C45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WARM-UP INTEGRATION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9832407" y="1552575"/>
            <a:ext cx="15975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300"/>
              </a:spcBef>
              <a:buNone/>
            </a:pPr>
            <a:r>
              <a:rPr lang="en-US" sz="975" dirty="0">
                <a:solidFill>
                  <a:srgbClr val="5C45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建议时段：训练前 8–15 分钟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62000" y="2038350"/>
            <a:ext cx="108813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B880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动态前屈热身序列（共 4–6 分钟）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2343150"/>
            <a:ext cx="2442567" cy="1217116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78500a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95350" y="2209800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B880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03399" y="2264122"/>
            <a:ext cx="71045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2C3A3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95350" y="2571750"/>
            <a:ext cx="22193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A1C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猫牛式唤醒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95350" y="2800350"/>
            <a:ext cx="2219385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8A6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8–10 次 · 1 分钟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95350" y="3053655"/>
            <a:ext cx="221938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四足位脊柱波动，激活椎间节段活动，为前屈做脊柱准备。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8867" y="2799308"/>
            <a:ext cx="7210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8801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›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503861" y="2343150"/>
            <a:ext cx="2442567" cy="1217116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78500a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37211" y="2209800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B880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45260" y="2264122"/>
            <a:ext cx="71045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2C3A3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37211" y="2571750"/>
            <a:ext cx="22193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A1C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坐姿动态前屈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37211" y="2800350"/>
            <a:ext cx="2219385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8A6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 次 · 1.5 分钟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37211" y="3053655"/>
            <a:ext cx="221938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吸气延展、呼气折叠 60%，吸气返回，逐次加深 5%。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60728" y="2799308"/>
            <a:ext cx="7210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8801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›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245721" y="2343150"/>
            <a:ext cx="2442567" cy="1217116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78500a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79071" y="2209800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B880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87120" y="2264122"/>
            <a:ext cx="71045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2C3A3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79071" y="2571750"/>
            <a:ext cx="22193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A1C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分腿前屈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79071" y="2800350"/>
            <a:ext cx="2219385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8A6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次 · 1.5 分钟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79071" y="3053655"/>
            <a:ext cx="221938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双腿分开 90°，向前折叠，打开内收肌与腘绳肌外侧。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802588" y="2799308"/>
            <a:ext cx="7210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8801F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›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8987582" y="2343150"/>
            <a:ext cx="2442567" cy="1217116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38100" dir="5400000">
              <a:srgbClr val="78500a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120932" y="2209800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B880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228981" y="2264122"/>
            <a:ext cx="71045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2C3A34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20932" y="2571750"/>
            <a:ext cx="22193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A1C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站立前屈过渡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120932" y="2800350"/>
            <a:ext cx="2219385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8A6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次 · 1 分钟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20932" y="3053655"/>
            <a:ext cx="221938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从站立前屈起，卷起脊柱回到站立，整合核心与脊柱控制。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2000" y="5120729"/>
            <a:ext cx="10668000" cy="1165771"/>
          </a:xfrm>
          <a:prstGeom prst="roundRect">
            <a:avLst>
              <a:gd name="adj" fmla="val 9805"/>
            </a:avLst>
          </a:prstGeom>
          <a:solidFill>
            <a:srgbClr val="2A1C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71550" y="5292179"/>
            <a:ext cx="33421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为什么放在热身中段？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971550" y="5549354"/>
            <a:ext cx="3342132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1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 3–5 分钟已经完成慢跑或动态关节操，体温与心率上升，肌肉具备延展性；此时做前屈既安全又有效。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4457700" y="5292179"/>
            <a:ext cx="33421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 ≠ 弹震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4457700" y="5549354"/>
            <a:ext cx="3342132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F1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热身阶段的前屈是「控制中的动态」，每次加深不超过 5%，避免触发牵张反射导致肌肉保护性紧张。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7943850" y="5292179"/>
            <a:ext cx="33421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教练清单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7943850" y="5549354"/>
            <a:ext cx="3276600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ts val="1485"/>
              </a:lnSpc>
              <a:buSzPct val="100000"/>
              <a:buChar char="•"/>
            </a:pPr>
            <a:r>
              <a:rPr lang="en-US" sz="900" dirty="0">
                <a:solidFill>
                  <a:srgbClr val="F1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热身前屈 4–6 分钟即可，不追求幅度</a:t>
            </a:r>
            <a:endParaRPr lang="en-US" sz="900" dirty="0"/>
          </a:p>
          <a:p>
            <a:pPr algn="l" marL="152400" indent="-152400">
              <a:lnSpc>
                <a:spcPts val="1485"/>
              </a:lnSpc>
              <a:buSzPct val="100000"/>
              <a:buChar char="•"/>
            </a:pPr>
            <a:r>
              <a:rPr lang="en-US" sz="900" dirty="0">
                <a:solidFill>
                  <a:srgbClr val="F1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呼吸 4 吸 – 6 呼，建立节律</a:t>
            </a:r>
            <a:endParaRPr lang="en-US" sz="900" dirty="0"/>
          </a:p>
          <a:p>
            <a:pPr algn="l" marL="152400" indent="-152400">
              <a:lnSpc>
                <a:spcPts val="1485"/>
              </a:lnSpc>
              <a:buSzPct val="100000"/>
              <a:buChar char="•"/>
            </a:pPr>
            <a:r>
              <a:rPr lang="en-US" sz="900" dirty="0">
                <a:solidFill>
                  <a:srgbClr val="F1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结束后过渡到专项动作准备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33400"/>
            <a:ext cx="2831009" cy="295275"/>
          </a:xfrm>
          <a:prstGeom prst="roundRect">
            <a:avLst>
              <a:gd name="adj" fmla="val 12903"/>
            </a:avLst>
          </a:prstGeom>
          <a:solidFill>
            <a:srgbClr val="2A5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76300" y="590550"/>
            <a:ext cx="26544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· 训练融入 · 冷身/恢复/力量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762000" y="942975"/>
            <a:ext cx="1088136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冷身 · 主动恢复 · 力量训练结合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62000" y="1476375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把坐姿前屈式当作「切换开关」，在不同训练节点发挥不同功能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1714500"/>
            <a:ext cx="3429000" cy="4610100"/>
          </a:xfrm>
          <a:prstGeom prst="roundRect">
            <a:avLst>
              <a:gd name="adj" fmla="val 3333"/>
            </a:avLst>
          </a:prstGeom>
          <a:solidFill>
            <a:srgbClr val="F6F4EE"/>
          </a:solidFill>
          <a:ln/>
          <a:effectLst>
            <a:outerShdw sx="100000" sy="100000" kx="0" ky="0" algn="bl" rotWithShape="0" blurRad="95250" dist="38100" dir="5400000">
              <a:srgbClr val="0f3a2e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52500" y="1738313"/>
            <a:ext cx="3048000" cy="0"/>
          </a:xfrm>
          <a:prstGeom prst="line">
            <a:avLst/>
          </a:prstGeom>
          <a:noFill/>
          <a:ln w="47625">
            <a:solidFill>
              <a:srgbClr val="2A8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" y="1952625"/>
            <a:ext cx="3108960" cy="17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825" b="1" dirty="0">
                <a:solidFill>
                  <a:srgbClr val="2A8A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· COOL-DOWN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952500" y="2163514"/>
            <a:ext cx="31089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冷身环节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952500" y="2496889"/>
            <a:ext cx="310896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训练结束后 5–10 分钟 · 强度低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52500" y="2799755"/>
            <a:ext cx="3108960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9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目标：让神经系统从交感主导切换到副交感主导，加速代谢清理。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952500" y="3303389"/>
            <a:ext cx="3048000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609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组 × 8 个呼吸，每组加深 5%</a:t>
            </a:r>
            <a:endParaRPr lang="en-US" sz="975" dirty="0"/>
          </a:p>
          <a:p>
            <a:pPr algn="l" marL="171450" indent="-171450">
              <a:lnSpc>
                <a:spcPts val="1609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呼气延长至 6–8 秒</a:t>
            </a:r>
            <a:endParaRPr lang="en-US" sz="975" dirty="0"/>
          </a:p>
          <a:p>
            <a:pPr algn="l" marL="171450" indent="-171450">
              <a:lnSpc>
                <a:spcPts val="1609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闭眼，关注腹部起伏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952500" y="4096941"/>
            <a:ext cx="3108960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9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避免在冷身中追求极限幅度——目标是「关闭」训练状态，而不是再次拉高张力。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952500" y="5739408"/>
            <a:ext cx="3048000" cy="394692"/>
          </a:xfrm>
          <a:prstGeom prst="roundRect">
            <a:avLst>
              <a:gd name="adj" fmla="val 1448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66788" y="5834658"/>
            <a:ext cx="0" cy="204192"/>
          </a:xfrm>
          <a:prstGeom prst="line">
            <a:avLst/>
          </a:prstGeom>
          <a:noFill/>
          <a:ln w="28575">
            <a:solidFill>
              <a:srgbClr val="1C6B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5375" y="5834658"/>
            <a:ext cx="2846642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975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剂量：</a:t>
            </a:r>
            <a:pPr algn="l" indent="0" marL="0">
              <a:lnSpc>
                <a:spcPts val="1609"/>
              </a:lnSpc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每周 3–5 次，每次训练后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381500" y="1714500"/>
            <a:ext cx="3429000" cy="4610100"/>
          </a:xfrm>
          <a:prstGeom prst="roundRect">
            <a:avLst>
              <a:gd name="adj" fmla="val 3333"/>
            </a:avLst>
          </a:prstGeom>
          <a:solidFill>
            <a:srgbClr val="F6F4EE"/>
          </a:solidFill>
          <a:ln/>
          <a:effectLst>
            <a:outerShdw sx="100000" sy="100000" kx="0" ky="0" algn="bl" rotWithShape="0" blurRad="95250" dist="38100" dir="5400000">
              <a:srgbClr val="0f3a2e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72000" y="1738313"/>
            <a:ext cx="3048000" cy="0"/>
          </a:xfrm>
          <a:prstGeom prst="line">
            <a:avLst/>
          </a:prstGeom>
          <a:noFill/>
          <a:ln w="47625">
            <a:solidFill>
              <a:srgbClr val="2A5D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952625"/>
            <a:ext cx="3108960" cy="17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825" b="1" dirty="0">
                <a:solidFill>
                  <a:srgbClr val="2A5D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· ACTIVE RECOVERY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572000" y="2163514"/>
            <a:ext cx="31089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主动恢复日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4572000" y="2496889"/>
            <a:ext cx="310896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非训练日或低负荷日 · 强度低-中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2799755"/>
            <a:ext cx="3108960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9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目标：以低负荷拉伸促进血液循环、筋膜滑动与情绪平复。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572000" y="3303389"/>
            <a:ext cx="3048000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609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4–5 组 × 10 个呼吸</a:t>
            </a:r>
            <a:endParaRPr lang="en-US" sz="975" dirty="0"/>
          </a:p>
          <a:p>
            <a:pPr algn="l" marL="171450" indent="-171450">
              <a:lnSpc>
                <a:spcPts val="1609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组间 30–60 秒，可加入扭转</a:t>
            </a:r>
            <a:endParaRPr lang="en-US" sz="975" dirty="0"/>
          </a:p>
          <a:p>
            <a:pPr algn="l" marL="171450" indent="-171450">
              <a:lnSpc>
                <a:spcPts val="1609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结合卧束角式、仰卧扭转形成序列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572000" y="4096941"/>
            <a:ext cx="3108960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9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主动恢复日是改善幅度最快的窗口——身体在没有训练压力下更愿意接受延展。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572000" y="5739408"/>
            <a:ext cx="3048000" cy="394692"/>
          </a:xfrm>
          <a:prstGeom prst="roundRect">
            <a:avLst>
              <a:gd name="adj" fmla="val 1448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586288" y="5834658"/>
            <a:ext cx="0" cy="204192"/>
          </a:xfrm>
          <a:prstGeom prst="line">
            <a:avLst/>
          </a:prstGeom>
          <a:noFill/>
          <a:ln w="28575">
            <a:solidFill>
              <a:srgbClr val="1C6B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4875" y="5834658"/>
            <a:ext cx="2846642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975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剂量：</a:t>
            </a:r>
            <a:pPr algn="l" indent="0" marL="0">
              <a:lnSpc>
                <a:spcPts val="1609"/>
              </a:lnSpc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每周 1–2 次，每次 15–20 分钟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8001000" y="1714500"/>
            <a:ext cx="3429000" cy="4610100"/>
          </a:xfrm>
          <a:prstGeom prst="roundRect">
            <a:avLst>
              <a:gd name="adj" fmla="val 3333"/>
            </a:avLst>
          </a:prstGeom>
          <a:solidFill>
            <a:srgbClr val="F6F4EE"/>
          </a:solidFill>
          <a:ln/>
          <a:effectLst>
            <a:outerShdw sx="100000" sy="100000" kx="0" ky="0" algn="bl" rotWithShape="0" blurRad="95250" dist="38100" dir="5400000">
              <a:srgbClr val="0f3a2e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8191500" y="1738313"/>
            <a:ext cx="3048000" cy="0"/>
          </a:xfrm>
          <a:prstGeom prst="line">
            <a:avLst/>
          </a:prstGeom>
          <a:noFill/>
          <a:ln w="47625">
            <a:solidFill>
              <a:srgbClr val="B880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91500" y="1952625"/>
            <a:ext cx="3108960" cy="17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825" b="1" dirty="0">
                <a:solidFill>
                  <a:srgbClr val="B880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· STRENGTH PAIRING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8191500" y="2163514"/>
            <a:ext cx="31089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425" b="1" dirty="0">
                <a:solidFill>
                  <a:srgbClr val="0F3A2E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力量训练结合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8191500" y="2496889"/>
            <a:ext cx="3108960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5D6B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力量组间或单侧训练后 · 强度中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91500" y="2799755"/>
            <a:ext cx="3108960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9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目标：在力量训练后立即拉伸对应肌群，维持关节活动度，对抗「力量带来的僵硬」。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8191500" y="3303389"/>
            <a:ext cx="3048000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609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硬拉 / 罗马尼亚硬拉后 → 坐姿前屈 6 个呼吸</a:t>
            </a:r>
            <a:endParaRPr lang="en-US" sz="975" dirty="0"/>
          </a:p>
          <a:p>
            <a:pPr algn="l" marL="171450" indent="-171450">
              <a:lnSpc>
                <a:spcPts val="1609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深蹲组后 → 分腿前屈 5 个呼吸</a:t>
            </a:r>
            <a:endParaRPr lang="en-US" sz="975" dirty="0"/>
          </a:p>
          <a:p>
            <a:pPr algn="l" marL="171450" indent="-171450">
              <a:lnSpc>
                <a:spcPts val="1609"/>
              </a:lnSpc>
              <a:spcAft>
                <a:spcPts val="225"/>
              </a:spcAft>
              <a:buSzPct val="100000"/>
              <a:buChar char="•"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核心训练后 → 加扭转版前屈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8191500" y="4096941"/>
            <a:ext cx="3108960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9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组间拉伸不影响力量输出，反而能保持下一次动作的活动范围。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8191500" y="5739408"/>
            <a:ext cx="3048000" cy="394692"/>
          </a:xfrm>
          <a:prstGeom prst="roundRect">
            <a:avLst>
              <a:gd name="adj" fmla="val 1448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8205788" y="5834658"/>
            <a:ext cx="0" cy="204192"/>
          </a:xfrm>
          <a:prstGeom prst="line">
            <a:avLst/>
          </a:prstGeom>
          <a:noFill/>
          <a:ln w="28575">
            <a:solidFill>
              <a:srgbClr val="1C6B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34375" y="5834658"/>
            <a:ext cx="2846642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975" b="1" dirty="0">
                <a:solidFill>
                  <a:srgbClr val="0F3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剂量：</a:t>
            </a:r>
            <a:pPr algn="l" indent="0" marL="0">
              <a:lnSpc>
                <a:spcPts val="1609"/>
              </a:lnSpc>
              <a:buNone/>
            </a:pPr>
            <a:r>
              <a:rPr lang="en-US" sz="975" dirty="0">
                <a:solidFill>
                  <a:srgbClr val="2C3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每次力量课 2–3 个微段落，每段 30–45 秒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0" y="0"/>
            <a:ext cx="2667000" cy="2667000"/>
          </a:xfrm>
          <a:prstGeom prst="roundRect">
            <a:avLst>
              <a:gd name="adj" fmla="val 3428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143500"/>
            <a:ext cx="1714500" cy="1714500"/>
          </a:xfrm>
          <a:prstGeom prst="roundRect">
            <a:avLst>
              <a:gd name="adj" fmla="val 5333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533400"/>
            <a:ext cx="1722090" cy="295275"/>
          </a:xfrm>
          <a:prstGeom prst="roundRect">
            <a:avLst>
              <a:gd name="adj" fmla="val 12903"/>
            </a:avLst>
          </a:prstGeom>
          <a:solidFill>
            <a:srgbClr val="FFD9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6300" y="590550"/>
            <a:ext cx="15233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1C0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09 · 教练行动清单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762000" y="942975"/>
            <a:ext cx="1088136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2850" b="1" dirty="0">
                <a:solidFill>
                  <a:srgbClr val="FFF7E0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把坐姿前屈式变成队伍的「每周常规」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762000" y="150495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FE9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从本周开始，用 4 周时间把它打磨成稳定、可量化、可复制的训练习惯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1714500"/>
            <a:ext cx="6067425" cy="1193304"/>
          </a:xfrm>
          <a:prstGeom prst="roundRect">
            <a:avLst>
              <a:gd name="adj" fmla="val 798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81050" y="1866900"/>
            <a:ext cx="0" cy="888504"/>
          </a:xfrm>
          <a:prstGeom prst="line">
            <a:avLst/>
          </a:prstGeom>
          <a:noFill/>
          <a:ln w="38100">
            <a:solidFill>
              <a:srgbClr val="FFD9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1550" y="1866900"/>
            <a:ext cx="58001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1 周 · 建立基线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71550" y="2124075"/>
            <a:ext cx="5686425" cy="631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658"/>
              </a:lnSpc>
              <a:buSzPct val="100000"/>
              <a:buChar char="•"/>
            </a:pPr>
            <a:r>
              <a:rPr lang="en-US" sz="975" dirty="0">
                <a:solidFill>
                  <a:srgbClr val="F1ED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为每位运动员测试立位体前屈与坐位体前屈基线值</a:t>
            </a:r>
            <a:endParaRPr lang="en-US" sz="975" dirty="0"/>
          </a:p>
          <a:p>
            <a:pPr algn="l" marL="171450" indent="-171450">
              <a:lnSpc>
                <a:spcPts val="1658"/>
              </a:lnSpc>
              <a:buSzPct val="100000"/>
              <a:buChar char="•"/>
            </a:pPr>
            <a:r>
              <a:rPr lang="en-US" sz="975" dirty="0">
                <a:solidFill>
                  <a:srgbClr val="F1ED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在冷身中加入 3 组 × 5 个呼吸的标准版</a:t>
            </a:r>
            <a:endParaRPr lang="en-US" sz="975" dirty="0"/>
          </a:p>
          <a:p>
            <a:pPr algn="l" marL="171450" indent="-171450">
              <a:lnSpc>
                <a:spcPts val="1658"/>
              </a:lnSpc>
              <a:buSzPct val="100000"/>
              <a:buChar char="•"/>
            </a:pPr>
            <a:r>
              <a:rPr lang="en-US" sz="975" dirty="0">
                <a:solidFill>
                  <a:srgbClr val="F1ED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记录呼吸节奏、幅度感受、不适部位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62000" y="3022104"/>
            <a:ext cx="6067425" cy="1193304"/>
          </a:xfrm>
          <a:prstGeom prst="roundRect">
            <a:avLst>
              <a:gd name="adj" fmla="val 798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81050" y="3174504"/>
            <a:ext cx="0" cy="888504"/>
          </a:xfrm>
          <a:prstGeom prst="line">
            <a:avLst/>
          </a:prstGeom>
          <a:noFill/>
          <a:ln w="38100">
            <a:solidFill>
              <a:srgbClr val="FFD9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1550" y="3174504"/>
            <a:ext cx="58001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2 周 · 分组进阶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971550" y="3431679"/>
            <a:ext cx="5686425" cy="631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658"/>
              </a:lnSpc>
              <a:buSzPct val="100000"/>
              <a:buChar char="•"/>
            </a:pPr>
            <a:r>
              <a:rPr lang="en-US" sz="975" dirty="0">
                <a:solidFill>
                  <a:srgbClr val="F1ED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按柔韧水平分为初/中/高三组，对应不同变体</a:t>
            </a:r>
            <a:endParaRPr lang="en-US" sz="975" dirty="0"/>
          </a:p>
          <a:p>
            <a:pPr algn="l" marL="171450" indent="-171450">
              <a:lnSpc>
                <a:spcPts val="1658"/>
              </a:lnSpc>
              <a:buSzPct val="100000"/>
              <a:buChar char="•"/>
            </a:pPr>
            <a:r>
              <a:rPr lang="en-US" sz="975" dirty="0">
                <a:solidFill>
                  <a:srgbClr val="F1ED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力量训练后加入对应专项结合版（硬拉后/深蹲后）</a:t>
            </a:r>
            <a:endParaRPr lang="en-US" sz="975" dirty="0"/>
          </a:p>
          <a:p>
            <a:pPr algn="l" marL="171450" indent="-171450">
              <a:lnSpc>
                <a:spcPts val="1658"/>
              </a:lnSpc>
              <a:buSzPct val="100000"/>
              <a:buChar char="•"/>
            </a:pPr>
            <a:r>
              <a:rPr lang="en-US" sz="975" dirty="0">
                <a:solidFill>
                  <a:srgbClr val="F1ED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引入呼吸节奏统一：4 秒吸 – 6 秒呼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762000" y="4329708"/>
            <a:ext cx="6067425" cy="1193304"/>
          </a:xfrm>
          <a:prstGeom prst="roundRect">
            <a:avLst>
              <a:gd name="adj" fmla="val 798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81050" y="4482108"/>
            <a:ext cx="0" cy="888504"/>
          </a:xfrm>
          <a:prstGeom prst="line">
            <a:avLst/>
          </a:prstGeom>
          <a:noFill/>
          <a:ln w="38100">
            <a:solidFill>
              <a:srgbClr val="FFD9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1550" y="4482108"/>
            <a:ext cx="58001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3–4 周 · 量化与复盘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971550" y="4739283"/>
            <a:ext cx="5686425" cy="631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1450" indent="-171450">
              <a:lnSpc>
                <a:spcPts val="1658"/>
              </a:lnSpc>
              <a:buSzPct val="100000"/>
              <a:buChar char="•"/>
            </a:pPr>
            <a:r>
              <a:rPr lang="en-US" sz="975" dirty="0">
                <a:solidFill>
                  <a:srgbClr val="F1ED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复测体前屈，记录改善幅度（典型 3–6 cm）</a:t>
            </a:r>
            <a:endParaRPr lang="en-US" sz="975" dirty="0"/>
          </a:p>
          <a:p>
            <a:pPr algn="l" marL="171450" indent="-171450">
              <a:lnSpc>
                <a:spcPts val="1658"/>
              </a:lnSpc>
              <a:buSzPct val="100000"/>
              <a:buChar char="•"/>
            </a:pPr>
            <a:r>
              <a:rPr lang="en-US" sz="975" dirty="0">
                <a:solidFill>
                  <a:srgbClr val="F1ED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统计腘绳肌紧绷与轻度拉伤发生次数</a:t>
            </a:r>
            <a:endParaRPr lang="en-US" sz="975" dirty="0"/>
          </a:p>
          <a:p>
            <a:pPr algn="l" marL="171450" indent="-171450">
              <a:lnSpc>
                <a:spcPts val="1658"/>
              </a:lnSpc>
              <a:buSzPct val="100000"/>
              <a:buChar char="•"/>
            </a:pPr>
            <a:r>
              <a:rPr lang="en-US" sz="975" dirty="0">
                <a:solidFill>
                  <a:srgbClr val="F1ED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收集运动员主观恢复评分 (1–10)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7096125" y="1714500"/>
            <a:ext cx="4333875" cy="1194346"/>
          </a:xfrm>
          <a:prstGeom prst="roundRect">
            <a:avLst>
              <a:gd name="adj" fmla="val 957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D9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296150" y="1971675"/>
            <a:ext cx="4012501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教练寄语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96150" y="2242096"/>
            <a:ext cx="4012501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spcBef>
                <a:spcPts val="600"/>
              </a:spcBef>
              <a:buNone/>
            </a:pPr>
            <a:r>
              <a:rPr lang="en-US" sz="1125" dirty="0">
                <a:solidFill>
                  <a:srgbClr val="FFF7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「巅峰表现不来自更狠的训练，而来自更聪明的恢复。坐姿前屈式，就是我把恢复交给运动员的那把钥匙。」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7096125" y="3023146"/>
            <a:ext cx="4333875" cy="2493913"/>
          </a:xfrm>
          <a:prstGeom prst="roundRect">
            <a:avLst>
              <a:gd name="adj" fmla="val 4583"/>
            </a:avLst>
          </a:prstGeom>
          <a:solidFill>
            <a:srgbClr val="FFD9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286625" y="3194596"/>
            <a:ext cx="40319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A1C0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4 周核心目标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86625" y="3499396"/>
            <a:ext cx="4031933" cy="2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2A1C0A"/>
                </a:solidFill>
                <a:latin typeface="Noto Sans CJK SC Black" pitchFamily="34" charset="0"/>
                <a:ea typeface="Noto Sans CJK SC Black" pitchFamily="34" charset="-122"/>
                <a:cs typeface="Noto Sans CJK SC Black" pitchFamily="34" charset="-120"/>
              </a:rPr>
              <a:t>柔韧 + 专注 + 恢复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286625" y="3847951"/>
            <a:ext cx="4031933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2A1C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体前屈平均提升 ≥ 4 cm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7286625" y="4115544"/>
            <a:ext cx="4031933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2A1C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腘绳肌不适就诊下降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7286625" y="4383137"/>
            <a:ext cx="4031933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8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2A1C0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· 运动员主观恢复评分 ↑ 1.5+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7096125" y="5631359"/>
            <a:ext cx="4333875" cy="693241"/>
          </a:xfrm>
          <a:prstGeom prst="roundRect">
            <a:avLst>
              <a:gd name="adj" fmla="val 16488"/>
            </a:avLst>
          </a:prstGeom>
          <a:solidFill>
            <a:srgbClr val="000000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227665" y="5764709"/>
            <a:ext cx="4070794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FFD9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下一步：</a:t>
            </a:r>
            <a:pPr algn="ctr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FFF7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本周训练课结束后，先由教练组带领 5 分钟示范，再交付给运动员自主执行。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DeepPresenter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subject/>
  <dc:creator>DeepPresenter</dc:creator>
  <cp:lastModifiedBy>DeepPresenter</cp:lastModifiedBy>
  <cp:revision>1</cp:revision>
  <dcterms:created xsi:type="dcterms:W3CDTF">2026-08-10T18:15:29Z</dcterms:created>
  <dcterms:modified xsi:type="dcterms:W3CDTF">2026-08-10T18:15:29Z</dcterms:modified>
</cp:coreProperties>
</file>