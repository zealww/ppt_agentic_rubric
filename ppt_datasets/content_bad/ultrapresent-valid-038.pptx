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8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3Z7kCV/html2pptx-bg-1786384054689-c602225351c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pic>
        <p:nvPicPr>
          <p:cNvPr id="3" name="Image 1" descr="/tmp/html2pptx-3Z7kCV/html2pptx-bg-1786384054801-d2eb196b311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0" y="1355080"/>
            <a:ext cx="466344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50"/>
              </a:spcAft>
              <a:buNone/>
            </a:pPr>
            <a:r>
              <a:rPr lang="en-US" sz="13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CANADIAN HERITAGE REPORT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000500" y="1764655"/>
            <a:ext cx="4663440" cy="160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10"/>
              </a:lnSpc>
              <a:spcAft>
                <a:spcPts val="210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 in Canada:
</a:t>
            </a:r>
            <a:r>
              <a:rPr lang="en-US" sz="39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Lsong History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4000500" y="3636020"/>
            <a:ext cx="4663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2850"/>
              </a:spcAft>
              <a:buNone/>
            </a:pPr>
            <a:r>
              <a:rPr lang="en-US" sz="15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Four centuries of migration, settlement, and community — fro</a:t>
            </a:r>
            <a:r>
              <a:rPr lang="en-US" sz="15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dsadawm Mathieu da Costa in 1605 to the 662,200 Black Cdsadanadians counted in the 2001 Census.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4000500" y="5150495"/>
            <a:ext cx="4572000" cy="0"/>
          </a:xfrm>
          <a:prstGeom prst="line">
            <a:avLst/>
          </a:prstGeom>
          <a:noFill/>
          <a:ln w="19050">
            <a:solidFill>
              <a:srgbClr val="F5B30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00500" y="533147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Authors:</a:t>
            </a:r>
            <a:r>
              <a:rPr lang="en-US" sz="1125" dirty="0">
                <a:solidFill>
                  <a:srgbClr val="9FB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Anne Miladasdn &amp; Kelly Tran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4000500" y="556007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</a:t>
            </a:r>
            <a:r>
              <a:rPr lang="en-US" sz="1125" dirty="0">
                <a:solidFill>
                  <a:srgbClr val="9FB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Statistics Cadasdnada, Census of Population, 2001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3429000" y="6496050"/>
            <a:ext cx="524637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A7F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PRESENTATION · 12 SLIDES · 4:3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300163"/>
            <a:ext cx="7924800" cy="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533400"/>
            <a:ext cx="586922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OVERVIEW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733425"/>
            <a:ext cx="5869225" cy="4161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0"/>
              </a:lnSpc>
              <a:spcBef>
                <a:spcPts val="450"/>
              </a:spcBef>
              <a:buNone/>
            </a:pPr>
            <a:r>
              <a:rPr lang="en-US" sz="28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Three Centuries of Diversity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058299" y="533400"/>
            <a:ext cx="48562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 / 12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578173"/>
            <a:ext cx="8083296" cy="796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spcAft>
                <a:spcPts val="1950"/>
              </a:spcAft>
              <a:buNone/>
            </a:pP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Canada is home tosda many visible minority grosdasdups. In the </a:t>
            </a:r>
            <a:r>
              <a:rPr lang="en-US" sz="13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2001 Census</a:t>
            </a: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the three largest were </a:t>
            </a:r>
            <a:r>
              <a:rPr lang="en-US" sz="13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Chinese</a:t>
            </a: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</a:t>
            </a:r>
            <a:r>
              <a:rPr lang="en-US" sz="13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South Asians</a:t>
            </a: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and </a:t>
            </a:r>
            <a:r>
              <a:rPr lang="en-US" sz="13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together shaping the country's cultural mosaic.</a:t>
            </a:r>
            <a:endParaRPr lang="en-US" sz="1350" dirty="0"/>
          </a:p>
        </p:txBody>
      </p:sp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609600" y="2622798"/>
            <a:ext cx="2527250" cy="1925836"/>
          </a:xfrm>
          <a:prstGeom prst="rect">
            <a:avLst/>
          </a:prstGeom>
          <a:solidFill>
            <a:srgbClr val="FFFFFF"/>
          </a:solidFill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800100" y="2651373"/>
            <a:ext cx="2146250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800100" y="2889498"/>
            <a:ext cx="2189175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662,200</a:t>
            </a:r>
            <a:endParaRPr lang="en-US" sz="285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800100" y="3327648"/>
            <a:ext cx="218917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CANADIANS</a:t>
            </a:r>
            <a:endParaRPr lang="en-US" sz="975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800100" y="3565773"/>
            <a:ext cx="2189175" cy="773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dasCounted in the 2001 Census — about 2% of Canada's total population and 17% of the visible minority population.</a:t>
            </a:r>
            <a:endParaRPr lang="en-US" sz="105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3308300" y="2622798"/>
            <a:ext cx="2527250" cy="1925836"/>
          </a:xfrm>
          <a:prstGeom prst="rect">
            <a:avLst/>
          </a:prstGeom>
          <a:solidFill>
            <a:srgbClr val="FFFFFF"/>
          </a:solidFill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3498800" y="2651373"/>
            <a:ext cx="2146250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3498800" y="2889498"/>
            <a:ext cx="2189175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3rd</a:t>
            </a:r>
            <a:endParaRPr lang="en-US" sz="285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3498800" y="3327648"/>
            <a:ext cx="218917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LARGEST MINORITY GROasdUP</a:t>
            </a:r>
            <a:endParaRPr lang="en-US" sz="975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3498800" y="3565773"/>
            <a:ext cx="2189175" cy="773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 ranked bdasdehind Chinese and South Asians among Canada's visible minoritiasdaes in 2001.</a:t>
            </a:r>
            <a:endParaRPr lang="en-US" sz="1050" dirty="0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6007001" y="2622798"/>
            <a:ext cx="2527250" cy="1925836"/>
          </a:xfrm>
          <a:prstGeom prst="rect">
            <a:avLst/>
          </a:prstGeom>
          <a:solidFill>
            <a:srgbClr val="FFFFFF"/>
          </a:solidFill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>
            <p:custDataLst>
              <p:tags r:id="rId12"/>
            </p:custDataLst>
          </p:nvPr>
        </p:nvSpPr>
        <p:spPr>
          <a:xfrm>
            <a:off x="6197501" y="2651373"/>
            <a:ext cx="2146250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3"/>
            </p:custDataLst>
          </p:nvPr>
        </p:nvSpPr>
        <p:spPr>
          <a:xfrm>
            <a:off x="6197501" y="2889498"/>
            <a:ext cx="2189175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+31%</a:t>
            </a:r>
            <a:endParaRPr lang="en-US" sz="2850" dirty="0"/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6197501" y="3327648"/>
            <a:ext cx="218917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97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GROWTH 1991–2001</a:t>
            </a:r>
            <a:endParaRPr lang="en-US" sz="975" dirty="0"/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6197501" y="3565773"/>
            <a:ext cx="2189175" cy="773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Blackasd population grew three times faster than asdCanada's overall population (+10%) dasdin the same decade.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600" y="4834384"/>
            <a:ext cx="7924800" cy="985838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9150" y="5005834"/>
            <a:ext cx="7655814" cy="6429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125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Diverse roots:</a:t>
            </a:r>
            <a:r>
              <a:rPr lang="en-US" sz="1125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Some Black Canadians tradsadce their ancestry back several centuries; others arrived from the Caribbean and Africa in rasdecent decades — a community shaped by both deepasd heritage and modern immigration.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43050"/>
            <a:ext cx="7924800" cy="0"/>
          </a:xfrm>
          <a:prstGeom prst="line">
            <a:avLst/>
          </a:prstGeom>
          <a:noFill/>
          <a:ln w="19050">
            <a:solidFill>
              <a:srgbClr val="E3D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191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ORIGINS · 1605–1900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619125"/>
            <a:ext cx="8083296" cy="744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35"/>
              </a:lnSpc>
              <a:spcBef>
                <a:spcPts val="450"/>
              </a:spcBef>
              <a:buNone/>
            </a:pPr>
            <a:r>
              <a:rPr lang="en-US" sz="25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First Blacks Came to Canaddasa 400 Years Ago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09600" y="2616398"/>
            <a:ext cx="4467225" cy="0"/>
          </a:xfrm>
          <a:prstGeom prst="line">
            <a:avLst/>
          </a:prstGeom>
          <a:noFill/>
          <a:ln w="9525">
            <a:solidFill>
              <a:srgbClr val="D4C9A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09600" y="1935361"/>
            <a:ext cx="874395" cy="579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1605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600200" y="1935361"/>
            <a:ext cx="3546158" cy="579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</a:t>
            </a: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first recorded Black person in Canada</a:t>
            </a: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served as interpreter undedsadr Governor de Monts in Nova Scotia.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600" y="3396407"/>
            <a:ext cx="4467225" cy="0"/>
          </a:xfrm>
          <a:prstGeom prst="line">
            <a:avLst/>
          </a:prstGeom>
          <a:noFill/>
          <a:ln w="9525">
            <a:solidFill>
              <a:srgbClr val="D4C9A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09600" y="2715369"/>
            <a:ext cx="874395" cy="579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1628 – early 1800s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600200" y="2715369"/>
            <a:ext cx="3546158" cy="579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</a:t>
            </a: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slavery existed</a:t>
            </a: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particularly in Eastern Canada, with Loyaasdlists bringing slaves from the United States.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600" y="4176415"/>
            <a:ext cx="4467225" cy="0"/>
          </a:xfrm>
          <a:prstGeom prst="line">
            <a:avLst/>
          </a:prstGeom>
          <a:noFill/>
          <a:ln w="9525">
            <a:solidFill>
              <a:srgbClr val="D4C9A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09600" y="3495377"/>
            <a:ext cx="874395" cy="579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Late 1700s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600200" y="3495377"/>
            <a:ext cx="3546158" cy="579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Loyalists</a:t>
            </a: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arrived, promised land grants for supporting tdsadhe British during the American Revolution.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600" y="4956423"/>
            <a:ext cx="4467225" cy="0"/>
          </a:xfrm>
          <a:prstGeom prst="line">
            <a:avLst/>
          </a:prstGeom>
          <a:noFill/>
          <a:ln w="9525">
            <a:solidFill>
              <a:srgbClr val="D4C9A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09600" y="4275386"/>
            <a:ext cx="874395" cy="579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1800s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600200" y="4275386"/>
            <a:ext cx="3546158" cy="5799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Early Black settlements founded in </a:t>
            </a: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Nova Scotia and Ontario</a:t>
            </a: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; laasdter expanding to Western Canada with the opening of the frontier.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5055394"/>
            <a:ext cx="874395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1901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00200" y="5055394"/>
            <a:ext cx="3546158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5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Census recorded </a:t>
            </a: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17,400 Blacks</a:t>
            </a: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about 0.3% of the Canadian dsadpopulation at the time.</a:t>
            </a:r>
            <a:endParaRPr lang="en-US" sz="1050" dirty="0"/>
          </a:p>
        </p:txBody>
      </p:sp>
      <p:pic>
        <p:nvPicPr>
          <p:cNvPr id="19" name="Image 0" descr="/tmp/html2pptx-YsmOio/html2pptx-bg-1786384056438-a87e152a72a7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3525" y="1782961"/>
            <a:ext cx="3190875" cy="3048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343525" y="1802011"/>
            <a:ext cx="3190875" cy="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15350" y="1782961"/>
            <a:ext cx="0" cy="304800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43525" y="4811911"/>
            <a:ext cx="3190875" cy="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62575" y="1782961"/>
            <a:ext cx="0" cy="304800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3525" y="4907161"/>
            <a:ext cx="3254693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Tower of Freedom — Underground Railroad Monument, Windsor, Ontario. The Railroad brought thousands of freedom-seekers tasdo Canadian soil in the 19th century.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94911" y="655320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HISTORICAL POPULATION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19125"/>
            <a:ext cx="8083296" cy="70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Number of Blacdsadks Increased Substantially in Recent Decades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377255"/>
            <a:ext cx="808329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05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Census counts dsadof Canada's Black population, 18das71 to 2001.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09600" y="1720155"/>
          <a:ext cx="6858000" cy="3724269"/>
        </p:xfrm>
        <a:graphic>
          <a:graphicData uri="http://schemas.openxmlformats.org/drawingml/2006/table">
            <a:tbl>
              <a:tblPr/>
              <a:tblGrid>
                <a:gridCol w="738932"/>
                <a:gridCol w="1989683"/>
                <a:gridCol w="1282750"/>
              </a:tblGrid>
              <a:tr h="252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YEAR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BLACK POPULATION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% OF TOTAL</a:t>
                      </a:r>
                      <a:endParaRPr lang="en-US" sz="90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1871*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21,das500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0.6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1881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21,400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1901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1dasdsadas7,500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0.3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1911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16,900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1921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18,300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1931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19,500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1941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22,200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1951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18,dsa000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1961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3dsa2,100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1971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34,400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1981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239,500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1.das0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1991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504,dsa300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1.9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2001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662,200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2.2</a:t>
                      </a:r>
                      <a:endParaRPr lang="en-US" sz="97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600" y="5520630"/>
            <a:ext cx="409159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75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*Includes Ontario, Quebec, Nova Scotia and New Brunswick. Source: Statistics Canada, censuses of population.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887664" y="1720155"/>
            <a:ext cx="3646736" cy="25146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059114" y="1748730"/>
            <a:ext cx="3303836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59114" y="1948755"/>
            <a:ext cx="336991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POPULATION (SELECTED YEARS)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59114" y="2253555"/>
            <a:ext cx="54406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92514" y="2234505"/>
            <a:ext cx="2046536" cy="171450"/>
          </a:xfrm>
          <a:prstGeom prst="rect">
            <a:avLst/>
          </a:prstGeom>
          <a:solidFill>
            <a:srgbClr val="EEE5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92514" y="2234505"/>
            <a:ext cx="61317" cy="1714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682865" y="2253555"/>
            <a:ext cx="68008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17,500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59114" y="2520255"/>
            <a:ext cx="54406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1941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92514" y="2501205"/>
            <a:ext cx="2046536" cy="171450"/>
          </a:xfrm>
          <a:prstGeom prst="rect">
            <a:avLst/>
          </a:prstGeom>
          <a:solidFill>
            <a:srgbClr val="EEE5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92514" y="2501205"/>
            <a:ext cx="61317" cy="1714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682865" y="2520255"/>
            <a:ext cx="68008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22,200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59114" y="2786955"/>
            <a:ext cx="54406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1961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92514" y="2767905"/>
            <a:ext cx="2046536" cy="171450"/>
          </a:xfrm>
          <a:prstGeom prst="rect">
            <a:avLst/>
          </a:prstGeom>
          <a:solidFill>
            <a:srgbClr val="EEE5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592514" y="2767905"/>
            <a:ext cx="102245" cy="1714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682865" y="2786955"/>
            <a:ext cx="68008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32,100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59114" y="3053655"/>
            <a:ext cx="54406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1971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92514" y="3034605"/>
            <a:ext cx="2046536" cy="171450"/>
          </a:xfrm>
          <a:prstGeom prst="rect">
            <a:avLst/>
          </a:prstGeom>
          <a:solidFill>
            <a:srgbClr val="EEE5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592514" y="3034605"/>
            <a:ext cx="102245" cy="1714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682865" y="3053655"/>
            <a:ext cx="68008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34,400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59114" y="3320355"/>
            <a:ext cx="54406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1981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92514" y="3301305"/>
            <a:ext cx="2046536" cy="171450"/>
          </a:xfrm>
          <a:prstGeom prst="rect">
            <a:avLst/>
          </a:prstGeom>
          <a:solidFill>
            <a:srgbClr val="EEE5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592514" y="3301305"/>
            <a:ext cx="736699" cy="1714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682865" y="3320355"/>
            <a:ext cx="68008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239,500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59114" y="3587055"/>
            <a:ext cx="54406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1991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592514" y="3568005"/>
            <a:ext cx="2046536" cy="171450"/>
          </a:xfrm>
          <a:prstGeom prst="rect">
            <a:avLst/>
          </a:prstGeom>
          <a:solidFill>
            <a:srgbClr val="EEE5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592514" y="3568005"/>
            <a:ext cx="1555254" cy="1714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682865" y="3587055"/>
            <a:ext cx="68008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504,300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59114" y="3853755"/>
            <a:ext cx="54406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592514" y="3834705"/>
            <a:ext cx="2046536" cy="171450"/>
          </a:xfrm>
          <a:prstGeom prst="rect">
            <a:avLst/>
          </a:prstGeom>
          <a:solidFill>
            <a:srgbClr val="EEE5C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592514" y="3834705"/>
            <a:ext cx="2046536" cy="17145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7682865" y="3853755"/>
            <a:ext cx="68008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662,200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87664" y="4310955"/>
            <a:ext cx="371967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75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1960s immigration reforms replaced European-origin preferences with a points-based system, opening the door to Caribbean and African newcomers.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8094911" y="655320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ATLANTIC CANADA · HERITAGE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8083296" cy="70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60"/>
              </a:lnSpc>
              <a:spcBef>
                <a:spcPts val="450"/>
              </a:spcBef>
              <a:buNone/>
            </a:pPr>
            <a:r>
              <a:rPr lang="en-US" sz="24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Africville: Commdasunity, Resilience, and Reckoning</a:t>
            </a:r>
            <a:endParaRPr lang="en-US" sz="2400" dirty="0"/>
          </a:p>
        </p:txBody>
      </p:sp>
      <p:pic>
        <p:nvPicPr>
          <p:cNvPr id="4" name="Image 0" descr="/tmp/html2pptx-WxXyPE/html2pptx-bg-1786384058000-39df2c1e4d2fb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34405"/>
            <a:ext cx="3922514" cy="4000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1453455"/>
            <a:ext cx="3922514" cy="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14850" y="1434405"/>
            <a:ext cx="0" cy="400050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600" y="5415855"/>
            <a:ext cx="3922514" cy="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" y="1434405"/>
            <a:ext cx="0" cy="400050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" y="5511105"/>
            <a:ext cx="4000964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Africville, Halifax — a tightly-knit Black community founded by families who had been promised land grants in the late 1700s.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98814" y="1472505"/>
            <a:ext cx="3810298" cy="885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</a:t>
            </a:r>
            <a:r>
              <a:rPr lang="en-US" sz="112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Nova Scotia</a:t>
            </a: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many Black residents trace their roots back several centdasduries. Africville, in Halifax, wadsads formed asdsa a way to </a:t>
            </a:r>
            <a:r>
              <a:rPr lang="en-US" sz="112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maintain culture</a:t>
            </a: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and resist poor treatment by the broader society.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98814" y="2491680"/>
            <a:ext cx="3735586" cy="1266825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951214" y="2625030"/>
            <a:ext cx="3499402" cy="1000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Despite promises of land, food, and shelter, residents lived without </a:t>
            </a: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or sewer services</a:t>
            </a:r>
            <a:r>
              <a:rPr lang="en-US" sz="10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into the 1960s. Tdsadhe community was eventually relocated into public housing — many became renters instead odasdf landowners.</a:t>
            </a:r>
            <a:endParaRPr lang="en-US" sz="1050" dirty="0"/>
          </a:p>
        </p:txBody>
      </p:sp>
      <p:sp>
        <p:nvSpPr>
          <p:cNvPr id="13" name="Text 10"/>
          <p:cNvSpPr/>
          <p:nvPr>
            <p:custDataLst>
              <p:tags r:id="rId2"/>
            </p:custDataLst>
          </p:nvPr>
        </p:nvSpPr>
        <p:spPr>
          <a:xfrm>
            <a:off x="4798814" y="3891855"/>
            <a:ext cx="1169045" cy="1138089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>
            <p:custDataLst>
              <p:tags r:id="rId3"/>
            </p:custDataLst>
          </p:nvPr>
        </p:nvSpPr>
        <p:spPr>
          <a:xfrm>
            <a:off x="4817864" y="3987105"/>
            <a:ext cx="0" cy="947589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4"/>
            </p:custDataLst>
          </p:nvPr>
        </p:nvSpPr>
        <p:spPr>
          <a:xfrm>
            <a:off x="4951214" y="3987105"/>
            <a:ext cx="92039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90%+</a:t>
            </a:r>
            <a:endParaRPr lang="en-US" sz="1650" dirty="0"/>
          </a:p>
        </p:txBody>
      </p:sp>
      <p:sp>
        <p:nvSpPr>
          <p:cNvPr id="16" name="Text 13"/>
          <p:cNvSpPr/>
          <p:nvPr>
            <p:custDataLst>
              <p:tags r:id="rId5"/>
            </p:custDataLst>
          </p:nvPr>
        </p:nvSpPr>
        <p:spPr>
          <a:xfrm>
            <a:off x="4951214" y="4253805"/>
            <a:ext cx="920392" cy="5447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HALIFAX BLACKS CdasdANADIAN-BORN (2001)</a:t>
            </a:r>
            <a:endParaRPr lang="en-US" sz="825" dirty="0"/>
          </a:p>
        </p:txBody>
      </p:sp>
      <p:sp>
        <p:nvSpPr>
          <p:cNvPr id="17" name="Text 14"/>
          <p:cNvSpPr/>
          <p:nvPr>
            <p:custDataLst>
              <p:tags r:id="rId6"/>
            </p:custDataLst>
          </p:nvPr>
        </p:nvSpPr>
        <p:spPr>
          <a:xfrm>
            <a:off x="6082159" y="3891855"/>
            <a:ext cx="1169045" cy="1138089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>
            <p:custDataLst>
              <p:tags r:id="rId7"/>
            </p:custDataLst>
          </p:nvPr>
        </p:nvSpPr>
        <p:spPr>
          <a:xfrm>
            <a:off x="6101209" y="3987105"/>
            <a:ext cx="0" cy="947589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9" name="Text 16"/>
          <p:cNvSpPr/>
          <p:nvPr>
            <p:custDataLst>
              <p:tags r:id="rId8"/>
            </p:custDataLst>
          </p:nvPr>
        </p:nvSpPr>
        <p:spPr>
          <a:xfrm>
            <a:off x="6234559" y="3987105"/>
            <a:ext cx="92039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 in 10</a:t>
            </a:r>
            <a:endParaRPr lang="en-US" sz="1650" dirty="0"/>
          </a:p>
        </p:txBody>
      </p:sp>
      <p:sp>
        <p:nvSpPr>
          <p:cNvPr id="20" name="Text 17"/>
          <p:cNvSpPr/>
          <p:nvPr>
            <p:custDataLst>
              <p:tags r:id="rId9"/>
            </p:custDataLst>
          </p:nvPr>
        </p:nvSpPr>
        <p:spPr>
          <a:xfrm>
            <a:off x="6234559" y="4253805"/>
            <a:ext cx="920392" cy="6808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HALdasdIFAX BLACKS THIRD-GENERATION OR BEYOND</a:t>
            </a:r>
            <a:endParaRPr lang="en-US" sz="825" dirty="0"/>
          </a:p>
        </p:txBody>
      </p:sp>
      <p:sp>
        <p:nvSpPr>
          <p:cNvPr id="21" name="Text 18"/>
          <p:cNvSpPr/>
          <p:nvPr>
            <p:custDataLst>
              <p:tags r:id="rId10"/>
            </p:custDataLst>
          </p:nvPr>
        </p:nvSpPr>
        <p:spPr>
          <a:xfrm>
            <a:off x="7365504" y="3891855"/>
            <a:ext cx="1169045" cy="1138089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>
            <p:custDataLst>
              <p:tags r:id="rId11"/>
            </p:custDataLst>
          </p:nvPr>
        </p:nvSpPr>
        <p:spPr>
          <a:xfrm>
            <a:off x="7384554" y="3987105"/>
            <a:ext cx="0" cy="947589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23" name="Text 20"/>
          <p:cNvSpPr/>
          <p:nvPr>
            <p:custDataLst>
              <p:tags r:id="rId12"/>
            </p:custDataLst>
          </p:nvPr>
        </p:nvSpPr>
        <p:spPr>
          <a:xfrm>
            <a:off x="7517904" y="3987105"/>
            <a:ext cx="92039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13,100</a:t>
            </a:r>
            <a:endParaRPr lang="en-US" sz="1650" dirty="0"/>
          </a:p>
        </p:txBody>
      </p:sp>
      <p:sp>
        <p:nvSpPr>
          <p:cNvPr id="24" name="Text 21"/>
          <p:cNvSpPr/>
          <p:nvPr>
            <p:custDataLst>
              <p:tags r:id="rId13"/>
            </p:custDataLst>
          </p:nvPr>
        </p:nvSpPr>
        <p:spPr>
          <a:xfrm>
            <a:off x="7517904" y="4253805"/>
            <a:ext cx="920392" cy="5447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 IN HALIFAX dasd— ~4% OF CMA POPULATION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8094911" y="659130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2001 CENSUS SNAPSHOT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19125"/>
            <a:ext cx="8083296" cy="744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35"/>
              </a:lnSpc>
              <a:spcBef>
                <a:spcPts val="450"/>
              </a:spcBef>
              <a:spcAft>
                <a:spcPts val="195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Blacks: Canada's </a:t>
            </a:r>
            <a:r>
              <a:rPr lang="en-US" sz="25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Third-Lardasdgest</a:t>
            </a:r>
            <a:r>
              <a:rPr lang="en-US" sz="25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Visible Minority Group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600" y="1611511"/>
            <a:ext cx="4182368" cy="2767905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8175" y="1821061"/>
            <a:ext cx="0" cy="2348805"/>
          </a:xfrm>
          <a:prstGeom prst="line">
            <a:avLst/>
          </a:prstGeom>
          <a:noFill/>
          <a:ln w="57150">
            <a:solidFill>
              <a:srgbClr val="F5B3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5350" y="1821061"/>
            <a:ext cx="3741378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662,200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95350" y="2506861"/>
            <a:ext cx="374137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6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CANADIANS IN 2001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5350" y="2840236"/>
            <a:ext cx="3741378" cy="1000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Representing just over </a:t>
            </a:r>
            <a:r>
              <a:rPr lang="en-US" sz="1050" b="1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2% of Canada's total populatdasdion</a:t>
            </a:r>
            <a:r>
              <a:rPr lang="en-US" sz="1050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and </a:t>
            </a:r>
            <a:r>
              <a:rPr lang="en-US" sz="1050" b="1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17% of thdasde visible minority population</a:t>
            </a:r>
            <a:r>
              <a:rPr lang="en-US" sz="1050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 Between 1991 and 2001, the Black population grew by 31%, while Canada's overall population grew bdasdy 10%.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0568" y="1611511"/>
            <a:ext cx="3513832" cy="2767905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49168" y="1821061"/>
            <a:ext cx="311776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VISIBLE MINORITY SHARE (2001)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49168" y="2106811"/>
            <a:ext cx="56243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Chinese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445276" y="2106811"/>
            <a:ext cx="87773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Largest group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249168" y="2287786"/>
            <a:ext cx="3056632" cy="133350"/>
          </a:xfrm>
          <a:prstGeom prst="rect">
            <a:avLst/>
          </a:prstGeom>
          <a:solidFill>
            <a:srgbClr val="FFFFFF">
              <a:alpha val="12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49168" y="2287786"/>
            <a:ext cx="3056632" cy="133350"/>
          </a:xfrm>
          <a:prstGeom prst="rect">
            <a:avLst/>
          </a:prstGeom>
          <a:solidFill>
            <a:srgbClr val="5B77B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49168" y="2554486"/>
            <a:ext cx="92858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South Asians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383810" y="2554486"/>
            <a:ext cx="94043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Second largest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249168" y="2735461"/>
            <a:ext cx="3056632" cy="133350"/>
          </a:xfrm>
          <a:prstGeom prst="rect">
            <a:avLst/>
          </a:prstGeom>
          <a:solidFill>
            <a:srgbClr val="FFFFFF">
              <a:alpha val="12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49168" y="2735461"/>
            <a:ext cx="2689771" cy="133350"/>
          </a:xfrm>
          <a:prstGeom prst="rect">
            <a:avLst/>
          </a:prstGeom>
          <a:solidFill>
            <a:srgbClr val="5B77B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49168" y="3002161"/>
            <a:ext cx="45890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004298" y="3002161"/>
            <a:ext cx="132753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17% of minority pop.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249168" y="3183136"/>
            <a:ext cx="3056632" cy="133350"/>
          </a:xfrm>
          <a:prstGeom prst="rect">
            <a:avLst/>
          </a:prstGeom>
          <a:solidFill>
            <a:srgbClr val="FFFFFF">
              <a:alpha val="12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49168" y="3183136"/>
            <a:ext cx="2139553" cy="133350"/>
          </a:xfrm>
          <a:prstGeom prst="rect">
            <a:avLst/>
          </a:prstGeom>
          <a:solidFill>
            <a:srgbClr val="F5B30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49168" y="3487936"/>
            <a:ext cx="942677" cy="68193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36896" y="3602236"/>
            <a:ext cx="76722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36896" y="3907036"/>
            <a:ext cx="76722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Chinedasse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6145" y="3487936"/>
            <a:ext cx="942677" cy="681930"/>
          </a:xfrm>
          <a:prstGeom prst="rect">
            <a:avLst/>
          </a:prstGeom>
          <a:solidFill>
            <a:srgbClr val="FFFFFF">
              <a:alpha val="6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93874" y="3602236"/>
            <a:ext cx="76722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93874" y="3907036"/>
            <a:ext cx="76722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dasSouth Asians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3123" y="3487936"/>
            <a:ext cx="942677" cy="681930"/>
          </a:xfrm>
          <a:prstGeom prst="rect">
            <a:avLst/>
          </a:prstGeom>
          <a:solidFill>
            <a:srgbClr val="F5B30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0851" y="3602236"/>
            <a:ext cx="76722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50851" y="3907036"/>
            <a:ext cx="76722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Blacdsaks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600" y="4588966"/>
            <a:ext cx="8083296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Bef>
                <a:spcPts val="1650"/>
              </a:spcBef>
              <a:buNone/>
            </a:pPr>
            <a:r>
              <a:rPr lang="en-US" sz="825" i="1" dirty="0">
                <a:solidFill>
                  <a:srgbClr val="9FB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For comparison, Blacks accounted fodsadr about 13% of the population of the United States. The 2001 Csadawensus used a population-group question first introduced in 1996 to dedasdrive counts for visible minorities.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8094911" y="659130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B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GENERATIONAL STATUS · 2001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19125"/>
            <a:ext cx="8083296" cy="3504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60"/>
              </a:lnSpc>
              <a:spcBef>
                <a:spcPts val="450"/>
              </a:spcBef>
              <a:spcAft>
                <a:spcPts val="1650"/>
              </a:spcAft>
              <a:buNone/>
            </a:pPr>
            <a:r>
              <a:rPr lang="en-US" sz="24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Nearly Half of Blacks Are Born in Canada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179165"/>
            <a:ext cx="7966710" cy="6643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5"/>
              </a:lnSpc>
              <a:spcAft>
                <a:spcPts val="1650"/>
              </a:spcAft>
              <a:buNone/>
            </a:pP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While recent growth in many visible minority groups has been driven by immigratdaion, Blacks have a </a:t>
            </a:r>
            <a:r>
              <a:rPr lang="en-US" sz="112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long history of residence</a:t>
            </a: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in dasdCanada. In 2001,das </a:t>
            </a:r>
            <a:r>
              <a:rPr lang="en-US" sz="112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 of Blacks were Canadadian-born</a:t>
            </a: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secdsaond only to the Japanese among visible minorities.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609600" y="2053084"/>
            <a:ext cx="2527250" cy="223257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2081659"/>
            <a:ext cx="2222450" cy="0"/>
          </a:xfrm>
          <a:prstGeom prst="line">
            <a:avLst/>
          </a:prstGeom>
          <a:noFill/>
          <a:ln w="57150">
            <a:solidFill>
              <a:srgbClr val="0F1E3D"/>
            </a:solidFill>
            <a:prstDash val="solid"/>
          </a:ln>
        </p:spPr>
      </p:sp>
      <p:pic>
        <p:nvPicPr>
          <p:cNvPr id="7" name="Image 0" descr="/tmp/html2pptx-qgI9Wp/html2pptx-bg-1786384059583-db9d5d0469c8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276" y="2281684"/>
            <a:ext cx="1047750" cy="1047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8798" y="2281684"/>
            <a:ext cx="1068705" cy="1047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9775" y="3443734"/>
            <a:ext cx="22668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9775" y="3634234"/>
            <a:ext cx="226689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First generatdaion established in Canada or born to Canadian parents.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08300" y="2053084"/>
            <a:ext cx="2527250" cy="223257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460700" y="2081659"/>
            <a:ext cx="2222450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pic>
        <p:nvPicPr>
          <p:cNvPr id="13" name="Image 1" descr="/tmp/html2pptx-qgI9Wp/html2pptx-bg-1786384059681-61c9bf715b3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976" y="2281684"/>
            <a:ext cx="1047750" cy="1047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37499" y="2281684"/>
            <a:ext cx="1068705" cy="1047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38476" y="3443734"/>
            <a:ext cx="22668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Second generation (19%)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38476" y="3634234"/>
            <a:ext cx="2266899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 with atda least one parent born outside Canada — slightly above the national average of 16%.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007001" y="2053084"/>
            <a:ext cx="2527250" cy="223257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6159401" y="2081659"/>
            <a:ext cx="2222450" cy="0"/>
          </a:xfrm>
          <a:prstGeom prst="line">
            <a:avLst/>
          </a:prstGeom>
          <a:noFill/>
          <a:ln w="57150">
            <a:solidFill>
              <a:srgbClr val="0F1E3D"/>
            </a:solidFill>
            <a:prstDash val="solid"/>
          </a:ln>
        </p:spPr>
      </p:sp>
      <p:pic>
        <p:nvPicPr>
          <p:cNvPr id="19" name="Image 2" descr="/tmp/html2pptx-qgI9Wp/html2pptx-bg-1786384059746-3786f15935f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677" y="2281684"/>
            <a:ext cx="1047750" cy="1047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36199" y="2281684"/>
            <a:ext cx="1068705" cy="1047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37176" y="3443734"/>
            <a:ext cx="226689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Third generation+ (10%)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37176" y="3634234"/>
            <a:ext cx="2266899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Parents also born in Canada. In Nova Scotia, 84% of Blackda residents are at least third-generation.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09600" y="4495205"/>
            <a:ext cx="1881187" cy="1053405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62000" y="4628555"/>
            <a:ext cx="160791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Japanese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62000" y="4819055"/>
            <a:ext cx="160791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65%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762000" y="5095280"/>
            <a:ext cx="1607915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Canadian-bowdsrn — highest among visible minorities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624138" y="4495205"/>
            <a:ext cx="1881187" cy="1053405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2776538" y="4628555"/>
            <a:ext cx="160791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2776538" y="4819055"/>
            <a:ext cx="160791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</a:t>
            </a:r>
            <a:endParaRPr lang="en-US" sz="1650" dirty="0"/>
          </a:p>
        </p:txBody>
      </p:sp>
      <p:sp>
        <p:nvSpPr>
          <p:cNvPr id="30" name="Text 25"/>
          <p:cNvSpPr/>
          <p:nvPr/>
        </p:nvSpPr>
        <p:spPr>
          <a:xfrm>
            <a:off x="2776538" y="5095280"/>
            <a:ext cx="1607915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 —dasd second highest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638675" y="4495205"/>
            <a:ext cx="1881187" cy="1053405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4791075" y="4628555"/>
            <a:ext cx="160791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South Asians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791075" y="4819055"/>
            <a:ext cx="160791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29%</a:t>
            </a:r>
            <a:endParaRPr lang="en-US" sz="1650" dirty="0"/>
          </a:p>
        </p:txBody>
      </p:sp>
      <p:sp>
        <p:nvSpPr>
          <p:cNvPr id="34" name="Text 29"/>
          <p:cNvSpPr/>
          <p:nvPr/>
        </p:nvSpPr>
        <p:spPr>
          <a:xfrm>
            <a:off x="4791075" y="5095280"/>
            <a:ext cx="160791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Canadiawadan-born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653213" y="4495205"/>
            <a:ext cx="1881187" cy="1053405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805613" y="4628555"/>
            <a:ext cx="160791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Chinese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6805613" y="4819055"/>
            <a:ext cx="160791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25%</a:t>
            </a:r>
            <a:endParaRPr lang="en-US" sz="1650" dirty="0"/>
          </a:p>
        </p:txBody>
      </p:sp>
      <p:sp>
        <p:nvSpPr>
          <p:cNvPr id="38" name="Text 33"/>
          <p:cNvSpPr/>
          <p:nvPr/>
        </p:nvSpPr>
        <p:spPr>
          <a:xfrm>
            <a:off x="6805613" y="5095280"/>
            <a:ext cx="160791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dawwCanadian-born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09600" y="5720060"/>
            <a:ext cx="8083296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350"/>
              </a:spcBef>
              <a:buNone/>
            </a:pPr>
            <a:r>
              <a:rPr lang="en-US" sz="9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Did you knowwda?</a:t>
            </a:r>
            <a:r>
              <a:rPr lang="en-US" sz="90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In 2001, only one in five Blacks was an immigrant who had come to Canada in the previous ten years — compared with more thandwadwd one in thdwaree Chinese and South Asians.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094911" y="659130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IMMIGRATION · SOURCE REGIONS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8083296" cy="3286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22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Immigrants Come Fromds Many Countries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9600" y="1081088"/>
            <a:ext cx="7966710" cy="6000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2001, about </a:t>
            </a: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48% of Black immiwdagrants who arrived in the 1990s were born in Africa</a:t>
            </a: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virtually the same proportion as thdsadose born in thedsad Caribbean, Central and South America (47%dsad). Among tdsahose who arrived before 1961, only 1% weredsa born in Africa; 72% came from the Caribbean.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600" y="2119313"/>
            <a:ext cx="3829050" cy="0"/>
          </a:xfrm>
          <a:prstGeom prst="line">
            <a:avLst/>
          </a:prstGeom>
          <a:noFill/>
          <a:ln w="19050">
            <a:solidFill>
              <a:srgbClr val="0F1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871663"/>
            <a:ext cx="39056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 SOURCES — </a:t>
            </a:r>
            <a:r>
              <a:rPr lang="en-US" sz="1200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1991–2001 ARRIVALS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26695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daJamaica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847850" y="226218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47850" y="2262188"/>
            <a:ext cx="2095500" cy="15240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91737" y="226695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251460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Haiti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847850" y="250983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47850" y="2509838"/>
            <a:ext cx="1257300" cy="1524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91737" y="251460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12%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276225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Somalia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47850" y="275748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47850" y="2757488"/>
            <a:ext cx="1047750" cy="1524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91737" y="276225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10%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" y="300990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Ghana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847850" y="300513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47850" y="3005138"/>
            <a:ext cx="838200" cy="1524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91737" y="300990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8%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09600" y="325755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Ethiopia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847850" y="325278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847850" y="3252788"/>
            <a:ext cx="523875" cy="1524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91737" y="325755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09600" y="3500438"/>
            <a:ext cx="390563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About 139,800 Black immigrants arrived between 1991 and 2001.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4705350" y="2119313"/>
            <a:ext cx="3829050" cy="0"/>
          </a:xfrm>
          <a:prstGeom prst="line">
            <a:avLst/>
          </a:prstGeom>
          <a:noFill/>
          <a:ln w="19050">
            <a:solidFill>
              <a:srgbClr val="0F1E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5350" y="1871663"/>
            <a:ext cx="390563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 SOURCES — </a:t>
            </a:r>
            <a:r>
              <a:rPr lang="en-US" sz="1200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PRE-1961 ARRIVALS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5350" y="226695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Jamaica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943600" y="226218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43600" y="2262188"/>
            <a:ext cx="2095500" cy="15240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087487" y="226695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33%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705350" y="251460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Barbados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943600" y="250983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43600" y="2509838"/>
            <a:ext cx="942975" cy="1524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87487" y="251460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15%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705350" y="276225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United Kingdom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5943600" y="275748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43600" y="2757488"/>
            <a:ext cx="377130" cy="1524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087487" y="276225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6%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4705350" y="3005138"/>
            <a:ext cx="126301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Trinidad &amp; Tobago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5943600" y="3071813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943600" y="3071813"/>
            <a:ext cx="377130" cy="1524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087487" y="3076575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6%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4705350" y="3390900"/>
            <a:ext cx="12630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United States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5943600" y="3386138"/>
            <a:ext cx="2095500" cy="15240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43600" y="3386138"/>
            <a:ext cx="314325" cy="1524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087487" y="3390900"/>
            <a:ext cx="4469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4705350" y="3633788"/>
            <a:ext cx="3905631" cy="2931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Jamaica remainedsad the leading source across decades; Haiti became the second-largest source in the 1970s–80s.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609600" y="4117479"/>
            <a:ext cx="7924800" cy="92958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19150" y="4349800"/>
            <a:ext cx="239654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48%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819150" y="4654600"/>
            <a:ext cx="239654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Born in Africa —dsa 1990s arrivals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97300" y="4269879"/>
            <a:ext cx="239654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47%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3397300" y="4574679"/>
            <a:ext cx="2396541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Born in Caribbeadsan / Central &amp; South America — 1990s arrivals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75449" y="4269879"/>
            <a:ext cx="2396541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139,800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5975449" y="4574679"/>
            <a:ext cx="2396541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immigrants who adsarrived 1991–2001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94911" y="661035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 STRUCTURE · 2001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8083296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22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Population Younger Than the Ovdwaderall Population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9600" y="1409700"/>
            <a:ext cx="7966710" cy="4131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2001, Blacks had a </a:t>
            </a: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much younger age structure</a:t>
            </a: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than the total Canadian population. Possible explanations incldasude higher fertility and mortality radsates for Blacks compared with the overall population.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013347"/>
            <a:ext cx="7924800" cy="255270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76300" y="2041922"/>
            <a:ext cx="7391400" cy="0"/>
          </a:xfrm>
          <a:prstGeom prst="line">
            <a:avLst/>
          </a:prstGeom>
          <a:noFill/>
          <a:ln w="57150">
            <a:solidFill>
              <a:srgbClr val="0F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2280047"/>
            <a:ext cx="753922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 DISTRIBUTION: BLACKS VdasS. TOTAL CANADIAN POPULATION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6300" y="2565797"/>
            <a:ext cx="133350" cy="13335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6800" y="2565797"/>
            <a:ext cx="37617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7046" y="2565797"/>
            <a:ext cx="133350" cy="1333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97546" y="2565797"/>
            <a:ext cx="92980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 population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6300" y="2908697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Under 15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28800" y="2837259"/>
            <a:ext cx="54406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362200" y="2832497"/>
            <a:ext cx="5410200" cy="1333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62200" y="2832497"/>
            <a:ext cx="5410200" cy="13335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20787" y="2832497"/>
            <a:ext cx="4469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999184"/>
            <a:ext cx="54406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362200" y="2994422"/>
            <a:ext cx="5410200" cy="1333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62200" y="2994422"/>
            <a:ext cx="3408313" cy="1333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20787" y="2994422"/>
            <a:ext cx="4469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6300" y="3299222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 to 24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28800" y="3227784"/>
            <a:ext cx="54406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362200" y="3223022"/>
            <a:ext cx="5410200" cy="1333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62200" y="3223022"/>
            <a:ext cx="3083719" cy="13335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20787" y="3223022"/>
            <a:ext cx="4469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389709"/>
            <a:ext cx="54406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362200" y="3384947"/>
            <a:ext cx="5410200" cy="1333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362200" y="3384947"/>
            <a:ext cx="2326332" cy="1333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20787" y="3384947"/>
            <a:ext cx="4469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6300" y="3689747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 to 64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828800" y="3618309"/>
            <a:ext cx="54406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2362200" y="3613547"/>
            <a:ext cx="5410200" cy="1333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362200" y="3613547"/>
            <a:ext cx="2596753" cy="13335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820787" y="3613547"/>
            <a:ext cx="4469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0" y="3780234"/>
            <a:ext cx="54406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2362200" y="3775472"/>
            <a:ext cx="5410200" cy="1333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362200" y="3775472"/>
            <a:ext cx="3029694" cy="1333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20787" y="3775472"/>
            <a:ext cx="4469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56%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6300" y="4080272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65 and over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828800" y="4008834"/>
            <a:ext cx="54406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2362200" y="4004072"/>
            <a:ext cx="5410200" cy="1333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362200" y="4004072"/>
            <a:ext cx="919609" cy="13335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820787" y="4004072"/>
            <a:ext cx="4469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0" y="4170759"/>
            <a:ext cx="544068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2362200" y="4165997"/>
            <a:ext cx="5410200" cy="1333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362200" y="4165997"/>
            <a:ext cx="2163961" cy="13335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820787" y="4165997"/>
            <a:ext cx="4469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9600" y="4737497"/>
            <a:ext cx="2552700" cy="85338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62000" y="4870847"/>
            <a:ext cx="229285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30%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762000" y="5137547"/>
            <a:ext cx="2292858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popudsalation under age 15 — vs. 19% nationally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95650" y="4737497"/>
            <a:ext cx="2552700" cy="85338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48050" y="4870847"/>
            <a:ext cx="229285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3448050" y="5137547"/>
            <a:ext cx="2292858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populatdsaion aged 65+ — less than half the national rate (12%)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81700" y="4737497"/>
            <a:ext cx="2552700" cy="85338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34100" y="4870847"/>
            <a:ext cx="229285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17%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6134100" y="5137547"/>
            <a:ext cx="2292858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 aged 15–wda24 — vs. 13% of total population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94911" y="661035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FAMILY CHARACTERISTICS · 2001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8083296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22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Chidasldren More Likely to Live in Lone-Parent Families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9600" y="1409700"/>
            <a:ext cx="7966710" cy="619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5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According to the 2001 Census, a much dsahigher proportion of Black childredasn aged 0 to 14 lived with only one parent than other childredsan. Some researchers argue that economic dsaobstacles faced by Blacks have affected their family circumstances.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219920"/>
            <a:ext cx="2527250" cy="1224558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2372320"/>
            <a:ext cx="0" cy="919758"/>
          </a:xfrm>
          <a:prstGeom prst="line">
            <a:avLst/>
          </a:prstGeom>
          <a:noFill/>
          <a:ln w="47625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675" y="2372320"/>
            <a:ext cx="217946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46%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28675" y="2772370"/>
            <a:ext cx="2179460" cy="519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childdasren</a:t>
            </a: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aged 0–14 living with a lone dsadparent — versus 18% of other children.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08300" y="2219920"/>
            <a:ext cx="2527250" cy="1224558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32113" y="2372320"/>
            <a:ext cx="0" cy="919758"/>
          </a:xfrm>
          <a:prstGeom prst="line">
            <a:avLst/>
          </a:prstGeom>
          <a:noFill/>
          <a:ln w="47625">
            <a:solidFill>
              <a:srgbClr val="0F1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7375" y="2372320"/>
            <a:ext cx="217946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44%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27375" y="2772370"/>
            <a:ext cx="2179460" cy="519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chidasldren</a:t>
            </a: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in low-income househodsalds — compared with 19% of other children.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07001" y="2219920"/>
            <a:ext cx="2527250" cy="1224558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30813" y="2372320"/>
            <a:ext cx="0" cy="919758"/>
          </a:xfrm>
          <a:prstGeom prst="line">
            <a:avLst/>
          </a:prstGeom>
          <a:noFill/>
          <a:ln w="47625">
            <a:solidFill>
              <a:srgbClr val="0F1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076" y="2372320"/>
            <a:ext cx="217946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47% / 40%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226076" y="2772370"/>
            <a:ext cx="2179460" cy="519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 dwasavs. foreign-born</a:t>
            </a: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Black cdashildren in lone-parent families.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09600" y="3634978"/>
            <a:ext cx="7924800" cy="11049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38200" y="3806428"/>
            <a:ext cx="7616952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LONE-PARENT dasdFAMILIES — BLACK CHILDREN VS. OTHER CHILDREN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8200" y="4077891"/>
            <a:ext cx="213741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children (0–14)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933700" y="4073128"/>
            <a:ext cx="4838700" cy="1524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33700" y="4073128"/>
            <a:ext cx="4838700" cy="152400"/>
          </a:xfrm>
          <a:prstGeom prst="rect">
            <a:avLst/>
          </a:prstGeom>
          <a:solidFill>
            <a:srgbClr val="F5B30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20025" y="4077891"/>
            <a:ext cx="48577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46%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38200" y="4325541"/>
            <a:ext cx="213741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Other children (0–14)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933700" y="4320778"/>
            <a:ext cx="4838700" cy="1524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33700" y="4320778"/>
            <a:ext cx="1886992" cy="152400"/>
          </a:xfrm>
          <a:prstGeom prst="rect">
            <a:avLst/>
          </a:prstGeom>
          <a:solidFill>
            <a:srgbClr val="5B77B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20025" y="4325541"/>
            <a:ext cx="48577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18%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09600" y="4892278"/>
            <a:ext cx="3876675" cy="1456879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2000" y="5025628"/>
            <a:ext cx="3643313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Couples Involvindsag Blacks (2001) — 118,000 total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62000" y="5244703"/>
            <a:ext cx="2035969" cy="228600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797969" y="5244703"/>
            <a:ext cx="1535906" cy="228600"/>
          </a:xfrm>
          <a:prstGeom prst="rect">
            <a:avLst/>
          </a:prstGeom>
          <a:solidFill>
            <a:srgbClr val="B8860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2000" y="5530453"/>
            <a:ext cx="139159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57% two Blackdsa partners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04542" y="5530453"/>
            <a:ext cx="135591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43% Black +dsad non-Black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57725" y="4892278"/>
            <a:ext cx="3876675" cy="1456879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0125" y="5025628"/>
            <a:ext cx="3643313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Mixed Uniondasdads — Among the Highest Among Visible Minorities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4810125" y="5387578"/>
            <a:ext cx="3643313" cy="828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Most often a Blackdsada male and a white female. The duration of residence in Canada for many Blacks may partially explain why they have one of the highest proportions of mixed marriages or common-law relationships among visible minority couples.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94911" y="661035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29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SETTLEMENT PATTERNS · 2001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42925"/>
            <a:ext cx="8083296" cy="3065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5"/>
              </a:lnSpc>
              <a:spcBef>
                <a:spcPts val="450"/>
              </a:spcBef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Almost Half of saddCanada's Blacks Live in Toronto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982861"/>
            <a:ext cx="796671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2001, almost all Blacks (</a:t>
            </a: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97%</a:t>
            </a: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) lived in urban areas and ddnearly one half (</a:t>
            </a: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47%</a:t>
            </a: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) of the Black population — about </a:t>
            </a: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310,500</a:t>
            </a: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lived in the Toronto CMA. Toronto's Black community is predominantly Caribbean-origin; Montréal's is largely Haitian.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87686"/>
            <a:ext cx="4307384" cy="4105275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23900" y="1511498"/>
            <a:ext cx="4078784" cy="0"/>
          </a:xfrm>
          <a:prstGeom prst="line">
            <a:avLst/>
          </a:prstGeom>
          <a:noFill/>
          <a:ln w="47625">
            <a:solidFill>
              <a:srgbClr val="0F1E3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23900" y="1630561"/>
          <a:ext cx="6858000" cy="3867152"/>
        </p:xfrm>
        <a:graphic>
          <a:graphicData uri="http://schemas.openxmlformats.org/drawingml/2006/table">
            <a:tbl>
              <a:tblPr/>
              <a:tblGrid>
                <a:gridCol w="907554"/>
                <a:gridCol w="672554"/>
                <a:gridCol w="614958"/>
                <a:gridCol w="954584"/>
                <a:gridCol w="929134"/>
              </a:tblGrid>
              <a:tr h="3099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SELECTED CMA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BLACK POP.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% OF TOTAL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% CANADIAN-BORN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% CHANGE 1991–2001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Canada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662,200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2.2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45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31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Toronto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310,500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6.7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b="1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29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Montréal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139,300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4.1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41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37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Halifax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13dsa,100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3.7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91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24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2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Ottawa–Gatineau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38,200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3.6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38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75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Windsor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8,100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2.7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87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Oshawa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7,200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2.4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52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Hamilton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12,800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48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Kitchener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7,300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1.8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46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29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London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7,600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1.8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52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43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Winnipeg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11,400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1.7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45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17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Edmonton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14,100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1.5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49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Calgary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13,700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1.4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45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Vancouver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18,400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48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Non-CMAs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41,000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0.4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72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9600" y="5650111"/>
            <a:ext cx="4393531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50"/>
              </a:spcBef>
              <a:buNone/>
            </a:pPr>
            <a:r>
              <a:rPr lang="en-US" sz="75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Statistics Canada, censuses of population.</a:t>
            </a:r>
            <a:endParaRPr lang="en-US" sz="750" dirty="0"/>
          </a:p>
        </p:txBody>
      </p:sp>
      <p:sp>
        <p:nvSpPr>
          <p:cNvPr id="9" name="Text 6"/>
          <p:cNvSpPr/>
          <p:nvPr>
            <p:custDataLst>
              <p:tags r:id="rId1"/>
            </p:custDataLst>
          </p:nvPr>
        </p:nvSpPr>
        <p:spPr>
          <a:xfrm>
            <a:off x="5088434" y="1487686"/>
            <a:ext cx="3445966" cy="849362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custDataLst>
              <p:tags r:id="rId2"/>
            </p:custDataLst>
          </p:nvPr>
        </p:nvSpPr>
        <p:spPr>
          <a:xfrm>
            <a:off x="5221784" y="1582936"/>
            <a:ext cx="6674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Toronto</a:t>
            </a:r>
            <a:endParaRPr lang="en-US" sz="1200" dirty="0"/>
          </a:p>
        </p:txBody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7089428" y="1621036"/>
            <a:ext cx="133785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310,500 · 6.7% of CMA</a:t>
            </a:r>
            <a:endParaRPr lang="en-US" sz="900" dirty="0"/>
          </a:p>
        </p:txBody>
      </p:sp>
      <p:sp>
        <p:nvSpPr>
          <p:cNvPr id="7" name="Text 9"/>
          <p:cNvSpPr/>
          <p:nvPr>
            <p:custDataLst>
              <p:tags r:id="rId4"/>
            </p:custDataLst>
          </p:nvPr>
        </p:nvSpPr>
        <p:spPr>
          <a:xfrm>
            <a:off x="5221784" y="1802011"/>
            <a:ext cx="3242852" cy="4397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57% foreign-born; 73% of those from the Caribbean, South &amp; Central America (mdasainly Jamaica, Trinidad &amp; Tobago, Guyana). Brampton 10%, Ajax 10%, Pickering 9%.</a:t>
            </a:r>
            <a:endParaRPr lang="en-US" sz="825" dirty="0"/>
          </a:p>
        </p:txBody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5088434" y="2432298"/>
            <a:ext cx="3445966" cy="849362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5221784" y="2527548"/>
            <a:ext cx="78680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Montréal</a:t>
            </a:r>
            <a:endParaRPr lang="en-US" sz="1200" dirty="0"/>
          </a:p>
        </p:txBody>
      </p:sp>
      <p:sp>
        <p:nvSpPr>
          <p:cNvPr id="15" name="Text 12"/>
          <p:cNvSpPr/>
          <p:nvPr>
            <p:custDataLst>
              <p:tags r:id="rId7"/>
            </p:custDataLst>
          </p:nvPr>
        </p:nvSpPr>
        <p:spPr>
          <a:xfrm>
            <a:off x="7089428" y="2565648"/>
            <a:ext cx="133785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139,300 · 4.1% of CMA</a:t>
            </a:r>
            <a:endParaRPr lang="en-US" sz="900" dirty="0"/>
          </a:p>
        </p:txBody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5221784" y="2746623"/>
            <a:ext cx="3242852" cy="4397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55% foreign-born. 78% of those from Caribbean / S. &amp; C. America, primarily Hdsaaiti. Montréal-Nord 15%, LaSalle 9%, Pierrefonds 9%.</a:t>
            </a:r>
            <a:endParaRPr lang="en-US" sz="825" dirty="0"/>
          </a:p>
        </p:txBody>
      </p:sp>
      <p:sp>
        <p:nvSpPr>
          <p:cNvPr id="17" name="Text 14"/>
          <p:cNvSpPr/>
          <p:nvPr>
            <p:custDataLst>
              <p:tags r:id="rId9"/>
            </p:custDataLst>
          </p:nvPr>
        </p:nvSpPr>
        <p:spPr>
          <a:xfrm>
            <a:off x="5088434" y="3376910"/>
            <a:ext cx="3445966" cy="849362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>
            <p:custDataLst>
              <p:tags r:id="rId10"/>
            </p:custDataLst>
          </p:nvPr>
        </p:nvSpPr>
        <p:spPr>
          <a:xfrm>
            <a:off x="5221784" y="3472160"/>
            <a:ext cx="61435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Halifax</a:t>
            </a:r>
            <a:endParaRPr lang="en-US" sz="1200" dirty="0"/>
          </a:p>
        </p:txBody>
      </p:sp>
      <p:sp>
        <p:nvSpPr>
          <p:cNvPr id="19" name="Text 16"/>
          <p:cNvSpPr/>
          <p:nvPr>
            <p:custDataLst>
              <p:tags r:id="rId11"/>
            </p:custDataLst>
          </p:nvPr>
        </p:nvSpPr>
        <p:spPr>
          <a:xfrm>
            <a:off x="7162205" y="3510260"/>
            <a:ext cx="126362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13,100 · 3.7% of CMA</a:t>
            </a:r>
            <a:endParaRPr lang="en-US" sz="900" dirty="0"/>
          </a:p>
        </p:txBody>
      </p:sp>
      <p:sp>
        <p:nvSpPr>
          <p:cNvPr id="20" name="Text 17"/>
          <p:cNvSpPr/>
          <p:nvPr>
            <p:custDataLst>
              <p:tags r:id="rId12"/>
            </p:custDataLst>
          </p:nvPr>
        </p:nvSpPr>
        <p:spPr>
          <a:xfrm>
            <a:off x="5221784" y="3691235"/>
            <a:ext cx="3242852" cy="4397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Over 90% Canadian-born — the highest proportion among CMAs. Eight in dwwd10 Haligonian Blacks are third-generation or beyond.</a:t>
            </a:r>
            <a:endParaRPr lang="en-US" sz="825" dirty="0"/>
          </a:p>
        </p:txBody>
      </p:sp>
      <p:pic>
        <p:nvPicPr>
          <p:cNvPr id="21" name="Image 0" descr="/tmp/html2pptx-dZWDoU/html2pptx-bg-1786384062896-f7e95f4e13be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88434" y="4226272"/>
            <a:ext cx="3445966" cy="123825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088434" y="4240560"/>
            <a:ext cx="3445966" cy="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22196" y="4226272"/>
            <a:ext cx="0" cy="123825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88434" y="5450235"/>
            <a:ext cx="3445966" cy="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02721" y="4226272"/>
            <a:ext cx="0" cy="123825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88434" y="5502622"/>
            <a:ext cx="3514886" cy="257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spcBef>
                <a:spcPts val="300"/>
              </a:spcBef>
              <a:buNone/>
            </a:pPr>
            <a:r>
              <a:rPr lang="en-US" sz="75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Toronto's Caribbean Carnival (Caribana) — celebrated annually since 1967, showcasing Caribbean culture in costume, music, and dance.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8094911" y="662940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EDUCATION · LABOUR MARKET · SUMMARY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04825"/>
            <a:ext cx="8083296" cy="569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spcBef>
                <a:spcPts val="450"/>
              </a:spcBef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Working-Age dawdadwBlacks: Education, Income, and the Path Forward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09600" y="1188541"/>
            <a:ext cx="7966710" cy="5572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2001, Canadian-born Blacks aged 25wadad–54 were </a:t>
            </a: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just as likely to be university educated</a:t>
            </a: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as all Canadian-born persons in that age group (about one in five), but foreigdasdawn-born Blacks were much less likely (20% vs. 32% of all immigrants). Still, employment, income, and unemdwaddployment gaps persist.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879104"/>
            <a:ext cx="7924800" cy="2114550"/>
          </a:xfrm>
          <a:prstGeom prst="rect">
            <a:avLst/>
          </a:prstGeom>
          <a:solidFill>
            <a:srgbClr val="F4F1E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1974354"/>
            <a:ext cx="0" cy="1924050"/>
          </a:xfrm>
          <a:prstGeom prst="line">
            <a:avLst/>
          </a:prstGeom>
          <a:noFill/>
          <a:ln w="47625">
            <a:solidFill>
              <a:srgbClr val="0F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575" y="1974354"/>
            <a:ext cx="776268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PRIME WORKING AGE (25–54), 2001 — SELECTED INDICATORS</a:t>
            </a:r>
            <a:endParaRPr lang="en-US" sz="975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90575" y="2193429"/>
          <a:ext cx="7610475" cy="1704974"/>
        </p:xfrm>
        <a:graphic>
          <a:graphicData uri="http://schemas.openxmlformats.org/drawingml/2006/table">
            <a:tbl>
              <a:tblPr/>
              <a:tblGrid>
                <a:gridCol w="2432149"/>
                <a:gridCol w="1262360"/>
                <a:gridCol w="1175147"/>
                <a:gridCol w="1413867"/>
                <a:gridCol w="1326952"/>
              </a:tblGrid>
              <a:tr h="3104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INDICATOR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CAdaNADIAN-BORN (ALL)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FOREIGN-BORN (AwdLL)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BLACKS, CAdwNADIAN-BORN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BLACKS, FORdwEIGN-BORN</a:t>
                      </a:r>
                      <a:endParaRPr lang="en-US" sz="750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29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University education (%)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32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34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Employment rate, age-standardized (%)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81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76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76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77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34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Unemployment rate, age-standardized (%)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6.0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7.0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7.9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9.6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9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Average employmendwt income (2000, $)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37,200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34,800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29,700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28,700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9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Average income, age-standardized ($)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37,200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34,800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32,000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29,200</a:t>
                      </a:r>
                      <a:endParaRPr lang="en-US" sz="825" dirty="0">
                        <a:latin typeface="DejaVu Sans" pitchFamily="34" charset="0"/>
                        <a:ea typeface="DejaVu Sans" pitchFamily="34" charset="0"/>
                        <a:cs typeface="DejaVu Sans" pitchFamily="34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09600" y="4107954"/>
            <a:ext cx="7924800" cy="2181225"/>
          </a:xfrm>
          <a:prstGeom prst="rect">
            <a:avLst/>
          </a:prstGeom>
          <a:solidFill>
            <a:srgbClr val="0F1E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0100" y="4241304"/>
            <a:ext cx="769467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SUMMARY — KEY TAKEAWAYS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00100" y="4460379"/>
            <a:ext cx="7543800" cy="1657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Diversity across centuries:</a:t>
            </a: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Some Black Canadians trace roots back sedwveral centuries; others arrived in recent decades from the Caribbean and Africa.</a:t>
            </a:r>
            <a:endParaRPr lang="en-US" sz="900" dirty="0"/>
          </a:p>
          <a:p>
            <a:pPr marL="0" indent="0" algn="l">
              <a:lnSpc>
                <a:spcPts val="1350"/>
              </a:lnSpc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Fast-growing and urban:</a:t>
            </a: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The Black population grwdaew 31% from 1991–2001 and is concentrated in Toronto, Montréal, and Halifax.wdawdad</a:t>
            </a:r>
            <a:endParaRPr lang="en-US" sz="900" dirty="0"/>
          </a:p>
          <a:p>
            <a:pPr marL="0" indent="0" algn="l">
              <a:lnSpc>
                <a:spcPts val="1350"/>
              </a:lnSpc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Younger families, higher needs:</a:t>
            </a: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Blacks are youngewadr; children are more likely to live in lone-parent families and low-income households.</a:t>
            </a:r>
            <a:endParaRPr lang="en-US" sz="900" dirty="0"/>
          </a:p>
          <a:p>
            <a:pPr marL="0" indent="0" algn="l">
              <a:lnSpc>
                <a:spcPts val="1350"/>
              </a:lnSpc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Education parity, income gap:</a:t>
            </a: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Canadian-bdwaorn Blacks match the national rate of university education but earn less and face higher unemployment — a gap tied idawn part to </a:t>
            </a: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perceived discrimination</a:t>
            </a: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(32% odwf Blacks reported unfair treatment, vs. 5% of non-minwdaorities).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94911" y="6629400"/>
            <a:ext cx="44827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2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3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4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5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6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7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8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9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10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11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12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13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14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15.xml><?xml version="1.0" encoding="utf-8"?>
<p:tagLst xmlns:p="http://schemas.openxmlformats.org/presentationml/2006/main">
  <p:tag name="KSO_WM_DIAGRAM_VIRTUALLY_FRAME" val="{&quot;height&quot;:151.64062992125983,&quot;left&quot;:48,&quot;top&quot;:206.51952755905512,&quot;width&quot;:623.9882677165355}"/>
</p:tagLst>
</file>

<file path=ppt/tags/tag16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17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18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19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0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1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2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3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4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5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6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7.xml><?xml version="1.0" encoding="utf-8"?>
<p:tagLst xmlns:p="http://schemas.openxmlformats.org/presentationml/2006/main">
  <p:tag name="KSO_WM_DIAGRAM_VIRTUALLY_FRAME" val="{&quot;height&quot;:89.61330708661417,&quot;left&quot;:377.85937007874014,&quot;top&quot;:306.4452755905512,&quot;width&quot;:294.1523622047244}"/>
</p:tagLst>
</file>

<file path=ppt/tags/tag28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29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0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1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2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3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4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5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6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7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8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ags/tag39.xml><?xml version="1.0" encoding="utf-8"?>
<p:tagLst xmlns:p="http://schemas.openxmlformats.org/presentationml/2006/main">
  <p:tag name="KSO_WM_DIAGRAM_VIRTUALLY_FRAME" val="{&quot;height&quot;:215.63669291338584,&quot;left&quot;:400.66409448818894,&quot;top&quot;:117.14062992125984,&quot;width&quot;:271.3359055118110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10769</Words>
  <Application>WPS 演示</Application>
  <PresentationFormat>On-screen Show (16:9)</PresentationFormat>
  <Paragraphs>751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DejaVu Sans</vt:lpstr>
      <vt:lpstr>Calibri</vt:lpstr>
      <vt:lpstr>DejaVu Sans</vt:lpstr>
      <vt:lpstr>DejaVu Sans</vt:lpstr>
      <vt:lpstr>KSOFAF972451</vt:lpstr>
      <vt:lpstr>Segoe Print</vt:lpstr>
      <vt:lpstr>KSOF1B52B550</vt:lpstr>
      <vt:lpstr>微软雅黑</vt:lpstr>
      <vt:lpstr>Arial Unicode MS</vt:lpstr>
      <vt:lpstr>等线</vt:lpstr>
      <vt:lpstr>KSOF43DB9352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2026-08-10T17:47:00Z</dcterms:created>
  <dcterms:modified xsi:type="dcterms:W3CDTF">2026-08-17T08:10:03Z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1EB71AF72A7D430A838EBA99BB50522C_12</vt:lpwstr>
  </property>
  <property fmtid="{D5CDD505-2E9C-101B-9397-08002B2CF9AE}" pid="3" name="KSOProductBuildVer">
    <vt:lpwstr>2052-12.1.0.28022</vt:lpwstr>
  </property>
</Properties>
</file>