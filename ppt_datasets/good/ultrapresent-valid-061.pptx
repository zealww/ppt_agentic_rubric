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bErqam/html2pptx-bg-1786386051889-6b9b80332d24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66675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PRACTICAL ACTION · PUPIL ACTIVITY SHEETS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762000" y="1133475"/>
            <a:ext cx="7772400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0"/>
              </a:lnSpc>
              <a:spcBef>
                <a:spcPts val="2100"/>
              </a:spcBef>
              <a:buNone/>
            </a:pPr>
            <a:r>
              <a:rPr lang="en-US" sz="7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Ditch the
</a:t>
            </a:r>
            <a:pPr algn="l" indent="0" marL="0">
              <a:lnSpc>
                <a:spcPts val="6840"/>
              </a:lnSpc>
              <a:spcBef>
                <a:spcPts val="2100"/>
              </a:spcBef>
              <a:buNone/>
            </a:pPr>
            <a:r>
              <a:rPr lang="en-US" sz="720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Dirt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62000" y="3137297"/>
            <a:ext cx="68008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spcBef>
                <a:spcPts val="2100"/>
              </a:spcBef>
              <a:buNone/>
            </a:pPr>
            <a:r>
              <a:rPr lang="en-US" sz="225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clean-water challenge for young scientists: investigate, filter and design affordable ways to make water safe to drink.</a:t>
            </a:r>
            <a:endParaRPr lang="en-US" sz="2250" dirty="0"/>
          </a:p>
        </p:txBody>
      </p:sp>
      <p:pic>
        <p:nvPicPr>
          <p:cNvPr id="6" name="Image 1" descr="/tmp/html2pptx-bErqam/html2pptx-bg-1786386051976-c5c3ba27c54d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695450"/>
            <a:ext cx="3810000" cy="2857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34000" y="1933575"/>
            <a:ext cx="30480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53425" y="1905000"/>
            <a:ext cx="0" cy="209550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34000" y="3971925"/>
            <a:ext cx="30480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62575" y="1905000"/>
            <a:ext cx="0" cy="209550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34000" y="4095750"/>
            <a:ext cx="3108960" cy="32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insecurity affects millions across sub-Saharan Africa.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762000" y="5382667"/>
            <a:ext cx="5052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CONTEXT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2000" y="5592217"/>
            <a:ext cx="5052060" cy="6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Linked to UN Sustainable Development Goal 6 — Clean Water &amp; Sanitation — and the community of Turkana, Kenya.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340650" y="5314950"/>
            <a:ext cx="1041350" cy="97155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4B4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57567" y="5486400"/>
            <a:ext cx="59583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7557567" y="5962650"/>
            <a:ext cx="5958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450"/>
              </a:spcBef>
              <a:buNone/>
            </a:pPr>
            <a:r>
              <a:rPr lang="en-US" sz="1050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5049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76250"/>
            <a:ext cx="620532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Sustainable Development 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655147" y="685800"/>
            <a:ext cx="1955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02 · GLOBAL GOALS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695450"/>
            <a:ext cx="7966710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350"/>
              </a:spcBef>
              <a:buNone/>
            </a:pPr>
            <a:r>
              <a:rPr lang="en-US" sz="135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2015, world leaders agreed on 17 Global Goals to end poverty, protect the planet and ensure prosperity for all by 2030. The Ditch the Dirt challenge focuses on Goal 6 — Clean Water &amp; Sanitation.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2475" y="2758083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52475" y="2920008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Poverty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52475" y="3148608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End poverty in all its forms everywhere.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2600325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624138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1300" y="2758083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781300" y="2920008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Zero Hunger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781300" y="3148608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End hunger and promote sustainable agriculture.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4629150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2963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0125" y="2758083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3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10125" y="2920008"/>
            <a:ext cx="16322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Good Health &amp; Well-being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810125" y="3320058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Healthy lives for all at all ages.</a:t>
            </a:r>
            <a:endParaRPr lang="en-US" sz="863" dirty="0"/>
          </a:p>
        </p:txBody>
      </p:sp>
      <p:sp>
        <p:nvSpPr>
          <p:cNvPr id="21" name="Text 19"/>
          <p:cNvSpPr/>
          <p:nvPr/>
        </p:nvSpPr>
        <p:spPr>
          <a:xfrm>
            <a:off x="6657975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681788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8950" y="2758083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838950" y="2920008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Education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838950" y="3148608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Inclusive, equitable learning for all.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571500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5313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475" y="3947517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5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52475" y="4109442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Gender Equality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52475" y="4338042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Empower all women and girls.</a:t>
            </a:r>
            <a:endParaRPr lang="en-US" sz="863" dirty="0"/>
          </a:p>
        </p:txBody>
      </p:sp>
      <p:sp>
        <p:nvSpPr>
          <p:cNvPr id="31" name="Text 29"/>
          <p:cNvSpPr/>
          <p:nvPr/>
        </p:nvSpPr>
        <p:spPr>
          <a:xfrm>
            <a:off x="2600325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0A6C8A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624138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1300" y="3947517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781300" y="4109442"/>
            <a:ext cx="16322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Water &amp; Sanitation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2781300" y="4509492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water and sanitation for all.</a:t>
            </a:r>
            <a:endParaRPr lang="en-US" sz="863" dirty="0"/>
          </a:p>
        </p:txBody>
      </p:sp>
      <p:sp>
        <p:nvSpPr>
          <p:cNvPr id="36" name="Text 34"/>
          <p:cNvSpPr/>
          <p:nvPr/>
        </p:nvSpPr>
        <p:spPr>
          <a:xfrm>
            <a:off x="4629150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52963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0125" y="3947517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7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810125" y="4109442"/>
            <a:ext cx="16322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Affordable &amp; Clean Energy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4810125" y="4509492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Reliable, sustainable modern energy.</a:t>
            </a:r>
            <a:endParaRPr lang="en-US" sz="863" dirty="0"/>
          </a:p>
        </p:txBody>
      </p:sp>
      <p:sp>
        <p:nvSpPr>
          <p:cNvPr id="41" name="Text 39"/>
          <p:cNvSpPr/>
          <p:nvPr/>
        </p:nvSpPr>
        <p:spPr>
          <a:xfrm>
            <a:off x="6657975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681788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8950" y="3947517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13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6838950" y="4109442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Climate Action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838950" y="4338042"/>
            <a:ext cx="16322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spcBef>
                <a:spcPts val="45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Combat climate change and its impacts.</a:t>
            </a:r>
            <a:endParaRPr lang="en-US" sz="863" dirty="0"/>
          </a:p>
        </p:txBody>
      </p:sp>
      <p:sp>
        <p:nvSpPr>
          <p:cNvPr id="46" name="Text 44"/>
          <p:cNvSpPr/>
          <p:nvPr/>
        </p:nvSpPr>
        <p:spPr>
          <a:xfrm>
            <a:off x="571500" y="6486525"/>
            <a:ext cx="42069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 Goals · 169 targets · One shared agenda for people and planet.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4901059" y="6486525"/>
            <a:ext cx="3744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activity sheets, Practical Action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A6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476250"/>
            <a:ext cx="2992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GLOBAL GOAL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752475"/>
            <a:ext cx="2992374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1050"/>
              </a:spcBef>
              <a:buNone/>
            </a:pPr>
            <a:r>
              <a:rPr lang="en-US" sz="19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</a:t>
            </a:r>
            <a:pPr algn="l" indent="0" marL="0">
              <a:lnSpc>
                <a:spcPts val="4200"/>
              </a:lnSpc>
              <a:spcBef>
                <a:spcPts val="1050"/>
              </a:spcBef>
              <a:buNone/>
            </a:pPr>
            <a:r>
              <a:rPr lang="en-US" sz="4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Water &amp; Sanitation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42900" y="752475"/>
            <a:ext cx="29923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50"/>
              </a:spcAft>
              <a:buNone/>
            </a:pPr>
            <a:r>
              <a:rPr lang="en-US" sz="19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</a:t>
            </a:r>
            <a:endParaRPr lang="en-US" sz="1950" dirty="0"/>
          </a:p>
        </p:txBody>
      </p:sp>
      <p:pic>
        <p:nvPicPr>
          <p:cNvPr id="6" name="Image 0" descr="/tmp/html2pptx-mCmTKJ/html2pptx-bg-1786386054065-0e4e2eebe9d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2924175"/>
            <a:ext cx="2095500" cy="2095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2900" y="5561856"/>
            <a:ext cx="2933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5699968"/>
            <a:ext cx="2992374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"Ensure availability and sustainable management of water and sanitation for all."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2900" y="6317010"/>
            <a:ext cx="29923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— United Nations, 2015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38600" y="476250"/>
            <a:ext cx="478002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Goal 6 matters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038600" y="904875"/>
            <a:ext cx="4780026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water is the foundation of health, education and dignity. Yet billions of people still lack safe water at home. Goal 6 sets clear 2030 targets that drive the Ditch the Dirt challenge.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38600" y="2621756"/>
            <a:ext cx="468630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38600" y="2112169"/>
            <a:ext cx="48577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48200" y="2112169"/>
            <a:ext cx="41582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drinking water</a:t>
            </a:r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achieve universal and equitable access for all.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4038600" y="3246537"/>
            <a:ext cx="468630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38600" y="2736949"/>
            <a:ext cx="48577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6.2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648200" y="2736949"/>
            <a:ext cx="41582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Sanitation &amp; hygiene</a:t>
            </a:r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end open defecation and provide adequate facilities.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4038600" y="3871317"/>
            <a:ext cx="468630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38600" y="3361730"/>
            <a:ext cx="48577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648200" y="3361730"/>
            <a:ext cx="41582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quality</a:t>
            </a:r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reduce pollution and halve the proportion of untreated wastewater.</a:t>
            </a:r>
            <a:endParaRPr lang="en-US" sz="1088" dirty="0"/>
          </a:p>
        </p:txBody>
      </p:sp>
      <p:sp>
        <p:nvSpPr>
          <p:cNvPr id="21" name="Text 18"/>
          <p:cNvSpPr/>
          <p:nvPr/>
        </p:nvSpPr>
        <p:spPr>
          <a:xfrm>
            <a:off x="4038600" y="4081760"/>
            <a:ext cx="1473101" cy="1074241"/>
          </a:xfrm>
          <a:prstGeom prst="roundRect">
            <a:avLst>
              <a:gd name="adj" fmla="val 3547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152900" y="4100810"/>
            <a:ext cx="1244501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2900" y="4253210"/>
            <a:ext cx="12693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2.2B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152900" y="4577060"/>
            <a:ext cx="1269391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people lack safely managed drinking water at home.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45051" y="4081760"/>
            <a:ext cx="1473250" cy="1074241"/>
          </a:xfrm>
          <a:prstGeom prst="roundRect">
            <a:avLst>
              <a:gd name="adj" fmla="val 3547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759351" y="4100810"/>
            <a:ext cx="124465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59351" y="4253210"/>
            <a:ext cx="12695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3.5B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5759351" y="4577060"/>
            <a:ext cx="126954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people lack safely managed sanitation.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251650" y="4081760"/>
            <a:ext cx="1473250" cy="1074241"/>
          </a:xfrm>
          <a:prstGeom prst="roundRect">
            <a:avLst>
              <a:gd name="adj" fmla="val 3547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7365950" y="4100810"/>
            <a:ext cx="124465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65950" y="4253210"/>
            <a:ext cx="12695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2030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7365950" y="4577060"/>
            <a:ext cx="126954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deadline for achieving Goal 6 targets.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367463" y="6562725"/>
            <a:ext cx="2404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Practical Action · UN SDG framework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G5RswE/html2pptx-bg-1786386055229-1487dec53b79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429000"/>
          </a:xfrm>
          <a:prstGeom prst="rect">
            <a:avLst/>
          </a:prstGeom>
        </p:spPr>
      </p:pic>
      <p:pic>
        <p:nvPicPr>
          <p:cNvPr id="3" name="Image 1" descr="/tmp/html2pptx-G5RswE/html2pptx-bg-1786386055520-dbe28da02a84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76250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CASE STUDY · TURKANA, KENYA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71500" y="723900"/>
            <a:ext cx="81610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Bef>
                <a:spcPts val="750"/>
              </a:spcBef>
              <a:buNone/>
            </a:pPr>
            <a:r>
              <a:rPr lang="en-US" sz="3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Water, Life &amp; the Ditch the Dirt Challenge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571500" y="3048000"/>
            <a:ext cx="7810500" cy="119062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95250" dir="5400000">
              <a:srgbClr val="0a3d52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00075" y="3257550"/>
            <a:ext cx="0" cy="771525"/>
          </a:xfrm>
          <a:prstGeom prst="line">
            <a:avLst/>
          </a:prstGeom>
          <a:noFill/>
          <a:ln w="57150">
            <a:solidFill>
              <a:srgbClr val="F4B41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76300" y="3257550"/>
            <a:ext cx="740321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Turkana, northern Kenya, families collect water from hand-dug holes in dry riverbeds. The water is often muddy, unsafe and shared with animals. Your challenge: act as a water scientist designing affordable filters for this community.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71500" y="4572000"/>
            <a:ext cx="2565350" cy="1356122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3d52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42950" y="4591050"/>
            <a:ext cx="222245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2950" y="4781550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PLACE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2950" y="5010150"/>
            <a:ext cx="226689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Arid county in northern Kenya where surface water is scarce and groundwater is often salty or contaminated.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289250" y="4572000"/>
            <a:ext cx="2565350" cy="1356122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3d52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3460700" y="4591050"/>
            <a:ext cx="222245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60700" y="4781550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PEOPLE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60700" y="5010150"/>
            <a:ext cx="226689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Pastoralist communities rely on daily water collection, mostly by women and children walking long distances.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07001" y="4572000"/>
            <a:ext cx="2565499" cy="1356122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3d52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178451" y="4591050"/>
            <a:ext cx="2222599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78451" y="4781550"/>
            <a:ext cx="22670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178451" y="5010150"/>
            <a:ext cx="226705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Scooped water carries dirt, microbes and debris that cause disease — boiling or filtering is essential before drinking.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71500" y="6562725"/>
            <a:ext cx="8161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Image: village water collection, Innovation: Africa. Source text: Ditch the Dirt pupil sheets, Practical Action.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9715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9100"/>
            <a:ext cx="57628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Investigating Water Quality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724501" y="628650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05 · ACTIVITY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123950"/>
            <a:ext cx="7966710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Scientists analyse water from rivers, water holes and treatment works. Your task: examine four samples, recording the </a:t>
            </a:r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b="1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odour</a:t>
            </a:r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</a:t>
            </a:r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b="1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appearance</a:t>
            </a:r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and give each a score on the Water Grading Scale (0 = clear, 4 = very dirty).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996083"/>
            <a:ext cx="3990677" cy="2846189"/>
          </a:xfrm>
          <a:prstGeom prst="roundRect">
            <a:avLst>
              <a:gd name="adj" fmla="val 2008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2015133"/>
            <a:ext cx="3609677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205633"/>
            <a:ext cx="36818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recording sheet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00908"/>
          <a:ext cx="6858000" cy="914400"/>
        </p:xfrm>
        <a:graphic>
          <a:graphicData uri="http://schemas.openxmlformats.org/drawingml/2006/table">
            <a:tbl>
              <a:tblPr/>
              <a:tblGrid>
                <a:gridCol w="640759"/>
                <a:gridCol w="983671"/>
                <a:gridCol w="1364037"/>
                <a:gridCol w="621211"/>
              </a:tblGrid>
              <a:tr h="5459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Sample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Odour — what does it smell of?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Appearance — what does it look like?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Score (0–4)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8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8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8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8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38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71727" y="1996083"/>
            <a:ext cx="3800773" cy="2846189"/>
          </a:xfrm>
          <a:prstGeom prst="roundRect">
            <a:avLst>
              <a:gd name="adj" fmla="val 2008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962227" y="2015133"/>
            <a:ext cx="3419773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62227" y="2205633"/>
            <a:ext cx="34881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to look for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62227" y="2481858"/>
            <a:ext cx="3419773" cy="1553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Odour: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earthy, fishy, chlorine, rotten-egg, chemical or no smell at all.</a:t>
            </a:r>
            <a:endParaRPr lang="en-US" sz="1013" dirty="0"/>
          </a:p>
          <a:p>
            <a:pPr algn="l" marL="171450" indent="-17145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Appearance: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colour, cloudiness, floating particles, sediment, oily film.</a:t>
            </a:r>
            <a:endParaRPr lang="en-US" sz="1013" dirty="0"/>
          </a:p>
          <a:p>
            <a:pPr algn="l" marL="171450" indent="-17145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Compare: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hold each sample against a white sheet of paper to judge clarity.</a:t>
            </a:r>
            <a:endParaRPr lang="en-US" sz="1013" dirty="0"/>
          </a:p>
          <a:p>
            <a:pPr algn="l" marL="171450" indent="-17145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Stay safe: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smell by wafting — never put your nose directly over the sample.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4962227" y="4111823"/>
            <a:ext cx="3488168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600"/>
              </a:spcBef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 observations in your own words before scoring. Honest descriptions matter more than neat ones.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571500" y="6581775"/>
            <a:ext cx="30919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Activity from: Ditch the Dirt pupil sheets, Practical Action.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096298" y="6581775"/>
            <a:ext cx="25257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the Water Grading Strips on the next slide.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477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76250"/>
            <a:ext cx="46277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Grading Strips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83982" y="704850"/>
            <a:ext cx="22322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06 · SCORING TOOL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200150"/>
            <a:ext cx="796671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this 0–4 scale to score the appearance of each water sample. The higher the score, the dirtier the water — and the more work your filter will need to do.</a:t>
            </a:r>
            <a:endParaRPr lang="en-US" sz="1200" dirty="0"/>
          </a:p>
        </p:txBody>
      </p:sp>
      <p:pic>
        <p:nvPicPr>
          <p:cNvPr id="6" name="Image 0" descr="/tmp/html2pptx-fDzKzo/html2pptx-bg-1786386057469-6354bbeeb622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46672"/>
            <a:ext cx="1493490" cy="190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" y="1946672"/>
            <a:ext cx="152336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3851672"/>
            <a:ext cx="1493490" cy="86498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3151" y="3965972"/>
            <a:ext cx="1290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Clear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73151" y="4175522"/>
            <a:ext cx="129018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1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visible particles; water looks like tap water.</a:t>
            </a:r>
            <a:endParaRPr lang="en-US" sz="863" dirty="0"/>
          </a:p>
        </p:txBody>
      </p:sp>
      <p:pic>
        <p:nvPicPr>
          <p:cNvPr id="11" name="Image 1" descr="/tmp/html2pptx-fDzKzo/html2pptx-bg-1786386057607-687f05f3cb1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340" y="1946672"/>
            <a:ext cx="149349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8340" y="1946672"/>
            <a:ext cx="152336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98340" y="3851672"/>
            <a:ext cx="1493490" cy="89415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299991" y="3965972"/>
            <a:ext cx="1290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Some cloudiness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2299991" y="4346972"/>
            <a:ext cx="129018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1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Slight haze; particles only just visible.</a:t>
            </a:r>
            <a:endParaRPr lang="en-US" sz="863" dirty="0"/>
          </a:p>
        </p:txBody>
      </p:sp>
      <p:pic>
        <p:nvPicPr>
          <p:cNvPr id="16" name="Image 2" descr="/tmp/html2pptx-fDzKzo/html2pptx-bg-1786386057698-bf2e8c10e6e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180" y="1946672"/>
            <a:ext cx="1493490" cy="1905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25180" y="1946672"/>
            <a:ext cx="152336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>
                    <a:alpha val="95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25180" y="3851672"/>
            <a:ext cx="1493490" cy="7227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926832" y="3965972"/>
            <a:ext cx="1290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Cloudy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3926832" y="4175522"/>
            <a:ext cx="129018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1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Clearly murky; you cannot see through it.</a:t>
            </a:r>
            <a:endParaRPr lang="en-US" sz="863" dirty="0"/>
          </a:p>
        </p:txBody>
      </p:sp>
      <p:pic>
        <p:nvPicPr>
          <p:cNvPr id="21" name="Image 3" descr="/tmp/html2pptx-fDzKzo/html2pptx-bg-1786386057774-6f412ba6297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021" y="1946672"/>
            <a:ext cx="1493490" cy="1905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2021" y="1946672"/>
            <a:ext cx="152336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>
                    <a:alpha val="95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52021" y="3851672"/>
            <a:ext cx="1493490" cy="86498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553672" y="3965972"/>
            <a:ext cx="1290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Dirty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5553672" y="4175522"/>
            <a:ext cx="129018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1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Dark with sediment; lots of suspended solids.</a:t>
            </a:r>
            <a:endParaRPr lang="en-US" sz="863" dirty="0"/>
          </a:p>
        </p:txBody>
      </p:sp>
      <p:pic>
        <p:nvPicPr>
          <p:cNvPr id="26" name="Image 4" descr="/tmp/html2pptx-fDzKzo/html2pptx-bg-1786386057859-fa416140d8ce9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861" y="1946672"/>
            <a:ext cx="1493639" cy="1905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78861" y="1946672"/>
            <a:ext cx="152351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>
                    <a:alpha val="95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078861" y="3851672"/>
            <a:ext cx="1493639" cy="7227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7180511" y="3965972"/>
            <a:ext cx="1290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Very dirty</a:t>
            </a:r>
            <a:endParaRPr lang="en-US" sz="1125" dirty="0"/>
          </a:p>
        </p:txBody>
      </p:sp>
      <p:sp>
        <p:nvSpPr>
          <p:cNvPr id="30" name="Text 23"/>
          <p:cNvSpPr/>
          <p:nvPr/>
        </p:nvSpPr>
        <p:spPr>
          <a:xfrm>
            <a:off x="7180511" y="4175522"/>
            <a:ext cx="129034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1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Thick with mud and debris; almost opaque.</a:t>
            </a:r>
            <a:endParaRPr lang="en-US" sz="863" dirty="0"/>
          </a:p>
        </p:txBody>
      </p:sp>
      <p:sp>
        <p:nvSpPr>
          <p:cNvPr id="31" name="Text 24"/>
          <p:cNvSpPr/>
          <p:nvPr/>
        </p:nvSpPr>
        <p:spPr>
          <a:xfrm>
            <a:off x="571500" y="5537895"/>
            <a:ext cx="8001000" cy="653355"/>
          </a:xfrm>
          <a:prstGeom prst="roundRect">
            <a:avLst>
              <a:gd name="adj" fmla="val 5831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600075" y="5671245"/>
            <a:ext cx="0" cy="386655"/>
          </a:xfrm>
          <a:prstGeom prst="line">
            <a:avLst/>
          </a:prstGeom>
          <a:noFill/>
          <a:ln w="57150">
            <a:solidFill>
              <a:srgbClr val="F4B41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00100" y="5671245"/>
            <a:ext cx="7752969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Tip: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Always score the same way for every sample — hold the jar against white paper, look from the side, and agree on a score with your team before writing it down.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71500" y="6562725"/>
            <a:ext cx="8161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 — Water grading strips.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9715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9100"/>
            <a:ext cx="44232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Investigating Sieving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724501" y="628650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07 · ACTIVITY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123950"/>
            <a:ext cx="7966710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Sieves separate solid material from a liquid. Imagine your team has been given a sample of dirty water. Test it before and after passing it through two sieves with different mesh sizes — and again with both sieves together.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977033"/>
            <a:ext cx="4081165" cy="3992761"/>
          </a:xfrm>
          <a:prstGeom prst="roundRect">
            <a:avLst>
              <a:gd name="adj" fmla="val 14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1996083"/>
            <a:ext cx="3700165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186583"/>
            <a:ext cx="3774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Recording your results</a:t>
            </a:r>
            <a:endParaRPr lang="en-US" sz="127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72333"/>
          <a:ext cx="6858000" cy="914400"/>
        </p:xfrm>
        <a:graphic>
          <a:graphicData uri="http://schemas.openxmlformats.org/drawingml/2006/table">
            <a:tbl>
              <a:tblPr/>
              <a:tblGrid>
                <a:gridCol w="1385137"/>
                <a:gridCol w="523138"/>
                <a:gridCol w="880203"/>
                <a:gridCol w="911687"/>
              </a:tblGrid>
              <a:tr h="392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Properties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Odour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Appearance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Solids in sieve (g)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Water before sieving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After sieve 1 (large mesh)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After sieve 2 (fine mesh)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After sieves 1 + 2 together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567833"/>
            <a:ext cx="3700165" cy="948333"/>
          </a:xfrm>
          <a:prstGeom prst="roundRect">
            <a:avLst>
              <a:gd name="adj" fmla="val 4018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85813" y="4682133"/>
            <a:ext cx="0" cy="719733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2975" y="4682133"/>
            <a:ext cx="345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DISCUSS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942975" y="4882158"/>
            <a:ext cx="3453557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Which combination of sieves would you recommend to Kenyan scientists as part of a water-cleaning system, and why?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862215" y="1977033"/>
            <a:ext cx="3710285" cy="3992761"/>
          </a:xfrm>
          <a:prstGeom prst="roundRect">
            <a:avLst>
              <a:gd name="adj" fmla="val 1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052715" y="1996083"/>
            <a:ext cx="3329285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52715" y="2186583"/>
            <a:ext cx="33958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to run the test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052715" y="2472333"/>
            <a:ext cx="3329285" cy="2244328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Stir the dirty water sample gently, then describe its odour and appearance.</a:t>
            </a:r>
            <a:endParaRPr lang="en-US" sz="1013" dirty="0"/>
          </a:p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Pour the sample slowly through sieve 1. Catch the water that passes through.</a:t>
            </a:r>
            <a:endParaRPr lang="en-US" sz="1013" dirty="0"/>
          </a:p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Weigh the solids trapped in the sieve and record your observations.</a:t>
            </a:r>
            <a:endParaRPr lang="en-US" sz="1013" dirty="0"/>
          </a:p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Repeat with sieve 2, then with both sieves stacked, recording each time.</a:t>
            </a:r>
            <a:endParaRPr lang="en-US" sz="1013" dirty="0"/>
          </a:p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Compare the water's score on the grading scale before and after each step.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5052715" y="4850011"/>
            <a:ext cx="3329285" cy="948333"/>
          </a:xfrm>
          <a:prstGeom prst="roundRect">
            <a:avLst>
              <a:gd name="adj" fmla="val 4018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076527" y="4964311"/>
            <a:ext cx="0" cy="719733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3690" y="4964311"/>
            <a:ext cx="3075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THINK LIKE A SCIENTIST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233690" y="5164336"/>
            <a:ext cx="3075259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Sieves remove solids — but do they remove colour, smell or microbes? Note what changes and what does not.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71500" y="6581775"/>
            <a:ext cx="8161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Activity from: Ditch the Dirt pupil sheets, Practical Action.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8Jofqe/html2pptx-bg-1786386059726-67e04ad5b4da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552575"/>
            <a:ext cx="8001000" cy="0"/>
          </a:xfrm>
          <a:prstGeom prst="line">
            <a:avLst/>
          </a:prstGeom>
          <a:noFill/>
          <a:ln w="19050">
            <a:solidFill>
              <a:srgbClr val="F4B4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76250"/>
            <a:ext cx="5999928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</a:t>
            </a:r>
            <a:pPr algn="l" indent="0" marL="0">
              <a:buNone/>
            </a:pPr>
            <a:r>
              <a:rPr lang="en-US" sz="31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Ditch the Dirt</a:t>
            </a:r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Challenge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453783" y="723900"/>
            <a:ext cx="2161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08 · DESIGN &amp; BUILD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714500"/>
            <a:ext cx="7966710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spcBef>
                <a:spcPts val="1200"/>
              </a:spcBef>
              <a:buNone/>
            </a:pPr>
            <a:r>
              <a:rPr lang="en-US" sz="127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challenge: design and make a water filter that removes as much "dirt" as possible from a sample of dirty water. Before building your final filter, prototype and test </a:t>
            </a:r>
            <a:pPr algn="l" indent="0" marL="0">
              <a:lnSpc>
                <a:spcPts val="1849"/>
              </a:lnSpc>
              <a:spcBef>
                <a:spcPts val="1200"/>
              </a:spcBef>
              <a:buNone/>
            </a:pPr>
            <a:r>
              <a:rPr lang="en-US" sz="1275" b="1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two different designs</a:t>
            </a:r>
            <a:pPr algn="l" indent="0" marL="0">
              <a:lnSpc>
                <a:spcPts val="1849"/>
              </a:lnSpc>
              <a:spcBef>
                <a:spcPts val="1200"/>
              </a:spcBef>
              <a:buNone/>
            </a:pPr>
            <a:r>
              <a:rPr lang="en-US" sz="127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record what changes.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571500" y="2647206"/>
            <a:ext cx="3895725" cy="2013347"/>
          </a:xfrm>
          <a:prstGeom prst="roundRect">
            <a:avLst>
              <a:gd name="adj" fmla="val 1892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818656"/>
            <a:ext cx="0" cy="1670447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" y="2818656"/>
            <a:ext cx="3546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Variables to change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0100" y="3094881"/>
            <a:ext cx="3476625" cy="674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materials you use for each layer.</a:t>
            </a:r>
            <a:endParaRPr lang="en-US" sz="1050" dirty="0"/>
          </a:p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order in which the layers are stacked.</a:t>
            </a:r>
            <a:endParaRPr lang="en-US" sz="1050" dirty="0"/>
          </a:p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depth (thickness) of each layer.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" y="3845272"/>
            <a:ext cx="35461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Run each test for 5 minutes and measure the water collected.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76775" y="2647206"/>
            <a:ext cx="3895725" cy="2013347"/>
          </a:xfrm>
          <a:prstGeom prst="roundRect">
            <a:avLst>
              <a:gd name="adj" fmla="val 1892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95825" y="2818656"/>
            <a:ext cx="0" cy="1670447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05375" y="2818656"/>
            <a:ext cx="3546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 for each filter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05375" y="3094881"/>
            <a:ext cx="3476625" cy="91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Odour of the water before and after.</a:t>
            </a:r>
            <a:endParaRPr lang="en-US" sz="1050" dirty="0"/>
          </a:p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Appearance description before and after.</a:t>
            </a:r>
            <a:endParaRPr lang="en-US" sz="1050" dirty="0"/>
          </a:p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grade (0–4) before and after.</a:t>
            </a:r>
            <a:endParaRPr lang="en-US" sz="1050" dirty="0"/>
          </a:p>
          <a:p>
            <a:pPr algn="l" marL="228600" indent="-228600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Millilitres of water collected in 5 minutes.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05375" y="4089053"/>
            <a:ext cx="35461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Then sketch and label your final design — see slide 9.</a:t>
            </a:r>
            <a:endParaRPr lang="en-US" sz="1050" dirty="0"/>
          </a:p>
        </p:txBody>
      </p:sp>
      <p:pic>
        <p:nvPicPr>
          <p:cNvPr id="17" name="Image 1" descr="/tmp/html2pptx-8Jofqe/html2pptx-bg-1786386059854-22480d3e180b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4229100"/>
            <a:ext cx="3238500" cy="2476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905500" y="4405313"/>
            <a:ext cx="26670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48688" y="4381500"/>
            <a:ext cx="0" cy="19050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05500" y="6262688"/>
            <a:ext cx="26670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29313" y="4381500"/>
            <a:ext cx="0" cy="19050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1500" y="6581775"/>
            <a:ext cx="48905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Image: layered filtration system. Activity from Practical Action's Ditch the Dirt pupil sheets.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885825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81000"/>
            <a:ext cx="481767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Costing Our Water Filter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75809" y="581025"/>
            <a:ext cx="21386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09 · AFFORDABILITY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019175"/>
            <a:ext cx="796671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900"/>
              </a:spcBef>
              <a:buNone/>
            </a:pPr>
            <a:r>
              <a:rPr lang="en-US" sz="1088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 calls for water to be </a:t>
            </a:r>
            <a:pPr algn="l" indent="0" marL="0">
              <a:lnSpc>
                <a:spcPts val="1523"/>
              </a:lnSpc>
              <a:spcBef>
                <a:spcPts val="900"/>
              </a:spcBef>
              <a:buNone/>
            </a:pPr>
            <a:r>
              <a:rPr lang="en-US" sz="1088" b="1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and affordable</a:t>
            </a:r>
            <a:pPr algn="l" indent="0" marL="0">
              <a:lnSpc>
                <a:spcPts val="1523"/>
              </a:lnSpc>
              <a:spcBef>
                <a:spcPts val="900"/>
              </a:spcBef>
              <a:buNone/>
            </a:pPr>
            <a:r>
              <a:rPr lang="en-US" sz="1088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In Turkana, an expensive filter is useless — it must be cheap enough for families to build and replace. Use these local prices to cost your design.</a:t>
            </a:r>
            <a:endParaRPr lang="en-US" sz="1088" dirty="0"/>
          </a:p>
        </p:txBody>
      </p:sp>
      <p:sp>
        <p:nvSpPr>
          <p:cNvPr id="6" name="Text 4"/>
          <p:cNvSpPr/>
          <p:nvPr/>
        </p:nvSpPr>
        <p:spPr>
          <a:xfrm>
            <a:off x="571500" y="1539180"/>
            <a:ext cx="4567238" cy="3838575"/>
          </a:xfrm>
          <a:prstGeom prst="roundRect">
            <a:avLst>
              <a:gd name="adj" fmla="val 1489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23900" y="1558230"/>
            <a:ext cx="4262438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900" y="1710630"/>
            <a:ext cx="4347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Materials &amp; prices (Kenyan shillings)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1929705"/>
            <a:ext cx="43476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3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Currency: £1.00 ≈ 140 Kenyan shillings (KSh).</a:t>
            </a:r>
            <a:endParaRPr lang="en-US" sz="938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2148780"/>
          <a:ext cx="6858000" cy="914400"/>
        </p:xfrm>
        <a:graphic>
          <a:graphicData uri="http://schemas.openxmlformats.org/drawingml/2006/table">
            <a:tbl>
              <a:tblPr/>
              <a:tblGrid>
                <a:gridCol w="1397503"/>
                <a:gridCol w="1177097"/>
                <a:gridCol w="961789"/>
                <a:gridCol w="726049"/>
              </a:tblGrid>
              <a:tr h="2293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Material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Cost per unit (KSh)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Qty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Total (KSh)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 L plastic bottle / tub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Gravel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100 / cup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Coarse sand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100 / cup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Fine sand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120 / cup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Marbles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200 / cup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Cotton wool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ball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Paper towel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towel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Cloth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 / 10 cm²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Elastic band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band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Card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 / sheet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Junk modelling item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item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Total filter cost (KSh)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3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10188" y="1653480"/>
            <a:ext cx="3262313" cy="1137047"/>
          </a:xfrm>
          <a:prstGeom prst="roundRect">
            <a:avLst>
              <a:gd name="adj" fmla="val 3351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334000" y="1767780"/>
            <a:ext cx="0" cy="908447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91163" y="1767780"/>
            <a:ext cx="30069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DOES COST MATTER?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91163" y="1958280"/>
            <a:ext cx="3006947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Many families in Turkana live on very low incomes. A filter that costs too much — or needs parts they cannot find locally — will not be used. Affordable designs save lives.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310188" y="2904827"/>
            <a:ext cx="3262313" cy="809625"/>
          </a:xfrm>
          <a:prstGeom prst="roundRect">
            <a:avLst>
              <a:gd name="adj" fmla="val 7059"/>
            </a:avLst>
          </a:prstGeom>
          <a:solidFill>
            <a:srgbClr val="0A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62588" y="3038177"/>
            <a:ext cx="30166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£1 ≈ 140 KSh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62588" y="3314402"/>
            <a:ext cx="30166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this to convert your filter's total cost into pounds and compare with classmates.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10188" y="3828752"/>
            <a:ext cx="3262313" cy="957560"/>
          </a:xfrm>
          <a:prstGeom prst="roundRect">
            <a:avLst>
              <a:gd name="adj" fmla="val 3979"/>
            </a:avLst>
          </a:prstGeom>
          <a:solidFill>
            <a:srgbClr val="EEF3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334000" y="3943052"/>
            <a:ext cx="0" cy="728960"/>
          </a:xfrm>
          <a:prstGeom prst="line">
            <a:avLst/>
          </a:prstGeom>
          <a:noFill/>
          <a:ln w="47625">
            <a:solidFill>
              <a:srgbClr val="0A6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91163" y="3943052"/>
            <a:ext cx="30069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DESIGN RULE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91163" y="4133552"/>
            <a:ext cx="3006947" cy="53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Aim for the lowest-cost filter that still achieves a clear improvement in water grade. Cheaper and effective beats expensive and perfect.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71500" y="6600825"/>
            <a:ext cx="2774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Action.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574929" y="6600825"/>
            <a:ext cx="20375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Costing activity — student worksheet.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83820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42900"/>
            <a:ext cx="54651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What's Really in Dirty Water?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466731" y="533400"/>
            <a:ext cx="2147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10 · CONTAMINANTS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952500"/>
            <a:ext cx="796671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750"/>
              </a:spcBef>
              <a:buNone/>
            </a:pPr>
            <a:r>
              <a:rPr lang="en-US" sz="1088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Filtering removes visible "dirt", but dirty water also carries things you cannot see. Tick the contaminants your filter is likely to remove — and notice which ones it probably will not.</a:t>
            </a:r>
            <a:endParaRPr lang="en-US" sz="1088" dirty="0"/>
          </a:p>
        </p:txBody>
      </p:sp>
      <p:sp>
        <p:nvSpPr>
          <p:cNvPr id="6" name="Text 4"/>
          <p:cNvSpPr/>
          <p:nvPr/>
        </p:nvSpPr>
        <p:spPr>
          <a:xfrm>
            <a:off x="571500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2807" y="1667768"/>
            <a:ext cx="1120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77330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Sand &amp; mud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2148780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Suspended soil particles that make water cloudy.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685800" y="2465784"/>
            <a:ext cx="810964" cy="161925"/>
          </a:xfrm>
          <a:prstGeom prst="roundRect">
            <a:avLst>
              <a:gd name="adj" fmla="val 58824"/>
            </a:avLst>
          </a:prstGeom>
          <a:solidFill>
            <a:srgbClr val="E3F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2475" y="2494359"/>
            <a:ext cx="6911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7A3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removes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95563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09863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9863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23121" y="1667768"/>
            <a:ext cx="991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9863" y="1977330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Leaves &amp; debris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709863" y="2148780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Plant matter, twigs and insects scooped up with the water.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709863" y="2465784"/>
            <a:ext cx="810964" cy="161925"/>
          </a:xfrm>
          <a:prstGeom prst="roundRect">
            <a:avLst>
              <a:gd name="adj" fmla="val 58824"/>
            </a:avLst>
          </a:prstGeom>
          <a:solidFill>
            <a:srgbClr val="E3F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76538" y="2494359"/>
            <a:ext cx="6911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7A3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removes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19625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33925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3925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9891" y="1667768"/>
            <a:ext cx="114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3925" y="1977330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Tiny particles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33925" y="2148780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Fine silt and organic matter too small for a coarse sieve.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4733925" y="2465784"/>
            <a:ext cx="1022598" cy="161925"/>
          </a:xfrm>
          <a:prstGeom prst="roundRect">
            <a:avLst>
              <a:gd name="adj" fmla="val 58824"/>
            </a:avLst>
          </a:prstGeom>
          <a:solidFill>
            <a:srgbClr val="FFF3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2494359"/>
            <a:ext cx="9070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5A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Depends on layers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43688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57988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988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61721" y="1667768"/>
            <a:ext cx="1185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57988" y="1977330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Bacteria &amp; viruses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757988" y="2148780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Microbes that cause diarrhoea, cholera and typhoid.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6757988" y="2465784"/>
            <a:ext cx="1253282" cy="161925"/>
          </a:xfrm>
          <a:prstGeom prst="roundRect">
            <a:avLst>
              <a:gd name="adj" fmla="val 58824"/>
            </a:avLst>
          </a:prstGeom>
          <a:solidFill>
            <a:srgbClr val="FB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24663" y="2494359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326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does NOT remove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1500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85800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1766" y="3013472"/>
            <a:ext cx="1141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" y="3323034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Chemicals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685800" y="3494484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Dissolved salts, pesticides or pollutants in the water.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685800" y="3811488"/>
            <a:ext cx="1253282" cy="161925"/>
          </a:xfrm>
          <a:prstGeom prst="roundRect">
            <a:avLst>
              <a:gd name="adj" fmla="val 58824"/>
            </a:avLst>
          </a:prstGeom>
          <a:solidFill>
            <a:srgbClr val="FB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52475" y="3840063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326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does NOT remove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95563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2709863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09863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806898" y="3013472"/>
            <a:ext cx="1322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09863" y="3323034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Bad odours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2709863" y="3494484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Smells from rotting organic matter or sulphur compounds.</a:t>
            </a:r>
            <a:endParaRPr lang="en-US" sz="788" dirty="0"/>
          </a:p>
        </p:txBody>
      </p:sp>
      <p:sp>
        <p:nvSpPr>
          <p:cNvPr id="52" name="Text 50"/>
          <p:cNvSpPr/>
          <p:nvPr/>
        </p:nvSpPr>
        <p:spPr>
          <a:xfrm>
            <a:off x="2709863" y="3811488"/>
            <a:ext cx="856655" cy="161925"/>
          </a:xfrm>
          <a:prstGeom prst="roundRect">
            <a:avLst>
              <a:gd name="adj" fmla="val 58824"/>
            </a:avLst>
          </a:prstGeom>
          <a:solidFill>
            <a:srgbClr val="FFF3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776538" y="3840063"/>
            <a:ext cx="7377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5A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Partly removed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19625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33925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3925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87503" y="3013472"/>
            <a:ext cx="2208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33925" y="3323034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Colour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4733925" y="3494484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Dissolved tannins and humic substances stain the water.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4733925" y="3811488"/>
            <a:ext cx="1253282" cy="161925"/>
          </a:xfrm>
          <a:prstGeom prst="roundRect">
            <a:avLst>
              <a:gd name="adj" fmla="val 58824"/>
            </a:avLst>
          </a:prstGeom>
          <a:solidFill>
            <a:srgbClr val="FB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800600" y="3840063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326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does NOT remove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3688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757988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57988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844010" y="3013472"/>
            <a:ext cx="154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757988" y="3323034"/>
            <a:ext cx="1734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Microplastics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6757988" y="3494484"/>
            <a:ext cx="173421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Tiny plastic fragments from polluted environments.</a:t>
            </a:r>
            <a:endParaRPr lang="en-US" sz="788" dirty="0"/>
          </a:p>
        </p:txBody>
      </p:sp>
      <p:sp>
        <p:nvSpPr>
          <p:cNvPr id="68" name="Text 66"/>
          <p:cNvSpPr/>
          <p:nvPr/>
        </p:nvSpPr>
        <p:spPr>
          <a:xfrm>
            <a:off x="6757988" y="3811488"/>
            <a:ext cx="856655" cy="161925"/>
          </a:xfrm>
          <a:prstGeom prst="roundRect">
            <a:avLst>
              <a:gd name="adj" fmla="val 58824"/>
            </a:avLst>
          </a:prstGeom>
          <a:solidFill>
            <a:srgbClr val="FFF3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824663" y="3840063"/>
            <a:ext cx="7377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5A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Partly removed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71500" y="4202013"/>
            <a:ext cx="8001000" cy="819150"/>
          </a:xfrm>
          <a:prstGeom prst="roundRect">
            <a:avLst>
              <a:gd name="adj" fmla="val 6977"/>
            </a:avLst>
          </a:prstGeom>
          <a:solidFill>
            <a:srgbClr val="0A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2950" y="4335363"/>
            <a:ext cx="3818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Is your filtered water safe to drink?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742950" y="4554438"/>
            <a:ext cx="381819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375"/>
              </a:spcBef>
              <a:buNone/>
            </a:pPr>
            <a:r>
              <a:rPr lang="en-US" sz="938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Probably NOT. Clear water can still contain harmful microbes and dissolved chemicals that a simple filter cannot remove.</a:t>
            </a:r>
            <a:endParaRPr lang="en-US" sz="938" dirty="0"/>
          </a:p>
        </p:txBody>
      </p:sp>
      <p:sp>
        <p:nvSpPr>
          <p:cNvPr id="73" name="Text 71"/>
          <p:cNvSpPr/>
          <p:nvPr/>
        </p:nvSpPr>
        <p:spPr>
          <a:xfrm>
            <a:off x="4657725" y="4335363"/>
            <a:ext cx="3818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else is needed?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4657725" y="4554438"/>
            <a:ext cx="381819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375"/>
              </a:spcBef>
              <a:buNone/>
            </a:pPr>
            <a:r>
              <a:rPr lang="en-US" sz="938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Boiling, solar disinfection, chlorination or a fine bio-sand filter to make water truly safe — see slide 11.</a:t>
            </a:r>
            <a:endParaRPr lang="en-US" sz="938" dirty="0"/>
          </a:p>
        </p:txBody>
      </p:sp>
      <p:sp>
        <p:nvSpPr>
          <p:cNvPr id="75" name="Text 73"/>
          <p:cNvSpPr/>
          <p:nvPr/>
        </p:nvSpPr>
        <p:spPr>
          <a:xfrm>
            <a:off x="571500" y="6619875"/>
            <a:ext cx="8161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 — contaminants checklist.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33350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9100"/>
            <a:ext cx="6602289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Research: Making Water Safe to Drink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044333" y="619125"/>
            <a:ext cx="15587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11 · ACTIVITY 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466850"/>
            <a:ext cx="796671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900"/>
              </a:spcBef>
              <a:buNone/>
            </a:pPr>
            <a:r>
              <a:rPr lang="en-US" sz="1125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filter that removes dirt is not enough. To make water truly safe, you must also kill or remove the microscopic contaminants. Research the methods and record your findings — pictures and notes both welcome.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2259806"/>
            <a:ext cx="3541514" cy="4025652"/>
          </a:xfrm>
          <a:prstGeom prst="roundRect">
            <a:avLst>
              <a:gd name="adj" fmla="val 1076"/>
            </a:avLst>
          </a:prstGeom>
          <a:solidFill>
            <a:srgbClr val="F5F7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2412206"/>
            <a:ext cx="0" cy="3720852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575" y="2412206"/>
            <a:ext cx="32140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research task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90575" y="2678906"/>
            <a:ext cx="3150989" cy="141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Find out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the different types of contaminants that can be found in "dirty" water.</a:t>
            </a:r>
            <a:endParaRPr lang="en-US" sz="1013" dirty="0"/>
          </a:p>
          <a:p>
            <a:pPr algn="l" marL="190500" indent="-19050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the different ways those contaminants can be treated to make the water safe to drink.</a:t>
            </a:r>
            <a:endParaRPr lang="en-US" sz="1013" dirty="0"/>
          </a:p>
          <a:p>
            <a:pPr algn="l" marL="190500" indent="-190500">
              <a:lnSpc>
                <a:spcPts val="1418"/>
              </a:lnSpc>
              <a:buSzPct val="100000"/>
              <a:buChar char="•"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</a:t>
            </a:r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your findings — notes, diagrams and pictures.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790575" y="4224189"/>
            <a:ext cx="3150989" cy="938808"/>
          </a:xfrm>
          <a:prstGeom prst="roundRect">
            <a:avLst>
              <a:gd name="adj" fmla="val 4058"/>
            </a:avLst>
          </a:prstGeom>
          <a:solidFill>
            <a:srgbClr val="0A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925" y="4338489"/>
            <a:ext cx="2941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ROLE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23925" y="4528989"/>
            <a:ext cx="2941975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are a water scientist working for a company that wants to invest in ideas helping people in Turkana access clean water.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322564" y="2259806"/>
            <a:ext cx="43349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Common treatment methods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322564" y="2545556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436864" y="2564606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4252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6864" y="3779044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7327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6389" y="2697956"/>
            <a:ext cx="18662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Boiling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46389" y="2897981"/>
            <a:ext cx="1866287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75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Bring water to a rolling boil for 1–3 minutes to kill microbes.</a:t>
            </a:r>
            <a:endParaRPr lang="en-US" sz="863" dirty="0"/>
          </a:p>
        </p:txBody>
      </p:sp>
      <p:sp>
        <p:nvSpPr>
          <p:cNvPr id="21" name="Text 19"/>
          <p:cNvSpPr/>
          <p:nvPr/>
        </p:nvSpPr>
        <p:spPr>
          <a:xfrm>
            <a:off x="4446389" y="3250704"/>
            <a:ext cx="1866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KILLS MICROBES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95157" y="2545556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09457" y="2564606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66845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9457" y="3779044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9920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8982" y="2697956"/>
            <a:ext cx="1866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Solar disinfection (SODIS)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8982" y="3050381"/>
            <a:ext cx="1866287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75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Fill clear PET bottles, lay in full sun for 6+ hours; UV kills pathogens.</a:t>
            </a:r>
            <a:endParaRPr lang="en-US" sz="863" dirty="0"/>
          </a:p>
        </p:txBody>
      </p:sp>
      <p:sp>
        <p:nvSpPr>
          <p:cNvPr id="29" name="Text 27"/>
          <p:cNvSpPr/>
          <p:nvPr/>
        </p:nvSpPr>
        <p:spPr>
          <a:xfrm>
            <a:off x="6618982" y="3550890"/>
            <a:ext cx="1866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LOW-COST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22564" y="3874740"/>
            <a:ext cx="2077343" cy="1081534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436864" y="3893790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4252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6864" y="4955828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7327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6389" y="4027140"/>
            <a:ext cx="18662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Chlorination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46389" y="4227165"/>
            <a:ext cx="1866287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75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Add chlorine tablets or drops to disinfect water before drinking.</a:t>
            </a:r>
            <a:endParaRPr lang="en-US" sz="863" dirty="0"/>
          </a:p>
        </p:txBody>
      </p:sp>
      <p:sp>
        <p:nvSpPr>
          <p:cNvPr id="37" name="Text 35"/>
          <p:cNvSpPr/>
          <p:nvPr/>
        </p:nvSpPr>
        <p:spPr>
          <a:xfrm>
            <a:off x="4446389" y="4579888"/>
            <a:ext cx="1866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CHEMICAL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95157" y="3874740"/>
            <a:ext cx="2077343" cy="1081534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609457" y="3893790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66845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9457" y="4955828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9920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8982" y="4027140"/>
            <a:ext cx="18662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Bio-sand filter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18982" y="4227165"/>
            <a:ext cx="1866287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75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thick sand layer with a biological "schmutzdecke" that removes pathogens.</a:t>
            </a:r>
            <a:endParaRPr lang="en-US" sz="863" dirty="0"/>
          </a:p>
        </p:txBody>
      </p:sp>
      <p:sp>
        <p:nvSpPr>
          <p:cNvPr id="45" name="Text 43"/>
          <p:cNvSpPr/>
          <p:nvPr/>
        </p:nvSpPr>
        <p:spPr>
          <a:xfrm>
            <a:off x="6618982" y="4727674"/>
            <a:ext cx="1866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HOUSEHOLD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322564" y="5051524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436864" y="5070574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94252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36864" y="6285012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27327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6389" y="5203924"/>
            <a:ext cx="18662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Ceramic filter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446389" y="5403949"/>
            <a:ext cx="1866287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75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Porous ceramic candles trap bacteria and fine particles.</a:t>
            </a:r>
            <a:endParaRPr lang="en-US" sz="863" dirty="0"/>
          </a:p>
        </p:txBody>
      </p:sp>
      <p:sp>
        <p:nvSpPr>
          <p:cNvPr id="53" name="Text 51"/>
          <p:cNvSpPr/>
          <p:nvPr/>
        </p:nvSpPr>
        <p:spPr>
          <a:xfrm>
            <a:off x="4446389" y="5756672"/>
            <a:ext cx="1866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LONG-LIFE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95157" y="5051524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609457" y="5070574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66845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09457" y="6285012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9920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18982" y="5203924"/>
            <a:ext cx="1866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Coagulation &amp; settlement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618982" y="5556349"/>
            <a:ext cx="1866287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75"/>
              </a:spcBef>
              <a:buNone/>
            </a:pPr>
            <a:r>
              <a:rPr lang="en-US" sz="863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Add alum or moringa seeds to clump fine particles so they settle out.</a:t>
            </a:r>
            <a:endParaRPr lang="en-US" sz="863" dirty="0"/>
          </a:p>
        </p:txBody>
      </p:sp>
      <p:sp>
        <p:nvSpPr>
          <p:cNvPr id="61" name="Text 59"/>
          <p:cNvSpPr/>
          <p:nvPr/>
        </p:nvSpPr>
        <p:spPr>
          <a:xfrm>
            <a:off x="6618982" y="6056858"/>
            <a:ext cx="1866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PRE-TREATMENT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71500" y="6600825"/>
            <a:ext cx="30919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Activity from: Ditch the Dirt pupil sheets, Practical Action.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5509022" y="6600825"/>
            <a:ext cx="3124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Combine a filter with one of these methods for safe water.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eD6YTC/html2pptx-bg-1786386064872-00f941b412e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038225"/>
            <a:ext cx="8001000" cy="0"/>
          </a:xfrm>
          <a:prstGeom prst="line">
            <a:avLst/>
          </a:prstGeom>
          <a:noFill/>
          <a:ln w="19050">
            <a:solidFill>
              <a:srgbClr val="F4B4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76250"/>
            <a:ext cx="5904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Share, Reflect &amp; Take Action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6910388" y="685800"/>
            <a:ext cx="1695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12 · CLOSING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181100"/>
            <a:ext cx="7966710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Present your filter to the class. Listen to other teams, then score each presentation out of 5 across five areas — 5 is the best. The team with the highest total has the strongest case for adoption in Turkana.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053233"/>
            <a:ext cx="4081165" cy="1952625"/>
          </a:xfrm>
          <a:prstGeom prst="roundRect">
            <a:avLst>
              <a:gd name="adj" fmla="val 195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224683"/>
            <a:ext cx="0" cy="1609725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" y="2224683"/>
            <a:ext cx="37353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Peer-assessment criteria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0100" y="27628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" y="2500908"/>
            <a:ext cx="3735306" cy="266700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Teamwork</a:t>
            </a:r>
            <a:endParaRPr lang="en-US" sz="975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Did they work well as a team?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800100" y="30295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2767608"/>
            <a:ext cx="3735306" cy="266700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</a:t>
            </a:r>
            <a:endParaRPr lang="en-US" sz="975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well was research carried out?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800100" y="32962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" y="3034308"/>
            <a:ext cx="3735306" cy="266700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Developing ideas</a:t>
            </a:r>
            <a:endParaRPr lang="en-US" sz="975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Good, innovative and improved ideas?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800100" y="35629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" y="3301008"/>
            <a:ext cx="3735306" cy="266700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Final model</a:t>
            </a:r>
            <a:endParaRPr lang="en-US" sz="975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good is the finished filter?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800100" y="38296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" y="3567708"/>
            <a:ext cx="3735306" cy="266700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Presentation</a:t>
            </a:r>
            <a:endParaRPr lang="en-US" sz="975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well did they communicate?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862215" y="2053233"/>
            <a:ext cx="3710285" cy="1952625"/>
          </a:xfrm>
          <a:prstGeom prst="roundRect">
            <a:avLst>
              <a:gd name="adj" fmla="val 195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881265" y="2224683"/>
            <a:ext cx="0" cy="1609725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90815" y="2224683"/>
            <a:ext cx="33570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Recommendations to Kenyan scientists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090815" y="2700933"/>
            <a:ext cx="3357009" cy="1117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600"/>
              </a:spcBef>
              <a:buNone/>
            </a:pPr>
            <a:r>
              <a:rPr lang="en-US" sz="1013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Based on your results, what would you tell scientists building filters for families collecting water from ground-water holes in Turkana? Consider cost, locally-available materials, ease of cleaning, and the extra step needed to make water truly safe to drink.</a:t>
            </a:r>
            <a:endParaRPr lang="en-US" sz="1013" dirty="0"/>
          </a:p>
        </p:txBody>
      </p:sp>
      <p:sp>
        <p:nvSpPr>
          <p:cNvPr id="24" name="Text 21"/>
          <p:cNvSpPr/>
          <p:nvPr/>
        </p:nvSpPr>
        <p:spPr>
          <a:xfrm>
            <a:off x="571500" y="5286375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BIG IDEA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1500" y="5495925"/>
            <a:ext cx="544068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water is not just a science problem — it is a justice issue. Affordable, well-designed filters bring Goal 6 closer for communities like Turkana. Every filter built in a classroom is a step toward that goal.</a:t>
            </a:r>
            <a:endParaRPr lang="en-US" sz="1050" dirty="0"/>
          </a:p>
        </p:txBody>
      </p:sp>
      <p:pic>
        <p:nvPicPr>
          <p:cNvPr id="26" name="Image 1" descr="/tmp/html2pptx-eD6YTC/html2pptx-bg-1786386064952-69d58fa991bd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4324350"/>
            <a:ext cx="3048000" cy="219075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096000" y="4500563"/>
            <a:ext cx="24765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548688" y="4476750"/>
            <a:ext cx="0" cy="161925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96000" y="6072187"/>
            <a:ext cx="24765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19813" y="4476750"/>
            <a:ext cx="0" cy="161925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1500" y="6562725"/>
            <a:ext cx="2774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Action.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7590383" y="6562725"/>
            <a:ext cx="10017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practicalaction.org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2026-08-10T18:21:05Z</dcterms:created>
  <dcterms:modified xsi:type="dcterms:W3CDTF">2026-08-10T18:21:05Z</dcterms:modified>
</cp:coreProperties>
</file>