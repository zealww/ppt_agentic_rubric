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tml2pptx-3Z7kCV/html2pptx-bg-1786384054689-c602225351c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pic>
        <p:nvPicPr>
          <p:cNvPr id="3" name="Image 1" descr="/tmp/html2pptx-3Z7kCV/html2pptx-bg-1786384054801-d2eb196b311c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429000" cy="6858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4000500" y="1355080"/>
            <a:ext cx="46634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50"/>
              </a:spcAft>
              <a:buNone/>
            </a:pPr>
            <a:r>
              <a:rPr lang="en-US" sz="13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CANADIAN HERITAGE REPORT</a:t>
            </a:r>
            <a:endParaRPr lang="en-US" sz="1350" dirty="0"/>
          </a:p>
        </p:txBody>
      </p:sp>
      <p:sp>
        <p:nvSpPr>
          <p:cNvPr id="5" name="Text 1"/>
          <p:cNvSpPr/>
          <p:nvPr/>
        </p:nvSpPr>
        <p:spPr>
          <a:xfrm>
            <a:off x="4000500" y="1764655"/>
            <a:ext cx="4663440" cy="16046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212"/>
              </a:lnSpc>
              <a:spcAft>
                <a:spcPts val="2100"/>
              </a:spcAft>
              <a:buNone/>
            </a:pPr>
            <a:r>
              <a:rPr lang="en-US" sz="3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in Canada:
</a:t>
            </a:r>
            <a:pPr algn="l" indent="0" marL="0">
              <a:lnSpc>
                <a:spcPts val="4212"/>
              </a:lnSpc>
              <a:spcAft>
                <a:spcPts val="2100"/>
              </a:spcAft>
              <a:buNone/>
            </a:pPr>
            <a:r>
              <a:rPr lang="en-US" sz="39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 Long History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4000500" y="3636020"/>
            <a:ext cx="4663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spcAft>
                <a:spcPts val="2850"/>
              </a:spcAft>
              <a:buNone/>
            </a:pPr>
            <a:r>
              <a:rPr lang="en-US" sz="15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Four centuries of migration, settlement, and community — from Mathieu da Costa in 1605 to the 662,200 Black Canadians counted in the 2001 Census.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4000500" y="5150495"/>
            <a:ext cx="4572000" cy="0"/>
          </a:xfrm>
          <a:prstGeom prst="line">
            <a:avLst/>
          </a:prstGeom>
          <a:noFill/>
          <a:ln w="19050">
            <a:solidFill>
              <a:srgbClr val="F5B30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00500" y="533147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Authors: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Anne Milan &amp; Kelly Tran</a:t>
            </a:r>
            <a:endParaRPr lang="en-US" sz="1125" dirty="0"/>
          </a:p>
        </p:txBody>
      </p:sp>
      <p:sp>
        <p:nvSpPr>
          <p:cNvPr id="9" name="Text 5"/>
          <p:cNvSpPr/>
          <p:nvPr/>
        </p:nvSpPr>
        <p:spPr>
          <a:xfrm>
            <a:off x="4000500" y="5560070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</a:t>
            </a:r>
            <a:pPr algn="l" indent="0" marL="0">
              <a:lnSpc>
                <a:spcPts val="1800"/>
              </a:lnSpc>
              <a:buNone/>
            </a:pPr>
            <a:r>
              <a:rPr lang="en-US" sz="1125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Statistics Canada, Census of Population, 2001</a:t>
            </a:r>
            <a:endParaRPr lang="en-US" sz="1125" dirty="0"/>
          </a:p>
        </p:txBody>
      </p:sp>
      <p:sp>
        <p:nvSpPr>
          <p:cNvPr id="10" name="Text 6"/>
          <p:cNvSpPr/>
          <p:nvPr/>
        </p:nvSpPr>
        <p:spPr>
          <a:xfrm>
            <a:off x="3429000" y="6496050"/>
            <a:ext cx="524637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A7FA8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PRESENTATION · 12 SLIDES · 4:3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300163"/>
            <a:ext cx="7924800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533400"/>
            <a:ext cx="586922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OVERVIEW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733425"/>
            <a:ext cx="5869225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78"/>
              </a:lnSpc>
              <a:spcBef>
                <a:spcPts val="450"/>
              </a:spcBef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Three Centuries of Diversity</a:t>
            </a:r>
            <a:endParaRPr lang="en-US" sz="2850" dirty="0"/>
          </a:p>
        </p:txBody>
      </p:sp>
      <p:sp>
        <p:nvSpPr>
          <p:cNvPr id="5" name="Text 3"/>
          <p:cNvSpPr/>
          <p:nvPr/>
        </p:nvSpPr>
        <p:spPr>
          <a:xfrm>
            <a:off x="8058299" y="533400"/>
            <a:ext cx="48562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02 / 12</a:t>
            </a:r>
            <a:endParaRPr lang="en-US" sz="975" dirty="0"/>
          </a:p>
        </p:txBody>
      </p:sp>
      <p:sp>
        <p:nvSpPr>
          <p:cNvPr id="6" name="Text 4"/>
          <p:cNvSpPr/>
          <p:nvPr/>
        </p:nvSpPr>
        <p:spPr>
          <a:xfrm>
            <a:off x="609600" y="1578173"/>
            <a:ext cx="8083296" cy="796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Canada is home to many visible minority groups. In the 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 Census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the three largest were 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and 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pPr algn="l" indent="0" marL="0">
              <a:lnSpc>
                <a:spcPts val="2092"/>
              </a:lnSpc>
              <a:spcAft>
                <a:spcPts val="1950"/>
              </a:spcAft>
              <a:buNone/>
            </a:pPr>
            <a:r>
              <a:rPr lang="en-US" sz="13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together shaping the country's cultural mosaic.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609600" y="2622798"/>
            <a:ext cx="2527250" cy="19258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800100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0100" y="2889498"/>
            <a:ext cx="2189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800100" y="3327648"/>
            <a:ext cx="2189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CANADIANS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00100" y="3565773"/>
            <a:ext cx="21891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Counted in the 2001 Census — about 2% of Canada's total population and 17% of the visible minority population.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08300" y="2622798"/>
            <a:ext cx="2527250" cy="19258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3498800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98800" y="2889498"/>
            <a:ext cx="2189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3rd</a:t>
            </a:r>
            <a:endParaRPr lang="en-US" sz="2850" dirty="0"/>
          </a:p>
        </p:txBody>
      </p:sp>
      <p:sp>
        <p:nvSpPr>
          <p:cNvPr id="15" name="Text 13"/>
          <p:cNvSpPr/>
          <p:nvPr/>
        </p:nvSpPr>
        <p:spPr>
          <a:xfrm>
            <a:off x="3498800" y="3327648"/>
            <a:ext cx="2189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LARGEST MINORITY GROUP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498800" y="3565773"/>
            <a:ext cx="21891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ranked behind Chinese and South Asians among Canada's visible minorities in 2001.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07001" y="2622798"/>
            <a:ext cx="2527250" cy="1925836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19050" dir="5400000">
              <a:srgbClr val="000000">
                <a:alpha val="6000"/>
              </a:srgbClr>
            </a:outerShdw>
          </a:effectLst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6197501" y="2651373"/>
            <a:ext cx="21462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97501" y="2889498"/>
            <a:ext cx="2189175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0"/>
              </a:lnSpc>
              <a:spcAft>
                <a:spcPts val="600"/>
              </a:spcAft>
              <a:buNone/>
            </a:pPr>
            <a:r>
              <a:rPr lang="en-US" sz="28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+31%</a:t>
            </a:r>
            <a:endParaRPr lang="en-US" sz="2850" dirty="0"/>
          </a:p>
        </p:txBody>
      </p:sp>
      <p:sp>
        <p:nvSpPr>
          <p:cNvPr id="20" name="Text 18"/>
          <p:cNvSpPr/>
          <p:nvPr/>
        </p:nvSpPr>
        <p:spPr>
          <a:xfrm>
            <a:off x="6197501" y="3327648"/>
            <a:ext cx="21891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750"/>
              </a:spcAft>
              <a:buNone/>
            </a:pPr>
            <a:r>
              <a:rPr lang="en-US" sz="97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GROWTH 1991–2001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197501" y="3565773"/>
            <a:ext cx="2189175" cy="77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Black population grew three times faster than Canada's overall population (+10%) in the same decade.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09600" y="4834384"/>
            <a:ext cx="7924800" cy="985838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19150" y="5005834"/>
            <a:ext cx="7655814" cy="6429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12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Diverse roots:</a:t>
            </a:r>
            <a:pPr algn="l" indent="0" marL="0">
              <a:lnSpc>
                <a:spcPts val="1688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Some Black Canadians trace their ancestry back several centuries; others arrived from the Caribbean and Africa in recent decades — a community shaped by both deep heritage and modern immigration.</a:t>
            </a:r>
            <a:endParaRPr lang="en-US" sz="11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600" y="1543050"/>
            <a:ext cx="7924800" cy="0"/>
          </a:xfrm>
          <a:prstGeom prst="line">
            <a:avLst/>
          </a:prstGeom>
          <a:noFill/>
          <a:ln w="19050">
            <a:solidFill>
              <a:srgbClr val="E3D9C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ORIGINS · 1605–1900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09600" y="619125"/>
            <a:ext cx="8083296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spcBef>
                <a:spcPts val="450"/>
              </a:spcBef>
              <a:buNone/>
            </a:pPr>
            <a:r>
              <a:rPr lang="en-US" sz="25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Blacks Came to Canada 400 Years Ago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09600" y="2616398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609600" y="1935361"/>
            <a:ext cx="874395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1605</a:t>
            </a:r>
            <a:endParaRPr lang="en-US" sz="1125" dirty="0"/>
          </a:p>
        </p:txBody>
      </p:sp>
      <p:sp>
        <p:nvSpPr>
          <p:cNvPr id="7" name="Text 5"/>
          <p:cNvSpPr/>
          <p:nvPr/>
        </p:nvSpPr>
        <p:spPr>
          <a:xfrm>
            <a:off x="1600200" y="1935361"/>
            <a:ext cx="354615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The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recorded Black person in Canada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served as interpreter under Governor de Monts in Nova Scotia.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09600" y="3396407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609600" y="2715369"/>
            <a:ext cx="874395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1628 – early 1800s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1600200" y="2715369"/>
            <a:ext cx="354615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slavery existed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particularly in Eastern Canada, with Loyalists bringing slaves from the United States.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09600" y="4176415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12" name="Text 10"/>
          <p:cNvSpPr/>
          <p:nvPr/>
        </p:nvSpPr>
        <p:spPr>
          <a:xfrm>
            <a:off x="609600" y="3495377"/>
            <a:ext cx="874395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Late 1700s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1600200" y="3495377"/>
            <a:ext cx="354615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Loyalists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arrived, promised land grants for supporting the British during the American Revolution.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9600" y="4956423"/>
            <a:ext cx="4467225" cy="0"/>
          </a:xfrm>
          <a:prstGeom prst="line">
            <a:avLst/>
          </a:prstGeom>
          <a:noFill/>
          <a:ln w="9525">
            <a:solidFill>
              <a:srgbClr val="D4C9AD"/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609600" y="4275386"/>
            <a:ext cx="874395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1800s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600200" y="4275386"/>
            <a:ext cx="3546158" cy="5799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Early Black settlements founded in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Nova Scotia and Ontario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; later expanding to Western Canada with the opening of the frontier.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09600" y="5055394"/>
            <a:ext cx="874395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1901</a:t>
            </a:r>
            <a:endParaRPr lang="en-US" sz="1125" dirty="0"/>
          </a:p>
        </p:txBody>
      </p:sp>
      <p:sp>
        <p:nvSpPr>
          <p:cNvPr id="18" name="Text 16"/>
          <p:cNvSpPr/>
          <p:nvPr/>
        </p:nvSpPr>
        <p:spPr>
          <a:xfrm>
            <a:off x="1600200" y="5055394"/>
            <a:ext cx="3546158" cy="386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Census recorded </a:t>
            </a:r>
            <a:pPr algn="l" indent="0" marL="0">
              <a:lnSpc>
                <a:spcPts val="1523"/>
              </a:lnSpc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17,400 Blacks</a:t>
            </a:r>
            <a:pPr algn="l" indent="0" marL="0">
              <a:lnSpc>
                <a:spcPts val="1523"/>
              </a:lnSpc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about 0.3% of the Canadian population at the time.</a:t>
            </a:r>
            <a:endParaRPr lang="en-US" sz="1050" dirty="0"/>
          </a:p>
        </p:txBody>
      </p:sp>
      <p:pic>
        <p:nvPicPr>
          <p:cNvPr id="19" name="Image 0" descr="/tmp/html2pptx-YsmOio/html2pptx-bg-1786384056438-a87e152a72a7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43525" y="1782961"/>
            <a:ext cx="3190875" cy="30480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43525" y="1802011"/>
            <a:ext cx="3190875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515350" y="1782961"/>
            <a:ext cx="0" cy="30480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5343525" y="4811911"/>
            <a:ext cx="3190875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362575" y="1782961"/>
            <a:ext cx="0" cy="30480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43525" y="4907161"/>
            <a:ext cx="3254693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Tower of Freedom — Underground Railroad Monument, Windsor, Ontario. The Railroad brought thousands of freedom-seekers to Canadian soil in the 19th century.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094911" y="65532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HISTORICAL POPULATION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450"/>
              </a:spcBef>
              <a:spcAft>
                <a:spcPts val="450"/>
              </a:spcAft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Number of Blacks Increased Substantially in Recent Decades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377255"/>
            <a:ext cx="808329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500"/>
              </a:spcAft>
              <a:buNone/>
            </a:pPr>
            <a:r>
              <a:rPr lang="en-US" sz="105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Census counts of Canada's Black population, 1871 to 2001.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720155"/>
          <a:ext cx="6858000" cy="914400"/>
        </p:xfrm>
        <a:graphic>
          <a:graphicData uri="http://schemas.openxmlformats.org/drawingml/2006/table">
            <a:tbl>
              <a:tblPr/>
              <a:tblGrid>
                <a:gridCol w="738932"/>
                <a:gridCol w="1989683"/>
                <a:gridCol w="1282750"/>
              </a:tblGrid>
              <a:tr h="2527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YEAR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 POPULATION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OF TOTAL</a:t>
                      </a:r>
                      <a:endParaRPr lang="en-US" sz="90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1871*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21,500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0.6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1881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21,400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0.5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1901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17,500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0.3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1911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16,900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1921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18,300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1931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19,500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1941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22,200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1951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18,000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1961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32,100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1971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34,400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1981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239,500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1991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504,300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1.9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6704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7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2001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662,200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7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2.2</a:t>
                      </a:r>
                      <a:endParaRPr lang="en-US" sz="97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76200" marR="76200" marT="57150" marB="571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600" y="5520630"/>
            <a:ext cx="40915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*Includes Ontario, Quebec, Nova Scotia and New Brunswick. Source: Statistics Canada, censuses of population.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4887664" y="1720155"/>
            <a:ext cx="3646736" cy="25146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5"/>
          <p:cNvSpPr/>
          <p:nvPr/>
        </p:nvSpPr>
        <p:spPr>
          <a:xfrm>
            <a:off x="5059114" y="1748730"/>
            <a:ext cx="3303836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59114" y="1948755"/>
            <a:ext cx="33699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(SELECTED YEARS)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059114" y="22535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1901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592514" y="22345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5592514" y="2234505"/>
            <a:ext cx="61317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0"/>
          <p:cNvSpPr/>
          <p:nvPr/>
        </p:nvSpPr>
        <p:spPr>
          <a:xfrm>
            <a:off x="7682865" y="22535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17,500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5059114" y="25202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1941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5592514" y="25012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3"/>
          <p:cNvSpPr/>
          <p:nvPr/>
        </p:nvSpPr>
        <p:spPr>
          <a:xfrm>
            <a:off x="5592514" y="2501205"/>
            <a:ext cx="61317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4"/>
          <p:cNvSpPr/>
          <p:nvPr/>
        </p:nvSpPr>
        <p:spPr>
          <a:xfrm>
            <a:off x="7682865" y="25202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22,200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059114" y="27869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1961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5592514" y="27679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7"/>
          <p:cNvSpPr/>
          <p:nvPr/>
        </p:nvSpPr>
        <p:spPr>
          <a:xfrm>
            <a:off x="5592514" y="2767905"/>
            <a:ext cx="102245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8"/>
          <p:cNvSpPr/>
          <p:nvPr/>
        </p:nvSpPr>
        <p:spPr>
          <a:xfrm>
            <a:off x="7682865" y="27869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32,100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059114" y="30536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1971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5592514" y="30346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1"/>
          <p:cNvSpPr/>
          <p:nvPr/>
        </p:nvSpPr>
        <p:spPr>
          <a:xfrm>
            <a:off x="5592514" y="3034605"/>
            <a:ext cx="102245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2"/>
          <p:cNvSpPr/>
          <p:nvPr/>
        </p:nvSpPr>
        <p:spPr>
          <a:xfrm>
            <a:off x="7682865" y="30536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34,400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5059114" y="33203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1981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5592514" y="33013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5"/>
          <p:cNvSpPr/>
          <p:nvPr/>
        </p:nvSpPr>
        <p:spPr>
          <a:xfrm>
            <a:off x="5592514" y="3301305"/>
            <a:ext cx="736699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6"/>
          <p:cNvSpPr/>
          <p:nvPr/>
        </p:nvSpPr>
        <p:spPr>
          <a:xfrm>
            <a:off x="7682865" y="33203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239,500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5059114" y="35870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1991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5592514" y="35680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9"/>
          <p:cNvSpPr/>
          <p:nvPr/>
        </p:nvSpPr>
        <p:spPr>
          <a:xfrm>
            <a:off x="5592514" y="3568005"/>
            <a:ext cx="1555254" cy="1714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7682865" y="35870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504,300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59114" y="3853755"/>
            <a:ext cx="544068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5592514" y="3834705"/>
            <a:ext cx="2046536" cy="171450"/>
          </a:xfrm>
          <a:prstGeom prst="rect">
            <a:avLst/>
          </a:prstGeom>
          <a:solidFill>
            <a:srgbClr val="EEE5C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5592514" y="3834705"/>
            <a:ext cx="2046536" cy="1714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7682865" y="3853755"/>
            <a:ext cx="68008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4887664" y="4310955"/>
            <a:ext cx="371967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6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1960s immigration reforms replaced European-origin preferences with a points-based system, opening the door to Caribbean and African newcomers.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8094911" y="65532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ATLANTIC CANADA · HERITAGE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70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450"/>
              </a:spcBef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Africville: Community, Resilience, and Reckoning</a:t>
            </a:r>
            <a:endParaRPr lang="en-US" sz="2400" dirty="0"/>
          </a:p>
        </p:txBody>
      </p:sp>
      <p:pic>
        <p:nvPicPr>
          <p:cNvPr id="4" name="Image 0" descr="/tmp/html2pptx-WxXyPE/html2pptx-bg-1786384058000-39df2c1e4d2fb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434405"/>
            <a:ext cx="3922514" cy="40005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9600" y="1453455"/>
            <a:ext cx="3922514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514850" y="1434405"/>
            <a:ext cx="0" cy="40005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09600" y="5415855"/>
            <a:ext cx="3922514" cy="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8650" y="1434405"/>
            <a:ext cx="0" cy="4000500"/>
          </a:xfrm>
          <a:prstGeom prst="line">
            <a:avLst/>
          </a:prstGeom>
          <a:noFill/>
          <a:ln w="38100">
            <a:solidFill>
              <a:srgbClr val="0F1E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9600" y="5511105"/>
            <a:ext cx="400096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600"/>
              </a:spcBef>
              <a:buNone/>
            </a:pPr>
            <a:r>
              <a:rPr lang="en-US" sz="90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Africville, Halifax — a tightly-knit Black community founded by families who had been promised land grants in the late 1700s.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4798814" y="1472505"/>
            <a:ext cx="3810298" cy="885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</a:t>
            </a:r>
            <a:pPr algn="l" indent="0" marL="0">
              <a:lnSpc>
                <a:spcPts val="1744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Nova Scotia</a:t>
            </a:r>
            <a:pPr algn="l" indent="0" marL="0">
              <a:lnSpc>
                <a:spcPts val="1744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, many Black residents trace their roots back several centuries. Africville, in Halifax, was formed as a way to </a:t>
            </a:r>
            <a:pPr algn="l" indent="0" marL="0">
              <a:lnSpc>
                <a:spcPts val="1744"/>
              </a:lnSpc>
              <a:spcAft>
                <a:spcPts val="1050"/>
              </a:spcAft>
              <a:buNone/>
            </a:pP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maintain culture</a:t>
            </a:r>
            <a:pPr algn="l" indent="0" marL="0">
              <a:lnSpc>
                <a:spcPts val="1744"/>
              </a:lnSpc>
              <a:spcAft>
                <a:spcPts val="10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resist poor treatment by the broader society.</a:t>
            </a:r>
            <a:endParaRPr lang="en-US" sz="1125" dirty="0"/>
          </a:p>
        </p:txBody>
      </p:sp>
      <p:sp>
        <p:nvSpPr>
          <p:cNvPr id="11" name="Text 8"/>
          <p:cNvSpPr/>
          <p:nvPr/>
        </p:nvSpPr>
        <p:spPr>
          <a:xfrm>
            <a:off x="4798814" y="2491680"/>
            <a:ext cx="3735586" cy="126682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9"/>
          <p:cNvSpPr/>
          <p:nvPr/>
        </p:nvSpPr>
        <p:spPr>
          <a:xfrm>
            <a:off x="4951214" y="2625030"/>
            <a:ext cx="3499402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Despite promises of land, food, and shelter, residents lived without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water or sewer services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into the 1960s. The community was eventually relocated into public housing — many became renters instead of landowners.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98814" y="3891855"/>
            <a:ext cx="1169045" cy="1138089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1"/>
          <p:cNvSpPr/>
          <p:nvPr/>
        </p:nvSpPr>
        <p:spPr>
          <a:xfrm>
            <a:off x="4817864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951214" y="3987105"/>
            <a:ext cx="920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90%+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4951214" y="4253805"/>
            <a:ext cx="92039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HALIFAX BLACKS CANADIAN-BORN (2001)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6082159" y="3891855"/>
            <a:ext cx="1169045" cy="1138089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5"/>
          <p:cNvSpPr/>
          <p:nvPr/>
        </p:nvSpPr>
        <p:spPr>
          <a:xfrm>
            <a:off x="6101209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234559" y="3987105"/>
            <a:ext cx="920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 in 10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6234559" y="4253805"/>
            <a:ext cx="920392" cy="6808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HALIFAX BLACKS THIRD-GENERATION OR BEYOND</a:t>
            </a:r>
            <a:endParaRPr lang="en-US" sz="825" dirty="0"/>
          </a:p>
        </p:txBody>
      </p:sp>
      <p:sp>
        <p:nvSpPr>
          <p:cNvPr id="21" name="Text 18"/>
          <p:cNvSpPr/>
          <p:nvPr/>
        </p:nvSpPr>
        <p:spPr>
          <a:xfrm>
            <a:off x="7365504" y="3891855"/>
            <a:ext cx="1169045" cy="1138089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Shape 19"/>
          <p:cNvSpPr/>
          <p:nvPr/>
        </p:nvSpPr>
        <p:spPr>
          <a:xfrm>
            <a:off x="7384554" y="3987105"/>
            <a:ext cx="0" cy="947589"/>
          </a:xfrm>
          <a:prstGeom prst="line">
            <a:avLst/>
          </a:prstGeom>
          <a:noFill/>
          <a:ln w="38100">
            <a:solidFill>
              <a:srgbClr val="B8860B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517904" y="3987105"/>
            <a:ext cx="920392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13,100</a:t>
            </a:r>
            <a:endParaRPr lang="en-US" sz="1650" dirty="0"/>
          </a:p>
        </p:txBody>
      </p:sp>
      <p:sp>
        <p:nvSpPr>
          <p:cNvPr id="24" name="Text 21"/>
          <p:cNvSpPr/>
          <p:nvPr/>
        </p:nvSpPr>
        <p:spPr>
          <a:xfrm>
            <a:off x="7517904" y="4253805"/>
            <a:ext cx="920392" cy="5447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73"/>
              </a:lnSpc>
              <a:spcBef>
                <a:spcPts val="450"/>
              </a:spcBef>
              <a:buNone/>
            </a:pPr>
            <a:r>
              <a:rPr lang="en-US" sz="825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IN HALIFAX — ~4% OF CMA POPULATION</a:t>
            </a:r>
            <a:endParaRPr lang="en-US" sz="825" dirty="0"/>
          </a:p>
        </p:txBody>
      </p:sp>
      <p:sp>
        <p:nvSpPr>
          <p:cNvPr id="25" name="Text 22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E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2001 CENSUS SNAPSHOT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744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33"/>
              </a:lnSpc>
              <a:spcBef>
                <a:spcPts val="450"/>
              </a:spcBef>
              <a:spcAft>
                <a:spcPts val="195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Blacks: Canada's </a:t>
            </a:r>
            <a:pPr algn="l" indent="0" marL="0">
              <a:lnSpc>
                <a:spcPts val="2933"/>
              </a:lnSpc>
              <a:spcBef>
                <a:spcPts val="450"/>
              </a:spcBef>
              <a:spcAft>
                <a:spcPts val="1950"/>
              </a:spcAft>
              <a:buNone/>
            </a:pPr>
            <a:r>
              <a:rPr lang="en-US" sz="25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Third-Largest</a:t>
            </a:r>
            <a:pPr algn="l" indent="0" marL="0">
              <a:lnSpc>
                <a:spcPts val="2933"/>
              </a:lnSpc>
              <a:spcBef>
                <a:spcPts val="450"/>
              </a:spcBef>
              <a:spcAft>
                <a:spcPts val="1950"/>
              </a:spcAft>
              <a:buNone/>
            </a:pPr>
            <a:r>
              <a:rPr lang="en-US" sz="255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Visible Minority Group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09600" y="1611511"/>
            <a:ext cx="4182368" cy="276790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638175" y="1821061"/>
            <a:ext cx="0" cy="2348805"/>
          </a:xfrm>
          <a:prstGeom prst="line">
            <a:avLst/>
          </a:prstGeom>
          <a:noFill/>
          <a:ln w="57150">
            <a:solidFill>
              <a:srgbClr val="F5B3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5350" y="1821061"/>
            <a:ext cx="3741378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662,200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895350" y="2506861"/>
            <a:ext cx="374137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Bef>
                <a:spcPts val="600"/>
              </a:spcBef>
              <a:spcAft>
                <a:spcPts val="1050"/>
              </a:spcAft>
              <a:buNone/>
            </a:pPr>
            <a:r>
              <a:rPr lang="en-US" sz="105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CANADIANS IN 2001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95350" y="2840236"/>
            <a:ext cx="3741378" cy="1000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Representing just over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2% of Canada's total population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and </a:t>
            </a:r>
            <a:pPr algn="l" indent="0" marL="0">
              <a:lnSpc>
                <a:spcPts val="1575"/>
              </a:lnSpc>
              <a:buNone/>
            </a:pPr>
            <a:r>
              <a:rPr lang="en-US" sz="1050" b="1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 of the visible minority population</a:t>
            </a:r>
            <a:pPr algn="l" indent="0" marL="0">
              <a:lnSpc>
                <a:spcPts val="1575"/>
              </a:lnSpc>
              <a:buNone/>
            </a:pPr>
            <a:r>
              <a:rPr lang="en-US" sz="1050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. Between 1991 and 2001, the Black population grew by 31%, while Canada's overall population grew by 10%.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0568" y="1611511"/>
            <a:ext cx="3513832" cy="276790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249168" y="1821061"/>
            <a:ext cx="311776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VISIBLE MINORITY SHARE (2001)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49168" y="2106811"/>
            <a:ext cx="56243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445276" y="2106811"/>
            <a:ext cx="87773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Largest group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249168" y="2287786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249168" y="2287786"/>
            <a:ext cx="3056632" cy="133350"/>
          </a:xfrm>
          <a:prstGeom prst="rect">
            <a:avLst/>
          </a:prstGeom>
          <a:solidFill>
            <a:srgbClr val="5B7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249168" y="2554486"/>
            <a:ext cx="9285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7383810" y="2554486"/>
            <a:ext cx="9404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Second largest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5249168" y="2735461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249168" y="2735461"/>
            <a:ext cx="2689771" cy="133350"/>
          </a:xfrm>
          <a:prstGeom prst="rect">
            <a:avLst/>
          </a:prstGeom>
          <a:solidFill>
            <a:srgbClr val="5B7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249168" y="3002161"/>
            <a:ext cx="45890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7004298" y="3002161"/>
            <a:ext cx="132753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 of minority pop.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5249168" y="3183136"/>
            <a:ext cx="3056632" cy="13335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249168" y="3183136"/>
            <a:ext cx="2139553" cy="133350"/>
          </a:xfrm>
          <a:prstGeom prst="rect">
            <a:avLst/>
          </a:prstGeom>
          <a:solidFill>
            <a:srgbClr val="F5B30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249168" y="3487936"/>
            <a:ext cx="942677" cy="68193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5336896" y="3602236"/>
            <a:ext cx="76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336896" y="3907036"/>
            <a:ext cx="7672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306145" y="3487936"/>
            <a:ext cx="942677" cy="68193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93874" y="3602236"/>
            <a:ext cx="76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393874" y="3907036"/>
            <a:ext cx="7672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63123" y="3487936"/>
            <a:ext cx="942677" cy="681930"/>
          </a:xfrm>
          <a:prstGeom prst="rect">
            <a:avLst/>
          </a:prstGeom>
          <a:solidFill>
            <a:srgbClr val="F5B30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7450851" y="3602236"/>
            <a:ext cx="76722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450851" y="3907036"/>
            <a:ext cx="767221" cy="1485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70"/>
              </a:lnSpc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9600" y="4588966"/>
            <a:ext cx="8083296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38"/>
              </a:lnSpc>
              <a:spcBef>
                <a:spcPts val="1650"/>
              </a:spcBef>
              <a:buNone/>
            </a:pPr>
            <a:r>
              <a:rPr lang="en-US" sz="825" i="1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For comparison, Blacks accounted for about 13% of the population of the United States. The 2001 Census used a population-group question first introduced in 1996 to derive counts for visible minorities.</a:t>
            </a:r>
            <a:endParaRPr lang="en-US" sz="825" dirty="0"/>
          </a:p>
        </p:txBody>
      </p:sp>
      <p:sp>
        <p:nvSpPr>
          <p:cNvPr id="33" name="Text 31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FB0D0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191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GENERATIONAL STATUS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619125"/>
            <a:ext cx="808329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Bef>
                <a:spcPts val="450"/>
              </a:spcBef>
              <a:spcAft>
                <a:spcPts val="1650"/>
              </a:spcAft>
              <a:buNone/>
            </a:pPr>
            <a:r>
              <a:rPr lang="en-US" sz="24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Nearly Half of Blacks Are Born in Canada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09600" y="1179165"/>
            <a:ext cx="7966710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4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While recent growth in many visible minority groups has been driven by immigration, Blacks have a </a:t>
            </a:r>
            <a:pPr algn="l" indent="0" marL="0">
              <a:lnSpc>
                <a:spcPts val="1744"/>
              </a:lnSpc>
              <a:spcAft>
                <a:spcPts val="1650"/>
              </a:spcAft>
              <a:buNone/>
            </a:pP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long history of residence</a:t>
            </a:r>
            <a:pPr algn="l" indent="0" marL="0">
              <a:lnSpc>
                <a:spcPts val="1744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Canada. In 2001, </a:t>
            </a:r>
            <a:pPr algn="l" indent="0" marL="0">
              <a:lnSpc>
                <a:spcPts val="1744"/>
              </a:lnSpc>
              <a:spcAft>
                <a:spcPts val="1650"/>
              </a:spcAft>
              <a:buNone/>
            </a:pPr>
            <a:r>
              <a:rPr lang="en-US" sz="112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 of Blacks were Canadian-born</a:t>
            </a:r>
            <a:pPr algn="l" indent="0" marL="0">
              <a:lnSpc>
                <a:spcPts val="1744"/>
              </a:lnSpc>
              <a:spcAft>
                <a:spcPts val="1650"/>
              </a:spcAft>
              <a:buNone/>
            </a:pPr>
            <a:r>
              <a:rPr lang="en-US" sz="112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second only to the Japanese among visible minorities.</a:t>
            </a:r>
            <a:endParaRPr lang="en-US" sz="1125" dirty="0"/>
          </a:p>
        </p:txBody>
      </p:sp>
      <p:sp>
        <p:nvSpPr>
          <p:cNvPr id="5" name="Text 3"/>
          <p:cNvSpPr/>
          <p:nvPr/>
        </p:nvSpPr>
        <p:spPr>
          <a:xfrm>
            <a:off x="609600" y="2053084"/>
            <a:ext cx="2527250" cy="22325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62000" y="2081659"/>
            <a:ext cx="222245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pic>
        <p:nvPicPr>
          <p:cNvPr id="7" name="Image 0" descr="/tmp/html2pptx-qgI9Wp/html2pptx-bg-1786384059583-db9d5d0469c8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9276" y="2281684"/>
            <a:ext cx="1047750" cy="104775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38798" y="2281684"/>
            <a:ext cx="106870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9775" y="3443734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39775" y="3634234"/>
            <a:ext cx="2266899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First generation established in Canada or born to Canadian parents.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308300" y="2053084"/>
            <a:ext cx="2527250" cy="22325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9"/>
          <p:cNvSpPr/>
          <p:nvPr/>
        </p:nvSpPr>
        <p:spPr>
          <a:xfrm>
            <a:off x="3460700" y="2081659"/>
            <a:ext cx="2222450" cy="0"/>
          </a:xfrm>
          <a:prstGeom prst="line">
            <a:avLst/>
          </a:prstGeom>
          <a:noFill/>
          <a:ln w="57150">
            <a:solidFill>
              <a:srgbClr val="B8860B"/>
            </a:solidFill>
            <a:prstDash val="solid"/>
          </a:ln>
        </p:spPr>
      </p:sp>
      <p:pic>
        <p:nvPicPr>
          <p:cNvPr id="13" name="Image 1" descr="/tmp/html2pptx-qgI9Wp/html2pptx-bg-1786384059681-61c9bf715b33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7976" y="2281684"/>
            <a:ext cx="1047750" cy="104775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37499" y="2281684"/>
            <a:ext cx="106870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438476" y="3443734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Second generation (19%)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438476" y="3634234"/>
            <a:ext cx="226689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with at least one parent born outside Canada — slightly above the national average of 16%.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6007001" y="2053084"/>
            <a:ext cx="2527250" cy="2232571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4"/>
          <p:cNvSpPr/>
          <p:nvPr/>
        </p:nvSpPr>
        <p:spPr>
          <a:xfrm>
            <a:off x="6159401" y="2081659"/>
            <a:ext cx="222245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pic>
        <p:nvPicPr>
          <p:cNvPr id="19" name="Image 2" descr="/tmp/html2pptx-qgI9Wp/html2pptx-bg-1786384059746-3786f15935f55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6677" y="2281684"/>
            <a:ext cx="1047750" cy="104775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736199" y="2281684"/>
            <a:ext cx="1068705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900"/>
              </a:spcAft>
              <a:buNone/>
            </a:pPr>
            <a:r>
              <a:rPr lang="en-US" sz="15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137176" y="3443734"/>
            <a:ext cx="226689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Third generation+ (10%)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6137176" y="3634234"/>
            <a:ext cx="2266899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Parents also born in Canada. In Nova Scotia, 84% of Black residents are at least third-generation.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09600" y="4495205"/>
            <a:ext cx="1881187" cy="105340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19"/>
          <p:cNvSpPr/>
          <p:nvPr/>
        </p:nvSpPr>
        <p:spPr>
          <a:xfrm>
            <a:off x="762000" y="4628555"/>
            <a:ext cx="1607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Japanese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762000" y="4819055"/>
            <a:ext cx="16079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65%</a:t>
            </a:r>
            <a:endParaRPr lang="en-US" sz="1650" dirty="0"/>
          </a:p>
        </p:txBody>
      </p:sp>
      <p:sp>
        <p:nvSpPr>
          <p:cNvPr id="26" name="Text 21"/>
          <p:cNvSpPr/>
          <p:nvPr/>
        </p:nvSpPr>
        <p:spPr>
          <a:xfrm>
            <a:off x="762000" y="5095280"/>
            <a:ext cx="16079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— highest among visible minorities</a:t>
            </a:r>
            <a:endParaRPr lang="en-US" sz="900" dirty="0"/>
          </a:p>
        </p:txBody>
      </p:sp>
      <p:sp>
        <p:nvSpPr>
          <p:cNvPr id="27" name="Text 22"/>
          <p:cNvSpPr/>
          <p:nvPr/>
        </p:nvSpPr>
        <p:spPr>
          <a:xfrm>
            <a:off x="2624138" y="4495205"/>
            <a:ext cx="1881187" cy="105340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3"/>
          <p:cNvSpPr/>
          <p:nvPr/>
        </p:nvSpPr>
        <p:spPr>
          <a:xfrm>
            <a:off x="2776538" y="4628555"/>
            <a:ext cx="1607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2776538" y="4819055"/>
            <a:ext cx="16079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45%</a:t>
            </a:r>
            <a:endParaRPr lang="en-US" sz="1650" dirty="0"/>
          </a:p>
        </p:txBody>
      </p:sp>
      <p:sp>
        <p:nvSpPr>
          <p:cNvPr id="30" name="Text 25"/>
          <p:cNvSpPr/>
          <p:nvPr/>
        </p:nvSpPr>
        <p:spPr>
          <a:xfrm>
            <a:off x="2776538" y="5095280"/>
            <a:ext cx="1607915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— second highest</a:t>
            </a:r>
            <a:endParaRPr lang="en-US" sz="900" dirty="0"/>
          </a:p>
        </p:txBody>
      </p:sp>
      <p:sp>
        <p:nvSpPr>
          <p:cNvPr id="31" name="Text 26"/>
          <p:cNvSpPr/>
          <p:nvPr/>
        </p:nvSpPr>
        <p:spPr>
          <a:xfrm>
            <a:off x="4638675" y="4495205"/>
            <a:ext cx="1881187" cy="105340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27"/>
          <p:cNvSpPr/>
          <p:nvPr/>
        </p:nvSpPr>
        <p:spPr>
          <a:xfrm>
            <a:off x="4791075" y="4628555"/>
            <a:ext cx="1607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South Asians</a:t>
            </a:r>
            <a:endParaRPr lang="en-US" sz="1050" dirty="0"/>
          </a:p>
        </p:txBody>
      </p:sp>
      <p:sp>
        <p:nvSpPr>
          <p:cNvPr id="33" name="Text 28"/>
          <p:cNvSpPr/>
          <p:nvPr/>
        </p:nvSpPr>
        <p:spPr>
          <a:xfrm>
            <a:off x="4791075" y="4819055"/>
            <a:ext cx="16079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29%</a:t>
            </a:r>
            <a:endParaRPr lang="en-US" sz="1650" dirty="0"/>
          </a:p>
        </p:txBody>
      </p:sp>
      <p:sp>
        <p:nvSpPr>
          <p:cNvPr id="34" name="Text 29"/>
          <p:cNvSpPr/>
          <p:nvPr/>
        </p:nvSpPr>
        <p:spPr>
          <a:xfrm>
            <a:off x="4791075" y="5095280"/>
            <a:ext cx="1607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</a:t>
            </a:r>
            <a:endParaRPr lang="en-US" sz="900" dirty="0"/>
          </a:p>
        </p:txBody>
      </p:sp>
      <p:sp>
        <p:nvSpPr>
          <p:cNvPr id="35" name="Text 30"/>
          <p:cNvSpPr/>
          <p:nvPr/>
        </p:nvSpPr>
        <p:spPr>
          <a:xfrm>
            <a:off x="6653213" y="4495205"/>
            <a:ext cx="1881187" cy="105340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1"/>
          <p:cNvSpPr/>
          <p:nvPr/>
        </p:nvSpPr>
        <p:spPr>
          <a:xfrm>
            <a:off x="6805613" y="4628555"/>
            <a:ext cx="160791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Chinese</a:t>
            </a:r>
            <a:endParaRPr lang="en-US" sz="1050" dirty="0"/>
          </a:p>
        </p:txBody>
      </p:sp>
      <p:sp>
        <p:nvSpPr>
          <p:cNvPr id="37" name="Text 32"/>
          <p:cNvSpPr/>
          <p:nvPr/>
        </p:nvSpPr>
        <p:spPr>
          <a:xfrm>
            <a:off x="6805613" y="4819055"/>
            <a:ext cx="160791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25%</a:t>
            </a:r>
            <a:endParaRPr lang="en-US" sz="1650" dirty="0"/>
          </a:p>
        </p:txBody>
      </p:sp>
      <p:sp>
        <p:nvSpPr>
          <p:cNvPr id="38" name="Text 33"/>
          <p:cNvSpPr/>
          <p:nvPr/>
        </p:nvSpPr>
        <p:spPr>
          <a:xfrm>
            <a:off x="6805613" y="5095280"/>
            <a:ext cx="1607915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</a:t>
            </a:r>
            <a:endParaRPr lang="en-US" sz="900" dirty="0"/>
          </a:p>
        </p:txBody>
      </p:sp>
      <p:sp>
        <p:nvSpPr>
          <p:cNvPr id="39" name="Text 34"/>
          <p:cNvSpPr/>
          <p:nvPr/>
        </p:nvSpPr>
        <p:spPr>
          <a:xfrm>
            <a:off x="609600" y="5720060"/>
            <a:ext cx="8083296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spcBef>
                <a:spcPts val="1350"/>
              </a:spcBef>
              <a:buNone/>
            </a:pPr>
            <a:r>
              <a:rPr lang="en-US" sz="9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Did you know?</a:t>
            </a:r>
            <a:pPr algn="l" indent="0" marL="0">
              <a:lnSpc>
                <a:spcPts val="1350"/>
              </a:lnSpc>
              <a:spcBef>
                <a:spcPts val="1350"/>
              </a:spcBef>
              <a:buNone/>
            </a:pPr>
            <a:r>
              <a:rPr lang="en-US" sz="900" dirty="0">
                <a:solidFill>
                  <a:srgbClr val="5A5A5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2001, only one in five Blacks was an immigrant who had come to Canada in the previous ten years — compared with more than one in three Chinese and South Asians.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8094911" y="65913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IMMIGRATION · SOURCE REGIONS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3286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Immigrants Come From Many Countries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081088"/>
            <a:ext cx="796671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about </a:t>
            </a:r>
            <a:pPr algn="l" indent="0" marL="0">
              <a:lnSpc>
                <a:spcPts val="1575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 of Black immigrants who arrived in the 1990s were born in Africa</a:t>
            </a:r>
            <a:pPr algn="l" indent="0" marL="0">
              <a:lnSpc>
                <a:spcPts val="1575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virtually the same proportion as those born in the Caribbean, Central and South America (47%). Among those who arrived before 1961, only 1% were born in Africa; 72% came from the Caribbean.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609600" y="2119313"/>
            <a:ext cx="3829050" cy="0"/>
          </a:xfrm>
          <a:prstGeom prst="line">
            <a:avLst/>
          </a:prstGeom>
          <a:noFill/>
          <a:ln w="19050">
            <a:solidFill>
              <a:srgbClr val="0F1E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9600" y="1871663"/>
            <a:ext cx="39056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SOURCES — </a:t>
            </a:r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1991–2001 ARRIVALS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9600" y="226695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Jamaica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847850" y="226218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847850" y="2262188"/>
            <a:ext cx="2095500" cy="1524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3991737" y="226695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20%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609600" y="251460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Haiti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847850" y="250983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1847850" y="2509838"/>
            <a:ext cx="1257300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991737" y="251460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12%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09600" y="276225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Somalia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1847850" y="275748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847850" y="2757488"/>
            <a:ext cx="1047750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991737" y="276225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10%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609600" y="300990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Ghana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847850" y="300513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847850" y="3005138"/>
            <a:ext cx="838200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991737" y="300990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8%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609600" y="325755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Ethiopia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847850" y="325278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1847850" y="3252788"/>
            <a:ext cx="523875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991737" y="325755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9600" y="3500438"/>
            <a:ext cx="3905631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About 139,800 Black immigrants arrived between 1991 and 2001.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4705350" y="2119313"/>
            <a:ext cx="3829050" cy="0"/>
          </a:xfrm>
          <a:prstGeom prst="line">
            <a:avLst/>
          </a:prstGeom>
          <a:noFill/>
          <a:ln w="19050">
            <a:solidFill>
              <a:srgbClr val="0F1E3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05350" y="1871663"/>
            <a:ext cx="390563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TOP SOURCES — </a:t>
            </a:r>
            <a:pPr algn="l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PRE-1961 ARRIVALS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05350" y="226695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Jamaica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5943600" y="226218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943600" y="2262188"/>
            <a:ext cx="2095500" cy="1524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8087487" y="226695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33%</a:t>
            </a:r>
            <a:endParaRPr lang="en-US" sz="975" dirty="0"/>
          </a:p>
        </p:txBody>
      </p:sp>
      <p:sp>
        <p:nvSpPr>
          <p:cNvPr id="34" name="Text 32"/>
          <p:cNvSpPr/>
          <p:nvPr/>
        </p:nvSpPr>
        <p:spPr>
          <a:xfrm>
            <a:off x="4705350" y="251460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Barbados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5943600" y="250983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5943600" y="2509838"/>
            <a:ext cx="942975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8087487" y="251460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15%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4705350" y="276225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United Kingdom</a:t>
            </a:r>
            <a:endParaRPr lang="en-US" sz="975" dirty="0"/>
          </a:p>
        </p:txBody>
      </p:sp>
      <p:sp>
        <p:nvSpPr>
          <p:cNvPr id="39" name="Text 37"/>
          <p:cNvSpPr/>
          <p:nvPr/>
        </p:nvSpPr>
        <p:spPr>
          <a:xfrm>
            <a:off x="5943600" y="275748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5943600" y="2757488"/>
            <a:ext cx="377130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8087487" y="276225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6%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4705350" y="3005138"/>
            <a:ext cx="126301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Trinidad &amp; Tobago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5943600" y="3071813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943600" y="3071813"/>
            <a:ext cx="377130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8087487" y="3076575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6%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4705350" y="3390900"/>
            <a:ext cx="126301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United States</a:t>
            </a:r>
            <a:endParaRPr lang="en-US" sz="975" dirty="0"/>
          </a:p>
        </p:txBody>
      </p:sp>
      <p:sp>
        <p:nvSpPr>
          <p:cNvPr id="47" name="Text 45"/>
          <p:cNvSpPr/>
          <p:nvPr/>
        </p:nvSpPr>
        <p:spPr>
          <a:xfrm>
            <a:off x="5943600" y="3386138"/>
            <a:ext cx="2095500" cy="15240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Text 46"/>
          <p:cNvSpPr/>
          <p:nvPr/>
        </p:nvSpPr>
        <p:spPr>
          <a:xfrm>
            <a:off x="5943600" y="3386138"/>
            <a:ext cx="314325" cy="1524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8087487" y="3390900"/>
            <a:ext cx="4469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4705350" y="3633788"/>
            <a:ext cx="3905631" cy="2931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750"/>
              </a:spcBef>
              <a:buNone/>
            </a:pPr>
            <a:r>
              <a:rPr lang="en-US" sz="825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Jamaica remained the leading source across decades; Haiti became the second-largest source in the 1970s–80s.</a:t>
            </a:r>
            <a:endParaRPr lang="en-US" sz="825" dirty="0"/>
          </a:p>
        </p:txBody>
      </p:sp>
      <p:sp>
        <p:nvSpPr>
          <p:cNvPr id="51" name="Text 49"/>
          <p:cNvSpPr/>
          <p:nvPr/>
        </p:nvSpPr>
        <p:spPr>
          <a:xfrm>
            <a:off x="609600" y="4117479"/>
            <a:ext cx="7924800" cy="92958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819150" y="4349800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</a:t>
            </a:r>
            <a:endParaRPr lang="en-US" sz="2100" dirty="0"/>
          </a:p>
        </p:txBody>
      </p:sp>
      <p:sp>
        <p:nvSpPr>
          <p:cNvPr id="53" name="Text 51"/>
          <p:cNvSpPr/>
          <p:nvPr/>
        </p:nvSpPr>
        <p:spPr>
          <a:xfrm>
            <a:off x="819150" y="4654600"/>
            <a:ext cx="2396541" cy="1599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Born in Africa — 1990s arrivals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397300" y="4269879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</a:t>
            </a:r>
            <a:endParaRPr lang="en-US" sz="2100" dirty="0"/>
          </a:p>
        </p:txBody>
      </p:sp>
      <p:sp>
        <p:nvSpPr>
          <p:cNvPr id="55" name="Text 53"/>
          <p:cNvSpPr/>
          <p:nvPr/>
        </p:nvSpPr>
        <p:spPr>
          <a:xfrm>
            <a:off x="3397300" y="4574679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Born in Caribbean / Central &amp; South America — 1990s arrivals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975449" y="4269879"/>
            <a:ext cx="23965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21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139,800</a:t>
            </a:r>
            <a:endParaRPr lang="en-US" sz="2100" dirty="0"/>
          </a:p>
        </p:txBody>
      </p:sp>
      <p:sp>
        <p:nvSpPr>
          <p:cNvPr id="57" name="Text 55"/>
          <p:cNvSpPr/>
          <p:nvPr/>
        </p:nvSpPr>
        <p:spPr>
          <a:xfrm>
            <a:off x="5975449" y="4574679"/>
            <a:ext cx="239654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30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immigrants who arrived 1991–2001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 STRUCTURE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Younger Than the Overall Population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7966710" cy="4131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Blacks had a </a:t>
            </a:r>
            <a:pPr algn="l" indent="0" marL="0">
              <a:lnSpc>
                <a:spcPts val="1627"/>
              </a:lnSpc>
              <a:spcAft>
                <a:spcPts val="150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much younger age structure</a:t>
            </a:r>
            <a:pPr algn="l" indent="0" marL="0">
              <a:lnSpc>
                <a:spcPts val="1627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than the total Canadian population. Possible explanations include higher fertility and mortality rates for Blacks compared with the overall population.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013347"/>
            <a:ext cx="7924800" cy="2552700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876300" y="2041922"/>
            <a:ext cx="7391400" cy="0"/>
          </a:xfrm>
          <a:prstGeom prst="line">
            <a:avLst/>
          </a:prstGeom>
          <a:noFill/>
          <a:ln w="57150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6300" y="2280047"/>
            <a:ext cx="753922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50"/>
              </a:spcAft>
              <a:buNone/>
            </a:pPr>
            <a:r>
              <a:rPr lang="en-US" sz="10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AGE DISTRIBUTION: BLACKS VS. TOTAL CANADIAN POPULATION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76300" y="2565797"/>
            <a:ext cx="133350" cy="1333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066800" y="2565797"/>
            <a:ext cx="37617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07046" y="2565797"/>
            <a:ext cx="133350" cy="1333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797546" y="2565797"/>
            <a:ext cx="92980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 population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76300" y="2908697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Under 15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828800" y="2837259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14" name="Text 12"/>
          <p:cNvSpPr/>
          <p:nvPr/>
        </p:nvSpPr>
        <p:spPr>
          <a:xfrm>
            <a:off x="2362200" y="2832497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362200" y="2832497"/>
            <a:ext cx="5410200" cy="1333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820787" y="2832497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28800" y="2999184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18" name="Text 16"/>
          <p:cNvSpPr/>
          <p:nvPr/>
        </p:nvSpPr>
        <p:spPr>
          <a:xfrm>
            <a:off x="2362200" y="2994422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2362200" y="2994422"/>
            <a:ext cx="3408313" cy="1333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820787" y="2994422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19%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76300" y="3299222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15 to 24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828800" y="3227784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23" name="Text 21"/>
          <p:cNvSpPr/>
          <p:nvPr/>
        </p:nvSpPr>
        <p:spPr>
          <a:xfrm>
            <a:off x="2362200" y="3223022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2362200" y="3223022"/>
            <a:ext cx="3083719" cy="1333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820787" y="3223022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828800" y="3389709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2362200" y="3384947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2362200" y="3384947"/>
            <a:ext cx="2326332" cy="1333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820787" y="3384947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76300" y="3689747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25 to 64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1828800" y="3618309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32" name="Text 30"/>
          <p:cNvSpPr/>
          <p:nvPr/>
        </p:nvSpPr>
        <p:spPr>
          <a:xfrm>
            <a:off x="2362200" y="3613547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2362200" y="3613547"/>
            <a:ext cx="2596753" cy="1333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7820787" y="3613547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48%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28800" y="3780234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36" name="Text 34"/>
          <p:cNvSpPr/>
          <p:nvPr/>
        </p:nvSpPr>
        <p:spPr>
          <a:xfrm>
            <a:off x="2362200" y="3775472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2362200" y="3775472"/>
            <a:ext cx="3029694" cy="1333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820787" y="3775472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56%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876300" y="4080272"/>
            <a:ext cx="97155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65 and over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1828800" y="4008834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</a:t>
            </a:r>
            <a:endParaRPr lang="en-US" sz="825" dirty="0"/>
          </a:p>
        </p:txBody>
      </p:sp>
      <p:sp>
        <p:nvSpPr>
          <p:cNvPr id="41" name="Text 39"/>
          <p:cNvSpPr/>
          <p:nvPr/>
        </p:nvSpPr>
        <p:spPr>
          <a:xfrm>
            <a:off x="2362200" y="4004072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Text 40"/>
          <p:cNvSpPr/>
          <p:nvPr/>
        </p:nvSpPr>
        <p:spPr>
          <a:xfrm>
            <a:off x="2362200" y="4004072"/>
            <a:ext cx="919609" cy="13335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7820787" y="4004072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828800" y="4170759"/>
            <a:ext cx="544068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25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Total</a:t>
            </a:r>
            <a:endParaRPr lang="en-US" sz="825" dirty="0"/>
          </a:p>
        </p:txBody>
      </p:sp>
      <p:sp>
        <p:nvSpPr>
          <p:cNvPr id="45" name="Text 43"/>
          <p:cNvSpPr/>
          <p:nvPr/>
        </p:nvSpPr>
        <p:spPr>
          <a:xfrm>
            <a:off x="2362200" y="4165997"/>
            <a:ext cx="5410200" cy="1333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2362200" y="4165997"/>
            <a:ext cx="2163961" cy="13335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820787" y="4165997"/>
            <a:ext cx="446913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12%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09600" y="4737497"/>
            <a:ext cx="2552700" cy="85338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762000" y="4870847"/>
            <a:ext cx="22928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30%</a:t>
            </a:r>
            <a:endParaRPr lang="en-US" sz="1650" dirty="0"/>
          </a:p>
        </p:txBody>
      </p:sp>
      <p:sp>
        <p:nvSpPr>
          <p:cNvPr id="50" name="Text 48"/>
          <p:cNvSpPr/>
          <p:nvPr/>
        </p:nvSpPr>
        <p:spPr>
          <a:xfrm>
            <a:off x="762000" y="5137547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under age 15 — vs. 19% nationally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3295650" y="4737497"/>
            <a:ext cx="2552700" cy="85338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3448050" y="4870847"/>
            <a:ext cx="22928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5%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3448050" y="5137547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population aged 65+ — less than half the national rate (12%)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5981700" y="4737497"/>
            <a:ext cx="2552700" cy="85338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5" name="Text 53"/>
          <p:cNvSpPr/>
          <p:nvPr/>
        </p:nvSpPr>
        <p:spPr>
          <a:xfrm>
            <a:off x="6134100" y="4870847"/>
            <a:ext cx="2292858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6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17%</a:t>
            </a:r>
            <a:endParaRPr lang="en-US" sz="1650" dirty="0"/>
          </a:p>
        </p:txBody>
      </p:sp>
      <p:sp>
        <p:nvSpPr>
          <p:cNvPr id="56" name="Text 54"/>
          <p:cNvSpPr/>
          <p:nvPr/>
        </p:nvSpPr>
        <p:spPr>
          <a:xfrm>
            <a:off x="6134100" y="5137547"/>
            <a:ext cx="2292858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spcBef>
                <a:spcPts val="450"/>
              </a:spcBef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Blacks aged 15–24 — vs. 13% of total population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09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810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FAMILY CHARACTERISTICS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81025"/>
            <a:ext cx="8083296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88"/>
              </a:lnSpc>
              <a:spcBef>
                <a:spcPts val="450"/>
              </a:spcBef>
              <a:spcAft>
                <a:spcPts val="1350"/>
              </a:spcAft>
              <a:buNone/>
            </a:pPr>
            <a:r>
              <a:rPr lang="en-US" sz="22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Children More Likely to Live in Lone-Parent Families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609600" y="1409700"/>
            <a:ext cx="7966710" cy="619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27"/>
              </a:lnSpc>
              <a:spcAft>
                <a:spcPts val="1500"/>
              </a:spcAft>
              <a:buNone/>
            </a:pPr>
            <a:r>
              <a:rPr lang="en-US" sz="105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According to the 2001 Census, a much higher proportion of Black children aged 0 to 14 lived with only one parent than other children. Some researchers argue that economic obstacles faced by Blacks have affected their family circumstances.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609600" y="2219920"/>
            <a:ext cx="2527250" cy="1224558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2372320"/>
            <a:ext cx="0" cy="919758"/>
          </a:xfrm>
          <a:prstGeom prst="line">
            <a:avLst/>
          </a:prstGeom>
          <a:noFill/>
          <a:ln w="47625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8675" y="2372320"/>
            <a:ext cx="2179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46%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828675" y="2772370"/>
            <a:ext cx="217946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children</a:t>
            </a:r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aged 0–14 living with a lone parent — versus 18% of other children.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3308300" y="2219920"/>
            <a:ext cx="2527250" cy="1224558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3332113" y="2372320"/>
            <a:ext cx="0" cy="919758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7375" y="2372320"/>
            <a:ext cx="2179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44%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3527375" y="2772370"/>
            <a:ext cx="217946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children</a:t>
            </a:r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in low-income households — compared with 19% of other children.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6007001" y="2219920"/>
            <a:ext cx="2527250" cy="1224558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030813" y="2372320"/>
            <a:ext cx="0" cy="919758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26076" y="2372320"/>
            <a:ext cx="217946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7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 / 40%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6226076" y="2772370"/>
            <a:ext cx="2179460" cy="519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Canadian-born vs. foreign-born</a:t>
            </a:r>
            <a:pPr algn="l" indent="0" marL="0">
              <a:lnSpc>
                <a:spcPts val="1365"/>
              </a:lnSpc>
              <a:spcBef>
                <a:spcPts val="450"/>
              </a:spcBef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Black children in lone-parent families.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609600" y="3634978"/>
            <a:ext cx="7924800" cy="11049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38200" y="3806428"/>
            <a:ext cx="761695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05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LONE-PARENT FAMILIES — BLACK CHILDREN VS. OTHER CHILDREN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38200" y="4077891"/>
            <a:ext cx="2137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Black children (0–14)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2933700" y="4073128"/>
            <a:ext cx="4838700" cy="152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933700" y="4073128"/>
            <a:ext cx="4838700" cy="152400"/>
          </a:xfrm>
          <a:prstGeom prst="rect">
            <a:avLst/>
          </a:prstGeom>
          <a:solidFill>
            <a:srgbClr val="F5B30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7820025" y="4077891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46%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838200" y="4325541"/>
            <a:ext cx="213741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Other children (0–14)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2933700" y="4320778"/>
            <a:ext cx="4838700" cy="152400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933700" y="4320778"/>
            <a:ext cx="1886992" cy="152400"/>
          </a:xfrm>
          <a:prstGeom prst="rect">
            <a:avLst/>
          </a:prstGeom>
          <a:solidFill>
            <a:srgbClr val="5B77B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7820025" y="4325541"/>
            <a:ext cx="485775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18%</a:t>
            </a:r>
            <a:endParaRPr lang="en-US" sz="975" dirty="0"/>
          </a:p>
        </p:txBody>
      </p:sp>
      <p:sp>
        <p:nvSpPr>
          <p:cNvPr id="27" name="Text 25"/>
          <p:cNvSpPr/>
          <p:nvPr/>
        </p:nvSpPr>
        <p:spPr>
          <a:xfrm>
            <a:off x="609600" y="4892278"/>
            <a:ext cx="3876675" cy="1456879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62000" y="5025628"/>
            <a:ext cx="364331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Couples Involving Blacks (2001) — 118,000 total</a:t>
            </a:r>
            <a:endParaRPr lang="en-US" sz="975" dirty="0"/>
          </a:p>
        </p:txBody>
      </p:sp>
      <p:sp>
        <p:nvSpPr>
          <p:cNvPr id="29" name="Text 27"/>
          <p:cNvSpPr/>
          <p:nvPr/>
        </p:nvSpPr>
        <p:spPr>
          <a:xfrm>
            <a:off x="762000" y="5244703"/>
            <a:ext cx="2035969" cy="228600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2797969" y="5244703"/>
            <a:ext cx="1535906" cy="228600"/>
          </a:xfrm>
          <a:prstGeom prst="rect">
            <a:avLst/>
          </a:prstGeom>
          <a:solidFill>
            <a:srgbClr val="B886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762000" y="5530453"/>
            <a:ext cx="139159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57% two Black partners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004542" y="5530453"/>
            <a:ext cx="135591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43% Black + non-Black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657725" y="4892278"/>
            <a:ext cx="3876675" cy="1456879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4" name="Text 32"/>
          <p:cNvSpPr/>
          <p:nvPr/>
        </p:nvSpPr>
        <p:spPr>
          <a:xfrm>
            <a:off x="4810125" y="5025628"/>
            <a:ext cx="3643313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Mixed Unions — Among the Highest Among Visible Minorities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4810125" y="5387578"/>
            <a:ext cx="3643313" cy="8282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Most often a Black male and a white female. The duration of residence in Canada for many Blacks may partially explain why they have one of the highest proportions of mixed marriages or common-law relationships among visible minority couples.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094911" y="661035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429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SETTLEMENT PATTERNS · 2001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42925"/>
            <a:ext cx="8083296" cy="3065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15"/>
              </a:lnSpc>
              <a:spcBef>
                <a:spcPts val="450"/>
              </a:spcBef>
              <a:spcAft>
                <a:spcPts val="1050"/>
              </a:spcAft>
              <a:buNone/>
            </a:pPr>
            <a:r>
              <a:rPr lang="en-US" sz="210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Almost Half of Canada's Blacks Live in Toronto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609600" y="982861"/>
            <a:ext cx="796671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almost all Blacks (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97%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 lived in urban areas and nearly one half (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47%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) of the Black population — about 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310,500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— lived in the Toronto CMA. Toronto's Black community is predominantly Caribbean-origin; Montréal's is largely Haitian.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487686"/>
            <a:ext cx="4307384" cy="4105275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723900" y="1511498"/>
            <a:ext cx="4078784" cy="0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3900" y="1630561"/>
          <a:ext cx="6858000" cy="914400"/>
        </p:xfrm>
        <a:graphic>
          <a:graphicData uri="http://schemas.openxmlformats.org/drawingml/2006/table">
            <a:tbl>
              <a:tblPr/>
              <a:tblGrid>
                <a:gridCol w="907554"/>
                <a:gridCol w="672554"/>
                <a:gridCol w="614958"/>
                <a:gridCol w="954584"/>
                <a:gridCol w="929134"/>
              </a:tblGrid>
              <a:tr h="3099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SELECTED CMA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 POP.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OF TOTAL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CANADIAN-BORN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% CHANGE 1991–2001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Canada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662,200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2.2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Toronto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310,500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b="1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Montréal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139,300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4.1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Halifax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13,100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3.7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28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Ottawa–Gatineau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38,200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3.6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38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75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Windsor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8,100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Oshawa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52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Hamilton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12,800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2.0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48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Kitchener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7,300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1.8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46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London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7,600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1.8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52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43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Winnipeg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11,400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Edmonton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14,100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1.5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49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Calgary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13,700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1.4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45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Vancouver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18,400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0.9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48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8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Non-CMAs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41,000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0.4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72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14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09600" y="5650111"/>
            <a:ext cx="439353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5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Statistics Canada, censuses of population.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088434" y="1487686"/>
            <a:ext cx="3445966" cy="849362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5221784" y="1582936"/>
            <a:ext cx="66748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Toronto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089428" y="1621036"/>
            <a:ext cx="1337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310,500 · 6.7% of CMA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221784" y="1802011"/>
            <a:ext cx="3242852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57% foreign-born; 73% of those from the Caribbean, South &amp; Central America (mainly Jamaica, Trinidad &amp; Tobago, Guyana). Brampton 10%, Ajax 10%, Pickering 9%.</a:t>
            </a:r>
            <a:endParaRPr lang="en-US" sz="825" dirty="0"/>
          </a:p>
        </p:txBody>
      </p:sp>
      <p:sp>
        <p:nvSpPr>
          <p:cNvPr id="13" name="Text 10"/>
          <p:cNvSpPr/>
          <p:nvPr/>
        </p:nvSpPr>
        <p:spPr>
          <a:xfrm>
            <a:off x="5088434" y="2432298"/>
            <a:ext cx="3445966" cy="849362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1"/>
          <p:cNvSpPr/>
          <p:nvPr/>
        </p:nvSpPr>
        <p:spPr>
          <a:xfrm>
            <a:off x="5221784" y="2527548"/>
            <a:ext cx="78680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Montréal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089428" y="2565648"/>
            <a:ext cx="1337855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139,300 · 4.1% of CMA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221784" y="2746623"/>
            <a:ext cx="3242852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55% foreign-born. 78% of those from Caribbean / S. &amp; C. America, primarily Haiti. Montréal-Nord 15%, LaSalle 9%, Pierrefonds 9%.</a:t>
            </a:r>
            <a:endParaRPr lang="en-US" sz="825" dirty="0"/>
          </a:p>
        </p:txBody>
      </p:sp>
      <p:sp>
        <p:nvSpPr>
          <p:cNvPr id="17" name="Text 14"/>
          <p:cNvSpPr/>
          <p:nvPr/>
        </p:nvSpPr>
        <p:spPr>
          <a:xfrm>
            <a:off x="5088434" y="3376910"/>
            <a:ext cx="3445966" cy="849362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5221784" y="3472160"/>
            <a:ext cx="614354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Halifax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7162205" y="3510260"/>
            <a:ext cx="12636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C9D4E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13,100 · 3.7% of CMA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221784" y="3691235"/>
            <a:ext cx="3242852" cy="439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55"/>
              </a:lnSpc>
              <a:spcBef>
                <a:spcPts val="300"/>
              </a:spcBef>
              <a:buNone/>
            </a:pPr>
            <a:r>
              <a:rPr lang="en-US" sz="825" dirty="0">
                <a:solidFill>
                  <a:srgbClr val="E7EEFC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Over 90% Canadian-born — the highest proportion among CMAs. Eight in 10 Haligonian Blacks are third-generation or beyond.</a:t>
            </a:r>
            <a:endParaRPr lang="en-US" sz="825" dirty="0"/>
          </a:p>
        </p:txBody>
      </p:sp>
      <p:pic>
        <p:nvPicPr>
          <p:cNvPr id="21" name="Image 0" descr="/tmp/html2pptx-dZWDoU/html2pptx-bg-1786384062896-f7e95f4e13be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88434" y="4226272"/>
            <a:ext cx="3445966" cy="1238250"/>
          </a:xfrm>
          <a:prstGeom prst="rect">
            <a:avLst/>
          </a:prstGeom>
        </p:spPr>
      </p:pic>
      <p:sp>
        <p:nvSpPr>
          <p:cNvPr id="22" name="Shape 18"/>
          <p:cNvSpPr/>
          <p:nvPr/>
        </p:nvSpPr>
        <p:spPr>
          <a:xfrm>
            <a:off x="5088434" y="4240560"/>
            <a:ext cx="3445966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8522196" y="4226272"/>
            <a:ext cx="0" cy="123825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5088434" y="5450235"/>
            <a:ext cx="3445966" cy="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102721" y="4226272"/>
            <a:ext cx="0" cy="1238250"/>
          </a:xfrm>
          <a:prstGeom prst="line">
            <a:avLst/>
          </a:prstGeom>
          <a:noFill/>
          <a:ln w="28575">
            <a:solidFill>
              <a:srgbClr val="0F1E3D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5088434" y="5502622"/>
            <a:ext cx="3514886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spcBef>
                <a:spcPts val="300"/>
              </a:spcBef>
              <a:buNone/>
            </a:pPr>
            <a:r>
              <a:rPr lang="en-US" sz="750" i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Toronto's Caribbean Carnival (Caribana) — celebrated annually since 1967, showcasing Caribbean culture in costume, music, and dance.</a:t>
            </a:r>
            <a:endParaRPr lang="en-US" sz="750" dirty="0"/>
          </a:p>
        </p:txBody>
      </p:sp>
      <p:sp>
        <p:nvSpPr>
          <p:cNvPr id="27" name="Text 23"/>
          <p:cNvSpPr/>
          <p:nvPr/>
        </p:nvSpPr>
        <p:spPr>
          <a:xfrm>
            <a:off x="8094911" y="66294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304800"/>
            <a:ext cx="808329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B8860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EDUCATION · LABOUR MARKET · SUMMARY</a:t>
            </a:r>
            <a:endParaRPr lang="en-US" sz="975" dirty="0"/>
          </a:p>
        </p:txBody>
      </p:sp>
      <p:sp>
        <p:nvSpPr>
          <p:cNvPr id="3" name="Text 1"/>
          <p:cNvSpPr/>
          <p:nvPr/>
        </p:nvSpPr>
        <p:spPr>
          <a:xfrm>
            <a:off x="609600" y="504825"/>
            <a:ext cx="8083296" cy="569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2"/>
              </a:lnSpc>
              <a:spcBef>
                <a:spcPts val="450"/>
              </a:spcBef>
              <a:spcAft>
                <a:spcPts val="900"/>
              </a:spcAft>
              <a:buNone/>
            </a:pPr>
            <a:r>
              <a:rPr lang="en-US" sz="1950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Working-Age Blacks: Education, Income, and the Path Forward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609600" y="1188541"/>
            <a:ext cx="796671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In 2001, Canadian-born Blacks aged 25–54 were 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just as likely to be university educated</a:t>
            </a:r>
            <a:pPr algn="l" indent="0" marL="0">
              <a:lnSpc>
                <a:spcPts val="1463"/>
              </a:lnSpc>
              <a:spcAft>
                <a:spcPts val="1050"/>
              </a:spcAft>
              <a:buNone/>
            </a:pPr>
            <a:r>
              <a:rPr lang="en-US" sz="975" dirty="0">
                <a:solidFill>
                  <a:srgbClr val="2A2A2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as all Canadian-born persons in that age group (about one in five), but foreign-born Blacks were much less likely (20% vs. 32% of all immigrants). Still, employment, income, and unemployment gaps persist.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09600" y="1879104"/>
            <a:ext cx="7924800" cy="2114550"/>
          </a:xfrm>
          <a:prstGeom prst="rect">
            <a:avLst/>
          </a:prstGeom>
          <a:solidFill>
            <a:srgbClr val="F4F1E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633412" y="1974354"/>
            <a:ext cx="0" cy="1924050"/>
          </a:xfrm>
          <a:prstGeom prst="line">
            <a:avLst/>
          </a:prstGeom>
          <a:noFill/>
          <a:ln w="47625">
            <a:solidFill>
              <a:srgbClr val="0F1E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0575" y="1974354"/>
            <a:ext cx="7762684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0F1E3D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PRIME WORKING AGE (25–54), 2001 — SELECTED INDICATORS</a:t>
            </a:r>
            <a:endParaRPr lang="en-US" sz="975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90575" y="2193429"/>
          <a:ext cx="6858000" cy="914400"/>
        </p:xfrm>
        <a:graphic>
          <a:graphicData uri="http://schemas.openxmlformats.org/drawingml/2006/table">
            <a:tbl>
              <a:tblPr/>
              <a:tblGrid>
                <a:gridCol w="2432149"/>
                <a:gridCol w="1262360"/>
                <a:gridCol w="1175147"/>
                <a:gridCol w="1413867"/>
                <a:gridCol w="1326952"/>
              </a:tblGrid>
              <a:tr h="3104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INDICATOR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CANADIAN-BORN (ALL)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FOREIGN-BORN (ALL)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BLACKS, CANADIAN-BORN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750" b="1" dirty="0">
                          <a:solidFill>
                            <a:srgbClr val="FFFFFF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BLACKS, FOREIGN-BORN</a:t>
                      </a:r>
                      <a:endParaRPr lang="en-US" sz="750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E3D"/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University education (%)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34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Employment rate, age-standardized (%)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81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76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76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77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3534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Unemployment rate, age-standardized (%)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6.0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7.0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7.9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9.6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Average employment income (2000, $)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34,800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29,700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28,700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  <a:tr h="2292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25" b="1" dirty="0">
                          <a:solidFill>
                            <a:srgbClr val="0F1E3D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Average income, age-standardized ($)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37,200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34,800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32,000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825" dirty="0">
                          <a:solidFill>
                            <a:srgbClr val="1A1A1A"/>
                          </a:solidFill>
                          <a:latin typeface="DejaVu Sans" pitchFamily="34" charset="0"/>
                          <a:ea typeface="DejaVu Sans" pitchFamily="34" charset="-122"/>
                          <a:cs typeface="DejaVu Sans" pitchFamily="34" charset="-120"/>
                        </a:rPr>
                        <a:t>29,200</a:t>
                      </a:r>
                      <a:endParaRPr lang="en-US" sz="825" dirty="0">
                        <a:latin typeface="DejaVu Sans" charset="0"/>
                        <a:ea typeface="DejaVu Sans" charset="0"/>
                        <a:cs typeface="DejaVu Sans" charset="0"/>
                      </a:endParaRPr>
                    </a:p>
                  </a:txBody>
                  <a:tcPr marL="57150" marR="57150" marT="47625" marB="47625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E3D9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09600" y="4107954"/>
            <a:ext cx="7924800" cy="2181225"/>
          </a:xfrm>
          <a:prstGeom prst="rect">
            <a:avLst/>
          </a:prstGeom>
          <a:solidFill>
            <a:srgbClr val="0F1E3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7"/>
          <p:cNvSpPr/>
          <p:nvPr/>
        </p:nvSpPr>
        <p:spPr>
          <a:xfrm>
            <a:off x="800100" y="4241304"/>
            <a:ext cx="7694676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975" b="1" dirty="0">
                <a:solidFill>
                  <a:srgbClr val="F5B301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SUMMARY — KEY TAKEAWAYS</a:t>
            </a:r>
            <a:endParaRPr lang="en-US" sz="975" dirty="0"/>
          </a:p>
        </p:txBody>
      </p:sp>
      <p:sp>
        <p:nvSpPr>
          <p:cNvPr id="11" name="Text 8"/>
          <p:cNvSpPr/>
          <p:nvPr/>
        </p:nvSpPr>
        <p:spPr>
          <a:xfrm>
            <a:off x="800100" y="4460379"/>
            <a:ext cx="7543800" cy="165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33350" indent="-133350">
              <a:lnSpc>
                <a:spcPts val="1350"/>
              </a:lnSpc>
              <a:spcAft>
                <a:spcPts val="300"/>
              </a:spcAft>
              <a:buSzPct val="100000"/>
              <a:buChar char="■"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Diversity across centuries: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Some Black Canadians trace roots back several centuries; others arrived in recent decades from the Caribbean and Africa.</a:t>
            </a:r>
            <a:endParaRPr lang="en-US" sz="900" dirty="0"/>
          </a:p>
          <a:p>
            <a:pPr algn="l" marL="133350" indent="-133350">
              <a:lnSpc>
                <a:spcPts val="1350"/>
              </a:lnSpc>
              <a:spcAft>
                <a:spcPts val="300"/>
              </a:spcAft>
              <a:buSzPct val="100000"/>
              <a:buChar char="■"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Fast-growing and urban: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The Black population grew 31% from 1991–2001 and is concentrated in Toronto, Montréal, and Halifax.</a:t>
            </a:r>
            <a:endParaRPr lang="en-US" sz="900" dirty="0"/>
          </a:p>
          <a:p>
            <a:pPr algn="l" marL="133350" indent="-133350">
              <a:lnSpc>
                <a:spcPts val="1350"/>
              </a:lnSpc>
              <a:spcAft>
                <a:spcPts val="300"/>
              </a:spcAft>
              <a:buSzPct val="100000"/>
              <a:buChar char="■"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Younger families, higher needs: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Blacks are younger; children are more likely to live in lone-parent families and low-income households.</a:t>
            </a:r>
            <a:endParaRPr lang="en-US" sz="900" dirty="0"/>
          </a:p>
          <a:p>
            <a:pPr algn="l" marL="133350" indent="-133350">
              <a:lnSpc>
                <a:spcPts val="1350"/>
              </a:lnSpc>
              <a:spcAft>
                <a:spcPts val="300"/>
              </a:spcAft>
              <a:buSzPct val="100000"/>
              <a:buChar char="■"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Education parity, income gap: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Canadian-born Blacks match the national rate of university education but earn less and face higher unemployment — a gap tied in part to 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perceived discrimination</a:t>
            </a:r>
            <a:pPr algn="l" indent="0" marL="0">
              <a:lnSpc>
                <a:spcPts val="1350"/>
              </a:lnSpc>
              <a:spcAft>
                <a:spcPts val="300"/>
              </a:spcAft>
              <a:buNone/>
            </a:pPr>
            <a:r>
              <a:rPr lang="en-US" sz="900" dirty="0">
                <a:solidFill>
                  <a:srgbClr val="FFFFF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 (32% of Blacks reported unfair treatment, vs. 5% of non-minorities).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8094911" y="6629400"/>
            <a:ext cx="44827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A6A6A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12 / 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DeepPresenter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DeepPresenter Presentation</dc:title>
  <dc:subject/>
  <dc:creator>DeepPresenter</dc:creator>
  <cp:lastModifiedBy>DeepPresenter</cp:lastModifiedBy>
  <cp:revision>1</cp:revision>
  <dcterms:created xsi:type="dcterms:W3CDTF">2026-08-10T17:47:43Z</dcterms:created>
  <dcterms:modified xsi:type="dcterms:W3CDTF">2026-08-10T17:47:43Z</dcterms:modified>
</cp:coreProperties>
</file>