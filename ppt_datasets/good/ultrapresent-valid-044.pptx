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E"/>
        </a:solidFill>
      </p:bgPr>
    </p:bg>
    <p:spTree>
      <p:nvGrpSpPr>
        <p:cNvPr id="1" name=""/>
        <p:cNvGrpSpPr/>
        <p:nvPr/>
      </p:nvGrpSpPr>
      <p:grpSpPr>
        <a:xfrm>
          <a:off x="0" y="0"/>
          <a:ext cx="0" cy="0"/>
          <a:chOff x="0" y="0"/>
          <a:chExt cx="0" cy="0"/>
        </a:xfrm>
      </p:grpSpPr>
      <p:pic>
        <p:nvPicPr>
          <p:cNvPr id="2" name="Image 0" descr="/tmp/html2pptx-nm6dXX/html2pptx-bg-1786384793937-0d69506c81f88.png">    </p:cNvPr>
          <p:cNvPicPr>
            <a:picLocks noChangeAspect="1"/>
          </p:cNvPicPr>
          <p:nvPr/>
        </p:nvPicPr>
        <p:blipFill>
          <a:blip r:embed="rId1">
            <a:alphaModFix amt="35000"/>
          </a:blip>
          <a:stretch>
            <a:fillRect/>
          </a:stretch>
        </p:blipFill>
        <p:spPr>
          <a:xfrm>
            <a:off x="0" y="0"/>
            <a:ext cx="9144000" cy="6858000"/>
          </a:xfrm>
          <a:prstGeom prst="rect">
            <a:avLst/>
          </a:prstGeom>
        </p:spPr>
      </p:pic>
      <p:pic>
        <p:nvPicPr>
          <p:cNvPr id="3" name="Image 1" descr="/tmp/html2pptx-nm6dXX/html2pptx-bg-1786384794320-22434222b06398.png">    </p:cNvPr>
          <p:cNvPicPr>
            <a:picLocks noChangeAspect="1"/>
          </p:cNvPicPr>
          <p:nvPr/>
        </p:nvPicPr>
        <p:blipFill>
          <a:blip r:embed="rId2"/>
          <a:stretch>
            <a:fillRect/>
          </a:stretch>
        </p:blipFill>
        <p:spPr>
          <a:xfrm>
            <a:off x="0" y="0"/>
            <a:ext cx="9144000" cy="6858000"/>
          </a:xfrm>
          <a:prstGeom prst="rect">
            <a:avLst/>
          </a:prstGeom>
        </p:spPr>
      </p:pic>
      <p:sp>
        <p:nvSpPr>
          <p:cNvPr id="4" name="Text 0"/>
          <p:cNvSpPr/>
          <p:nvPr/>
        </p:nvSpPr>
        <p:spPr>
          <a:xfrm>
            <a:off x="762000" y="857250"/>
            <a:ext cx="7772400" cy="247650"/>
          </a:xfrm>
          <a:prstGeom prst="rect">
            <a:avLst/>
          </a:prstGeom>
          <a:noFill/>
          <a:ln/>
        </p:spPr>
        <p:txBody>
          <a:bodyPr wrap="square" lIns="0" tIns="0" rIns="0" bIns="0" rtlCol="0" anchor="t"/>
          <a:lstStyle/>
          <a:p>
            <a:pPr algn="l" indent="0" marL="0">
              <a:spcAft>
                <a:spcPts val="2100"/>
              </a:spcAft>
              <a:buNone/>
            </a:pPr>
            <a:r>
              <a:rPr lang="en-US" sz="1350" dirty="0">
                <a:solidFill>
                  <a:srgbClr val="D4AF37"/>
                </a:solidFill>
                <a:latin typeface="Noto Sans CJK SC" pitchFamily="34" charset="0"/>
                <a:ea typeface="Noto Sans CJK SC" pitchFamily="34" charset="-122"/>
                <a:cs typeface="Noto Sans CJK SC" pitchFamily="34" charset="-120"/>
              </a:rPr>
              <a:t>A LIFE IN SCIENCE</a:t>
            </a:r>
            <a:endParaRPr lang="en-US" sz="1350" dirty="0"/>
          </a:p>
        </p:txBody>
      </p:sp>
      <p:sp>
        <p:nvSpPr>
          <p:cNvPr id="5" name="Text 1"/>
          <p:cNvSpPr/>
          <p:nvPr/>
        </p:nvSpPr>
        <p:spPr>
          <a:xfrm>
            <a:off x="762000" y="1371600"/>
            <a:ext cx="7772400" cy="920055"/>
          </a:xfrm>
          <a:prstGeom prst="rect">
            <a:avLst/>
          </a:prstGeom>
          <a:noFill/>
          <a:ln/>
        </p:spPr>
        <p:txBody>
          <a:bodyPr wrap="square" lIns="0" tIns="0" rIns="0" bIns="0" rtlCol="0" anchor="t"/>
          <a:lstStyle/>
          <a:p>
            <a:pPr algn="l" indent="0" marL="0">
              <a:lnSpc>
                <a:spcPts val="7245"/>
              </a:lnSpc>
              <a:buNone/>
            </a:pPr>
            <a:r>
              <a:rPr lang="en-US" sz="6900" b="1" dirty="0">
                <a:solidFill>
                  <a:srgbClr val="FFFFFF"/>
                </a:solidFill>
                <a:latin typeface="Noto Sans CJK SC" pitchFamily="34" charset="0"/>
                <a:ea typeface="Noto Sans CJK SC" pitchFamily="34" charset="-122"/>
                <a:cs typeface="Noto Sans CJK SC" pitchFamily="34" charset="-120"/>
              </a:rPr>
              <a:t>居里夫人传</a:t>
            </a:r>
            <a:endParaRPr lang="en-US" sz="6900" dirty="0"/>
          </a:p>
        </p:txBody>
      </p:sp>
      <p:sp>
        <p:nvSpPr>
          <p:cNvPr id="6" name="Text 2"/>
          <p:cNvSpPr/>
          <p:nvPr/>
        </p:nvSpPr>
        <p:spPr>
          <a:xfrm>
            <a:off x="762000" y="2501205"/>
            <a:ext cx="7772400" cy="352425"/>
          </a:xfrm>
          <a:prstGeom prst="rect">
            <a:avLst/>
          </a:prstGeom>
          <a:noFill/>
          <a:ln/>
        </p:spPr>
        <p:txBody>
          <a:bodyPr wrap="square" lIns="0" tIns="0" rIns="0" bIns="0" rtlCol="0" anchor="t"/>
          <a:lstStyle/>
          <a:p>
            <a:pPr algn="l" indent="0" marL="0">
              <a:spcBef>
                <a:spcPts val="1650"/>
              </a:spcBef>
              <a:buNone/>
            </a:pPr>
            <a:r>
              <a:rPr lang="en-US" sz="1950" i="1" dirty="0">
                <a:solidFill>
                  <a:srgbClr val="D4AF37"/>
                </a:solidFill>
                <a:latin typeface="Noto Sans CJK SC" pitchFamily="34" charset="0"/>
                <a:ea typeface="Noto Sans CJK SC" pitchFamily="34" charset="-122"/>
                <a:cs typeface="Noto Sans CJK SC" pitchFamily="34" charset="-120"/>
              </a:rPr>
              <a:t>Marie Skłodowska-Curie</a:t>
            </a:r>
            <a:endParaRPr lang="en-US" sz="1950" dirty="0"/>
          </a:p>
        </p:txBody>
      </p:sp>
      <p:sp>
        <p:nvSpPr>
          <p:cNvPr id="7" name="Text 3"/>
          <p:cNvSpPr/>
          <p:nvPr/>
        </p:nvSpPr>
        <p:spPr>
          <a:xfrm>
            <a:off x="762000" y="3215580"/>
            <a:ext cx="1047750" cy="28575"/>
          </a:xfrm>
          <a:prstGeom prst="rect">
            <a:avLst/>
          </a:prstGeom>
          <a:solidFill>
            <a:srgbClr val="D4AF37"/>
          </a:solidFill>
          <a:ln/>
        </p:spPr>
        <p:txBody>
          <a:bodyPr wrap="square" rtlCol="0" anchor="ctr"/>
          <a:lstStyle/>
          <a:p>
            <a:pPr indent="0" marL="0">
              <a:buNone/>
            </a:pPr>
            <a:endParaRPr lang="en-US" dirty="0"/>
          </a:p>
        </p:txBody>
      </p:sp>
      <p:sp>
        <p:nvSpPr>
          <p:cNvPr id="8" name="Text 4"/>
          <p:cNvSpPr/>
          <p:nvPr/>
        </p:nvSpPr>
        <p:spPr>
          <a:xfrm>
            <a:off x="762000" y="3510855"/>
            <a:ext cx="6606540" cy="731341"/>
          </a:xfrm>
          <a:prstGeom prst="rect">
            <a:avLst/>
          </a:prstGeom>
          <a:noFill/>
          <a:ln/>
        </p:spPr>
        <p:txBody>
          <a:bodyPr wrap="square" lIns="0" tIns="0" rIns="0" bIns="0" rtlCol="0" anchor="t"/>
          <a:lstStyle/>
          <a:p>
            <a:pPr algn="l" indent="0" marL="0">
              <a:lnSpc>
                <a:spcPts val="2880"/>
              </a:lnSpc>
              <a:buNone/>
            </a:pPr>
            <a:r>
              <a:rPr lang="en-US" sz="1800" dirty="0">
                <a:solidFill>
                  <a:srgbClr val="E8E2D0"/>
                </a:solidFill>
                <a:latin typeface="Noto Sans CJK SC" pitchFamily="34" charset="0"/>
                <a:ea typeface="Noto Sans CJK SC" pitchFamily="34" charset="-122"/>
                <a:cs typeface="Noto Sans CJK SC" pitchFamily="34" charset="-120"/>
              </a:rPr>
              <a:t>从华沙到巴黎，从实验室到战场——</a:t>
            </a:r>
            <a:endParaRPr lang="en-US" sz="1800" dirty="0"/>
          </a:p>
          <a:p>
            <a:pPr algn="l" indent="0" marL="0">
              <a:lnSpc>
                <a:spcPts val="2880"/>
              </a:lnSpc>
              <a:buNone/>
            </a:pPr>
            <a:r>
              <a:rPr lang="en-US" sz="1800" dirty="0">
                <a:solidFill>
                  <a:srgbClr val="E8E2D0"/>
                </a:solidFill>
                <a:latin typeface="Noto Sans CJK SC" pitchFamily="34" charset="0"/>
                <a:ea typeface="Noto Sans CJK SC" pitchFamily="34" charset="-122"/>
                <a:cs typeface="Noto Sans CJK SC" pitchFamily="34" charset="-120"/>
              </a:rPr>
              <a:t>一位两次获得诺贝尔奖的女性科学家</a:t>
            </a:r>
            <a:endParaRPr lang="en-US" sz="1800" dirty="0"/>
          </a:p>
        </p:txBody>
      </p:sp>
      <p:sp>
        <p:nvSpPr>
          <p:cNvPr id="9" name="Text 5"/>
          <p:cNvSpPr/>
          <p:nvPr/>
        </p:nvSpPr>
        <p:spPr>
          <a:xfrm>
            <a:off x="762000" y="6115050"/>
            <a:ext cx="2665387" cy="228600"/>
          </a:xfrm>
          <a:prstGeom prst="rect">
            <a:avLst/>
          </a:prstGeom>
          <a:noFill/>
          <a:ln/>
        </p:spPr>
        <p:txBody>
          <a:bodyPr wrap="square" lIns="0" tIns="0" rIns="0" bIns="0" rtlCol="0" anchor="t"/>
          <a:lstStyle/>
          <a:p>
            <a:pPr algn="l" indent="0" marL="0">
              <a:buNone/>
            </a:pPr>
            <a:r>
              <a:rPr lang="en-US" sz="1200" dirty="0">
                <a:solidFill>
                  <a:srgbClr val="B8B3A3"/>
                </a:solidFill>
                <a:latin typeface="Noto Sans CJK SC" pitchFamily="34" charset="0"/>
                <a:ea typeface="Noto Sans CJK SC" pitchFamily="34" charset="-122"/>
                <a:cs typeface="Noto Sans CJK SC" pitchFamily="34" charset="-120"/>
              </a:rPr>
              <a:t>生平简介 · 科学贡献 · 历史遗产</a:t>
            </a:r>
            <a:endParaRPr lang="en-US" sz="1200" dirty="0"/>
          </a:p>
        </p:txBody>
      </p:sp>
      <p:sp>
        <p:nvSpPr>
          <p:cNvPr id="10" name="Text 6"/>
          <p:cNvSpPr/>
          <p:nvPr/>
        </p:nvSpPr>
        <p:spPr>
          <a:xfrm>
            <a:off x="6688336" y="6076950"/>
            <a:ext cx="1727537" cy="304800"/>
          </a:xfrm>
          <a:prstGeom prst="rect">
            <a:avLst/>
          </a:prstGeom>
          <a:noFill/>
          <a:ln/>
        </p:spPr>
        <p:txBody>
          <a:bodyPr wrap="square" lIns="0" tIns="0" rIns="0" bIns="0" rtlCol="0" anchor="t"/>
          <a:lstStyle/>
          <a:p>
            <a:pPr algn="l" indent="0" marL="0">
              <a:buNone/>
            </a:pPr>
            <a:r>
              <a:rPr lang="en-US" sz="1650" b="1" dirty="0">
                <a:solidFill>
                  <a:srgbClr val="D4AF37"/>
                </a:solidFill>
                <a:latin typeface="Noto Sans CJK SC" pitchFamily="34" charset="0"/>
                <a:ea typeface="Noto Sans CJK SC" pitchFamily="34" charset="-122"/>
                <a:cs typeface="Noto Sans CJK SC" pitchFamily="34" charset="-120"/>
              </a:rPr>
              <a:t>1867 — 1934</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01</a:t>
            </a:r>
            <a:endParaRPr lang="en-US" sz="4800" dirty="0"/>
          </a:p>
        </p:txBody>
      </p:sp>
      <p:sp>
        <p:nvSpPr>
          <p:cNvPr id="3" name="Text 1"/>
          <p:cNvSpPr/>
          <p:nvPr/>
        </p:nvSpPr>
        <p:spPr>
          <a:xfrm>
            <a:off x="1595735" y="895350"/>
            <a:ext cx="2584475" cy="190500"/>
          </a:xfrm>
          <a:prstGeom prst="rect">
            <a:avLst/>
          </a:prstGeom>
          <a:noFill/>
          <a:ln/>
        </p:spPr>
        <p:txBody>
          <a:bodyPr wrap="square" lIns="0" tIns="0" rIns="0" bIns="0" rtlCol="0" anchor="t"/>
          <a:lstStyle/>
          <a:p>
            <a:pPr algn="l" indent="0" marL="0">
              <a:buNone/>
            </a:pPr>
            <a:r>
              <a:rPr lang="en-US" sz="1050" dirty="0">
                <a:solidFill>
                  <a:srgbClr val="8A8A8A"/>
                </a:solidFill>
                <a:latin typeface="Noto Sans CJK SC" pitchFamily="34" charset="0"/>
                <a:ea typeface="Noto Sans CJK SC" pitchFamily="34" charset="-122"/>
                <a:cs typeface="Noto Sans CJK SC" pitchFamily="34" charset="-120"/>
              </a:rPr>
              <a:t>CHAPTER · 1867–1885</a:t>
            </a:r>
            <a:endParaRPr lang="en-US" sz="1050" dirty="0"/>
          </a:p>
        </p:txBody>
      </p:sp>
      <p:sp>
        <p:nvSpPr>
          <p:cNvPr id="4" name="Text 2"/>
          <p:cNvSpPr/>
          <p:nvPr/>
        </p:nvSpPr>
        <p:spPr>
          <a:xfrm>
            <a:off x="1595735" y="1123950"/>
            <a:ext cx="2584475" cy="495300"/>
          </a:xfrm>
          <a:prstGeom prst="rect">
            <a:avLst/>
          </a:prstGeom>
          <a:noFill/>
          <a:ln/>
        </p:spPr>
        <p:txBody>
          <a:bodyPr wrap="square" lIns="0" tIns="0" rIns="0" bIns="0" rtlCol="0" anchor="t"/>
          <a:lstStyle/>
          <a:p>
            <a:pPr algn="l" indent="0" marL="0">
              <a:spcBef>
                <a:spcPts val="300"/>
              </a:spcBef>
              <a:buNone/>
            </a:pPr>
            <a:r>
              <a:rPr lang="en-US" sz="2700" b="1" dirty="0">
                <a:solidFill>
                  <a:srgbClr val="1A1D2E"/>
                </a:solidFill>
                <a:latin typeface="Noto Sans CJK SC" pitchFamily="34" charset="0"/>
                <a:ea typeface="Noto Sans CJK SC" pitchFamily="34" charset="-122"/>
                <a:cs typeface="Noto Sans CJK SC" pitchFamily="34" charset="-120"/>
              </a:rPr>
              <a:t>华沙的童年时光</a:t>
            </a:r>
            <a:endParaRPr lang="en-US" sz="2700" dirty="0"/>
          </a:p>
        </p:txBody>
      </p:sp>
      <p:sp>
        <p:nvSpPr>
          <p:cNvPr id="5"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6" name="Text 4"/>
          <p:cNvSpPr/>
          <p:nvPr/>
        </p:nvSpPr>
        <p:spPr>
          <a:xfrm>
            <a:off x="666750" y="1857375"/>
            <a:ext cx="4566285" cy="615255"/>
          </a:xfrm>
          <a:prstGeom prst="rect">
            <a:avLst/>
          </a:prstGeom>
          <a:noFill/>
          <a:ln/>
        </p:spPr>
        <p:txBody>
          <a:bodyPr wrap="square" lIns="0" tIns="0" rIns="0" bIns="0" rtlCol="0" anchor="t"/>
          <a:lstStyle/>
          <a:p>
            <a:pPr algn="l" indent="0" marL="0">
              <a:lnSpc>
                <a:spcPts val="2423"/>
              </a:lnSpc>
              <a:spcAft>
                <a:spcPts val="1650"/>
              </a:spcAft>
              <a:buNone/>
            </a:pPr>
            <a:r>
              <a:rPr lang="en-US" sz="1425" dirty="0">
                <a:solidFill>
                  <a:srgbClr val="1A1D2E"/>
                </a:solidFill>
                <a:latin typeface="Noto Sans CJK SC Medium" pitchFamily="34" charset="0"/>
                <a:ea typeface="Noto Sans CJK SC Medium" pitchFamily="34" charset="-122"/>
                <a:cs typeface="Noto Sans CJK SC Medium" pitchFamily="34" charset="-120"/>
              </a:rPr>
              <a:t>1867年11月7日，玛丽亚·斯克沃多夫斯卡出生于俄国统治下的华沙，她是家中五个孩子中最小的一个。</a:t>
            </a:r>
            <a:endParaRPr lang="en-US" sz="1425" dirty="0"/>
          </a:p>
        </p:txBody>
      </p:sp>
      <p:sp>
        <p:nvSpPr>
          <p:cNvPr id="7" name="Text 5"/>
          <p:cNvSpPr/>
          <p:nvPr/>
        </p:nvSpPr>
        <p:spPr>
          <a:xfrm>
            <a:off x="666750" y="2682180"/>
            <a:ext cx="4566285" cy="800100"/>
          </a:xfrm>
          <a:prstGeom prst="rect">
            <a:avLst/>
          </a:prstGeom>
          <a:noFill/>
          <a:ln/>
        </p:spPr>
        <p:txBody>
          <a:bodyPr wrap="square" lIns="0" tIns="0" rIns="0" bIns="0" rtlCol="0" anchor="t"/>
          <a:lstStyle/>
          <a:p>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父亲乌拉狄斯拉夫是一名中学物理与数学教师，母亲布罗尼斯瓦娃经营着一所声誉颇佳的女子寄宿学校。在知识氛围浓厚的家庭里，玛丽亚自幼便展现出过人的记忆力与学习热情。</a:t>
            </a:r>
            <a:endParaRPr lang="en-US" sz="1200" dirty="0"/>
          </a:p>
        </p:txBody>
      </p:sp>
      <p:sp>
        <p:nvSpPr>
          <p:cNvPr id="8" name="Text 6"/>
          <p:cNvSpPr/>
          <p:nvPr/>
        </p:nvSpPr>
        <p:spPr>
          <a:xfrm>
            <a:off x="666750" y="3615630"/>
            <a:ext cx="4566285" cy="800100"/>
          </a:xfrm>
          <a:prstGeom prst="rect">
            <a:avLst/>
          </a:prstGeom>
          <a:noFill/>
          <a:ln/>
        </p:spPr>
        <p:txBody>
          <a:bodyPr wrap="square" lIns="0" tIns="0" rIns="0" bIns="0" rtlCol="0" anchor="t"/>
          <a:lstStyle/>
          <a:p>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然而命运多舛：母亲在她十岁时因肺结核病逝，长姐又早夭。</a:t>
            </a:r>
            <a:pPr algn="l" indent="0" marL="0">
              <a:lnSpc>
                <a:spcPts val="2100"/>
              </a:lnSpc>
              <a:spcAft>
                <a:spcPts val="1050"/>
              </a:spcAft>
              <a:buNone/>
            </a:pPr>
            <a:r>
              <a:rPr lang="en-US" sz="1200" b="1" dirty="0">
                <a:solidFill>
                  <a:srgbClr val="8A5A1A"/>
                </a:solidFill>
                <a:latin typeface="Noto Sans CJK SC" pitchFamily="34" charset="0"/>
                <a:ea typeface="Noto Sans CJK SC" pitchFamily="34" charset="-122"/>
                <a:cs typeface="Noto Sans CJK SC" pitchFamily="34" charset="-120"/>
              </a:rPr>
              <a:t>家庭接连遭遇丧亲之痛</a:t>
            </a:r>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，加上波兰被列强瓜分后的政治压迫，使她的童年蒙上了一层凝重底色。</a:t>
            </a:r>
            <a:endParaRPr lang="en-US" sz="1200" dirty="0"/>
          </a:p>
        </p:txBody>
      </p:sp>
      <p:sp>
        <p:nvSpPr>
          <p:cNvPr id="9" name="Text 7"/>
          <p:cNvSpPr/>
          <p:nvPr/>
        </p:nvSpPr>
        <p:spPr>
          <a:xfrm>
            <a:off x="666750" y="4549080"/>
            <a:ext cx="4566285" cy="533400"/>
          </a:xfrm>
          <a:prstGeom prst="rect">
            <a:avLst/>
          </a:prstGeom>
          <a:noFill/>
          <a:ln/>
        </p:spPr>
        <p:txBody>
          <a:bodyPr wrap="square" lIns="0" tIns="0" rIns="0" bIns="0" rtlCol="0" anchor="t"/>
          <a:lstStyle/>
          <a:p>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尽管如此，玛丽亚以优异成绩从中学毕业，并获得金质奖章——这是她日后科学之路的最初印记。</a:t>
            </a:r>
            <a:endParaRPr lang="en-US" sz="1200" dirty="0"/>
          </a:p>
        </p:txBody>
      </p:sp>
      <p:sp>
        <p:nvSpPr>
          <p:cNvPr id="10" name="Text 8"/>
          <p:cNvSpPr/>
          <p:nvPr/>
        </p:nvSpPr>
        <p:spPr>
          <a:xfrm>
            <a:off x="5143500" y="1857375"/>
            <a:ext cx="3333750" cy="3905250"/>
          </a:xfrm>
          <a:prstGeom prst="rect">
            <a:avLst/>
          </a:prstGeom>
          <a:noFill/>
          <a:ln w="38100">
            <a:solidFill>
              <a:srgbClr val="FFFFFF"/>
            </a:solidFill>
          </a:ln>
          <a:effectLst>
            <a:outerShdw sx="100000" sy="100000" kx="0" ky="0" algn="bl" rotWithShape="0" blurRad="228600" dist="76200" dir="5400000">
              <a:srgbClr val="000000">
                <a:alpha val="18000"/>
              </a:srgbClr>
            </a:outerShdw>
          </a:effectLst>
        </p:spPr>
        <p:txBody>
          <a:bodyPr wrap="square" rtlCol="0" anchor="ctr"/>
          <a:lstStyle/>
          <a:p>
            <a:pPr indent="0" marL="0">
              <a:buNone/>
            </a:pPr>
            <a:endParaRPr lang="en-US" dirty="0"/>
          </a:p>
        </p:txBody>
      </p:sp>
      <p:pic>
        <p:nvPicPr>
          <p:cNvPr id="11" name="Image 0" descr="/tmp/html2pptx-wacnZB/html2pptx-bg-1786384795590-74c1feee4c5e98.png">    </p:cNvPr>
          <p:cNvPicPr>
            <a:picLocks noChangeAspect="1"/>
          </p:cNvPicPr>
          <p:nvPr/>
        </p:nvPicPr>
        <p:blipFill>
          <a:blip r:embed="rId1"/>
          <a:stretch>
            <a:fillRect/>
          </a:stretch>
        </p:blipFill>
        <p:spPr>
          <a:xfrm>
            <a:off x="5181600" y="1895475"/>
            <a:ext cx="3257550" cy="3829050"/>
          </a:xfrm>
          <a:prstGeom prst="rect">
            <a:avLst/>
          </a:prstGeom>
        </p:spPr>
      </p:pic>
      <p:sp>
        <p:nvSpPr>
          <p:cNvPr id="12" name="Text 9"/>
          <p:cNvSpPr/>
          <p:nvPr/>
        </p:nvSpPr>
        <p:spPr>
          <a:xfrm>
            <a:off x="5076825" y="5953125"/>
            <a:ext cx="3400425" cy="180975"/>
          </a:xfrm>
          <a:prstGeom prst="rect">
            <a:avLst/>
          </a:prstGeom>
          <a:noFill/>
          <a:ln/>
        </p:spPr>
        <p:txBody>
          <a:bodyPr wrap="square" lIns="0" tIns="0" rIns="0" bIns="0" rtlCol="0" anchor="t"/>
          <a:lstStyle/>
          <a:p>
            <a:pPr algn="r" indent="0" marL="0">
              <a:spcBef>
                <a:spcPts val="750"/>
              </a:spcBef>
              <a:buNone/>
            </a:pPr>
            <a:r>
              <a:rPr lang="en-US" sz="975" dirty="0">
                <a:solidFill>
                  <a:srgbClr val="8A8A8A"/>
                </a:solidFill>
                <a:latin typeface="Noto Sans CJK SC" pitchFamily="34" charset="0"/>
                <a:ea typeface="Noto Sans CJK SC" pitchFamily="34" charset="-122"/>
                <a:cs typeface="Noto Sans CJK SC" pitchFamily="34" charset="-120"/>
              </a:rPr>
              <a:t>华沙老城集市广场 · 玛丽亚出生与成长的城市</a:t>
            </a:r>
            <a:endParaRPr lang="en-US" sz="975" dirty="0"/>
          </a:p>
        </p:txBody>
      </p:sp>
      <p:sp>
        <p:nvSpPr>
          <p:cNvPr id="13" name="Text 10"/>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14" name="Text 11"/>
          <p:cNvSpPr/>
          <p:nvPr/>
        </p:nvSpPr>
        <p:spPr>
          <a:xfrm>
            <a:off x="7180213" y="6315075"/>
            <a:ext cx="1297037" cy="257175"/>
          </a:xfrm>
          <a:prstGeom prst="rect">
            <a:avLst/>
          </a:prstGeom>
          <a:solidFill>
            <a:srgbClr val="1A1D2E"/>
          </a:solidFill>
          <a:ln/>
        </p:spPr>
        <p:txBody>
          <a:bodyPr wrap="square" lIns="133350" tIns="38100" rIns="133350" bIns="38100" rtlCol="0" anchor="ctr"/>
          <a:lstStyle/>
          <a:p>
            <a:pPr algn="l" indent="0" marL="0">
              <a:buNone/>
            </a:pPr>
            <a:r>
              <a:rPr lang="en-US" sz="975" dirty="0">
                <a:solidFill>
                  <a:srgbClr val="F5F1E6"/>
                </a:solidFill>
                <a:latin typeface="Noto Sans CJK SC" pitchFamily="34" charset="0"/>
                <a:ea typeface="Noto Sans CJK SC" pitchFamily="34" charset="-122"/>
                <a:cs typeface="Noto Sans CJK SC" pitchFamily="34" charset="-120"/>
              </a:rPr>
              <a:t>1867 — 1885</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02</a:t>
            </a:r>
            <a:endParaRPr lang="en-US" sz="4800" dirty="0"/>
          </a:p>
        </p:txBody>
      </p:sp>
      <p:sp>
        <p:nvSpPr>
          <p:cNvPr id="3" name="Text 1"/>
          <p:cNvSpPr/>
          <p:nvPr/>
        </p:nvSpPr>
        <p:spPr>
          <a:xfrm>
            <a:off x="1595735" y="895350"/>
            <a:ext cx="2580224" cy="190500"/>
          </a:xfrm>
          <a:prstGeom prst="rect">
            <a:avLst/>
          </a:prstGeom>
          <a:noFill/>
          <a:ln/>
        </p:spPr>
        <p:txBody>
          <a:bodyPr wrap="square" lIns="0" tIns="0" rIns="0" bIns="0" rtlCol="0" anchor="t"/>
          <a:lstStyle/>
          <a:p>
            <a:pPr algn="l" indent="0" marL="0">
              <a:buNone/>
            </a:pPr>
            <a:r>
              <a:rPr lang="en-US" sz="1050" dirty="0">
                <a:solidFill>
                  <a:srgbClr val="8A8A8A"/>
                </a:solidFill>
                <a:latin typeface="Noto Sans CJK SC" pitchFamily="34" charset="0"/>
                <a:ea typeface="Noto Sans CJK SC" pitchFamily="34" charset="-122"/>
                <a:cs typeface="Noto Sans CJK SC" pitchFamily="34" charset="-120"/>
              </a:rPr>
              <a:t>CHAPTER · 1891–1893</a:t>
            </a:r>
            <a:endParaRPr lang="en-US" sz="1050" dirty="0"/>
          </a:p>
        </p:txBody>
      </p:sp>
      <p:sp>
        <p:nvSpPr>
          <p:cNvPr id="4" name="Text 2"/>
          <p:cNvSpPr/>
          <p:nvPr/>
        </p:nvSpPr>
        <p:spPr>
          <a:xfrm>
            <a:off x="1595735" y="1123950"/>
            <a:ext cx="2580224" cy="495300"/>
          </a:xfrm>
          <a:prstGeom prst="rect">
            <a:avLst/>
          </a:prstGeom>
          <a:noFill/>
          <a:ln/>
        </p:spPr>
        <p:txBody>
          <a:bodyPr wrap="square" lIns="0" tIns="0" rIns="0" bIns="0" rtlCol="0" anchor="t"/>
          <a:lstStyle/>
          <a:p>
            <a:pPr algn="l" indent="0" marL="0">
              <a:spcBef>
                <a:spcPts val="300"/>
              </a:spcBef>
              <a:buNone/>
            </a:pPr>
            <a:r>
              <a:rPr lang="en-US" sz="2700" b="1" dirty="0">
                <a:solidFill>
                  <a:srgbClr val="1A1D2E"/>
                </a:solidFill>
                <a:latin typeface="Noto Sans CJK SC" pitchFamily="34" charset="0"/>
                <a:ea typeface="Noto Sans CJK SC" pitchFamily="34" charset="-122"/>
                <a:cs typeface="Noto Sans CJK SC" pitchFamily="34" charset="-120"/>
              </a:rPr>
              <a:t>巴黎求学之路</a:t>
            </a:r>
            <a:endParaRPr lang="en-US" sz="2700" dirty="0"/>
          </a:p>
        </p:txBody>
      </p:sp>
      <p:sp>
        <p:nvSpPr>
          <p:cNvPr id="5"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6" name="Text 4"/>
          <p:cNvSpPr/>
          <p:nvPr/>
        </p:nvSpPr>
        <p:spPr>
          <a:xfrm>
            <a:off x="666750" y="1857375"/>
            <a:ext cx="3333750" cy="3905250"/>
          </a:xfrm>
          <a:prstGeom prst="rect">
            <a:avLst/>
          </a:prstGeom>
          <a:noFill/>
          <a:ln w="38100">
            <a:solidFill>
              <a:srgbClr val="FFFFFF"/>
            </a:solidFill>
          </a:ln>
          <a:effectLst>
            <a:outerShdw sx="100000" sy="100000" kx="0" ky="0" algn="bl" rotWithShape="0" blurRad="228600" dist="76200" dir="5400000">
              <a:srgbClr val="000000">
                <a:alpha val="18000"/>
              </a:srgbClr>
            </a:outerShdw>
          </a:effectLst>
        </p:spPr>
        <p:txBody>
          <a:bodyPr wrap="square" rtlCol="0" anchor="ctr"/>
          <a:lstStyle/>
          <a:p>
            <a:pPr indent="0" marL="0">
              <a:buNone/>
            </a:pPr>
            <a:endParaRPr lang="en-US" dirty="0"/>
          </a:p>
        </p:txBody>
      </p:sp>
      <p:pic>
        <p:nvPicPr>
          <p:cNvPr id="7" name="Image 0" descr="/tmp/html2pptx-6ddRGD/html2pptx-bg-1786384796962-4221e69964c6f8.png">    </p:cNvPr>
          <p:cNvPicPr>
            <a:picLocks noChangeAspect="1"/>
          </p:cNvPicPr>
          <p:nvPr/>
        </p:nvPicPr>
        <p:blipFill>
          <a:blip r:embed="rId1"/>
          <a:stretch>
            <a:fillRect/>
          </a:stretch>
        </p:blipFill>
        <p:spPr>
          <a:xfrm>
            <a:off x="704850" y="1895475"/>
            <a:ext cx="3257550" cy="3829050"/>
          </a:xfrm>
          <a:prstGeom prst="rect">
            <a:avLst/>
          </a:prstGeom>
        </p:spPr>
      </p:pic>
      <p:sp>
        <p:nvSpPr>
          <p:cNvPr id="8" name="Text 5"/>
          <p:cNvSpPr/>
          <p:nvPr/>
        </p:nvSpPr>
        <p:spPr>
          <a:xfrm>
            <a:off x="666750" y="5953125"/>
            <a:ext cx="3400425" cy="180975"/>
          </a:xfrm>
          <a:prstGeom prst="rect">
            <a:avLst/>
          </a:prstGeom>
          <a:noFill/>
          <a:ln/>
        </p:spPr>
        <p:txBody>
          <a:bodyPr wrap="square" lIns="0" tIns="0" rIns="0" bIns="0" rtlCol="0" anchor="t"/>
          <a:lstStyle/>
          <a:p>
            <a:pPr algn="l" indent="0" marL="0">
              <a:spcBef>
                <a:spcPts val="750"/>
              </a:spcBef>
              <a:buNone/>
            </a:pPr>
            <a:r>
              <a:rPr lang="en-US" sz="975" dirty="0">
                <a:solidFill>
                  <a:srgbClr val="8A8A8A"/>
                </a:solidFill>
                <a:latin typeface="Noto Sans CJK SC" pitchFamily="34" charset="0"/>
                <a:ea typeface="Noto Sans CJK SC" pitchFamily="34" charset="-122"/>
                <a:cs typeface="Noto Sans CJK SC" pitchFamily="34" charset="-120"/>
              </a:rPr>
              <a:t>巴黎索邦大学 · 玛丽亚完成高等教育之所</a:t>
            </a:r>
            <a:endParaRPr lang="en-US" sz="975" dirty="0"/>
          </a:p>
        </p:txBody>
      </p:sp>
      <p:sp>
        <p:nvSpPr>
          <p:cNvPr id="9" name="Text 6"/>
          <p:cNvSpPr/>
          <p:nvPr/>
        </p:nvSpPr>
        <p:spPr>
          <a:xfrm>
            <a:off x="4000500" y="1857375"/>
            <a:ext cx="4566285" cy="922883"/>
          </a:xfrm>
          <a:prstGeom prst="rect">
            <a:avLst/>
          </a:prstGeom>
          <a:noFill/>
          <a:ln/>
        </p:spPr>
        <p:txBody>
          <a:bodyPr wrap="square" lIns="0" tIns="0" rIns="0" bIns="0" rtlCol="0" anchor="t"/>
          <a:lstStyle/>
          <a:p>
            <a:pPr algn="l" indent="0" marL="0">
              <a:lnSpc>
                <a:spcPts val="2423"/>
              </a:lnSpc>
              <a:spcAft>
                <a:spcPts val="1650"/>
              </a:spcAft>
              <a:buNone/>
            </a:pPr>
            <a:r>
              <a:rPr lang="en-US" sz="1425" dirty="0">
                <a:solidFill>
                  <a:srgbClr val="1A1D2E"/>
                </a:solidFill>
                <a:latin typeface="Noto Sans CJK SC Medium" pitchFamily="34" charset="0"/>
                <a:ea typeface="Noto Sans CJK SC Medium" pitchFamily="34" charset="-122"/>
                <a:cs typeface="Noto Sans CJK SC Medium" pitchFamily="34" charset="-120"/>
              </a:rPr>
              <a:t>为了继续深造，玛丽亚在姐姐布罗妮斯拉娃的邀请下，于1891年告别华沙，独自前往巴黎，进入索邦大学学习。</a:t>
            </a:r>
            <a:endParaRPr lang="en-US" sz="1425" dirty="0"/>
          </a:p>
        </p:txBody>
      </p:sp>
      <p:sp>
        <p:nvSpPr>
          <p:cNvPr id="10" name="Text 7"/>
          <p:cNvSpPr/>
          <p:nvPr/>
        </p:nvSpPr>
        <p:spPr>
          <a:xfrm>
            <a:off x="4000500" y="2989808"/>
            <a:ext cx="4566285" cy="800100"/>
          </a:xfrm>
          <a:prstGeom prst="rect">
            <a:avLst/>
          </a:prstGeom>
          <a:noFill/>
          <a:ln/>
        </p:spPr>
        <p:txBody>
          <a:bodyPr wrap="square" lIns="0" tIns="0" rIns="0" bIns="0" rtlCol="0" anchor="t"/>
          <a:lstStyle/>
          <a:p>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她以"玛丽"之名注册入学，主修物理学，次年又修数学。她住在一间狭小寒冷的阁楼里，常以面包和茶果腹，</a:t>
            </a:r>
            <a:pPr algn="l" indent="0" marL="0">
              <a:lnSpc>
                <a:spcPts val="2100"/>
              </a:lnSpc>
              <a:spcAft>
                <a:spcPts val="1050"/>
              </a:spcAft>
              <a:buNone/>
            </a:pPr>
            <a:r>
              <a:rPr lang="en-US" sz="1200" b="1" dirty="0">
                <a:solidFill>
                  <a:srgbClr val="8A5A1A"/>
                </a:solidFill>
                <a:latin typeface="Noto Sans CJK SC" pitchFamily="34" charset="0"/>
                <a:ea typeface="Noto Sans CJK SC" pitchFamily="34" charset="-122"/>
                <a:cs typeface="Noto Sans CJK SC" pitchFamily="34" charset="-120"/>
              </a:rPr>
              <a:t>一度因饥饿与劳累而晕倒</a:t>
            </a:r>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在课堂上。</a:t>
            </a:r>
            <a:endParaRPr lang="en-US" sz="1200" dirty="0"/>
          </a:p>
        </p:txBody>
      </p:sp>
      <p:sp>
        <p:nvSpPr>
          <p:cNvPr id="11" name="Text 8"/>
          <p:cNvSpPr/>
          <p:nvPr/>
        </p:nvSpPr>
        <p:spPr>
          <a:xfrm>
            <a:off x="4000500" y="3923258"/>
            <a:ext cx="4566285" cy="800100"/>
          </a:xfrm>
          <a:prstGeom prst="rect">
            <a:avLst/>
          </a:prstGeom>
          <a:noFill/>
          <a:ln/>
        </p:spPr>
        <p:txBody>
          <a:bodyPr wrap="square" lIns="0" tIns="0" rIns="0" bIns="0" rtlCol="0" anchor="t"/>
          <a:lstStyle/>
          <a:p>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尽管生活清苦，她的学业成绩却极为出色：1893年她以全班第一名的成绩获得物理学学士学位，1894年又以第二名获得数学学士学位。</a:t>
            </a:r>
            <a:endParaRPr lang="en-US" sz="1200" dirty="0"/>
          </a:p>
        </p:txBody>
      </p:sp>
      <p:sp>
        <p:nvSpPr>
          <p:cNvPr id="12" name="Text 9"/>
          <p:cNvSpPr/>
          <p:nvPr/>
        </p:nvSpPr>
        <p:spPr>
          <a:xfrm>
            <a:off x="4000500" y="4932908"/>
            <a:ext cx="1352550" cy="819150"/>
          </a:xfrm>
          <a:prstGeom prst="rect">
            <a:avLst/>
          </a:prstGeom>
          <a:solidFill>
            <a:srgbClr val="1A1D2E"/>
          </a:solidFill>
          <a:ln/>
        </p:spPr>
        <p:txBody>
          <a:bodyPr wrap="square" rtlCol="0" anchor="ctr"/>
          <a:lstStyle/>
          <a:p>
            <a:pPr indent="0" marL="0">
              <a:buNone/>
            </a:pPr>
            <a:endParaRPr lang="en-US" dirty="0"/>
          </a:p>
        </p:txBody>
      </p:sp>
      <p:sp>
        <p:nvSpPr>
          <p:cNvPr id="13" name="Text 10"/>
          <p:cNvSpPr/>
          <p:nvPr/>
        </p:nvSpPr>
        <p:spPr>
          <a:xfrm>
            <a:off x="4142423" y="5066258"/>
            <a:ext cx="1068705" cy="352425"/>
          </a:xfrm>
          <a:prstGeom prst="rect">
            <a:avLst/>
          </a:prstGeom>
          <a:noFill/>
          <a:ln/>
        </p:spPr>
        <p:txBody>
          <a:bodyPr wrap="square" lIns="0" tIns="0" rIns="0" bIns="0" rtlCol="0" anchor="t"/>
          <a:lstStyle/>
          <a:p>
            <a:pPr algn="ctr" indent="0" marL="0">
              <a:buNone/>
            </a:pPr>
            <a:r>
              <a:rPr lang="en-US" sz="1950" b="1" dirty="0">
                <a:solidFill>
                  <a:srgbClr val="D4AF37"/>
                </a:solidFill>
                <a:latin typeface="Noto Sans CJK SC" pitchFamily="34" charset="0"/>
                <a:ea typeface="Noto Sans CJK SC" pitchFamily="34" charset="-122"/>
                <a:cs typeface="Noto Sans CJK SC" pitchFamily="34" charset="-120"/>
              </a:rPr>
              <a:t>1891</a:t>
            </a:r>
            <a:endParaRPr lang="en-US" sz="1950" dirty="0"/>
          </a:p>
        </p:txBody>
      </p:sp>
      <p:sp>
        <p:nvSpPr>
          <p:cNvPr id="14" name="Text 11"/>
          <p:cNvSpPr/>
          <p:nvPr/>
        </p:nvSpPr>
        <p:spPr>
          <a:xfrm>
            <a:off x="4142423" y="5456783"/>
            <a:ext cx="1068705" cy="161925"/>
          </a:xfrm>
          <a:prstGeom prst="rect">
            <a:avLst/>
          </a:prstGeom>
          <a:noFill/>
          <a:ln/>
        </p:spPr>
        <p:txBody>
          <a:bodyPr wrap="square" lIns="0" tIns="0" rIns="0" bIns="0" rtlCol="0" anchor="t"/>
          <a:lstStyle/>
          <a:p>
            <a:pPr algn="ctr" indent="0" marL="0">
              <a:spcBef>
                <a:spcPts val="300"/>
              </a:spcBef>
              <a:buNone/>
            </a:pPr>
            <a:r>
              <a:rPr lang="en-US" sz="900" dirty="0">
                <a:solidFill>
                  <a:srgbClr val="B8B3A3"/>
                </a:solidFill>
                <a:latin typeface="Noto Sans CJK SC" pitchFamily="34" charset="0"/>
                <a:ea typeface="Noto Sans CJK SC" pitchFamily="34" charset="-122"/>
                <a:cs typeface="Noto Sans CJK SC" pitchFamily="34" charset="-120"/>
              </a:rPr>
              <a:t>抵达巴黎</a:t>
            </a:r>
            <a:endParaRPr lang="en-US" sz="900" dirty="0"/>
          </a:p>
        </p:txBody>
      </p:sp>
      <p:sp>
        <p:nvSpPr>
          <p:cNvPr id="15" name="Text 12"/>
          <p:cNvSpPr/>
          <p:nvPr/>
        </p:nvSpPr>
        <p:spPr>
          <a:xfrm>
            <a:off x="5562600" y="4932908"/>
            <a:ext cx="1352550" cy="819150"/>
          </a:xfrm>
          <a:prstGeom prst="rect">
            <a:avLst/>
          </a:prstGeom>
          <a:solidFill>
            <a:srgbClr val="1A1D2E"/>
          </a:solidFill>
          <a:ln/>
        </p:spPr>
        <p:txBody>
          <a:bodyPr wrap="square" rtlCol="0" anchor="ctr"/>
          <a:lstStyle/>
          <a:p>
            <a:pPr indent="0" marL="0">
              <a:buNone/>
            </a:pPr>
            <a:endParaRPr lang="en-US" dirty="0"/>
          </a:p>
        </p:txBody>
      </p:sp>
      <p:sp>
        <p:nvSpPr>
          <p:cNvPr id="16" name="Text 13"/>
          <p:cNvSpPr/>
          <p:nvPr/>
        </p:nvSpPr>
        <p:spPr>
          <a:xfrm>
            <a:off x="5704523" y="5066258"/>
            <a:ext cx="1068705" cy="352425"/>
          </a:xfrm>
          <a:prstGeom prst="rect">
            <a:avLst/>
          </a:prstGeom>
          <a:noFill/>
          <a:ln/>
        </p:spPr>
        <p:txBody>
          <a:bodyPr wrap="square" lIns="0" tIns="0" rIns="0" bIns="0" rtlCol="0" anchor="t"/>
          <a:lstStyle/>
          <a:p>
            <a:pPr algn="ctr" indent="0" marL="0">
              <a:buNone/>
            </a:pPr>
            <a:r>
              <a:rPr lang="en-US" sz="1950" b="1" dirty="0">
                <a:solidFill>
                  <a:srgbClr val="D4AF37"/>
                </a:solidFill>
                <a:latin typeface="Noto Sans CJK SC" pitchFamily="34" charset="0"/>
                <a:ea typeface="Noto Sans CJK SC" pitchFamily="34" charset="-122"/>
                <a:cs typeface="Noto Sans CJK SC" pitchFamily="34" charset="-120"/>
              </a:rPr>
              <a:t>第 1 名</a:t>
            </a:r>
            <a:endParaRPr lang="en-US" sz="1950" dirty="0"/>
          </a:p>
        </p:txBody>
      </p:sp>
      <p:sp>
        <p:nvSpPr>
          <p:cNvPr id="17" name="Text 14"/>
          <p:cNvSpPr/>
          <p:nvPr/>
        </p:nvSpPr>
        <p:spPr>
          <a:xfrm>
            <a:off x="5704523" y="5456783"/>
            <a:ext cx="1068705" cy="161925"/>
          </a:xfrm>
          <a:prstGeom prst="rect">
            <a:avLst/>
          </a:prstGeom>
          <a:noFill/>
          <a:ln/>
        </p:spPr>
        <p:txBody>
          <a:bodyPr wrap="square" lIns="0" tIns="0" rIns="0" bIns="0" rtlCol="0" anchor="t"/>
          <a:lstStyle/>
          <a:p>
            <a:pPr algn="ctr" indent="0" marL="0">
              <a:spcBef>
                <a:spcPts val="300"/>
              </a:spcBef>
              <a:buNone/>
            </a:pPr>
            <a:r>
              <a:rPr lang="en-US" sz="900" dirty="0">
                <a:solidFill>
                  <a:srgbClr val="B8B3A3"/>
                </a:solidFill>
                <a:latin typeface="Noto Sans CJK SC" pitchFamily="34" charset="0"/>
                <a:ea typeface="Noto Sans CJK SC" pitchFamily="34" charset="-122"/>
                <a:cs typeface="Noto Sans CJK SC" pitchFamily="34" charset="-120"/>
              </a:rPr>
              <a:t>物理学士</a:t>
            </a:r>
            <a:endParaRPr lang="en-US" sz="900" dirty="0"/>
          </a:p>
        </p:txBody>
      </p:sp>
      <p:sp>
        <p:nvSpPr>
          <p:cNvPr id="18" name="Text 15"/>
          <p:cNvSpPr/>
          <p:nvPr/>
        </p:nvSpPr>
        <p:spPr>
          <a:xfrm>
            <a:off x="7124700" y="4932908"/>
            <a:ext cx="1352550" cy="819150"/>
          </a:xfrm>
          <a:prstGeom prst="rect">
            <a:avLst/>
          </a:prstGeom>
          <a:solidFill>
            <a:srgbClr val="1A1D2E"/>
          </a:solidFill>
          <a:ln/>
        </p:spPr>
        <p:txBody>
          <a:bodyPr wrap="square" rtlCol="0" anchor="ctr"/>
          <a:lstStyle/>
          <a:p>
            <a:pPr indent="0" marL="0">
              <a:buNone/>
            </a:pPr>
            <a:endParaRPr lang="en-US" dirty="0"/>
          </a:p>
        </p:txBody>
      </p:sp>
      <p:sp>
        <p:nvSpPr>
          <p:cNvPr id="19" name="Text 16"/>
          <p:cNvSpPr/>
          <p:nvPr/>
        </p:nvSpPr>
        <p:spPr>
          <a:xfrm>
            <a:off x="7266622" y="5066258"/>
            <a:ext cx="1068705" cy="352425"/>
          </a:xfrm>
          <a:prstGeom prst="rect">
            <a:avLst/>
          </a:prstGeom>
          <a:noFill/>
          <a:ln/>
        </p:spPr>
        <p:txBody>
          <a:bodyPr wrap="square" lIns="0" tIns="0" rIns="0" bIns="0" rtlCol="0" anchor="t"/>
          <a:lstStyle/>
          <a:p>
            <a:pPr algn="ctr" indent="0" marL="0">
              <a:buNone/>
            </a:pPr>
            <a:r>
              <a:rPr lang="en-US" sz="1950" b="1" dirty="0">
                <a:solidFill>
                  <a:srgbClr val="D4AF37"/>
                </a:solidFill>
                <a:latin typeface="Noto Sans CJK SC" pitchFamily="34" charset="0"/>
                <a:ea typeface="Noto Sans CJK SC" pitchFamily="34" charset="-122"/>
                <a:cs typeface="Noto Sans CJK SC" pitchFamily="34" charset="-120"/>
              </a:rPr>
              <a:t>第 2 名</a:t>
            </a:r>
            <a:endParaRPr lang="en-US" sz="1950" dirty="0"/>
          </a:p>
        </p:txBody>
      </p:sp>
      <p:sp>
        <p:nvSpPr>
          <p:cNvPr id="20" name="Text 17"/>
          <p:cNvSpPr/>
          <p:nvPr/>
        </p:nvSpPr>
        <p:spPr>
          <a:xfrm>
            <a:off x="7266622" y="5456783"/>
            <a:ext cx="1068705" cy="161925"/>
          </a:xfrm>
          <a:prstGeom prst="rect">
            <a:avLst/>
          </a:prstGeom>
          <a:noFill/>
          <a:ln/>
        </p:spPr>
        <p:txBody>
          <a:bodyPr wrap="square" lIns="0" tIns="0" rIns="0" bIns="0" rtlCol="0" anchor="t"/>
          <a:lstStyle/>
          <a:p>
            <a:pPr algn="ctr" indent="0" marL="0">
              <a:spcBef>
                <a:spcPts val="300"/>
              </a:spcBef>
              <a:buNone/>
            </a:pPr>
            <a:r>
              <a:rPr lang="en-US" sz="900" dirty="0">
                <a:solidFill>
                  <a:srgbClr val="B8B3A3"/>
                </a:solidFill>
                <a:latin typeface="Noto Sans CJK SC" pitchFamily="34" charset="0"/>
                <a:ea typeface="Noto Sans CJK SC" pitchFamily="34" charset="-122"/>
                <a:cs typeface="Noto Sans CJK SC" pitchFamily="34" charset="-120"/>
              </a:rPr>
              <a:t>数学学士</a:t>
            </a:r>
            <a:endParaRPr lang="en-US" sz="900" dirty="0"/>
          </a:p>
        </p:txBody>
      </p:sp>
      <p:sp>
        <p:nvSpPr>
          <p:cNvPr id="21" name="Text 18"/>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22" name="Text 19"/>
          <p:cNvSpPr/>
          <p:nvPr/>
        </p:nvSpPr>
        <p:spPr>
          <a:xfrm>
            <a:off x="7180213" y="6315075"/>
            <a:ext cx="1297037" cy="257175"/>
          </a:xfrm>
          <a:prstGeom prst="rect">
            <a:avLst/>
          </a:prstGeom>
          <a:solidFill>
            <a:srgbClr val="1A1D2E"/>
          </a:solidFill>
          <a:ln/>
        </p:spPr>
        <p:txBody>
          <a:bodyPr wrap="square" lIns="133350" tIns="38100" rIns="133350" bIns="38100" rtlCol="0" anchor="ctr"/>
          <a:lstStyle/>
          <a:p>
            <a:pPr algn="l" indent="0" marL="0">
              <a:buNone/>
            </a:pPr>
            <a:r>
              <a:rPr lang="en-US" sz="975" dirty="0">
                <a:solidFill>
                  <a:srgbClr val="F5F1E6"/>
                </a:solidFill>
                <a:latin typeface="Noto Sans CJK SC" pitchFamily="34" charset="0"/>
                <a:ea typeface="Noto Sans CJK SC" pitchFamily="34" charset="-122"/>
                <a:cs typeface="Noto Sans CJK SC" pitchFamily="34" charset="-120"/>
              </a:rPr>
              <a:t>1891 — 1893</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03</a:t>
            </a:r>
            <a:endParaRPr lang="en-US" sz="4800" dirty="0"/>
          </a:p>
        </p:txBody>
      </p:sp>
      <p:sp>
        <p:nvSpPr>
          <p:cNvPr id="3" name="Text 1"/>
          <p:cNvSpPr/>
          <p:nvPr/>
        </p:nvSpPr>
        <p:spPr>
          <a:xfrm>
            <a:off x="1595735" y="895350"/>
            <a:ext cx="2953664" cy="190500"/>
          </a:xfrm>
          <a:prstGeom prst="rect">
            <a:avLst/>
          </a:prstGeom>
          <a:noFill/>
          <a:ln/>
        </p:spPr>
        <p:txBody>
          <a:bodyPr wrap="square" lIns="0" tIns="0" rIns="0" bIns="0" rtlCol="0" anchor="t"/>
          <a:lstStyle/>
          <a:p>
            <a:pPr algn="l" indent="0" marL="0">
              <a:buNone/>
            </a:pPr>
            <a:r>
              <a:rPr lang="en-US" sz="1050" dirty="0">
                <a:solidFill>
                  <a:srgbClr val="8A8A8A"/>
                </a:solidFill>
                <a:latin typeface="Noto Sans CJK SC" pitchFamily="34" charset="0"/>
                <a:ea typeface="Noto Sans CJK SC" pitchFamily="34" charset="-122"/>
                <a:cs typeface="Noto Sans CJK SC" pitchFamily="34" charset="-120"/>
              </a:rPr>
              <a:t>CHAPTER · 1894–1895</a:t>
            </a:r>
            <a:endParaRPr lang="en-US" sz="1050" dirty="0"/>
          </a:p>
        </p:txBody>
      </p:sp>
      <p:sp>
        <p:nvSpPr>
          <p:cNvPr id="4" name="Text 2"/>
          <p:cNvSpPr/>
          <p:nvPr/>
        </p:nvSpPr>
        <p:spPr>
          <a:xfrm>
            <a:off x="1595735" y="1123950"/>
            <a:ext cx="2953664" cy="495300"/>
          </a:xfrm>
          <a:prstGeom prst="rect">
            <a:avLst/>
          </a:prstGeom>
          <a:noFill/>
          <a:ln/>
        </p:spPr>
        <p:txBody>
          <a:bodyPr wrap="square" lIns="0" tIns="0" rIns="0" bIns="0" rtlCol="0" anchor="t"/>
          <a:lstStyle/>
          <a:p>
            <a:pPr algn="l" indent="0" marL="0">
              <a:spcBef>
                <a:spcPts val="300"/>
              </a:spcBef>
              <a:buNone/>
            </a:pPr>
            <a:r>
              <a:rPr lang="en-US" sz="2700" b="1" dirty="0">
                <a:solidFill>
                  <a:srgbClr val="1A1D2E"/>
                </a:solidFill>
                <a:latin typeface="Noto Sans CJK SC" pitchFamily="34" charset="0"/>
                <a:ea typeface="Noto Sans CJK SC" pitchFamily="34" charset="-122"/>
                <a:cs typeface="Noto Sans CJK SC" pitchFamily="34" charset="-120"/>
              </a:rPr>
              <a:t>皮埃尔·居里相遇</a:t>
            </a:r>
            <a:endParaRPr lang="en-US" sz="2700" dirty="0"/>
          </a:p>
        </p:txBody>
      </p:sp>
      <p:sp>
        <p:nvSpPr>
          <p:cNvPr id="5"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6" name="Text 4"/>
          <p:cNvSpPr/>
          <p:nvPr/>
        </p:nvSpPr>
        <p:spPr>
          <a:xfrm>
            <a:off x="666750" y="1857375"/>
            <a:ext cx="4566285" cy="922883"/>
          </a:xfrm>
          <a:prstGeom prst="rect">
            <a:avLst/>
          </a:prstGeom>
          <a:noFill/>
          <a:ln/>
        </p:spPr>
        <p:txBody>
          <a:bodyPr wrap="square" lIns="0" tIns="0" rIns="0" bIns="0" rtlCol="0" anchor="t"/>
          <a:lstStyle/>
          <a:p>
            <a:pPr algn="l" indent="0" marL="0">
              <a:lnSpc>
                <a:spcPts val="2423"/>
              </a:lnSpc>
              <a:spcAft>
                <a:spcPts val="1650"/>
              </a:spcAft>
              <a:buNone/>
            </a:pPr>
            <a:r>
              <a:rPr lang="en-US" sz="1425" dirty="0">
                <a:solidFill>
                  <a:srgbClr val="1A1D2E"/>
                </a:solidFill>
                <a:latin typeface="Noto Sans CJK SC Medium" pitchFamily="34" charset="0"/>
                <a:ea typeface="Noto Sans CJK SC Medium" pitchFamily="34" charset="-122"/>
                <a:cs typeface="Noto Sans CJK SC Medium" pitchFamily="34" charset="-120"/>
              </a:rPr>
              <a:t>1894年，玛丽在研究钢铁磁性时急需更大的实验空间，波兰物理学家约瑟夫·科瓦尔斯基把她介绍给了皮埃尔·居里。</a:t>
            </a:r>
            <a:endParaRPr lang="en-US" sz="1425" dirty="0"/>
          </a:p>
        </p:txBody>
      </p:sp>
      <p:sp>
        <p:nvSpPr>
          <p:cNvPr id="7" name="Text 5"/>
          <p:cNvSpPr/>
          <p:nvPr/>
        </p:nvSpPr>
        <p:spPr>
          <a:xfrm>
            <a:off x="666750" y="2989808"/>
            <a:ext cx="4566285" cy="533400"/>
          </a:xfrm>
          <a:prstGeom prst="rect">
            <a:avLst/>
          </a:prstGeom>
          <a:noFill/>
          <a:ln/>
        </p:spPr>
        <p:txBody>
          <a:bodyPr wrap="square" lIns="0" tIns="0" rIns="0" bIns="0" rtlCol="0" anchor="t"/>
          <a:lstStyle/>
          <a:p>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皮埃尔当时已是巴黎市工业物理化学学院的教师，在晶体物理与磁学领域颇有建树，</a:t>
            </a:r>
            <a:pPr algn="l" indent="0" marL="0">
              <a:lnSpc>
                <a:spcPts val="2100"/>
              </a:lnSpc>
              <a:spcAft>
                <a:spcPts val="1050"/>
              </a:spcAft>
              <a:buNone/>
            </a:pPr>
            <a:r>
              <a:rPr lang="en-US" sz="1200" b="1" dirty="0">
                <a:solidFill>
                  <a:srgbClr val="8A5A1A"/>
                </a:solidFill>
                <a:latin typeface="Noto Sans CJK SC" pitchFamily="34" charset="0"/>
                <a:ea typeface="Noto Sans CJK SC" pitchFamily="34" charset="-122"/>
                <a:cs typeface="Noto Sans CJK SC" pitchFamily="34" charset="-120"/>
              </a:rPr>
              <a:t>两人因对科学的共同热忱而迅速相知</a:t>
            </a:r>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a:t>
            </a:r>
            <a:endParaRPr lang="en-US" sz="1200" dirty="0"/>
          </a:p>
        </p:txBody>
      </p:sp>
      <p:sp>
        <p:nvSpPr>
          <p:cNvPr id="8" name="Text 6"/>
          <p:cNvSpPr/>
          <p:nvPr/>
        </p:nvSpPr>
        <p:spPr>
          <a:xfrm>
            <a:off x="666750" y="3656558"/>
            <a:ext cx="4566285" cy="800100"/>
          </a:xfrm>
          <a:prstGeom prst="rect">
            <a:avLst/>
          </a:prstGeom>
          <a:noFill/>
          <a:ln/>
        </p:spPr>
        <p:txBody>
          <a:bodyPr wrap="square" lIns="0" tIns="0" rIns="0" bIns="0" rtlCol="0" anchor="t"/>
          <a:lstStyle/>
          <a:p>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最初玛丽计划毕业后返回波兰任教，但皮埃尔用一封封真挚的书信挽留她，并承诺为她提供实验条件。1895年7月26日，二人在巴黎结婚，没有婚纱、没有戒指，</a:t>
            </a:r>
            <a:pPr algn="l" indent="0" marL="0">
              <a:lnSpc>
                <a:spcPts val="2100"/>
              </a:lnSpc>
              <a:spcAft>
                <a:spcPts val="1050"/>
              </a:spcAft>
              <a:buNone/>
            </a:pPr>
            <a:r>
              <a:rPr lang="en-US" sz="1200" b="1" dirty="0">
                <a:solidFill>
                  <a:srgbClr val="8A5A1A"/>
                </a:solidFill>
                <a:latin typeface="Noto Sans CJK SC" pitchFamily="34" charset="0"/>
                <a:ea typeface="Noto Sans CJK SC" pitchFamily="34" charset="-122"/>
                <a:cs typeface="Noto Sans CJK SC" pitchFamily="34" charset="-120"/>
              </a:rPr>
              <a:t>只用两辆自行车踏上了蜜月之旅</a:t>
            </a:r>
            <a:pPr algn="l" indent="0" marL="0">
              <a:lnSpc>
                <a:spcPts val="2100"/>
              </a:lnSpc>
              <a:spcAft>
                <a:spcPts val="1050"/>
              </a:spcAft>
              <a:buNone/>
            </a:pPr>
            <a:r>
              <a:rPr lang="en-US" sz="1200" dirty="0">
                <a:solidFill>
                  <a:srgbClr val="3A3A3A"/>
                </a:solidFill>
                <a:latin typeface="Noto Sans CJK SC" pitchFamily="34" charset="0"/>
                <a:ea typeface="Noto Sans CJK SC" pitchFamily="34" charset="-122"/>
                <a:cs typeface="Noto Sans CJK SC" pitchFamily="34" charset="-120"/>
              </a:rPr>
              <a:t>。</a:t>
            </a:r>
            <a:endParaRPr lang="en-US" sz="1200" dirty="0"/>
          </a:p>
        </p:txBody>
      </p:sp>
      <p:sp>
        <p:nvSpPr>
          <p:cNvPr id="9" name="Text 7"/>
          <p:cNvSpPr/>
          <p:nvPr/>
        </p:nvSpPr>
        <p:spPr>
          <a:xfrm>
            <a:off x="666750" y="4666208"/>
            <a:ext cx="4476750" cy="1012031"/>
          </a:xfrm>
          <a:prstGeom prst="rect">
            <a:avLst/>
          </a:prstGeom>
          <a:solidFill>
            <a:srgbClr val="ECE3CD"/>
          </a:solidFill>
          <a:ln/>
        </p:spPr>
        <p:txBody>
          <a:bodyPr wrap="square" rtlCol="0" anchor="ctr"/>
          <a:lstStyle/>
          <a:p>
            <a:pPr indent="0" marL="0">
              <a:buNone/>
            </a:pPr>
            <a:endParaRPr lang="en-US" dirty="0"/>
          </a:p>
        </p:txBody>
      </p:sp>
      <p:sp>
        <p:nvSpPr>
          <p:cNvPr id="10" name="Shape 8"/>
          <p:cNvSpPr/>
          <p:nvPr/>
        </p:nvSpPr>
        <p:spPr>
          <a:xfrm>
            <a:off x="685800" y="4818608"/>
            <a:ext cx="0" cy="707231"/>
          </a:xfrm>
          <a:prstGeom prst="line">
            <a:avLst/>
          </a:prstGeom>
          <a:noFill/>
          <a:ln w="38100">
            <a:solidFill>
              <a:srgbClr val="D4AF37"/>
            </a:solidFill>
            <a:prstDash val="solid"/>
          </a:ln>
        </p:spPr>
      </p:sp>
      <p:sp>
        <p:nvSpPr>
          <p:cNvPr id="11" name="Text 9"/>
          <p:cNvSpPr/>
          <p:nvPr/>
        </p:nvSpPr>
        <p:spPr>
          <a:xfrm>
            <a:off x="895350" y="4818608"/>
            <a:ext cx="4138803" cy="471488"/>
          </a:xfrm>
          <a:prstGeom prst="rect">
            <a:avLst/>
          </a:prstGeom>
          <a:noFill/>
          <a:ln/>
        </p:spPr>
        <p:txBody>
          <a:bodyPr wrap="square" lIns="0" tIns="0" rIns="0" bIns="0" rtlCol="0" anchor="t"/>
          <a:lstStyle/>
          <a:p>
            <a:pPr algn="l" indent="0" marL="0">
              <a:lnSpc>
                <a:spcPts val="1856"/>
              </a:lnSpc>
              <a:buNone/>
            </a:pPr>
            <a:r>
              <a:rPr lang="en-US" sz="1125" i="1" dirty="0">
                <a:solidFill>
                  <a:srgbClr val="5A4015"/>
                </a:solidFill>
                <a:latin typeface="Noto Sans CJK SC" pitchFamily="34" charset="0"/>
                <a:ea typeface="Noto Sans CJK SC" pitchFamily="34" charset="-122"/>
                <a:cs typeface="Noto Sans CJK SC" pitchFamily="34" charset="-120"/>
              </a:rPr>
              <a:t>"我们彼此视为对方生命中最为亲密的伙伴——既是爱人，也是科学的合作者。"</a:t>
            </a:r>
            <a:endParaRPr lang="en-US" sz="1125" dirty="0"/>
          </a:p>
        </p:txBody>
      </p:sp>
      <p:sp>
        <p:nvSpPr>
          <p:cNvPr id="12" name="Text 10"/>
          <p:cNvSpPr/>
          <p:nvPr/>
        </p:nvSpPr>
        <p:spPr>
          <a:xfrm>
            <a:off x="895350" y="5290096"/>
            <a:ext cx="4138803" cy="235744"/>
          </a:xfrm>
          <a:prstGeom prst="rect">
            <a:avLst/>
          </a:prstGeom>
          <a:noFill/>
          <a:ln/>
        </p:spPr>
        <p:txBody>
          <a:bodyPr wrap="square" lIns="0" tIns="0" rIns="0" bIns="0" rtlCol="0" anchor="t"/>
          <a:lstStyle/>
          <a:p>
            <a:pPr algn="l" indent="0" marL="0">
              <a:lnSpc>
                <a:spcPts val="1856"/>
              </a:lnSpc>
              <a:buNone/>
            </a:pPr>
            <a:r>
              <a:rPr lang="en-US" sz="1125" i="1" dirty="0">
                <a:solidFill>
                  <a:srgbClr val="5A4015"/>
                </a:solidFill>
                <a:latin typeface="Noto Sans CJK SC" pitchFamily="34" charset="0"/>
                <a:ea typeface="Noto Sans CJK SC" pitchFamily="34" charset="-122"/>
                <a:cs typeface="Noto Sans CJK SC" pitchFamily="34" charset="-120"/>
              </a:rPr>
              <a:t>—— 居里夫人回忆</a:t>
            </a:r>
            <a:endParaRPr lang="en-US" sz="1125" dirty="0"/>
          </a:p>
        </p:txBody>
      </p:sp>
      <p:sp>
        <p:nvSpPr>
          <p:cNvPr id="13" name="Text 11"/>
          <p:cNvSpPr/>
          <p:nvPr/>
        </p:nvSpPr>
        <p:spPr>
          <a:xfrm>
            <a:off x="5143500" y="1857375"/>
            <a:ext cx="3333750" cy="3905250"/>
          </a:xfrm>
          <a:prstGeom prst="rect">
            <a:avLst/>
          </a:prstGeom>
          <a:noFill/>
          <a:ln w="38100">
            <a:solidFill>
              <a:srgbClr val="FFFFFF"/>
            </a:solidFill>
          </a:ln>
          <a:effectLst>
            <a:outerShdw sx="100000" sy="100000" kx="0" ky="0" algn="bl" rotWithShape="0" blurRad="228600" dist="76200" dir="5400000">
              <a:srgbClr val="000000">
                <a:alpha val="18000"/>
              </a:srgbClr>
            </a:outerShdw>
          </a:effectLst>
        </p:spPr>
        <p:txBody>
          <a:bodyPr wrap="square" rtlCol="0" anchor="ctr"/>
          <a:lstStyle/>
          <a:p>
            <a:pPr indent="0" marL="0">
              <a:buNone/>
            </a:pPr>
            <a:endParaRPr lang="en-US" dirty="0"/>
          </a:p>
        </p:txBody>
      </p:sp>
      <p:pic>
        <p:nvPicPr>
          <p:cNvPr id="14" name="Image 0" descr="/tmp/html2pptx-a160wY/html2pptx-bg-1786384797876-e1551f8186e2f8.png">    </p:cNvPr>
          <p:cNvPicPr>
            <a:picLocks noChangeAspect="1"/>
          </p:cNvPicPr>
          <p:nvPr/>
        </p:nvPicPr>
        <p:blipFill>
          <a:blip r:embed="rId1"/>
          <a:stretch>
            <a:fillRect/>
          </a:stretch>
        </p:blipFill>
        <p:spPr>
          <a:xfrm>
            <a:off x="5181600" y="1895475"/>
            <a:ext cx="3257550" cy="3829050"/>
          </a:xfrm>
          <a:prstGeom prst="rect">
            <a:avLst/>
          </a:prstGeom>
        </p:spPr>
      </p:pic>
      <p:sp>
        <p:nvSpPr>
          <p:cNvPr id="15" name="Text 12"/>
          <p:cNvSpPr/>
          <p:nvPr/>
        </p:nvSpPr>
        <p:spPr>
          <a:xfrm>
            <a:off x="5076825" y="5953125"/>
            <a:ext cx="3400425" cy="180975"/>
          </a:xfrm>
          <a:prstGeom prst="rect">
            <a:avLst/>
          </a:prstGeom>
          <a:noFill/>
          <a:ln/>
        </p:spPr>
        <p:txBody>
          <a:bodyPr wrap="square" lIns="0" tIns="0" rIns="0" bIns="0" rtlCol="0" anchor="t"/>
          <a:lstStyle/>
          <a:p>
            <a:pPr algn="r" indent="0" marL="0">
              <a:spcBef>
                <a:spcPts val="750"/>
              </a:spcBef>
              <a:buNone/>
            </a:pPr>
            <a:r>
              <a:rPr lang="en-US" sz="975" dirty="0">
                <a:solidFill>
                  <a:srgbClr val="8A8A8A"/>
                </a:solidFill>
                <a:latin typeface="Noto Sans CJK SC" pitchFamily="34" charset="0"/>
                <a:ea typeface="Noto Sans CJK SC" pitchFamily="34" charset="-122"/>
                <a:cs typeface="Noto Sans CJK SC" pitchFamily="34" charset="-120"/>
              </a:rPr>
              <a:t>皮埃尔与玛丽·居里在巴黎实验室</a:t>
            </a:r>
            <a:endParaRPr lang="en-US" sz="975" dirty="0"/>
          </a:p>
        </p:txBody>
      </p:sp>
      <p:sp>
        <p:nvSpPr>
          <p:cNvPr id="16" name="Text 13"/>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17" name="Text 14"/>
          <p:cNvSpPr/>
          <p:nvPr/>
        </p:nvSpPr>
        <p:spPr>
          <a:xfrm>
            <a:off x="7180213" y="6315075"/>
            <a:ext cx="1297037" cy="257175"/>
          </a:xfrm>
          <a:prstGeom prst="rect">
            <a:avLst/>
          </a:prstGeom>
          <a:solidFill>
            <a:srgbClr val="1A1D2E"/>
          </a:solidFill>
          <a:ln/>
        </p:spPr>
        <p:txBody>
          <a:bodyPr wrap="square" lIns="133350" tIns="38100" rIns="133350" bIns="38100" rtlCol="0" anchor="ctr"/>
          <a:lstStyle/>
          <a:p>
            <a:pPr algn="l" indent="0" marL="0">
              <a:buNone/>
            </a:pPr>
            <a:r>
              <a:rPr lang="en-US" sz="975" dirty="0">
                <a:solidFill>
                  <a:srgbClr val="F5F1E6"/>
                </a:solidFill>
                <a:latin typeface="Noto Sans CJK SC" pitchFamily="34" charset="0"/>
                <a:ea typeface="Noto Sans CJK SC" pitchFamily="34" charset="-122"/>
                <a:cs typeface="Noto Sans CJK SC" pitchFamily="34" charset="-120"/>
              </a:rPr>
              <a:t>1894 — 1895</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E"/>
        </a:solidFill>
      </p:bgPr>
    </p:bg>
    <p:spTree>
      <p:nvGrpSpPr>
        <p:cNvPr id="1" name=""/>
        <p:cNvGrpSpPr/>
        <p:nvPr/>
      </p:nvGrpSpPr>
      <p:grpSpPr>
        <a:xfrm>
          <a:off x="0" y="0"/>
          <a:ext cx="0" cy="0"/>
          <a:chOff x="0" y="0"/>
          <a:chExt cx="0" cy="0"/>
        </a:xfrm>
      </p:grpSpPr>
      <p:pic>
        <p:nvPicPr>
          <p:cNvPr id="2" name="Image 0" descr="/tmp/html2pptx-7Cd1Z9/html2pptx-bg-1786384799024-25a61be87bf39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tmp/html2pptx-7Cd1Z9/html2pptx-bg-1786384799200-5a7db50c54c25.png">    </p:cNvPr>
          <p:cNvPicPr>
            <a:picLocks noChangeAspect="1"/>
          </p:cNvPicPr>
          <p:nvPr/>
        </p:nvPicPr>
        <p:blipFill>
          <a:blip r:embed="rId2"/>
          <a:stretch>
            <a:fillRect/>
          </a:stretch>
        </p:blipFill>
        <p:spPr>
          <a:xfrm>
            <a:off x="6667500" y="-1143000"/>
            <a:ext cx="3619500" cy="3619500"/>
          </a:xfrm>
          <a:prstGeom prst="rect">
            <a:avLst/>
          </a:prstGeom>
        </p:spPr>
      </p:pic>
      <p:pic>
        <p:nvPicPr>
          <p:cNvPr id="4" name="Image 2" descr="/tmp/html2pptx-7Cd1Z9/html2pptx-bg-1786384799287-61d56f227028c.png">    </p:cNvPr>
          <p:cNvPicPr>
            <a:picLocks noChangeAspect="1"/>
          </p:cNvPicPr>
          <p:nvPr/>
        </p:nvPicPr>
        <p:blipFill>
          <a:blip r:embed="rId3"/>
          <a:stretch>
            <a:fillRect/>
          </a:stretch>
        </p:blipFill>
        <p:spPr>
          <a:xfrm>
            <a:off x="-952500" y="4762500"/>
            <a:ext cx="3048000" cy="3048000"/>
          </a:xfrm>
          <a:prstGeom prst="rect">
            <a:avLst/>
          </a:prstGeom>
        </p:spPr>
      </p:pic>
      <p:sp>
        <p:nvSpPr>
          <p:cNvPr id="5"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04</a:t>
            </a:r>
            <a:endParaRPr lang="en-US" sz="4800" dirty="0"/>
          </a:p>
        </p:txBody>
      </p:sp>
      <p:sp>
        <p:nvSpPr>
          <p:cNvPr id="6" name="Text 1"/>
          <p:cNvSpPr/>
          <p:nvPr/>
        </p:nvSpPr>
        <p:spPr>
          <a:xfrm>
            <a:off x="1595735" y="895350"/>
            <a:ext cx="2953664" cy="190500"/>
          </a:xfrm>
          <a:prstGeom prst="rect">
            <a:avLst/>
          </a:prstGeom>
          <a:noFill/>
          <a:ln/>
        </p:spPr>
        <p:txBody>
          <a:bodyPr wrap="square" lIns="0" tIns="0" rIns="0" bIns="0" rtlCol="0" anchor="t"/>
          <a:lstStyle/>
          <a:p>
            <a:pPr algn="l" indent="0" marL="0">
              <a:buNone/>
            </a:pPr>
            <a:r>
              <a:rPr lang="en-US" sz="1050" dirty="0">
                <a:solidFill>
                  <a:srgbClr val="B8B3A3"/>
                </a:solidFill>
                <a:latin typeface="Noto Sans CJK SC" pitchFamily="34" charset="0"/>
                <a:ea typeface="Noto Sans CJK SC" pitchFamily="34" charset="-122"/>
                <a:cs typeface="Noto Sans CJK SC" pitchFamily="34" charset="-120"/>
              </a:rPr>
              <a:t>CHAPTER · 1897–1898</a:t>
            </a:r>
            <a:endParaRPr lang="en-US" sz="1050" dirty="0"/>
          </a:p>
        </p:txBody>
      </p:sp>
      <p:sp>
        <p:nvSpPr>
          <p:cNvPr id="7" name="Text 2"/>
          <p:cNvSpPr/>
          <p:nvPr/>
        </p:nvSpPr>
        <p:spPr>
          <a:xfrm>
            <a:off x="1595735" y="1123950"/>
            <a:ext cx="2953664" cy="495300"/>
          </a:xfrm>
          <a:prstGeom prst="rect">
            <a:avLst/>
          </a:prstGeom>
          <a:noFill/>
          <a:ln/>
        </p:spPr>
        <p:txBody>
          <a:bodyPr wrap="square" lIns="0" tIns="0" rIns="0" bIns="0" rtlCol="0" anchor="t"/>
          <a:lstStyle/>
          <a:p>
            <a:pPr algn="l" indent="0" marL="0">
              <a:spcBef>
                <a:spcPts val="300"/>
              </a:spcBef>
              <a:buNone/>
            </a:pPr>
            <a:r>
              <a:rPr lang="en-US" sz="2700" b="1" dirty="0">
                <a:solidFill>
                  <a:srgbClr val="FFFFFF"/>
                </a:solidFill>
                <a:latin typeface="Noto Sans CJK SC" pitchFamily="34" charset="0"/>
                <a:ea typeface="Noto Sans CJK SC" pitchFamily="34" charset="-122"/>
                <a:cs typeface="Noto Sans CJK SC" pitchFamily="34" charset="-120"/>
              </a:rPr>
              <a:t>放射性现象的发现</a:t>
            </a:r>
            <a:endParaRPr lang="en-US" sz="2700" dirty="0"/>
          </a:p>
        </p:txBody>
      </p:sp>
      <p:sp>
        <p:nvSpPr>
          <p:cNvPr id="8"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9" name="Text 4"/>
          <p:cNvSpPr/>
          <p:nvPr/>
        </p:nvSpPr>
        <p:spPr>
          <a:xfrm>
            <a:off x="666750" y="1857375"/>
            <a:ext cx="7383780" cy="647700"/>
          </a:xfrm>
          <a:prstGeom prst="rect">
            <a:avLst/>
          </a:prstGeom>
          <a:noFill/>
          <a:ln/>
        </p:spPr>
        <p:txBody>
          <a:bodyPr wrap="square" lIns="0" tIns="0" rIns="0" bIns="0" rtlCol="0" anchor="t"/>
          <a:lstStyle/>
          <a:p>
            <a:pPr algn="l" indent="0" marL="0">
              <a:lnSpc>
                <a:spcPts val="2550"/>
              </a:lnSpc>
              <a:spcAft>
                <a:spcPts val="1950"/>
              </a:spcAft>
              <a:buNone/>
            </a:pPr>
            <a:r>
              <a:rPr lang="en-US" sz="1500" dirty="0">
                <a:solidFill>
                  <a:srgbClr val="F5F1E6"/>
                </a:solidFill>
                <a:latin typeface="Noto Sans CJK SC Medium" pitchFamily="34" charset="0"/>
                <a:ea typeface="Noto Sans CJK SC Medium" pitchFamily="34" charset="-122"/>
                <a:cs typeface="Noto Sans CJK SC Medium" pitchFamily="34" charset="-120"/>
              </a:rPr>
              <a:t>1897年，玛丽选择贝克勒尔新近发现的"铀射线"作为博士论文选题，成为首位系统研究这一现象的科学家。</a:t>
            </a:r>
            <a:endParaRPr lang="en-US" sz="1500" dirty="0"/>
          </a:p>
        </p:txBody>
      </p:sp>
      <p:sp>
        <p:nvSpPr>
          <p:cNvPr id="10" name="Text 5"/>
          <p:cNvSpPr/>
          <p:nvPr/>
        </p:nvSpPr>
        <p:spPr>
          <a:xfrm>
            <a:off x="666750" y="2752725"/>
            <a:ext cx="2463850" cy="1680121"/>
          </a:xfrm>
          <a:prstGeom prst="roundRect">
            <a:avLst>
              <a:gd name="adj" fmla="val 2268"/>
            </a:avLst>
          </a:prstGeom>
          <a:solidFill>
            <a:srgbClr val="FFFFFF">
              <a:alpha val="6000"/>
            </a:srgbClr>
          </a:solidFill>
          <a:ln w="9525">
            <a:solidFill>
              <a:srgbClr val="D4AF37"/>
            </a:solidFill>
          </a:ln>
        </p:spPr>
        <p:txBody>
          <a:bodyPr wrap="square" rtlCol="0" anchor="ctr"/>
          <a:lstStyle/>
          <a:p>
            <a:pPr indent="0" marL="0">
              <a:buNone/>
            </a:pPr>
            <a:endParaRPr lang="en-US" dirty="0"/>
          </a:p>
        </p:txBody>
      </p:sp>
      <p:sp>
        <p:nvSpPr>
          <p:cNvPr id="11" name="Text 6"/>
          <p:cNvSpPr/>
          <p:nvPr/>
        </p:nvSpPr>
        <p:spPr>
          <a:xfrm>
            <a:off x="847725" y="2952750"/>
            <a:ext cx="2143938" cy="161925"/>
          </a:xfrm>
          <a:prstGeom prst="rect">
            <a:avLst/>
          </a:prstGeom>
          <a:noFill/>
          <a:ln/>
        </p:spPr>
        <p:txBody>
          <a:bodyPr wrap="square" lIns="0" tIns="0" rIns="0" bIns="0" rtlCol="0" anchor="t"/>
          <a:lstStyle/>
          <a:p>
            <a:pPr algn="l" indent="0" marL="0">
              <a:spcAft>
                <a:spcPts val="750"/>
              </a:spcAft>
              <a:buNone/>
            </a:pPr>
            <a:r>
              <a:rPr lang="en-US" sz="900" dirty="0">
                <a:solidFill>
                  <a:srgbClr val="D4AF37"/>
                </a:solidFill>
                <a:latin typeface="Noto Sans CJK SC" pitchFamily="34" charset="0"/>
                <a:ea typeface="Noto Sans CJK SC" pitchFamily="34" charset="-122"/>
                <a:cs typeface="Noto Sans CJK SC" pitchFamily="34" charset="-120"/>
              </a:rPr>
              <a:t>STEP 01</a:t>
            </a:r>
            <a:endParaRPr lang="en-US" sz="900" dirty="0"/>
          </a:p>
        </p:txBody>
      </p:sp>
      <p:sp>
        <p:nvSpPr>
          <p:cNvPr id="12" name="Text 7"/>
          <p:cNvSpPr/>
          <p:nvPr/>
        </p:nvSpPr>
        <p:spPr>
          <a:xfrm>
            <a:off x="847725" y="3209925"/>
            <a:ext cx="2143938" cy="247650"/>
          </a:xfrm>
          <a:prstGeom prst="rect">
            <a:avLst/>
          </a:prstGeom>
          <a:noFill/>
          <a:ln/>
        </p:spPr>
        <p:txBody>
          <a:bodyPr wrap="square" lIns="0" tIns="0" rIns="0" bIns="0" rtlCol="0" anchor="t"/>
          <a:lstStyle/>
          <a:p>
            <a:pPr algn="l" indent="0" marL="0">
              <a:spcAft>
                <a:spcPts val="750"/>
              </a:spcAft>
              <a:buNone/>
            </a:pPr>
            <a:r>
              <a:rPr lang="en-US" sz="1350" b="1" dirty="0">
                <a:solidFill>
                  <a:srgbClr val="FFFFFF"/>
                </a:solidFill>
                <a:latin typeface="Noto Sans CJK SC" pitchFamily="34" charset="0"/>
                <a:ea typeface="Noto Sans CJK SC" pitchFamily="34" charset="-122"/>
                <a:cs typeface="Noto Sans CJK SC" pitchFamily="34" charset="-120"/>
              </a:rPr>
              <a:t>精密测量</a:t>
            </a:r>
            <a:endParaRPr lang="en-US" sz="1350" dirty="0"/>
          </a:p>
        </p:txBody>
      </p:sp>
      <p:sp>
        <p:nvSpPr>
          <p:cNvPr id="13" name="Text 8"/>
          <p:cNvSpPr/>
          <p:nvPr/>
        </p:nvSpPr>
        <p:spPr>
          <a:xfrm>
            <a:off x="847725" y="3552825"/>
            <a:ext cx="2143938" cy="679996"/>
          </a:xfrm>
          <a:prstGeom prst="rect">
            <a:avLst/>
          </a:prstGeom>
          <a:noFill/>
          <a:ln/>
        </p:spPr>
        <p:txBody>
          <a:bodyPr wrap="square" lIns="0" tIns="0" rIns="0" bIns="0" rtlCol="0" anchor="t"/>
          <a:lstStyle/>
          <a:p>
            <a:pPr algn="l" indent="0" marL="0">
              <a:lnSpc>
                <a:spcPts val="1785"/>
              </a:lnSpc>
              <a:buNone/>
            </a:pPr>
            <a:r>
              <a:rPr lang="en-US" sz="1050" dirty="0">
                <a:solidFill>
                  <a:srgbClr val="D8D2C2"/>
                </a:solidFill>
                <a:latin typeface="Noto Sans CJK SC" pitchFamily="34" charset="0"/>
                <a:ea typeface="Noto Sans CJK SC" pitchFamily="34" charset="-122"/>
                <a:cs typeface="Noto Sans CJK SC" pitchFamily="34" charset="-120"/>
              </a:rPr>
              <a:t>她改造了皮埃尔设计的</a:t>
            </a:r>
            <a:pPr algn="l" indent="0" marL="0">
              <a:lnSpc>
                <a:spcPts val="1785"/>
              </a:lnSpc>
              <a:buNone/>
            </a:pPr>
            <a:r>
              <a:rPr lang="en-US" sz="1050" b="1" dirty="0">
                <a:solidFill>
                  <a:srgbClr val="D4AF37"/>
                </a:solidFill>
                <a:latin typeface="Noto Sans CJK SC" pitchFamily="34" charset="0"/>
                <a:ea typeface="Noto Sans CJK SC" pitchFamily="34" charset="-122"/>
                <a:cs typeface="Noto Sans CJK SC" pitchFamily="34" charset="-120"/>
              </a:rPr>
              <a:t>压电石英静电计</a:t>
            </a:r>
            <a:pPr algn="l" indent="0" marL="0">
              <a:lnSpc>
                <a:spcPts val="1785"/>
              </a:lnSpc>
              <a:buNone/>
            </a:pPr>
            <a:r>
              <a:rPr lang="en-US" sz="1050" dirty="0">
                <a:solidFill>
                  <a:srgbClr val="D8D2C2"/>
                </a:solidFill>
                <a:latin typeface="Noto Sans CJK SC" pitchFamily="34" charset="0"/>
                <a:ea typeface="Noto Sans CJK SC" pitchFamily="34" charset="-122"/>
                <a:cs typeface="Noto Sans CJK SC" pitchFamily="34" charset="-120"/>
              </a:rPr>
              <a:t>，精确测量铀射线使空气电离的程度，开创了定量放射学方法。</a:t>
            </a:r>
            <a:endParaRPr lang="en-US" sz="1050" dirty="0"/>
          </a:p>
        </p:txBody>
      </p:sp>
      <p:sp>
        <p:nvSpPr>
          <p:cNvPr id="14" name="Text 9"/>
          <p:cNvSpPr/>
          <p:nvPr/>
        </p:nvSpPr>
        <p:spPr>
          <a:xfrm>
            <a:off x="3340150" y="2752725"/>
            <a:ext cx="2463850" cy="1680121"/>
          </a:xfrm>
          <a:prstGeom prst="roundRect">
            <a:avLst>
              <a:gd name="adj" fmla="val 2268"/>
            </a:avLst>
          </a:prstGeom>
          <a:solidFill>
            <a:srgbClr val="FFFFFF">
              <a:alpha val="6000"/>
            </a:srgbClr>
          </a:solidFill>
          <a:ln w="9525">
            <a:solidFill>
              <a:srgbClr val="D4AF37"/>
            </a:solidFill>
          </a:ln>
        </p:spPr>
        <p:txBody>
          <a:bodyPr wrap="square" rtlCol="0" anchor="ctr"/>
          <a:lstStyle/>
          <a:p>
            <a:pPr indent="0" marL="0">
              <a:buNone/>
            </a:pPr>
            <a:endParaRPr lang="en-US" dirty="0"/>
          </a:p>
        </p:txBody>
      </p:sp>
      <p:sp>
        <p:nvSpPr>
          <p:cNvPr id="15" name="Text 10"/>
          <p:cNvSpPr/>
          <p:nvPr/>
        </p:nvSpPr>
        <p:spPr>
          <a:xfrm>
            <a:off x="3521125" y="2952750"/>
            <a:ext cx="2143938" cy="161925"/>
          </a:xfrm>
          <a:prstGeom prst="rect">
            <a:avLst/>
          </a:prstGeom>
          <a:noFill/>
          <a:ln/>
        </p:spPr>
        <p:txBody>
          <a:bodyPr wrap="square" lIns="0" tIns="0" rIns="0" bIns="0" rtlCol="0" anchor="t"/>
          <a:lstStyle/>
          <a:p>
            <a:pPr algn="l" indent="0" marL="0">
              <a:spcAft>
                <a:spcPts val="750"/>
              </a:spcAft>
              <a:buNone/>
            </a:pPr>
            <a:r>
              <a:rPr lang="en-US" sz="900" dirty="0">
                <a:solidFill>
                  <a:srgbClr val="D4AF37"/>
                </a:solidFill>
                <a:latin typeface="Noto Sans CJK SC" pitchFamily="34" charset="0"/>
                <a:ea typeface="Noto Sans CJK SC" pitchFamily="34" charset="-122"/>
                <a:cs typeface="Noto Sans CJK SC" pitchFamily="34" charset="-120"/>
              </a:rPr>
              <a:t>STEP 02</a:t>
            </a:r>
            <a:endParaRPr lang="en-US" sz="900" dirty="0"/>
          </a:p>
        </p:txBody>
      </p:sp>
      <p:sp>
        <p:nvSpPr>
          <p:cNvPr id="16" name="Text 11"/>
          <p:cNvSpPr/>
          <p:nvPr/>
        </p:nvSpPr>
        <p:spPr>
          <a:xfrm>
            <a:off x="3521125" y="3209925"/>
            <a:ext cx="2143938" cy="247650"/>
          </a:xfrm>
          <a:prstGeom prst="rect">
            <a:avLst/>
          </a:prstGeom>
          <a:noFill/>
          <a:ln/>
        </p:spPr>
        <p:txBody>
          <a:bodyPr wrap="square" lIns="0" tIns="0" rIns="0" bIns="0" rtlCol="0" anchor="t"/>
          <a:lstStyle/>
          <a:p>
            <a:pPr algn="l" indent="0" marL="0">
              <a:spcAft>
                <a:spcPts val="750"/>
              </a:spcAft>
              <a:buNone/>
            </a:pPr>
            <a:r>
              <a:rPr lang="en-US" sz="1350" b="1" dirty="0">
                <a:solidFill>
                  <a:srgbClr val="FFFFFF"/>
                </a:solidFill>
                <a:latin typeface="Noto Sans CJK SC" pitchFamily="34" charset="0"/>
                <a:ea typeface="Noto Sans CJK SC" pitchFamily="34" charset="-122"/>
                <a:cs typeface="Noto Sans CJK SC" pitchFamily="34" charset="-120"/>
              </a:rPr>
              <a:t>系统筛查</a:t>
            </a:r>
            <a:endParaRPr lang="en-US" sz="1350" dirty="0"/>
          </a:p>
        </p:txBody>
      </p:sp>
      <p:sp>
        <p:nvSpPr>
          <p:cNvPr id="17" name="Text 12"/>
          <p:cNvSpPr/>
          <p:nvPr/>
        </p:nvSpPr>
        <p:spPr>
          <a:xfrm>
            <a:off x="3521125" y="3552825"/>
            <a:ext cx="2143938" cy="679996"/>
          </a:xfrm>
          <a:prstGeom prst="rect">
            <a:avLst/>
          </a:prstGeom>
          <a:noFill/>
          <a:ln/>
        </p:spPr>
        <p:txBody>
          <a:bodyPr wrap="square" lIns="0" tIns="0" rIns="0" bIns="0" rtlCol="0" anchor="t"/>
          <a:lstStyle/>
          <a:p>
            <a:pPr algn="l" indent="0" marL="0">
              <a:lnSpc>
                <a:spcPts val="1785"/>
              </a:lnSpc>
              <a:buNone/>
            </a:pPr>
            <a:r>
              <a:rPr lang="en-US" sz="1050" dirty="0">
                <a:solidFill>
                  <a:srgbClr val="D8D2C2"/>
                </a:solidFill>
                <a:latin typeface="Noto Sans CJK SC" pitchFamily="34" charset="0"/>
                <a:ea typeface="Noto Sans CJK SC" pitchFamily="34" charset="-122"/>
                <a:cs typeface="Noto Sans CJK SC" pitchFamily="34" charset="-120"/>
              </a:rPr>
              <a:t>她逐一检测大量元素与矿物，发现</a:t>
            </a:r>
            <a:pPr algn="l" indent="0" marL="0">
              <a:lnSpc>
                <a:spcPts val="1785"/>
              </a:lnSpc>
              <a:buNone/>
            </a:pPr>
            <a:r>
              <a:rPr lang="en-US" sz="1050" b="1" dirty="0">
                <a:solidFill>
                  <a:srgbClr val="D4AF37"/>
                </a:solidFill>
                <a:latin typeface="Noto Sans CJK SC" pitchFamily="34" charset="0"/>
                <a:ea typeface="Noto Sans CJK SC" pitchFamily="34" charset="-122"/>
                <a:cs typeface="Noto Sans CJK SC" pitchFamily="34" charset="-120"/>
              </a:rPr>
              <a:t>钍也具有类似射线</a:t>
            </a:r>
            <a:pPr algn="l" indent="0" marL="0">
              <a:lnSpc>
                <a:spcPts val="1785"/>
              </a:lnSpc>
              <a:buNone/>
            </a:pPr>
            <a:r>
              <a:rPr lang="en-US" sz="1050" dirty="0">
                <a:solidFill>
                  <a:srgbClr val="D8D2C2"/>
                </a:solidFill>
                <a:latin typeface="Noto Sans CJK SC" pitchFamily="34" charset="0"/>
                <a:ea typeface="Noto Sans CJK SC" pitchFamily="34" charset="-122"/>
                <a:cs typeface="Noto Sans CJK SC" pitchFamily="34" charset="-120"/>
              </a:rPr>
              <a:t>，并首次提出"放射性"（radioactivity）这一术语。</a:t>
            </a:r>
            <a:endParaRPr lang="en-US" sz="1050" dirty="0"/>
          </a:p>
        </p:txBody>
      </p:sp>
      <p:sp>
        <p:nvSpPr>
          <p:cNvPr id="18" name="Text 13"/>
          <p:cNvSpPr/>
          <p:nvPr/>
        </p:nvSpPr>
        <p:spPr>
          <a:xfrm>
            <a:off x="6013549" y="2752725"/>
            <a:ext cx="2463850" cy="1680121"/>
          </a:xfrm>
          <a:prstGeom prst="roundRect">
            <a:avLst>
              <a:gd name="adj" fmla="val 2268"/>
            </a:avLst>
          </a:prstGeom>
          <a:solidFill>
            <a:srgbClr val="FFFFFF">
              <a:alpha val="6000"/>
            </a:srgbClr>
          </a:solidFill>
          <a:ln w="9525">
            <a:solidFill>
              <a:srgbClr val="D4AF37"/>
            </a:solidFill>
          </a:ln>
        </p:spPr>
        <p:txBody>
          <a:bodyPr wrap="square" rtlCol="0" anchor="ctr"/>
          <a:lstStyle/>
          <a:p>
            <a:pPr indent="0" marL="0">
              <a:buNone/>
            </a:pPr>
            <a:endParaRPr lang="en-US" dirty="0"/>
          </a:p>
        </p:txBody>
      </p:sp>
      <p:sp>
        <p:nvSpPr>
          <p:cNvPr id="19" name="Text 14"/>
          <p:cNvSpPr/>
          <p:nvPr/>
        </p:nvSpPr>
        <p:spPr>
          <a:xfrm>
            <a:off x="6194524" y="2952750"/>
            <a:ext cx="2143938" cy="161925"/>
          </a:xfrm>
          <a:prstGeom prst="rect">
            <a:avLst/>
          </a:prstGeom>
          <a:noFill/>
          <a:ln/>
        </p:spPr>
        <p:txBody>
          <a:bodyPr wrap="square" lIns="0" tIns="0" rIns="0" bIns="0" rtlCol="0" anchor="t"/>
          <a:lstStyle/>
          <a:p>
            <a:pPr algn="l" indent="0" marL="0">
              <a:spcAft>
                <a:spcPts val="750"/>
              </a:spcAft>
              <a:buNone/>
            </a:pPr>
            <a:r>
              <a:rPr lang="en-US" sz="900" dirty="0">
                <a:solidFill>
                  <a:srgbClr val="D4AF37"/>
                </a:solidFill>
                <a:latin typeface="Noto Sans CJK SC" pitchFamily="34" charset="0"/>
                <a:ea typeface="Noto Sans CJK SC" pitchFamily="34" charset="-122"/>
                <a:cs typeface="Noto Sans CJK SC" pitchFamily="34" charset="-120"/>
              </a:rPr>
              <a:t>STEP 03</a:t>
            </a:r>
            <a:endParaRPr lang="en-US" sz="900" dirty="0"/>
          </a:p>
        </p:txBody>
      </p:sp>
      <p:sp>
        <p:nvSpPr>
          <p:cNvPr id="20" name="Text 15"/>
          <p:cNvSpPr/>
          <p:nvPr/>
        </p:nvSpPr>
        <p:spPr>
          <a:xfrm>
            <a:off x="6194524" y="3209925"/>
            <a:ext cx="2143938" cy="247650"/>
          </a:xfrm>
          <a:prstGeom prst="rect">
            <a:avLst/>
          </a:prstGeom>
          <a:noFill/>
          <a:ln/>
        </p:spPr>
        <p:txBody>
          <a:bodyPr wrap="square" lIns="0" tIns="0" rIns="0" bIns="0" rtlCol="0" anchor="t"/>
          <a:lstStyle/>
          <a:p>
            <a:pPr algn="l" indent="0" marL="0">
              <a:spcAft>
                <a:spcPts val="750"/>
              </a:spcAft>
              <a:buNone/>
            </a:pPr>
            <a:r>
              <a:rPr lang="en-US" sz="1350" b="1" dirty="0">
                <a:solidFill>
                  <a:srgbClr val="FFFFFF"/>
                </a:solidFill>
                <a:latin typeface="Noto Sans CJK SC" pitchFamily="34" charset="0"/>
                <a:ea typeface="Noto Sans CJK SC" pitchFamily="34" charset="-122"/>
                <a:cs typeface="Noto Sans CJK SC" pitchFamily="34" charset="-120"/>
              </a:rPr>
              <a:t>异常信号</a:t>
            </a:r>
            <a:endParaRPr lang="en-US" sz="1350" dirty="0"/>
          </a:p>
        </p:txBody>
      </p:sp>
      <p:sp>
        <p:nvSpPr>
          <p:cNvPr id="21" name="Text 16"/>
          <p:cNvSpPr/>
          <p:nvPr/>
        </p:nvSpPr>
        <p:spPr>
          <a:xfrm>
            <a:off x="6194524" y="3552825"/>
            <a:ext cx="2143938" cy="679996"/>
          </a:xfrm>
          <a:prstGeom prst="rect">
            <a:avLst/>
          </a:prstGeom>
          <a:noFill/>
          <a:ln/>
        </p:spPr>
        <p:txBody>
          <a:bodyPr wrap="square" lIns="0" tIns="0" rIns="0" bIns="0" rtlCol="0" anchor="t"/>
          <a:lstStyle/>
          <a:p>
            <a:pPr algn="l" indent="0" marL="0">
              <a:lnSpc>
                <a:spcPts val="1785"/>
              </a:lnSpc>
              <a:buNone/>
            </a:pPr>
            <a:r>
              <a:rPr lang="en-US" sz="1050" dirty="0">
                <a:solidFill>
                  <a:srgbClr val="D8D2C2"/>
                </a:solidFill>
                <a:latin typeface="Noto Sans CJK SC" pitchFamily="34" charset="0"/>
                <a:ea typeface="Noto Sans CJK SC" pitchFamily="34" charset="-122"/>
                <a:cs typeface="Noto Sans CJK SC" pitchFamily="34" charset="-120"/>
              </a:rPr>
              <a:t>沥青铀矿的放射性远超铀含量所能解释——</a:t>
            </a:r>
            <a:pPr algn="l" indent="0" marL="0">
              <a:lnSpc>
                <a:spcPts val="1785"/>
              </a:lnSpc>
              <a:buNone/>
            </a:pPr>
            <a:r>
              <a:rPr lang="en-US" sz="1050" b="1" dirty="0">
                <a:solidFill>
                  <a:srgbClr val="D4AF37"/>
                </a:solidFill>
                <a:latin typeface="Noto Sans CJK SC" pitchFamily="34" charset="0"/>
                <a:ea typeface="Noto Sans CJK SC" pitchFamily="34" charset="-122"/>
                <a:cs typeface="Noto Sans CJK SC" pitchFamily="34" charset="-120"/>
              </a:rPr>
              <a:t>必定存在未知的新元素</a:t>
            </a:r>
            <a:pPr algn="l" indent="0" marL="0">
              <a:lnSpc>
                <a:spcPts val="1785"/>
              </a:lnSpc>
              <a:buNone/>
            </a:pPr>
            <a:r>
              <a:rPr lang="en-US" sz="1050" dirty="0">
                <a:solidFill>
                  <a:srgbClr val="D8D2C2"/>
                </a:solidFill>
                <a:latin typeface="Noto Sans CJK SC" pitchFamily="34" charset="0"/>
                <a:ea typeface="Noto Sans CJK SC" pitchFamily="34" charset="-122"/>
                <a:cs typeface="Noto Sans CJK SC" pitchFamily="34" charset="-120"/>
              </a:rPr>
              <a:t>。研究方向由此改写。</a:t>
            </a:r>
            <a:endParaRPr lang="en-US" sz="1050" dirty="0"/>
          </a:p>
        </p:txBody>
      </p:sp>
      <p:sp>
        <p:nvSpPr>
          <p:cNvPr id="22" name="Text 17"/>
          <p:cNvSpPr/>
          <p:nvPr/>
        </p:nvSpPr>
        <p:spPr>
          <a:xfrm>
            <a:off x="666750" y="5334000"/>
            <a:ext cx="7810500" cy="762000"/>
          </a:xfrm>
          <a:prstGeom prst="rect">
            <a:avLst/>
          </a:prstGeom>
          <a:solidFill>
            <a:srgbClr val="D4AF37">
              <a:alpha val="12000"/>
            </a:srgbClr>
          </a:solidFill>
          <a:ln/>
        </p:spPr>
        <p:txBody>
          <a:bodyPr wrap="square" rtlCol="0" anchor="ctr"/>
          <a:lstStyle/>
          <a:p>
            <a:pPr indent="0" marL="0">
              <a:buNone/>
            </a:pPr>
            <a:endParaRPr lang="en-US" dirty="0"/>
          </a:p>
        </p:txBody>
      </p:sp>
      <p:sp>
        <p:nvSpPr>
          <p:cNvPr id="23" name="Shape 18"/>
          <p:cNvSpPr/>
          <p:nvPr/>
        </p:nvSpPr>
        <p:spPr>
          <a:xfrm>
            <a:off x="685800" y="5486400"/>
            <a:ext cx="0" cy="457200"/>
          </a:xfrm>
          <a:prstGeom prst="line">
            <a:avLst/>
          </a:prstGeom>
          <a:noFill/>
          <a:ln w="38100">
            <a:solidFill>
              <a:srgbClr val="D4AF37"/>
            </a:solidFill>
            <a:prstDash val="solid"/>
          </a:ln>
        </p:spPr>
      </p:sp>
      <p:sp>
        <p:nvSpPr>
          <p:cNvPr id="24" name="Text 19"/>
          <p:cNvSpPr/>
          <p:nvPr/>
        </p:nvSpPr>
        <p:spPr>
          <a:xfrm>
            <a:off x="914400" y="5486400"/>
            <a:ext cx="7500366" cy="457200"/>
          </a:xfrm>
          <a:prstGeom prst="rect">
            <a:avLst/>
          </a:prstGeom>
          <a:noFill/>
          <a:ln/>
        </p:spPr>
        <p:txBody>
          <a:bodyPr wrap="square" lIns="0" tIns="0" rIns="0" bIns="0" rtlCol="0" anchor="t"/>
          <a:lstStyle/>
          <a:p>
            <a:pPr algn="l" indent="0" marL="0">
              <a:lnSpc>
                <a:spcPts val="1800"/>
              </a:lnSpc>
              <a:buNone/>
            </a:pPr>
            <a:r>
              <a:rPr lang="en-US" sz="1125" dirty="0">
                <a:solidFill>
                  <a:srgbClr val="F0E6C8"/>
                </a:solidFill>
                <a:latin typeface="Noto Sans CJK SC" pitchFamily="34" charset="0"/>
                <a:ea typeface="Noto Sans CJK SC" pitchFamily="34" charset="-122"/>
                <a:cs typeface="Noto Sans CJK SC" pitchFamily="34" charset="-120"/>
              </a:rPr>
              <a:t>"放射性不是原子分子的某种排列所致，而是源自原子自身的内部结构。"——这一洞见动摇了"原子不可分"的古老信条。</a:t>
            </a:r>
            <a:endParaRPr lang="en-US" sz="1125" dirty="0"/>
          </a:p>
        </p:txBody>
      </p:sp>
      <p:sp>
        <p:nvSpPr>
          <p:cNvPr id="25" name="Text 20"/>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F5F1E6"/>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26" name="Text 21"/>
          <p:cNvSpPr/>
          <p:nvPr/>
        </p:nvSpPr>
        <p:spPr>
          <a:xfrm>
            <a:off x="7143006" y="6315075"/>
            <a:ext cx="1334244" cy="257175"/>
          </a:xfrm>
          <a:prstGeom prst="rect">
            <a:avLst/>
          </a:prstGeom>
          <a:solidFill>
            <a:srgbClr val="D4AF37"/>
          </a:solidFill>
          <a:ln/>
        </p:spPr>
        <p:txBody>
          <a:bodyPr wrap="square" lIns="133350" tIns="38100" rIns="133350" bIns="38100" rtlCol="0" anchor="ctr"/>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1897 — 1898</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05</a:t>
            </a:r>
            <a:endParaRPr lang="en-US" sz="4800" dirty="0"/>
          </a:p>
        </p:txBody>
      </p:sp>
      <p:sp>
        <p:nvSpPr>
          <p:cNvPr id="3" name="Text 1"/>
          <p:cNvSpPr/>
          <p:nvPr/>
        </p:nvSpPr>
        <p:spPr>
          <a:xfrm>
            <a:off x="1595735" y="895350"/>
            <a:ext cx="2215286" cy="190500"/>
          </a:xfrm>
          <a:prstGeom prst="rect">
            <a:avLst/>
          </a:prstGeom>
          <a:noFill/>
          <a:ln/>
        </p:spPr>
        <p:txBody>
          <a:bodyPr wrap="square" lIns="0" tIns="0" rIns="0" bIns="0" rtlCol="0" anchor="t"/>
          <a:lstStyle/>
          <a:p>
            <a:pPr algn="l" indent="0" marL="0">
              <a:buNone/>
            </a:pPr>
            <a:r>
              <a:rPr lang="en-US" sz="1050" dirty="0">
                <a:solidFill>
                  <a:srgbClr val="8A8A8A"/>
                </a:solidFill>
                <a:latin typeface="Noto Sans CJK SC" pitchFamily="34" charset="0"/>
                <a:ea typeface="Noto Sans CJK SC" pitchFamily="34" charset="-122"/>
                <a:cs typeface="Noto Sans CJK SC" pitchFamily="34" charset="-120"/>
              </a:rPr>
              <a:t>CHAPTER · 1898</a:t>
            </a:r>
            <a:endParaRPr lang="en-US" sz="1050" dirty="0"/>
          </a:p>
        </p:txBody>
      </p:sp>
      <p:sp>
        <p:nvSpPr>
          <p:cNvPr id="4" name="Text 2"/>
          <p:cNvSpPr/>
          <p:nvPr/>
        </p:nvSpPr>
        <p:spPr>
          <a:xfrm>
            <a:off x="1595735" y="1123950"/>
            <a:ext cx="2215286" cy="495300"/>
          </a:xfrm>
          <a:prstGeom prst="rect">
            <a:avLst/>
          </a:prstGeom>
          <a:noFill/>
          <a:ln/>
        </p:spPr>
        <p:txBody>
          <a:bodyPr wrap="square" lIns="0" tIns="0" rIns="0" bIns="0" rtlCol="0" anchor="t"/>
          <a:lstStyle/>
          <a:p>
            <a:pPr algn="l" indent="0" marL="0">
              <a:spcBef>
                <a:spcPts val="300"/>
              </a:spcBef>
              <a:buNone/>
            </a:pPr>
            <a:r>
              <a:rPr lang="en-US" sz="2700" b="1" dirty="0">
                <a:solidFill>
                  <a:srgbClr val="1A1D2E"/>
                </a:solidFill>
                <a:latin typeface="Noto Sans CJK SC" pitchFamily="34" charset="0"/>
                <a:ea typeface="Noto Sans CJK SC" pitchFamily="34" charset="-122"/>
                <a:cs typeface="Noto Sans CJK SC" pitchFamily="34" charset="-120"/>
              </a:rPr>
              <a:t>钋与镭的发现</a:t>
            </a:r>
            <a:endParaRPr lang="en-US" sz="2700" dirty="0"/>
          </a:p>
        </p:txBody>
      </p:sp>
      <p:sp>
        <p:nvSpPr>
          <p:cNvPr id="5"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6" name="Text 4"/>
          <p:cNvSpPr/>
          <p:nvPr/>
        </p:nvSpPr>
        <p:spPr>
          <a:xfrm>
            <a:off x="666750" y="1857375"/>
            <a:ext cx="7966710" cy="291405"/>
          </a:xfrm>
          <a:prstGeom prst="rect">
            <a:avLst/>
          </a:prstGeom>
          <a:noFill/>
          <a:ln/>
        </p:spPr>
        <p:txBody>
          <a:bodyPr wrap="square" lIns="0" tIns="0" rIns="0" bIns="0" rtlCol="0" anchor="t"/>
          <a:lstStyle/>
          <a:p>
            <a:pPr algn="l" indent="0" marL="0">
              <a:lnSpc>
                <a:spcPts val="2295"/>
              </a:lnSpc>
              <a:buNone/>
            </a:pPr>
            <a:r>
              <a:rPr lang="en-US" sz="1350" dirty="0">
                <a:solidFill>
                  <a:srgbClr val="1A1D2E"/>
                </a:solidFill>
                <a:latin typeface="Noto Sans CJK SC Medium" pitchFamily="34" charset="0"/>
                <a:ea typeface="Noto Sans CJK SC Medium" pitchFamily="34" charset="-122"/>
                <a:cs typeface="Noto Sans CJK SC Medium" pitchFamily="34" charset="-120"/>
              </a:rPr>
              <a:t>1898年，玛丽与皮埃尔从沥青铀矿中分离出两种新的放射性元素，并以故乡与新光芒为它们命名。</a:t>
            </a:r>
            <a:endParaRPr lang="en-US" sz="1350" dirty="0"/>
          </a:p>
        </p:txBody>
      </p:sp>
      <p:sp>
        <p:nvSpPr>
          <p:cNvPr id="7" name="Text 5"/>
          <p:cNvSpPr/>
          <p:nvPr/>
        </p:nvSpPr>
        <p:spPr>
          <a:xfrm>
            <a:off x="666750" y="2571750"/>
            <a:ext cx="3790950" cy="2362051"/>
          </a:xfrm>
          <a:prstGeom prst="rect">
            <a:avLst/>
          </a:prstGeom>
          <a:solidFill>
            <a:srgbClr val="FFFFFF"/>
          </a:solidFill>
          <a:ln/>
          <a:effectLst>
            <a:outerShdw sx="100000" sy="100000" kx="0" ky="0" algn="bl" rotWithShape="0" blurRad="171450" dist="57150" dir="5400000">
              <a:srgbClr val="000000">
                <a:alpha val="10000"/>
              </a:srgbClr>
            </a:outerShdw>
          </a:effectLst>
        </p:spPr>
        <p:txBody>
          <a:bodyPr wrap="square" rtlCol="0" anchor="ctr"/>
          <a:lstStyle/>
          <a:p>
            <a:pPr indent="0" marL="0">
              <a:buNone/>
            </a:pPr>
            <a:endParaRPr lang="en-US" dirty="0"/>
          </a:p>
        </p:txBody>
      </p:sp>
      <p:sp>
        <p:nvSpPr>
          <p:cNvPr id="8" name="Shape 6"/>
          <p:cNvSpPr/>
          <p:nvPr/>
        </p:nvSpPr>
        <p:spPr>
          <a:xfrm>
            <a:off x="666750" y="2595563"/>
            <a:ext cx="3790950" cy="0"/>
          </a:xfrm>
          <a:prstGeom prst="line">
            <a:avLst/>
          </a:prstGeom>
          <a:noFill/>
          <a:ln w="47625">
            <a:solidFill>
              <a:srgbClr val="1A1D2E"/>
            </a:solidFill>
            <a:prstDash val="solid"/>
          </a:ln>
        </p:spPr>
      </p:sp>
      <p:sp>
        <p:nvSpPr>
          <p:cNvPr id="9" name="Text 7"/>
          <p:cNvSpPr/>
          <p:nvPr/>
        </p:nvSpPr>
        <p:spPr>
          <a:xfrm>
            <a:off x="666750" y="2619375"/>
            <a:ext cx="3790950" cy="828675"/>
          </a:xfrm>
          <a:prstGeom prst="rect">
            <a:avLst/>
          </a:prstGeom>
          <a:solidFill>
            <a:srgbClr val="1A1D2E"/>
          </a:solidFill>
          <a:ln/>
        </p:spPr>
        <p:txBody>
          <a:bodyPr wrap="square" rtlCol="0" anchor="ctr"/>
          <a:lstStyle/>
          <a:p>
            <a:pPr indent="0" marL="0">
              <a:buNone/>
            </a:pPr>
            <a:endParaRPr lang="en-US" dirty="0"/>
          </a:p>
        </p:txBody>
      </p:sp>
      <p:sp>
        <p:nvSpPr>
          <p:cNvPr id="10" name="Text 8"/>
          <p:cNvSpPr/>
          <p:nvPr/>
        </p:nvSpPr>
        <p:spPr>
          <a:xfrm>
            <a:off x="666750" y="2619375"/>
            <a:ext cx="3866769" cy="828675"/>
          </a:xfrm>
          <a:prstGeom prst="rect">
            <a:avLst/>
          </a:prstGeom>
          <a:noFill/>
          <a:ln/>
        </p:spPr>
        <p:txBody>
          <a:bodyPr wrap="square" lIns="190500" tIns="152400" rIns="190500" bIns="152400" rtlCol="0" anchor="ctr"/>
          <a:lstStyle/>
          <a:p>
            <a:pPr algn="l" indent="0" marL="0">
              <a:buNone/>
            </a:pPr>
            <a:r>
              <a:rPr lang="en-US" sz="2850" b="1" dirty="0">
                <a:solidFill>
                  <a:srgbClr val="D4AF37"/>
                </a:solidFill>
                <a:latin typeface="Noto Sans CJK SC" pitchFamily="34" charset="0"/>
                <a:ea typeface="Noto Sans CJK SC" pitchFamily="34" charset="-122"/>
                <a:cs typeface="Noto Sans CJK SC" pitchFamily="34" charset="-120"/>
              </a:rPr>
              <a:t>Po</a:t>
            </a:r>
            <a:endParaRPr lang="en-US" sz="1200" dirty="0"/>
          </a:p>
          <a:p>
            <a:pPr algn="l" indent="0" marL="0">
              <a:buNone/>
            </a:pPr>
            <a:r>
              <a:rPr lang="en-US" sz="1200" dirty="0">
                <a:solidFill>
                  <a:srgbClr val="F5F1E6"/>
                </a:solidFill>
                <a:latin typeface="Noto Sans CJK SC" pitchFamily="34" charset="0"/>
                <a:ea typeface="Noto Sans CJK SC" pitchFamily="34" charset="-122"/>
                <a:cs typeface="Noto Sans CJK SC" pitchFamily="34" charset="-120"/>
              </a:rPr>
              <a:t> </a:t>
            </a:r>
            <a:pPr algn="l" indent="0" marL="0">
              <a:buNone/>
            </a:pPr>
            <a:r>
              <a:rPr lang="en-US" sz="1200" dirty="0">
                <a:solidFill>
                  <a:srgbClr val="B8B3A3"/>
                </a:solidFill>
                <a:latin typeface="Noto Sans CJK SC" pitchFamily="34" charset="0"/>
                <a:ea typeface="Noto Sans CJK SC" pitchFamily="34" charset="-122"/>
                <a:cs typeface="Noto Sans CJK SC" pitchFamily="34" charset="-120"/>
              </a:rPr>
              <a:t>Z = 84</a:t>
            </a:r>
            <a:endParaRPr lang="en-US" sz="1200" dirty="0"/>
          </a:p>
        </p:txBody>
      </p:sp>
      <p:sp>
        <p:nvSpPr>
          <p:cNvPr id="11" name="Text 9"/>
          <p:cNvSpPr/>
          <p:nvPr/>
        </p:nvSpPr>
        <p:spPr>
          <a:xfrm>
            <a:off x="857250" y="3619500"/>
            <a:ext cx="3478149" cy="304800"/>
          </a:xfrm>
          <a:prstGeom prst="rect">
            <a:avLst/>
          </a:prstGeom>
          <a:noFill/>
          <a:ln/>
        </p:spPr>
        <p:txBody>
          <a:bodyPr wrap="square" lIns="0" tIns="0" rIns="0" bIns="0" rtlCol="0" anchor="t"/>
          <a:lstStyle/>
          <a:p>
            <a:pPr algn="l" indent="0" marL="0">
              <a:spcAft>
                <a:spcPts val="600"/>
              </a:spcAft>
              <a:buNone/>
            </a:pPr>
            <a:r>
              <a:rPr lang="en-US" sz="1650" b="1" dirty="0">
                <a:solidFill>
                  <a:srgbClr val="1A1D2E"/>
                </a:solidFill>
                <a:latin typeface="Noto Sans CJK SC" pitchFamily="34" charset="0"/>
                <a:ea typeface="Noto Sans CJK SC" pitchFamily="34" charset="-122"/>
                <a:cs typeface="Noto Sans CJK SC" pitchFamily="34" charset="-120"/>
              </a:rPr>
              <a:t>钋 Polonium</a:t>
            </a:r>
            <a:endParaRPr lang="en-US" sz="1650" dirty="0"/>
          </a:p>
        </p:txBody>
      </p:sp>
      <p:sp>
        <p:nvSpPr>
          <p:cNvPr id="12" name="Text 10"/>
          <p:cNvSpPr/>
          <p:nvPr/>
        </p:nvSpPr>
        <p:spPr>
          <a:xfrm>
            <a:off x="857250" y="4000500"/>
            <a:ext cx="3478149" cy="194221"/>
          </a:xfrm>
          <a:prstGeom prst="rect">
            <a:avLst/>
          </a:prstGeom>
          <a:noFill/>
          <a:ln/>
        </p:spPr>
        <p:txBody>
          <a:bodyPr wrap="square" lIns="0" tIns="0" rIns="0" bIns="0" rtlCol="0" anchor="t"/>
          <a:lstStyle/>
          <a:p>
            <a:pPr algn="l" indent="0" marL="0">
              <a:lnSpc>
                <a:spcPts val="1530"/>
              </a:lnSpc>
              <a:spcAft>
                <a:spcPts val="900"/>
              </a:spcAft>
              <a:buNone/>
            </a:pPr>
            <a:r>
              <a:rPr lang="en-US" sz="900" dirty="0">
                <a:solidFill>
                  <a:srgbClr val="8A8A8A"/>
                </a:solidFill>
                <a:latin typeface="Noto Sans CJK SC" pitchFamily="34" charset="0"/>
                <a:ea typeface="Noto Sans CJK SC" pitchFamily="34" charset="-122"/>
                <a:cs typeface="Noto Sans CJK SC" pitchFamily="34" charset="-120"/>
              </a:rPr>
              <a:t>1898 · 7 月宣布</a:t>
            </a:r>
            <a:endParaRPr lang="en-US" sz="900" dirty="0"/>
          </a:p>
        </p:txBody>
      </p:sp>
      <p:sp>
        <p:nvSpPr>
          <p:cNvPr id="13" name="Text 11"/>
          <p:cNvSpPr/>
          <p:nvPr/>
        </p:nvSpPr>
        <p:spPr>
          <a:xfrm>
            <a:off x="857250" y="4309021"/>
            <a:ext cx="3478149" cy="453330"/>
          </a:xfrm>
          <a:prstGeom prst="rect">
            <a:avLst/>
          </a:prstGeom>
          <a:noFill/>
          <a:ln/>
        </p:spPr>
        <p:txBody>
          <a:bodyPr wrap="square" lIns="0" tIns="0" rIns="0" bIns="0" rtlCol="0" anchor="t"/>
          <a:lstStyle/>
          <a:p>
            <a:pPr algn="l" indent="0" marL="0">
              <a:lnSpc>
                <a:spcPts val="1785"/>
              </a:lnSpc>
              <a:buNone/>
            </a:pPr>
            <a:r>
              <a:rPr lang="en-US" sz="1050" dirty="0">
                <a:solidFill>
                  <a:srgbClr val="3A3A3A"/>
                </a:solidFill>
                <a:latin typeface="Noto Sans CJK SC" pitchFamily="34" charset="0"/>
                <a:ea typeface="Noto Sans CJK SC" pitchFamily="34" charset="-122"/>
                <a:cs typeface="Noto Sans CJK SC" pitchFamily="34" charset="-120"/>
              </a:rPr>
              <a:t>为纪念彼时仍被瓜分的祖国波兰，玛丽将新元素命名为</a:t>
            </a:r>
            <a:pPr algn="l" indent="0" marL="0">
              <a:lnSpc>
                <a:spcPts val="1785"/>
              </a:lnSpc>
              <a:buNone/>
            </a:pPr>
            <a:r>
              <a:rPr lang="en-US" sz="1050" b="1" dirty="0">
                <a:solidFill>
                  <a:srgbClr val="8A5A1A"/>
                </a:solidFill>
                <a:latin typeface="Noto Sans CJK SC" pitchFamily="34" charset="0"/>
                <a:ea typeface="Noto Sans CJK SC" pitchFamily="34" charset="-122"/>
                <a:cs typeface="Noto Sans CJK SC" pitchFamily="34" charset="-120"/>
              </a:rPr>
              <a:t>"钋"</a:t>
            </a:r>
            <a:pPr algn="l" indent="0" marL="0">
              <a:lnSpc>
                <a:spcPts val="1785"/>
              </a:lnSpc>
              <a:buNone/>
            </a:pPr>
            <a:r>
              <a:rPr lang="en-US" sz="1050" dirty="0">
                <a:solidFill>
                  <a:srgbClr val="3A3A3A"/>
                </a:solidFill>
                <a:latin typeface="Noto Sans CJK SC" pitchFamily="34" charset="0"/>
                <a:ea typeface="Noto Sans CJK SC" pitchFamily="34" charset="-122"/>
                <a:cs typeface="Noto Sans CJK SC" pitchFamily="34" charset="-120"/>
              </a:rPr>
              <a:t>——这是首次以国家政治含义命名的化学元素。</a:t>
            </a:r>
            <a:endParaRPr lang="en-US" sz="1050" dirty="0"/>
          </a:p>
        </p:txBody>
      </p:sp>
      <p:sp>
        <p:nvSpPr>
          <p:cNvPr id="14" name="Text 12"/>
          <p:cNvSpPr/>
          <p:nvPr/>
        </p:nvSpPr>
        <p:spPr>
          <a:xfrm>
            <a:off x="4686300" y="2571750"/>
            <a:ext cx="3790950" cy="2362051"/>
          </a:xfrm>
          <a:prstGeom prst="rect">
            <a:avLst/>
          </a:prstGeom>
          <a:solidFill>
            <a:srgbClr val="FFFFFF"/>
          </a:solidFill>
          <a:ln/>
          <a:effectLst>
            <a:outerShdw sx="100000" sy="100000" kx="0" ky="0" algn="bl" rotWithShape="0" blurRad="171450" dist="57150" dir="5400000">
              <a:srgbClr val="000000">
                <a:alpha val="10000"/>
              </a:srgbClr>
            </a:outerShdw>
          </a:effectLst>
        </p:spPr>
        <p:txBody>
          <a:bodyPr wrap="square" rtlCol="0" anchor="ctr"/>
          <a:lstStyle/>
          <a:p>
            <a:pPr indent="0" marL="0">
              <a:buNone/>
            </a:pPr>
            <a:endParaRPr lang="en-US" dirty="0"/>
          </a:p>
        </p:txBody>
      </p:sp>
      <p:sp>
        <p:nvSpPr>
          <p:cNvPr id="15" name="Shape 13"/>
          <p:cNvSpPr/>
          <p:nvPr/>
        </p:nvSpPr>
        <p:spPr>
          <a:xfrm>
            <a:off x="4686300" y="2595563"/>
            <a:ext cx="3790950" cy="0"/>
          </a:xfrm>
          <a:prstGeom prst="line">
            <a:avLst/>
          </a:prstGeom>
          <a:noFill/>
          <a:ln w="47625">
            <a:solidFill>
              <a:srgbClr val="1A1D2E"/>
            </a:solidFill>
            <a:prstDash val="solid"/>
          </a:ln>
        </p:spPr>
      </p:sp>
      <p:sp>
        <p:nvSpPr>
          <p:cNvPr id="16" name="Text 14"/>
          <p:cNvSpPr/>
          <p:nvPr/>
        </p:nvSpPr>
        <p:spPr>
          <a:xfrm>
            <a:off x="4686300" y="2619375"/>
            <a:ext cx="3790950" cy="828675"/>
          </a:xfrm>
          <a:prstGeom prst="rect">
            <a:avLst/>
          </a:prstGeom>
          <a:solidFill>
            <a:srgbClr val="1A1D2E"/>
          </a:solidFill>
          <a:ln/>
        </p:spPr>
        <p:txBody>
          <a:bodyPr wrap="square" rtlCol="0" anchor="ctr"/>
          <a:lstStyle/>
          <a:p>
            <a:pPr indent="0" marL="0">
              <a:buNone/>
            </a:pPr>
            <a:endParaRPr lang="en-US" dirty="0"/>
          </a:p>
        </p:txBody>
      </p:sp>
      <p:sp>
        <p:nvSpPr>
          <p:cNvPr id="17" name="Text 15"/>
          <p:cNvSpPr/>
          <p:nvPr/>
        </p:nvSpPr>
        <p:spPr>
          <a:xfrm>
            <a:off x="4686300" y="2619375"/>
            <a:ext cx="3866769" cy="828675"/>
          </a:xfrm>
          <a:prstGeom prst="rect">
            <a:avLst/>
          </a:prstGeom>
          <a:noFill/>
          <a:ln/>
        </p:spPr>
        <p:txBody>
          <a:bodyPr wrap="square" lIns="190500" tIns="152400" rIns="190500" bIns="152400" rtlCol="0" anchor="ctr"/>
          <a:lstStyle/>
          <a:p>
            <a:pPr algn="l" indent="0" marL="0">
              <a:buNone/>
            </a:pPr>
            <a:r>
              <a:rPr lang="en-US" sz="2850" b="1" dirty="0">
                <a:solidFill>
                  <a:srgbClr val="D4AF37"/>
                </a:solidFill>
                <a:latin typeface="Noto Sans CJK SC" pitchFamily="34" charset="0"/>
                <a:ea typeface="Noto Sans CJK SC" pitchFamily="34" charset="-122"/>
                <a:cs typeface="Noto Sans CJK SC" pitchFamily="34" charset="-120"/>
              </a:rPr>
              <a:t>Ra</a:t>
            </a:r>
            <a:endParaRPr lang="en-US" sz="1200" dirty="0"/>
          </a:p>
          <a:p>
            <a:pPr algn="l" indent="0" marL="0">
              <a:buNone/>
            </a:pPr>
            <a:r>
              <a:rPr lang="en-US" sz="1200" dirty="0">
                <a:solidFill>
                  <a:srgbClr val="F5F1E6"/>
                </a:solidFill>
                <a:latin typeface="Noto Sans CJK SC" pitchFamily="34" charset="0"/>
                <a:ea typeface="Noto Sans CJK SC" pitchFamily="34" charset="-122"/>
                <a:cs typeface="Noto Sans CJK SC" pitchFamily="34" charset="-120"/>
              </a:rPr>
              <a:t> </a:t>
            </a:r>
            <a:pPr algn="l" indent="0" marL="0">
              <a:buNone/>
            </a:pPr>
            <a:r>
              <a:rPr lang="en-US" sz="1200" dirty="0">
                <a:solidFill>
                  <a:srgbClr val="B8B3A3"/>
                </a:solidFill>
                <a:latin typeface="Noto Sans CJK SC" pitchFamily="34" charset="0"/>
                <a:ea typeface="Noto Sans CJK SC" pitchFamily="34" charset="-122"/>
                <a:cs typeface="Noto Sans CJK SC" pitchFamily="34" charset="-120"/>
              </a:rPr>
              <a:t>Z = 88</a:t>
            </a:r>
            <a:endParaRPr lang="en-US" sz="1200" dirty="0"/>
          </a:p>
        </p:txBody>
      </p:sp>
      <p:sp>
        <p:nvSpPr>
          <p:cNvPr id="18" name="Text 16"/>
          <p:cNvSpPr/>
          <p:nvPr/>
        </p:nvSpPr>
        <p:spPr>
          <a:xfrm>
            <a:off x="4876800" y="3619500"/>
            <a:ext cx="3478149" cy="304800"/>
          </a:xfrm>
          <a:prstGeom prst="rect">
            <a:avLst/>
          </a:prstGeom>
          <a:noFill/>
          <a:ln/>
        </p:spPr>
        <p:txBody>
          <a:bodyPr wrap="square" lIns="0" tIns="0" rIns="0" bIns="0" rtlCol="0" anchor="t"/>
          <a:lstStyle/>
          <a:p>
            <a:pPr algn="l" indent="0" marL="0">
              <a:spcAft>
                <a:spcPts val="600"/>
              </a:spcAft>
              <a:buNone/>
            </a:pPr>
            <a:r>
              <a:rPr lang="en-US" sz="1650" b="1" dirty="0">
                <a:solidFill>
                  <a:srgbClr val="1A1D2E"/>
                </a:solidFill>
                <a:latin typeface="Noto Sans CJK SC" pitchFamily="34" charset="0"/>
                <a:ea typeface="Noto Sans CJK SC" pitchFamily="34" charset="-122"/>
                <a:cs typeface="Noto Sans CJK SC" pitchFamily="34" charset="-120"/>
              </a:rPr>
              <a:t>镭 Radium</a:t>
            </a:r>
            <a:endParaRPr lang="en-US" sz="1650" dirty="0"/>
          </a:p>
        </p:txBody>
      </p:sp>
      <p:sp>
        <p:nvSpPr>
          <p:cNvPr id="19" name="Text 17"/>
          <p:cNvSpPr/>
          <p:nvPr/>
        </p:nvSpPr>
        <p:spPr>
          <a:xfrm>
            <a:off x="4876800" y="4000500"/>
            <a:ext cx="3478149" cy="194221"/>
          </a:xfrm>
          <a:prstGeom prst="rect">
            <a:avLst/>
          </a:prstGeom>
          <a:noFill/>
          <a:ln/>
        </p:spPr>
        <p:txBody>
          <a:bodyPr wrap="square" lIns="0" tIns="0" rIns="0" bIns="0" rtlCol="0" anchor="t"/>
          <a:lstStyle/>
          <a:p>
            <a:pPr algn="l" indent="0" marL="0">
              <a:lnSpc>
                <a:spcPts val="1530"/>
              </a:lnSpc>
              <a:spcAft>
                <a:spcPts val="900"/>
              </a:spcAft>
              <a:buNone/>
            </a:pPr>
            <a:r>
              <a:rPr lang="en-US" sz="900" dirty="0">
                <a:solidFill>
                  <a:srgbClr val="8A8A8A"/>
                </a:solidFill>
                <a:latin typeface="Noto Sans CJK SC" pitchFamily="34" charset="0"/>
                <a:ea typeface="Noto Sans CJK SC" pitchFamily="34" charset="-122"/>
                <a:cs typeface="Noto Sans CJK SC" pitchFamily="34" charset="-120"/>
              </a:rPr>
              <a:t>1898 · 12 月宣布</a:t>
            </a:r>
            <a:endParaRPr lang="en-US" sz="900" dirty="0"/>
          </a:p>
        </p:txBody>
      </p:sp>
      <p:sp>
        <p:nvSpPr>
          <p:cNvPr id="20" name="Text 18"/>
          <p:cNvSpPr/>
          <p:nvPr/>
        </p:nvSpPr>
        <p:spPr>
          <a:xfrm>
            <a:off x="4876800" y="4309021"/>
            <a:ext cx="3478149" cy="453330"/>
          </a:xfrm>
          <a:prstGeom prst="rect">
            <a:avLst/>
          </a:prstGeom>
          <a:noFill/>
          <a:ln/>
        </p:spPr>
        <p:txBody>
          <a:bodyPr wrap="square" lIns="0" tIns="0" rIns="0" bIns="0" rtlCol="0" anchor="t"/>
          <a:lstStyle/>
          <a:p>
            <a:pPr algn="l" indent="0" marL="0">
              <a:lnSpc>
                <a:spcPts val="1785"/>
              </a:lnSpc>
              <a:buNone/>
            </a:pPr>
            <a:r>
              <a:rPr lang="en-US" sz="1050" dirty="0">
                <a:solidFill>
                  <a:srgbClr val="3A3A3A"/>
                </a:solidFill>
                <a:latin typeface="Noto Sans CJK SC" pitchFamily="34" charset="0"/>
                <a:ea typeface="Noto Sans CJK SC" pitchFamily="34" charset="-122"/>
                <a:cs typeface="Noto Sans CJK SC" pitchFamily="34" charset="-120"/>
              </a:rPr>
              <a:t>同年十二月，第二种新元素</a:t>
            </a:r>
            <a:pPr algn="l" indent="0" marL="0">
              <a:lnSpc>
                <a:spcPts val="1785"/>
              </a:lnSpc>
              <a:buNone/>
            </a:pPr>
            <a:r>
              <a:rPr lang="en-US" sz="1050" b="1" dirty="0">
                <a:solidFill>
                  <a:srgbClr val="8A5A1A"/>
                </a:solidFill>
                <a:latin typeface="Noto Sans CJK SC" pitchFamily="34" charset="0"/>
                <a:ea typeface="Noto Sans CJK SC" pitchFamily="34" charset="-122"/>
                <a:cs typeface="Noto Sans CJK SC" pitchFamily="34" charset="-120"/>
              </a:rPr>
              <a:t>"镭"</a:t>
            </a:r>
            <a:pPr algn="l" indent="0" marL="0">
              <a:lnSpc>
                <a:spcPts val="1785"/>
              </a:lnSpc>
              <a:buNone/>
            </a:pPr>
            <a:r>
              <a:rPr lang="en-US" sz="1050" dirty="0">
                <a:solidFill>
                  <a:srgbClr val="3A3A3A"/>
                </a:solidFill>
                <a:latin typeface="Noto Sans CJK SC" pitchFamily="34" charset="0"/>
                <a:ea typeface="Noto Sans CJK SC" pitchFamily="34" charset="-122"/>
                <a:cs typeface="Noto Sans CJK SC" pitchFamily="34" charset="-120"/>
              </a:rPr>
              <a:t>问世，其名称取自拉丁文"radius"，意为"射线"，原子量为 225.97。</a:t>
            </a:r>
            <a:endParaRPr lang="en-US" sz="1050" dirty="0"/>
          </a:p>
        </p:txBody>
      </p:sp>
      <p:pic>
        <p:nvPicPr>
          <p:cNvPr id="21" name="Image 0" descr="/tmp/html2pptx-Gbwg9i/html2pptx-bg-1786384800072-8cdd44ed6504f8.png">    </p:cNvPr>
          <p:cNvPicPr>
            <a:picLocks noChangeAspect="1"/>
          </p:cNvPicPr>
          <p:nvPr/>
        </p:nvPicPr>
        <p:blipFill>
          <a:blip r:embed="rId1"/>
          <a:stretch>
            <a:fillRect/>
          </a:stretch>
        </p:blipFill>
        <p:spPr>
          <a:xfrm>
            <a:off x="590550" y="5286375"/>
            <a:ext cx="1295400" cy="914400"/>
          </a:xfrm>
          <a:prstGeom prst="rect">
            <a:avLst/>
          </a:prstGeom>
        </p:spPr>
      </p:pic>
      <p:sp>
        <p:nvSpPr>
          <p:cNvPr id="22" name="Shape 19"/>
          <p:cNvSpPr/>
          <p:nvPr/>
        </p:nvSpPr>
        <p:spPr>
          <a:xfrm>
            <a:off x="1995487" y="5501729"/>
            <a:ext cx="0" cy="426541"/>
          </a:xfrm>
          <a:prstGeom prst="line">
            <a:avLst/>
          </a:prstGeom>
          <a:noFill/>
          <a:ln w="28575">
            <a:solidFill>
              <a:srgbClr val="D4AF37"/>
            </a:solidFill>
            <a:prstDash val="solid"/>
          </a:ln>
        </p:spPr>
      </p:sp>
      <p:sp>
        <p:nvSpPr>
          <p:cNvPr id="23" name="Text 20"/>
          <p:cNvSpPr/>
          <p:nvPr/>
        </p:nvSpPr>
        <p:spPr>
          <a:xfrm>
            <a:off x="2143125" y="5501729"/>
            <a:ext cx="6460808" cy="426541"/>
          </a:xfrm>
          <a:prstGeom prst="rect">
            <a:avLst/>
          </a:prstGeom>
          <a:noFill/>
          <a:ln/>
        </p:spPr>
        <p:txBody>
          <a:bodyPr wrap="square" lIns="0" tIns="0" rIns="0" bIns="0" rtlCol="0" anchor="t"/>
          <a:lstStyle/>
          <a:p>
            <a:pPr algn="l" indent="0" marL="0">
              <a:lnSpc>
                <a:spcPts val="1680"/>
              </a:lnSpc>
              <a:buNone/>
            </a:pPr>
            <a:r>
              <a:rPr lang="en-US" sz="1050" dirty="0">
                <a:solidFill>
                  <a:srgbClr val="5A4015"/>
                </a:solidFill>
                <a:latin typeface="Noto Sans CJK SC" pitchFamily="34" charset="0"/>
                <a:ea typeface="Noto Sans CJK SC" pitchFamily="34" charset="-122"/>
                <a:cs typeface="Noto Sans CJK SC" pitchFamily="34" charset="-120"/>
              </a:rPr>
              <a:t>为获得可称量的纯镭，居里夫妇在简陋棚屋里</a:t>
            </a:r>
            <a:pPr algn="l" indent="0" marL="0">
              <a:lnSpc>
                <a:spcPts val="1680"/>
              </a:lnSpc>
              <a:buNone/>
            </a:pPr>
            <a:r>
              <a:rPr lang="en-US" sz="1050" b="1" dirty="0">
                <a:solidFill>
                  <a:srgbClr val="5A4015"/>
                </a:solidFill>
                <a:latin typeface="Noto Sans CJK SC" pitchFamily="34" charset="0"/>
                <a:ea typeface="Noto Sans CJK SC" pitchFamily="34" charset="-122"/>
                <a:cs typeface="Noto Sans CJK SC" pitchFamily="34" charset="-120"/>
              </a:rPr>
              <a:t>耗时四年处理近八吨沥青铀矿废渣</a:t>
            </a:r>
            <a:pPr algn="l" indent="0" marL="0">
              <a:lnSpc>
                <a:spcPts val="1680"/>
              </a:lnSpc>
              <a:buNone/>
            </a:pPr>
            <a:r>
              <a:rPr lang="en-US" sz="1050" dirty="0">
                <a:solidFill>
                  <a:srgbClr val="5A4015"/>
                </a:solidFill>
                <a:latin typeface="Noto Sans CJK SC" pitchFamily="34" charset="0"/>
                <a:ea typeface="Noto Sans CJK SC" pitchFamily="34" charset="-122"/>
                <a:cs typeface="Noto Sans CJK SC" pitchFamily="34" charset="-120"/>
              </a:rPr>
              <a:t>，最终于 1910 年分离出 0.1 克纯氯化镭。</a:t>
            </a:r>
            <a:endParaRPr lang="en-US" sz="1050" dirty="0"/>
          </a:p>
        </p:txBody>
      </p:sp>
      <p:sp>
        <p:nvSpPr>
          <p:cNvPr id="24" name="Text 21"/>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25" name="Text 22"/>
          <p:cNvSpPr/>
          <p:nvPr/>
        </p:nvSpPr>
        <p:spPr>
          <a:xfrm>
            <a:off x="7821216" y="6315075"/>
            <a:ext cx="656034" cy="257175"/>
          </a:xfrm>
          <a:prstGeom prst="rect">
            <a:avLst/>
          </a:prstGeom>
          <a:solidFill>
            <a:srgbClr val="1A1D2E"/>
          </a:solidFill>
          <a:ln/>
        </p:spPr>
        <p:txBody>
          <a:bodyPr wrap="square" lIns="133350" tIns="38100" rIns="133350" bIns="38100" rtlCol="0" anchor="ctr"/>
          <a:lstStyle/>
          <a:p>
            <a:pPr algn="l" indent="0" marL="0">
              <a:buNone/>
            </a:pPr>
            <a:r>
              <a:rPr lang="en-US" sz="975" dirty="0">
                <a:solidFill>
                  <a:srgbClr val="F5F1E6"/>
                </a:solidFill>
                <a:latin typeface="Noto Sans CJK SC" pitchFamily="34" charset="0"/>
                <a:ea typeface="Noto Sans CJK SC" pitchFamily="34" charset="-122"/>
                <a:cs typeface="Noto Sans CJK SC" pitchFamily="34" charset="-120"/>
              </a:rPr>
              <a:t>1898</a:t>
            </a:r>
            <a:endParaRPr lang="en-US" sz="975" dirty="0"/>
          </a:p>
        </p:txBody>
      </p:sp>
      <p:sp>
        <p:nvSpPr>
          <p:cNvPr id="26" name="Shape 23"/>
          <p:cNvSpPr/>
          <p:nvPr/>
        </p:nvSpPr>
        <p:spPr>
          <a:xfrm>
            <a:off x="590550" y="5295900"/>
            <a:ext cx="1295400" cy="0"/>
          </a:xfrm>
          <a:prstGeom prst="line">
            <a:avLst/>
          </a:prstGeom>
          <a:noFill/>
          <a:ln w="19050">
            <a:solidFill>
              <a:srgbClr val="FFFFFF"/>
            </a:solidFill>
            <a:prstDash val="solid"/>
          </a:ln>
        </p:spPr>
      </p:sp>
      <p:sp>
        <p:nvSpPr>
          <p:cNvPr id="27" name="Shape 24"/>
          <p:cNvSpPr/>
          <p:nvPr/>
        </p:nvSpPr>
        <p:spPr>
          <a:xfrm>
            <a:off x="1876425" y="5286375"/>
            <a:ext cx="0" cy="914400"/>
          </a:xfrm>
          <a:prstGeom prst="line">
            <a:avLst/>
          </a:prstGeom>
          <a:noFill/>
          <a:ln w="19050">
            <a:solidFill>
              <a:srgbClr val="FFFFFF"/>
            </a:solidFill>
            <a:prstDash val="solid"/>
          </a:ln>
        </p:spPr>
      </p:sp>
      <p:sp>
        <p:nvSpPr>
          <p:cNvPr id="28" name="Shape 25"/>
          <p:cNvSpPr/>
          <p:nvPr/>
        </p:nvSpPr>
        <p:spPr>
          <a:xfrm>
            <a:off x="590550" y="6191250"/>
            <a:ext cx="1295400" cy="0"/>
          </a:xfrm>
          <a:prstGeom prst="line">
            <a:avLst/>
          </a:prstGeom>
          <a:noFill/>
          <a:ln w="19050">
            <a:solidFill>
              <a:srgbClr val="FFFFFF"/>
            </a:solidFill>
            <a:prstDash val="solid"/>
          </a:ln>
        </p:spPr>
      </p:sp>
      <p:sp>
        <p:nvSpPr>
          <p:cNvPr id="29" name="Shape 26"/>
          <p:cNvSpPr/>
          <p:nvPr/>
        </p:nvSpPr>
        <p:spPr>
          <a:xfrm>
            <a:off x="600075" y="5286375"/>
            <a:ext cx="0" cy="914400"/>
          </a:xfrm>
          <a:prstGeom prst="line">
            <a:avLst/>
          </a:prstGeom>
          <a:noFill/>
          <a:ln w="19050">
            <a:solidFill>
              <a:srgbClr val="FFFFF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06</a:t>
            </a:r>
            <a:endParaRPr lang="en-US" sz="4800" dirty="0"/>
          </a:p>
        </p:txBody>
      </p:sp>
      <p:sp>
        <p:nvSpPr>
          <p:cNvPr id="3" name="Text 1"/>
          <p:cNvSpPr/>
          <p:nvPr/>
        </p:nvSpPr>
        <p:spPr>
          <a:xfrm>
            <a:off x="1595735" y="895350"/>
            <a:ext cx="2584475" cy="190500"/>
          </a:xfrm>
          <a:prstGeom prst="rect">
            <a:avLst/>
          </a:prstGeom>
          <a:noFill/>
          <a:ln/>
        </p:spPr>
        <p:txBody>
          <a:bodyPr wrap="square" lIns="0" tIns="0" rIns="0" bIns="0" rtlCol="0" anchor="t"/>
          <a:lstStyle/>
          <a:p>
            <a:pPr algn="l" indent="0" marL="0">
              <a:buNone/>
            </a:pPr>
            <a:r>
              <a:rPr lang="en-US" sz="1050" dirty="0">
                <a:solidFill>
                  <a:srgbClr val="8A8A8A"/>
                </a:solidFill>
                <a:latin typeface="Noto Sans CJK SC" pitchFamily="34" charset="0"/>
                <a:ea typeface="Noto Sans CJK SC" pitchFamily="34" charset="-122"/>
                <a:cs typeface="Noto Sans CJK SC" pitchFamily="34" charset="-120"/>
              </a:rPr>
              <a:t>CHAPTER · 1903</a:t>
            </a:r>
            <a:endParaRPr lang="en-US" sz="1050" dirty="0"/>
          </a:p>
        </p:txBody>
      </p:sp>
      <p:sp>
        <p:nvSpPr>
          <p:cNvPr id="4" name="Text 2"/>
          <p:cNvSpPr/>
          <p:nvPr/>
        </p:nvSpPr>
        <p:spPr>
          <a:xfrm>
            <a:off x="1595735" y="1123950"/>
            <a:ext cx="2584475" cy="495300"/>
          </a:xfrm>
          <a:prstGeom prst="rect">
            <a:avLst/>
          </a:prstGeom>
          <a:noFill/>
          <a:ln/>
        </p:spPr>
        <p:txBody>
          <a:bodyPr wrap="square" lIns="0" tIns="0" rIns="0" bIns="0" rtlCol="0" anchor="t"/>
          <a:lstStyle/>
          <a:p>
            <a:pPr algn="l" indent="0" marL="0">
              <a:spcBef>
                <a:spcPts val="300"/>
              </a:spcBef>
              <a:buNone/>
            </a:pPr>
            <a:r>
              <a:rPr lang="en-US" sz="2700" b="1" dirty="0">
                <a:solidFill>
                  <a:srgbClr val="1A1D2E"/>
                </a:solidFill>
                <a:latin typeface="Noto Sans CJK SC" pitchFamily="34" charset="0"/>
                <a:ea typeface="Noto Sans CJK SC" pitchFamily="34" charset="-122"/>
                <a:cs typeface="Noto Sans CJK SC" pitchFamily="34" charset="-120"/>
              </a:rPr>
              <a:t>诺贝尔物理学奖</a:t>
            </a:r>
            <a:endParaRPr lang="en-US" sz="2700" dirty="0"/>
          </a:p>
        </p:txBody>
      </p:sp>
      <p:sp>
        <p:nvSpPr>
          <p:cNvPr id="5"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6" name="Text 4"/>
          <p:cNvSpPr/>
          <p:nvPr/>
        </p:nvSpPr>
        <p:spPr>
          <a:xfrm>
            <a:off x="666750" y="1857375"/>
            <a:ext cx="3333750" cy="3619500"/>
          </a:xfrm>
          <a:prstGeom prst="rect">
            <a:avLst/>
          </a:prstGeom>
          <a:noFill/>
          <a:ln w="38100">
            <a:solidFill>
              <a:srgbClr val="FFFFFF"/>
            </a:solidFill>
          </a:ln>
          <a:effectLst>
            <a:outerShdw sx="100000" sy="100000" kx="0" ky="0" algn="bl" rotWithShape="0" blurRad="228600" dist="76200" dir="5400000">
              <a:srgbClr val="000000">
                <a:alpha val="18000"/>
              </a:srgbClr>
            </a:outerShdw>
          </a:effectLst>
        </p:spPr>
        <p:txBody>
          <a:bodyPr wrap="square" rtlCol="0" anchor="ctr"/>
          <a:lstStyle/>
          <a:p>
            <a:pPr indent="0" marL="0">
              <a:buNone/>
            </a:pPr>
            <a:endParaRPr lang="en-US" dirty="0"/>
          </a:p>
        </p:txBody>
      </p:sp>
      <p:pic>
        <p:nvPicPr>
          <p:cNvPr id="7" name="Image 0" descr="/tmp/html2pptx-soETcJ/html2pptx-bg-1786384800805-d65a6e96ac95e8.png">    </p:cNvPr>
          <p:cNvPicPr>
            <a:picLocks noChangeAspect="1"/>
          </p:cNvPicPr>
          <p:nvPr/>
        </p:nvPicPr>
        <p:blipFill>
          <a:blip r:embed="rId1"/>
          <a:stretch>
            <a:fillRect/>
          </a:stretch>
        </p:blipFill>
        <p:spPr>
          <a:xfrm>
            <a:off x="704850" y="1895475"/>
            <a:ext cx="3257550" cy="3543300"/>
          </a:xfrm>
          <a:prstGeom prst="rect">
            <a:avLst/>
          </a:prstGeom>
        </p:spPr>
      </p:pic>
      <p:sp>
        <p:nvSpPr>
          <p:cNvPr id="8" name="Text 5"/>
          <p:cNvSpPr/>
          <p:nvPr/>
        </p:nvSpPr>
        <p:spPr>
          <a:xfrm>
            <a:off x="666750" y="5572125"/>
            <a:ext cx="3400425" cy="180975"/>
          </a:xfrm>
          <a:prstGeom prst="rect">
            <a:avLst/>
          </a:prstGeom>
          <a:noFill/>
          <a:ln/>
        </p:spPr>
        <p:txBody>
          <a:bodyPr wrap="square" lIns="0" tIns="0" rIns="0" bIns="0" rtlCol="0" anchor="t"/>
          <a:lstStyle/>
          <a:p>
            <a:pPr algn="l" indent="0" marL="0">
              <a:buNone/>
            </a:pPr>
            <a:r>
              <a:rPr lang="en-US" sz="975" dirty="0">
                <a:solidFill>
                  <a:srgbClr val="8A8A8A"/>
                </a:solidFill>
                <a:latin typeface="Noto Sans CJK SC" pitchFamily="34" charset="0"/>
                <a:ea typeface="Noto Sans CJK SC" pitchFamily="34" charset="-122"/>
                <a:cs typeface="Noto Sans CJK SC" pitchFamily="34" charset="-120"/>
              </a:rPr>
              <a:t>瑞典斯德哥尔摩诺贝尔奖颁奖典礼</a:t>
            </a:r>
            <a:endParaRPr lang="en-US" sz="975" dirty="0"/>
          </a:p>
        </p:txBody>
      </p:sp>
      <p:sp>
        <p:nvSpPr>
          <p:cNvPr id="9" name="Text 6"/>
          <p:cNvSpPr/>
          <p:nvPr/>
        </p:nvSpPr>
        <p:spPr>
          <a:xfrm>
            <a:off x="4000500" y="1857375"/>
            <a:ext cx="3350568" cy="295275"/>
          </a:xfrm>
          <a:prstGeom prst="rect">
            <a:avLst/>
          </a:prstGeom>
          <a:solidFill>
            <a:srgbClr val="1A1D2E"/>
          </a:solidFill>
          <a:ln/>
        </p:spPr>
        <p:txBody>
          <a:bodyPr wrap="square" lIns="152400" tIns="57150" rIns="152400" bIns="57150" rtlCol="0" anchor="ctr"/>
          <a:lstStyle/>
          <a:p>
            <a:pPr algn="l" indent="0" marL="0">
              <a:spcAft>
                <a:spcPts val="1200"/>
              </a:spcAft>
              <a:buNone/>
            </a:pPr>
            <a:r>
              <a:rPr lang="en-US" sz="975" b="1" dirty="0">
                <a:solidFill>
                  <a:srgbClr val="D4AF37"/>
                </a:solidFill>
                <a:latin typeface="Noto Sans CJK SC" pitchFamily="34" charset="0"/>
                <a:ea typeface="Noto Sans CJK SC" pitchFamily="34" charset="-122"/>
                <a:cs typeface="Noto Sans CJK SC" pitchFamily="34" charset="-120"/>
              </a:rPr>
              <a:t>NOBEL PRIZE · PHYSICS · 1903</a:t>
            </a:r>
            <a:endParaRPr lang="en-US" sz="975" dirty="0"/>
          </a:p>
        </p:txBody>
      </p:sp>
      <p:sp>
        <p:nvSpPr>
          <p:cNvPr id="10" name="Text 7"/>
          <p:cNvSpPr/>
          <p:nvPr/>
        </p:nvSpPr>
        <p:spPr>
          <a:xfrm>
            <a:off x="4000500" y="2305050"/>
            <a:ext cx="4566285" cy="615255"/>
          </a:xfrm>
          <a:prstGeom prst="rect">
            <a:avLst/>
          </a:prstGeom>
          <a:noFill/>
          <a:ln/>
        </p:spPr>
        <p:txBody>
          <a:bodyPr wrap="square" lIns="0" tIns="0" rIns="0" bIns="0" rtlCol="0" anchor="t"/>
          <a:lstStyle/>
          <a:p>
            <a:pPr algn="l" indent="0" marL="0">
              <a:lnSpc>
                <a:spcPts val="2423"/>
              </a:lnSpc>
              <a:spcAft>
                <a:spcPts val="1350"/>
              </a:spcAft>
              <a:buNone/>
            </a:pPr>
            <a:r>
              <a:rPr lang="en-US" sz="1425" dirty="0">
                <a:solidFill>
                  <a:srgbClr val="1A1D2E"/>
                </a:solidFill>
                <a:latin typeface="Noto Sans CJK SC Medium" pitchFamily="34" charset="0"/>
                <a:ea typeface="Noto Sans CJK SC Medium" pitchFamily="34" charset="-122"/>
                <a:cs typeface="Noto Sans CJK SC Medium" pitchFamily="34" charset="-120"/>
              </a:rPr>
              <a:t>1903年，瑞典皇家科学院将诺贝尔物理学奖授予对放射性与贝克勒尔射线研究的共同贡献者。</a:t>
            </a:r>
            <a:endParaRPr lang="en-US" sz="1425" dirty="0"/>
          </a:p>
        </p:txBody>
      </p:sp>
      <p:sp>
        <p:nvSpPr>
          <p:cNvPr id="11" name="Text 8"/>
          <p:cNvSpPr/>
          <p:nvPr/>
        </p:nvSpPr>
        <p:spPr>
          <a:xfrm>
            <a:off x="4000500" y="3091755"/>
            <a:ext cx="4566285" cy="750094"/>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玛丽起初并未列入候选人——评审委员会以"女性不宜"为由仅提名了贝克勒尔与皮埃尔。皮埃尔获悉后</a:t>
            </a:r>
            <a:pPr algn="l" indent="0" marL="0">
              <a:lnSpc>
                <a:spcPts val="1969"/>
              </a:lnSpc>
              <a:spcAft>
                <a:spcPts val="900"/>
              </a:spcAft>
              <a:buNone/>
            </a:pPr>
            <a:r>
              <a:rPr lang="en-US" sz="1125" b="1" dirty="0">
                <a:solidFill>
                  <a:srgbClr val="8A5A1A"/>
                </a:solidFill>
                <a:latin typeface="Noto Sans CJK SC" pitchFamily="34" charset="0"/>
                <a:ea typeface="Noto Sans CJK SC" pitchFamily="34" charset="-122"/>
                <a:cs typeface="Noto Sans CJK SC" pitchFamily="34" charset="-120"/>
              </a:rPr>
              <a:t>坚决要求将妻子列入共同获奖者</a:t>
            </a:r>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，评审方才改写名单。</a:t>
            </a:r>
            <a:endParaRPr lang="en-US" sz="1125" dirty="0"/>
          </a:p>
        </p:txBody>
      </p:sp>
      <p:sp>
        <p:nvSpPr>
          <p:cNvPr id="12" name="Text 9"/>
          <p:cNvSpPr/>
          <p:nvPr/>
        </p:nvSpPr>
        <p:spPr>
          <a:xfrm>
            <a:off x="4000500" y="3956149"/>
            <a:ext cx="4566285" cy="750094"/>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12月10日的颁奖典礼上，玛丽因身体原因未能亲赴斯德哥尔摩。她成为</a:t>
            </a:r>
            <a:pPr algn="l" indent="0" marL="0">
              <a:lnSpc>
                <a:spcPts val="1969"/>
              </a:lnSpc>
              <a:spcAft>
                <a:spcPts val="900"/>
              </a:spcAft>
              <a:buNone/>
            </a:pPr>
            <a:r>
              <a:rPr lang="en-US" sz="1125" b="1" dirty="0">
                <a:solidFill>
                  <a:srgbClr val="8A5A1A"/>
                </a:solidFill>
                <a:latin typeface="Noto Sans CJK SC" pitchFamily="34" charset="0"/>
                <a:ea typeface="Noto Sans CJK SC" pitchFamily="34" charset="-122"/>
                <a:cs typeface="Noto Sans CJK SC" pitchFamily="34" charset="-120"/>
              </a:rPr>
              <a:t>首位获得诺贝尔奖的女性</a:t>
            </a:r>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，此奖也开启了"放射性研究"作为新学科的世界舞台。</a:t>
            </a:r>
            <a:endParaRPr lang="en-US" sz="1125" dirty="0"/>
          </a:p>
        </p:txBody>
      </p:sp>
      <p:sp>
        <p:nvSpPr>
          <p:cNvPr id="13" name="Text 10"/>
          <p:cNvSpPr/>
          <p:nvPr/>
        </p:nvSpPr>
        <p:spPr>
          <a:xfrm>
            <a:off x="4000500" y="4877693"/>
            <a:ext cx="4476750" cy="1203871"/>
          </a:xfrm>
          <a:prstGeom prst="rect">
            <a:avLst/>
          </a:prstGeom>
          <a:solidFill>
            <a:srgbClr val="ECE3CD"/>
          </a:solidFill>
          <a:ln/>
        </p:spPr>
        <p:txBody>
          <a:bodyPr wrap="square" rtlCol="0" anchor="ctr"/>
          <a:lstStyle/>
          <a:p>
            <a:pPr indent="0" marL="0">
              <a:buNone/>
            </a:pPr>
            <a:endParaRPr lang="en-US" dirty="0"/>
          </a:p>
        </p:txBody>
      </p:sp>
      <p:sp>
        <p:nvSpPr>
          <p:cNvPr id="14" name="Shape 11"/>
          <p:cNvSpPr/>
          <p:nvPr/>
        </p:nvSpPr>
        <p:spPr>
          <a:xfrm>
            <a:off x="4019550" y="5011043"/>
            <a:ext cx="0" cy="937171"/>
          </a:xfrm>
          <a:prstGeom prst="line">
            <a:avLst/>
          </a:prstGeom>
          <a:noFill/>
          <a:ln w="38100">
            <a:solidFill>
              <a:srgbClr val="D4AF37"/>
            </a:solidFill>
            <a:prstDash val="solid"/>
          </a:ln>
        </p:spPr>
      </p:sp>
      <p:sp>
        <p:nvSpPr>
          <p:cNvPr id="15" name="Text 12"/>
          <p:cNvSpPr/>
          <p:nvPr/>
        </p:nvSpPr>
        <p:spPr>
          <a:xfrm>
            <a:off x="4210050" y="5011043"/>
            <a:ext cx="4177665" cy="180975"/>
          </a:xfrm>
          <a:prstGeom prst="rect">
            <a:avLst/>
          </a:prstGeom>
          <a:noFill/>
          <a:ln/>
        </p:spPr>
        <p:txBody>
          <a:bodyPr wrap="square" lIns="0" tIns="0" rIns="0" bIns="0" rtlCol="0" anchor="t"/>
          <a:lstStyle/>
          <a:p>
            <a:pPr algn="l" indent="0" marL="0">
              <a:spcAft>
                <a:spcPts val="600"/>
              </a:spcAft>
              <a:buNone/>
            </a:pPr>
            <a:r>
              <a:rPr lang="en-US" sz="975" b="1" dirty="0">
                <a:solidFill>
                  <a:srgbClr val="8A5A1A"/>
                </a:solidFill>
                <a:latin typeface="Noto Sans CJK SC" pitchFamily="34" charset="0"/>
                <a:ea typeface="Noto Sans CJK SC" pitchFamily="34" charset="-122"/>
                <a:cs typeface="Noto Sans CJK SC" pitchFamily="34" charset="-120"/>
              </a:rPr>
              <a:t>共同获奖者</a:t>
            </a:r>
            <a:endParaRPr lang="en-US" sz="975" dirty="0"/>
          </a:p>
        </p:txBody>
      </p:sp>
      <p:sp>
        <p:nvSpPr>
          <p:cNvPr id="16" name="Text 13"/>
          <p:cNvSpPr/>
          <p:nvPr/>
        </p:nvSpPr>
        <p:spPr>
          <a:xfrm>
            <a:off x="4210050" y="5268218"/>
            <a:ext cx="4095750" cy="679996"/>
          </a:xfrm>
          <a:prstGeom prst="rect">
            <a:avLst/>
          </a:prstGeom>
          <a:noFill/>
          <a:ln/>
        </p:spPr>
        <p:txBody>
          <a:bodyPr wrap="square" lIns="0" tIns="0" rIns="0" bIns="0" rtlCol="0" anchor="t"/>
          <a:lstStyle/>
          <a:p>
            <a:pPr algn="l" marL="133350" indent="-133350">
              <a:lnSpc>
                <a:spcPts val="1785"/>
              </a:lnSpc>
              <a:buSzPct val="100000"/>
              <a:buChar char="●"/>
            </a:pPr>
            <a:r>
              <a:rPr lang="en-US" sz="1050" dirty="0">
                <a:solidFill>
                  <a:srgbClr val="2B2B2B"/>
                </a:solidFill>
                <a:latin typeface="Noto Sans CJK SC" pitchFamily="34" charset="0"/>
                <a:ea typeface="Noto Sans CJK SC" pitchFamily="34" charset="-122"/>
                <a:cs typeface="Noto Sans CJK SC" pitchFamily="34" charset="-120"/>
              </a:rPr>
              <a:t>亨利·贝克勒尔（Henri Becquerel）</a:t>
            </a:r>
            <a:endParaRPr lang="en-US" sz="1050" dirty="0"/>
          </a:p>
          <a:p>
            <a:pPr algn="l" marL="133350" indent="-133350">
              <a:lnSpc>
                <a:spcPts val="1785"/>
              </a:lnSpc>
              <a:buSzPct val="100000"/>
              <a:buChar char="●"/>
            </a:pPr>
            <a:r>
              <a:rPr lang="en-US" sz="1050" dirty="0">
                <a:solidFill>
                  <a:srgbClr val="2B2B2B"/>
                </a:solidFill>
                <a:latin typeface="Noto Sans CJK SC" pitchFamily="34" charset="0"/>
                <a:ea typeface="Noto Sans CJK SC" pitchFamily="34" charset="-122"/>
                <a:cs typeface="Noto Sans CJK SC" pitchFamily="34" charset="-120"/>
              </a:rPr>
              <a:t>皮埃尔·居里（Pierre Curie）</a:t>
            </a:r>
            <a:endParaRPr lang="en-US" sz="1050" dirty="0"/>
          </a:p>
          <a:p>
            <a:pPr algn="l" marL="133350" indent="-133350">
              <a:lnSpc>
                <a:spcPts val="1785"/>
              </a:lnSpc>
              <a:buSzPct val="100000"/>
              <a:buChar char="●"/>
            </a:pPr>
            <a:r>
              <a:rPr lang="en-US" sz="1050" dirty="0">
                <a:solidFill>
                  <a:srgbClr val="2B2B2B"/>
                </a:solidFill>
                <a:latin typeface="Noto Sans CJK SC" pitchFamily="34" charset="0"/>
                <a:ea typeface="Noto Sans CJK SC" pitchFamily="34" charset="-122"/>
                <a:cs typeface="Noto Sans CJK SC" pitchFamily="34" charset="-120"/>
              </a:rPr>
              <a:t>玛丽·居里（Marie Curie）</a:t>
            </a:r>
            <a:endParaRPr lang="en-US" sz="1050" dirty="0"/>
          </a:p>
        </p:txBody>
      </p:sp>
      <p:sp>
        <p:nvSpPr>
          <p:cNvPr id="17" name="Text 14"/>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18" name="Text 15"/>
          <p:cNvSpPr/>
          <p:nvPr/>
        </p:nvSpPr>
        <p:spPr>
          <a:xfrm>
            <a:off x="7821216" y="6315075"/>
            <a:ext cx="656034" cy="257175"/>
          </a:xfrm>
          <a:prstGeom prst="rect">
            <a:avLst/>
          </a:prstGeom>
          <a:solidFill>
            <a:srgbClr val="1A1D2E"/>
          </a:solidFill>
          <a:ln/>
        </p:spPr>
        <p:txBody>
          <a:bodyPr wrap="square" lIns="133350" tIns="38100" rIns="133350" bIns="38100" rtlCol="0" anchor="ctr"/>
          <a:lstStyle/>
          <a:p>
            <a:pPr algn="l" indent="0" marL="0">
              <a:buNone/>
            </a:pPr>
            <a:r>
              <a:rPr lang="en-US" sz="975" dirty="0">
                <a:solidFill>
                  <a:srgbClr val="F5F1E6"/>
                </a:solidFill>
                <a:latin typeface="Noto Sans CJK SC" pitchFamily="34" charset="0"/>
                <a:ea typeface="Noto Sans CJK SC" pitchFamily="34" charset="-122"/>
                <a:cs typeface="Noto Sans CJK SC" pitchFamily="34" charset="-120"/>
              </a:rPr>
              <a:t>1903</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E"/>
        </a:solidFill>
      </p:bgPr>
    </p:bg>
    <p:spTree>
      <p:nvGrpSpPr>
        <p:cNvPr id="1" name=""/>
        <p:cNvGrpSpPr/>
        <p:nvPr/>
      </p:nvGrpSpPr>
      <p:grpSpPr>
        <a:xfrm>
          <a:off x="0" y="0"/>
          <a:ext cx="0" cy="0"/>
          <a:chOff x="0" y="0"/>
          <a:chExt cx="0" cy="0"/>
        </a:xfrm>
      </p:grpSpPr>
      <p:pic>
        <p:nvPicPr>
          <p:cNvPr id="2" name="Image 0" descr="/tmp/html2pptx-tv8DLu/html2pptx-bg-1786384801766-ec0ef896d61d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tmp/html2pptx-tv8DLu/html2pptx-bg-1786384801961-01b7906e774208.png">    </p:cNvPr>
          <p:cNvPicPr>
            <a:picLocks noChangeAspect="1"/>
          </p:cNvPicPr>
          <p:nvPr/>
        </p:nvPicPr>
        <p:blipFill>
          <a:blip r:embed="rId2"/>
          <a:stretch>
            <a:fillRect/>
          </a:stretch>
        </p:blipFill>
        <p:spPr>
          <a:xfrm>
            <a:off x="6667500" y="-1143000"/>
            <a:ext cx="3619500" cy="3619500"/>
          </a:xfrm>
          <a:prstGeom prst="rect">
            <a:avLst/>
          </a:prstGeom>
        </p:spPr>
      </p:pic>
      <p:sp>
        <p:nvSpPr>
          <p:cNvPr id="4"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07</a:t>
            </a:r>
            <a:endParaRPr lang="en-US" sz="4800" dirty="0"/>
          </a:p>
        </p:txBody>
      </p:sp>
      <p:sp>
        <p:nvSpPr>
          <p:cNvPr id="5" name="Text 1"/>
          <p:cNvSpPr/>
          <p:nvPr/>
        </p:nvSpPr>
        <p:spPr>
          <a:xfrm>
            <a:off x="1595735" y="895350"/>
            <a:ext cx="2215286" cy="190500"/>
          </a:xfrm>
          <a:prstGeom prst="rect">
            <a:avLst/>
          </a:prstGeom>
          <a:noFill/>
          <a:ln/>
        </p:spPr>
        <p:txBody>
          <a:bodyPr wrap="square" lIns="0" tIns="0" rIns="0" bIns="0" rtlCol="0" anchor="t"/>
          <a:lstStyle/>
          <a:p>
            <a:pPr algn="l" indent="0" marL="0">
              <a:buNone/>
            </a:pPr>
            <a:r>
              <a:rPr lang="en-US" sz="1050" dirty="0">
                <a:solidFill>
                  <a:srgbClr val="B8B3A3"/>
                </a:solidFill>
                <a:latin typeface="Noto Sans CJK SC" pitchFamily="34" charset="0"/>
                <a:ea typeface="Noto Sans CJK SC" pitchFamily="34" charset="-122"/>
                <a:cs typeface="Noto Sans CJK SC" pitchFamily="34" charset="-120"/>
              </a:rPr>
              <a:t>CHAPTER · 1911</a:t>
            </a:r>
            <a:endParaRPr lang="en-US" sz="1050" dirty="0"/>
          </a:p>
        </p:txBody>
      </p:sp>
      <p:sp>
        <p:nvSpPr>
          <p:cNvPr id="6" name="Text 2"/>
          <p:cNvSpPr/>
          <p:nvPr/>
        </p:nvSpPr>
        <p:spPr>
          <a:xfrm>
            <a:off x="1595735" y="1123950"/>
            <a:ext cx="2215286" cy="495300"/>
          </a:xfrm>
          <a:prstGeom prst="rect">
            <a:avLst/>
          </a:prstGeom>
          <a:noFill/>
          <a:ln/>
        </p:spPr>
        <p:txBody>
          <a:bodyPr wrap="square" lIns="0" tIns="0" rIns="0" bIns="0" rtlCol="0" anchor="t"/>
          <a:lstStyle/>
          <a:p>
            <a:pPr algn="l" indent="0" marL="0">
              <a:spcBef>
                <a:spcPts val="300"/>
              </a:spcBef>
              <a:buNone/>
            </a:pPr>
            <a:r>
              <a:rPr lang="en-US" sz="2700" b="1" dirty="0">
                <a:solidFill>
                  <a:srgbClr val="FFFFFF"/>
                </a:solidFill>
                <a:latin typeface="Noto Sans CJK SC" pitchFamily="34" charset="0"/>
                <a:ea typeface="Noto Sans CJK SC" pitchFamily="34" charset="-122"/>
                <a:cs typeface="Noto Sans CJK SC" pitchFamily="34" charset="-120"/>
              </a:rPr>
              <a:t>诺贝尔化学奖</a:t>
            </a:r>
            <a:endParaRPr lang="en-US" sz="2700" dirty="0"/>
          </a:p>
        </p:txBody>
      </p:sp>
      <p:sp>
        <p:nvSpPr>
          <p:cNvPr id="7"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8" name="Text 4"/>
          <p:cNvSpPr/>
          <p:nvPr/>
        </p:nvSpPr>
        <p:spPr>
          <a:xfrm>
            <a:off x="666750" y="1857375"/>
            <a:ext cx="2667000" cy="3429000"/>
          </a:xfrm>
          <a:prstGeom prst="rect">
            <a:avLst/>
          </a:prstGeom>
          <a:noFill/>
          <a:ln w="38100">
            <a:solidFill>
              <a:srgbClr val="D4AF37"/>
            </a:solidFill>
          </a:ln>
          <a:effectLst>
            <a:outerShdw sx="100000" sy="100000" kx="0" ky="0" algn="bl" rotWithShape="0" blurRad="228600" dist="76200" dir="5400000">
              <a:srgbClr val="000000">
                <a:alpha val="40000"/>
              </a:srgbClr>
            </a:outerShdw>
          </a:effectLst>
        </p:spPr>
        <p:txBody>
          <a:bodyPr wrap="square" rtlCol="0" anchor="ctr"/>
          <a:lstStyle/>
          <a:p>
            <a:pPr indent="0" marL="0">
              <a:buNone/>
            </a:pPr>
            <a:endParaRPr lang="en-US" dirty="0"/>
          </a:p>
        </p:txBody>
      </p:sp>
      <p:pic>
        <p:nvPicPr>
          <p:cNvPr id="9" name="Image 2" descr="/tmp/html2pptx-tv8DLu/html2pptx-bg-1786384802054-39efb49a7427b8.png">    </p:cNvPr>
          <p:cNvPicPr>
            <a:picLocks noChangeAspect="1"/>
          </p:cNvPicPr>
          <p:nvPr/>
        </p:nvPicPr>
        <p:blipFill>
          <a:blip r:embed="rId3"/>
          <a:stretch>
            <a:fillRect/>
          </a:stretch>
        </p:blipFill>
        <p:spPr>
          <a:xfrm>
            <a:off x="704850" y="1895475"/>
            <a:ext cx="2590800" cy="3352800"/>
          </a:xfrm>
          <a:prstGeom prst="rect">
            <a:avLst/>
          </a:prstGeom>
        </p:spPr>
      </p:pic>
      <p:sp>
        <p:nvSpPr>
          <p:cNvPr id="10" name="Text 5"/>
          <p:cNvSpPr/>
          <p:nvPr/>
        </p:nvSpPr>
        <p:spPr>
          <a:xfrm>
            <a:off x="666750" y="5381625"/>
            <a:ext cx="2720340" cy="161925"/>
          </a:xfrm>
          <a:prstGeom prst="rect">
            <a:avLst/>
          </a:prstGeom>
          <a:noFill/>
          <a:ln/>
        </p:spPr>
        <p:txBody>
          <a:bodyPr wrap="square" lIns="0" tIns="0" rIns="0" bIns="0" rtlCol="0" anchor="t"/>
          <a:lstStyle/>
          <a:p>
            <a:pPr algn="l" indent="0" marL="0">
              <a:buNone/>
            </a:pPr>
            <a:r>
              <a:rPr lang="en-US" sz="900" dirty="0">
                <a:solidFill>
                  <a:srgbClr val="B8B3A3"/>
                </a:solidFill>
                <a:latin typeface="Noto Sans CJK SC" pitchFamily="34" charset="0"/>
                <a:ea typeface="Noto Sans CJK SC" pitchFamily="34" charset="-122"/>
                <a:cs typeface="Noto Sans CJK SC" pitchFamily="34" charset="-120"/>
              </a:rPr>
              <a:t>玛丽·居里 1920 年代肖像</a:t>
            </a:r>
            <a:endParaRPr lang="en-US" sz="900" dirty="0"/>
          </a:p>
        </p:txBody>
      </p:sp>
      <p:sp>
        <p:nvSpPr>
          <p:cNvPr id="11" name="Text 6"/>
          <p:cNvSpPr/>
          <p:nvPr/>
        </p:nvSpPr>
        <p:spPr>
          <a:xfrm>
            <a:off x="3714750" y="1857375"/>
            <a:ext cx="3612654" cy="295275"/>
          </a:xfrm>
          <a:prstGeom prst="rect">
            <a:avLst/>
          </a:prstGeom>
          <a:solidFill>
            <a:srgbClr val="D4AF37"/>
          </a:solidFill>
          <a:ln/>
        </p:spPr>
        <p:txBody>
          <a:bodyPr wrap="square" lIns="152400" tIns="57150" rIns="152400" bIns="57150" rtlCol="0" anchor="ctr"/>
          <a:lstStyle/>
          <a:p>
            <a:pPr algn="l" indent="0" marL="0">
              <a:spcAft>
                <a:spcPts val="1200"/>
              </a:spcAft>
              <a:buNone/>
            </a:pPr>
            <a:r>
              <a:rPr lang="en-US" sz="975" b="1" dirty="0">
                <a:solidFill>
                  <a:srgbClr val="1A1D2E"/>
                </a:solidFill>
                <a:latin typeface="Noto Sans CJK SC" pitchFamily="34" charset="0"/>
                <a:ea typeface="Noto Sans CJK SC" pitchFamily="34" charset="-122"/>
                <a:cs typeface="Noto Sans CJK SC" pitchFamily="34" charset="-120"/>
              </a:rPr>
              <a:t>NOBEL PRIZE · CHEMISTRY · 1911</a:t>
            </a:r>
            <a:endParaRPr lang="en-US" sz="975" dirty="0"/>
          </a:p>
        </p:txBody>
      </p:sp>
      <p:sp>
        <p:nvSpPr>
          <p:cNvPr id="12" name="Text 7"/>
          <p:cNvSpPr/>
          <p:nvPr/>
        </p:nvSpPr>
        <p:spPr>
          <a:xfrm>
            <a:off x="3714750" y="2305050"/>
            <a:ext cx="4857750" cy="615255"/>
          </a:xfrm>
          <a:prstGeom prst="rect">
            <a:avLst/>
          </a:prstGeom>
          <a:noFill/>
          <a:ln/>
        </p:spPr>
        <p:txBody>
          <a:bodyPr wrap="square" lIns="0" tIns="0" rIns="0" bIns="0" rtlCol="0" anchor="t"/>
          <a:lstStyle/>
          <a:p>
            <a:pPr algn="l" indent="0" marL="0">
              <a:lnSpc>
                <a:spcPts val="2423"/>
              </a:lnSpc>
              <a:spcAft>
                <a:spcPts val="1200"/>
              </a:spcAft>
              <a:buNone/>
            </a:pPr>
            <a:r>
              <a:rPr lang="en-US" sz="1425" dirty="0">
                <a:solidFill>
                  <a:srgbClr val="F5F1E6"/>
                </a:solidFill>
                <a:latin typeface="Noto Sans CJK SC Medium" pitchFamily="34" charset="0"/>
                <a:ea typeface="Noto Sans CJK SC Medium" pitchFamily="34" charset="-122"/>
                <a:cs typeface="Noto Sans CJK SC Medium" pitchFamily="34" charset="-120"/>
              </a:rPr>
              <a:t>1911年，玛丽·居里因发现钋与镭、分离出纯金属镭并研究其性质，第二次获得诺贝尔奖。</a:t>
            </a:r>
            <a:endParaRPr lang="en-US" sz="1425" dirty="0"/>
          </a:p>
        </p:txBody>
      </p:sp>
      <p:sp>
        <p:nvSpPr>
          <p:cNvPr id="13" name="Text 8"/>
          <p:cNvSpPr/>
          <p:nvPr/>
        </p:nvSpPr>
        <p:spPr>
          <a:xfrm>
            <a:off x="3714750" y="3072705"/>
            <a:ext cx="4857750" cy="500063"/>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D8D2C2"/>
                </a:solidFill>
                <a:latin typeface="Noto Sans CJK SC" pitchFamily="34" charset="0"/>
                <a:ea typeface="Noto Sans CJK SC" pitchFamily="34" charset="-122"/>
                <a:cs typeface="Noto Sans CJK SC" pitchFamily="34" charset="-120"/>
              </a:rPr>
              <a:t>此时距她首次获奖仅八年。她</a:t>
            </a:r>
            <a:pPr algn="l" indent="0" marL="0">
              <a:lnSpc>
                <a:spcPts val="1969"/>
              </a:lnSpc>
              <a:spcAft>
                <a:spcPts val="900"/>
              </a:spcAft>
              <a:buNone/>
            </a:pPr>
            <a:r>
              <a:rPr lang="en-US" sz="1125" b="1" dirty="0">
                <a:solidFill>
                  <a:srgbClr val="D4AF37"/>
                </a:solidFill>
                <a:latin typeface="Noto Sans CJK SC" pitchFamily="34" charset="0"/>
                <a:ea typeface="Noto Sans CJK SC" pitchFamily="34" charset="-122"/>
                <a:cs typeface="Noto Sans CJK SC" pitchFamily="34" charset="-120"/>
              </a:rPr>
              <a:t>独自一人</a:t>
            </a:r>
            <a:pPr algn="l" indent="0" marL="0">
              <a:lnSpc>
                <a:spcPts val="1969"/>
              </a:lnSpc>
              <a:spcAft>
                <a:spcPts val="900"/>
              </a:spcAft>
              <a:buNone/>
            </a:pPr>
            <a:r>
              <a:rPr lang="en-US" sz="1125" dirty="0">
                <a:solidFill>
                  <a:srgbClr val="D8D2C2"/>
                </a:solidFill>
                <a:latin typeface="Noto Sans CJK SC" pitchFamily="34" charset="0"/>
                <a:ea typeface="Noto Sans CJK SC" pitchFamily="34" charset="-122"/>
                <a:cs typeface="Noto Sans CJK SC" pitchFamily="34" charset="-120"/>
              </a:rPr>
              <a:t>完成了纯镭的提取与原子量精确测定，从根本上验证了新元素的存在。</a:t>
            </a:r>
            <a:endParaRPr lang="en-US" sz="1125" dirty="0"/>
          </a:p>
        </p:txBody>
      </p:sp>
      <p:sp>
        <p:nvSpPr>
          <p:cNvPr id="14" name="Text 9"/>
          <p:cNvSpPr/>
          <p:nvPr/>
        </p:nvSpPr>
        <p:spPr>
          <a:xfrm>
            <a:off x="3714750" y="3687068"/>
            <a:ext cx="4857750" cy="750094"/>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D8D2C2"/>
                </a:solidFill>
                <a:latin typeface="Noto Sans CJK SC" pitchFamily="34" charset="0"/>
                <a:ea typeface="Noto Sans CJK SC" pitchFamily="34" charset="-122"/>
                <a:cs typeface="Noto Sans CJK SC" pitchFamily="34" charset="-120"/>
              </a:rPr>
              <a:t>颁奖典礼前，法国科学院曾因她身为女性与外籍身份而</a:t>
            </a:r>
            <a:pPr algn="l" indent="0" marL="0">
              <a:lnSpc>
                <a:spcPts val="1969"/>
              </a:lnSpc>
              <a:spcAft>
                <a:spcPts val="900"/>
              </a:spcAft>
              <a:buNone/>
            </a:pPr>
            <a:r>
              <a:rPr lang="en-US" sz="1125" b="1" dirty="0">
                <a:solidFill>
                  <a:srgbClr val="D4AF37"/>
                </a:solidFill>
                <a:latin typeface="Noto Sans CJK SC" pitchFamily="34" charset="0"/>
                <a:ea typeface="Noto Sans CJK SC" pitchFamily="34" charset="-122"/>
                <a:cs typeface="Noto Sans CJK SC" pitchFamily="34" charset="-120"/>
              </a:rPr>
              <a:t>一度拒绝接纳她为院士</a:t>
            </a:r>
            <a:pPr algn="l" indent="0" marL="0">
              <a:lnSpc>
                <a:spcPts val="1969"/>
              </a:lnSpc>
              <a:spcAft>
                <a:spcPts val="900"/>
              </a:spcAft>
              <a:buNone/>
            </a:pPr>
            <a:r>
              <a:rPr lang="en-US" sz="1125" dirty="0">
                <a:solidFill>
                  <a:srgbClr val="D8D2C2"/>
                </a:solidFill>
                <a:latin typeface="Noto Sans CJK SC" pitchFamily="34" charset="0"/>
                <a:ea typeface="Noto Sans CJK SC" pitchFamily="34" charset="-122"/>
                <a:cs typeface="Noto Sans CJK SC" pitchFamily="34" charset="-120"/>
              </a:rPr>
              <a:t>，但瑞典皇家科学院依然坚持授奖。她由此成为</a:t>
            </a:r>
            <a:pPr algn="l" indent="0" marL="0">
              <a:lnSpc>
                <a:spcPts val="1969"/>
              </a:lnSpc>
              <a:spcAft>
                <a:spcPts val="900"/>
              </a:spcAft>
              <a:buNone/>
            </a:pPr>
            <a:r>
              <a:rPr lang="en-US" sz="1125" b="1" dirty="0">
                <a:solidFill>
                  <a:srgbClr val="D4AF37"/>
                </a:solidFill>
                <a:latin typeface="Noto Sans CJK SC" pitchFamily="34" charset="0"/>
                <a:ea typeface="Noto Sans CJK SC" pitchFamily="34" charset="-122"/>
                <a:cs typeface="Noto Sans CJK SC" pitchFamily="34" charset="-120"/>
              </a:rPr>
              <a:t>史上首位两次获得诺贝尔奖的人</a:t>
            </a:r>
            <a:pPr algn="l" indent="0" marL="0">
              <a:lnSpc>
                <a:spcPts val="1969"/>
              </a:lnSpc>
              <a:spcAft>
                <a:spcPts val="900"/>
              </a:spcAft>
              <a:buNone/>
            </a:pPr>
            <a:r>
              <a:rPr lang="en-US" sz="1125" dirty="0">
                <a:solidFill>
                  <a:srgbClr val="D8D2C2"/>
                </a:solidFill>
                <a:latin typeface="Noto Sans CJK SC" pitchFamily="34" charset="0"/>
                <a:ea typeface="Noto Sans CJK SC" pitchFamily="34" charset="-122"/>
                <a:cs typeface="Noto Sans CJK SC" pitchFamily="34" charset="-120"/>
              </a:rPr>
              <a:t>。</a:t>
            </a:r>
            <a:endParaRPr lang="en-US" sz="1125" dirty="0"/>
          </a:p>
        </p:txBody>
      </p:sp>
      <p:sp>
        <p:nvSpPr>
          <p:cNvPr id="15" name="Text 10"/>
          <p:cNvSpPr/>
          <p:nvPr/>
        </p:nvSpPr>
        <p:spPr>
          <a:xfrm>
            <a:off x="3714750" y="4589562"/>
            <a:ext cx="4762500" cy="1203871"/>
          </a:xfrm>
          <a:prstGeom prst="rect">
            <a:avLst/>
          </a:prstGeom>
          <a:solidFill>
            <a:srgbClr val="D4AF37">
              <a:alpha val="10000"/>
            </a:srgbClr>
          </a:solidFill>
          <a:ln w="9525">
            <a:solidFill>
              <a:srgbClr val="D4AF37"/>
            </a:solidFill>
          </a:ln>
        </p:spPr>
        <p:txBody>
          <a:bodyPr wrap="square" rtlCol="0" anchor="ctr"/>
          <a:lstStyle/>
          <a:p>
            <a:pPr indent="0" marL="0">
              <a:buNone/>
            </a:pPr>
            <a:endParaRPr lang="en-US" dirty="0"/>
          </a:p>
        </p:txBody>
      </p:sp>
      <p:sp>
        <p:nvSpPr>
          <p:cNvPr id="16" name="Text 11"/>
          <p:cNvSpPr/>
          <p:nvPr/>
        </p:nvSpPr>
        <p:spPr>
          <a:xfrm>
            <a:off x="3895725" y="4732437"/>
            <a:ext cx="4488561" cy="161925"/>
          </a:xfrm>
          <a:prstGeom prst="rect">
            <a:avLst/>
          </a:prstGeom>
          <a:noFill/>
          <a:ln/>
        </p:spPr>
        <p:txBody>
          <a:bodyPr wrap="square" lIns="0" tIns="0" rIns="0" bIns="0" rtlCol="0" anchor="t"/>
          <a:lstStyle/>
          <a:p>
            <a:pPr algn="l" indent="0" marL="0">
              <a:spcAft>
                <a:spcPts val="600"/>
              </a:spcAft>
              <a:buNone/>
            </a:pPr>
            <a:r>
              <a:rPr lang="en-US" sz="900" b="1" dirty="0">
                <a:solidFill>
                  <a:srgbClr val="D4AF37"/>
                </a:solidFill>
                <a:latin typeface="Noto Sans CJK SC" pitchFamily="34" charset="0"/>
                <a:ea typeface="Noto Sans CJK SC" pitchFamily="34" charset="-122"/>
                <a:cs typeface="Noto Sans CJK SC" pitchFamily="34" charset="-120"/>
              </a:rPr>
              <a:t>历史地位</a:t>
            </a:r>
            <a:endParaRPr lang="en-US" sz="900" dirty="0"/>
          </a:p>
        </p:txBody>
      </p:sp>
      <p:sp>
        <p:nvSpPr>
          <p:cNvPr id="17" name="Text 12"/>
          <p:cNvSpPr/>
          <p:nvPr/>
        </p:nvSpPr>
        <p:spPr>
          <a:xfrm>
            <a:off x="3895725" y="4970562"/>
            <a:ext cx="4400550" cy="679996"/>
          </a:xfrm>
          <a:prstGeom prst="rect">
            <a:avLst/>
          </a:prstGeom>
          <a:noFill/>
          <a:ln/>
        </p:spPr>
        <p:txBody>
          <a:bodyPr wrap="square" lIns="0" tIns="0" rIns="0" bIns="0" rtlCol="0" anchor="t"/>
          <a:lstStyle/>
          <a:p>
            <a:pPr algn="l" marL="133350" indent="-133350">
              <a:lnSpc>
                <a:spcPts val="1785"/>
              </a:lnSpc>
              <a:buSzPct val="100000"/>
              <a:buChar char="●"/>
            </a:pPr>
            <a:r>
              <a:rPr lang="en-US" sz="1050" dirty="0">
                <a:solidFill>
                  <a:srgbClr val="F0E6C8"/>
                </a:solidFill>
                <a:latin typeface="Noto Sans CJK SC" pitchFamily="34" charset="0"/>
                <a:ea typeface="Noto Sans CJK SC" pitchFamily="34" charset="-122"/>
                <a:cs typeface="Noto Sans CJK SC" pitchFamily="34" charset="-120"/>
              </a:rPr>
              <a:t>首位两次获得诺贝尔奖的科学家</a:t>
            </a:r>
            <a:endParaRPr lang="en-US" sz="1050" dirty="0"/>
          </a:p>
          <a:p>
            <a:pPr algn="l" marL="133350" indent="-133350">
              <a:lnSpc>
                <a:spcPts val="1785"/>
              </a:lnSpc>
              <a:buSzPct val="100000"/>
              <a:buChar char="●"/>
            </a:pPr>
            <a:r>
              <a:rPr lang="en-US" sz="1050" dirty="0">
                <a:solidFill>
                  <a:srgbClr val="F0E6C8"/>
                </a:solidFill>
                <a:latin typeface="Noto Sans CJK SC" pitchFamily="34" charset="0"/>
                <a:ea typeface="Noto Sans CJK SC" pitchFamily="34" charset="-122"/>
                <a:cs typeface="Noto Sans CJK SC" pitchFamily="34" charset="-120"/>
              </a:rPr>
              <a:t>至今唯一在两个不同学科领域获奖者</a:t>
            </a:r>
            <a:endParaRPr lang="en-US" sz="1050" dirty="0"/>
          </a:p>
          <a:p>
            <a:pPr algn="l" marL="133350" indent="-133350">
              <a:lnSpc>
                <a:spcPts val="1785"/>
              </a:lnSpc>
              <a:buSzPct val="100000"/>
              <a:buChar char="●"/>
            </a:pPr>
            <a:r>
              <a:rPr lang="en-US" sz="1050" dirty="0">
                <a:solidFill>
                  <a:srgbClr val="F0E6C8"/>
                </a:solidFill>
                <a:latin typeface="Noto Sans CJK SC" pitchFamily="34" charset="0"/>
                <a:ea typeface="Noto Sans CJK SC" pitchFamily="34" charset="-122"/>
                <a:cs typeface="Noto Sans CJK SC" pitchFamily="34" charset="-120"/>
              </a:rPr>
              <a:t>放射化学与放射医学的奠基人之一</a:t>
            </a:r>
            <a:endParaRPr lang="en-US" sz="1050" dirty="0"/>
          </a:p>
        </p:txBody>
      </p:sp>
      <p:sp>
        <p:nvSpPr>
          <p:cNvPr id="18" name="Text 13"/>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F5F1E6"/>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19" name="Text 14"/>
          <p:cNvSpPr/>
          <p:nvPr/>
        </p:nvSpPr>
        <p:spPr>
          <a:xfrm>
            <a:off x="7803952" y="6315075"/>
            <a:ext cx="673298" cy="257175"/>
          </a:xfrm>
          <a:prstGeom prst="rect">
            <a:avLst/>
          </a:prstGeom>
          <a:solidFill>
            <a:srgbClr val="D4AF37"/>
          </a:solidFill>
          <a:ln/>
        </p:spPr>
        <p:txBody>
          <a:bodyPr wrap="square" lIns="133350" tIns="38100" rIns="133350" bIns="38100" rtlCol="0" anchor="ctr"/>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1911</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08</a:t>
            </a:r>
            <a:endParaRPr lang="en-US" sz="4800" dirty="0"/>
          </a:p>
        </p:txBody>
      </p:sp>
      <p:sp>
        <p:nvSpPr>
          <p:cNvPr id="3" name="Text 1"/>
          <p:cNvSpPr/>
          <p:nvPr/>
        </p:nvSpPr>
        <p:spPr>
          <a:xfrm>
            <a:off x="1595735" y="895350"/>
            <a:ext cx="3026834" cy="190500"/>
          </a:xfrm>
          <a:prstGeom prst="rect">
            <a:avLst/>
          </a:prstGeom>
          <a:noFill/>
          <a:ln/>
        </p:spPr>
        <p:txBody>
          <a:bodyPr wrap="square" lIns="0" tIns="0" rIns="0" bIns="0" rtlCol="0" anchor="t"/>
          <a:lstStyle/>
          <a:p>
            <a:pPr algn="l" indent="0" marL="0">
              <a:buNone/>
            </a:pPr>
            <a:r>
              <a:rPr lang="en-US" sz="1050" dirty="0">
                <a:solidFill>
                  <a:srgbClr val="8A8A8A"/>
                </a:solidFill>
                <a:latin typeface="Noto Sans CJK SC" pitchFamily="34" charset="0"/>
                <a:ea typeface="Noto Sans CJK SC" pitchFamily="34" charset="-122"/>
                <a:cs typeface="Noto Sans CJK SC" pitchFamily="34" charset="-120"/>
              </a:rPr>
              <a:t>CHAPTER · 1914–1918</a:t>
            </a:r>
            <a:endParaRPr lang="en-US" sz="1050" dirty="0"/>
          </a:p>
        </p:txBody>
      </p:sp>
      <p:sp>
        <p:nvSpPr>
          <p:cNvPr id="4" name="Text 2"/>
          <p:cNvSpPr/>
          <p:nvPr/>
        </p:nvSpPr>
        <p:spPr>
          <a:xfrm>
            <a:off x="1595735" y="1123950"/>
            <a:ext cx="3026834" cy="495300"/>
          </a:xfrm>
          <a:prstGeom prst="rect">
            <a:avLst/>
          </a:prstGeom>
          <a:noFill/>
          <a:ln/>
        </p:spPr>
        <p:txBody>
          <a:bodyPr wrap="square" lIns="0" tIns="0" rIns="0" bIns="0" rtlCol="0" anchor="t"/>
          <a:lstStyle/>
          <a:p>
            <a:pPr algn="l" indent="0" marL="0">
              <a:spcBef>
                <a:spcPts val="300"/>
              </a:spcBef>
              <a:buNone/>
            </a:pPr>
            <a:r>
              <a:rPr lang="en-US" sz="2700" b="1" dirty="0">
                <a:solidFill>
                  <a:srgbClr val="1A1D2E"/>
                </a:solidFill>
                <a:latin typeface="Noto Sans CJK SC" pitchFamily="34" charset="0"/>
                <a:ea typeface="Noto Sans CJK SC" pitchFamily="34" charset="-122"/>
                <a:cs typeface="Noto Sans CJK SC" pitchFamily="34" charset="-120"/>
              </a:rPr>
              <a:t>战火中的"小居里"</a:t>
            </a:r>
            <a:endParaRPr lang="en-US" sz="2700" dirty="0"/>
          </a:p>
        </p:txBody>
      </p:sp>
      <p:sp>
        <p:nvSpPr>
          <p:cNvPr id="5"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6" name="Text 4"/>
          <p:cNvSpPr/>
          <p:nvPr/>
        </p:nvSpPr>
        <p:spPr>
          <a:xfrm>
            <a:off x="666750" y="1857375"/>
            <a:ext cx="4469130" cy="615255"/>
          </a:xfrm>
          <a:prstGeom prst="rect">
            <a:avLst/>
          </a:prstGeom>
          <a:noFill/>
          <a:ln/>
        </p:spPr>
        <p:txBody>
          <a:bodyPr wrap="square" lIns="0" tIns="0" rIns="0" bIns="0" rtlCol="0" anchor="t"/>
          <a:lstStyle/>
          <a:p>
            <a:pPr algn="l" indent="0" marL="0">
              <a:lnSpc>
                <a:spcPts val="2423"/>
              </a:lnSpc>
              <a:spcAft>
                <a:spcPts val="1350"/>
              </a:spcAft>
              <a:buNone/>
            </a:pPr>
            <a:r>
              <a:rPr lang="en-US" sz="1425" dirty="0">
                <a:solidFill>
                  <a:srgbClr val="1A1D2E"/>
                </a:solidFill>
                <a:latin typeface="Noto Sans CJK SC Medium" pitchFamily="34" charset="0"/>
                <a:ea typeface="Noto Sans CJK SC Medium" pitchFamily="34" charset="-122"/>
                <a:cs typeface="Noto Sans CJK SC Medium" pitchFamily="34" charset="-120"/>
              </a:rPr>
              <a:t>1914年一战爆发，前线伤员急需精确定位弹片。玛丽毅然放下实验室工作，将放射学搬上战场。</a:t>
            </a:r>
            <a:endParaRPr lang="en-US" sz="1425" dirty="0"/>
          </a:p>
        </p:txBody>
      </p:sp>
      <p:sp>
        <p:nvSpPr>
          <p:cNvPr id="7" name="Text 5"/>
          <p:cNvSpPr/>
          <p:nvPr/>
        </p:nvSpPr>
        <p:spPr>
          <a:xfrm>
            <a:off x="666750" y="2644080"/>
            <a:ext cx="4469130" cy="750094"/>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她筹款改装汽车，将 X 光机、发电设备与暗房集于一身，组建了</a:t>
            </a:r>
            <a:pPr algn="l" indent="0" marL="0">
              <a:lnSpc>
                <a:spcPts val="1969"/>
              </a:lnSpc>
              <a:spcAft>
                <a:spcPts val="900"/>
              </a:spcAft>
              <a:buNone/>
            </a:pPr>
            <a:r>
              <a:rPr lang="en-US" sz="1125" b="1" dirty="0">
                <a:solidFill>
                  <a:srgbClr val="8A5A1A"/>
                </a:solidFill>
                <a:latin typeface="Noto Sans CJK SC" pitchFamily="34" charset="0"/>
                <a:ea typeface="Noto Sans CJK SC" pitchFamily="34" charset="-122"/>
                <a:cs typeface="Noto Sans CJK SC" pitchFamily="34" charset="-120"/>
              </a:rPr>
              <a:t>20辆"小居里"（petites Curie）</a:t>
            </a:r>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移动放射车，亲自驾车往返于各战区医院。</a:t>
            </a:r>
            <a:endParaRPr lang="en-US" sz="1125" dirty="0"/>
          </a:p>
        </p:txBody>
      </p:sp>
      <p:sp>
        <p:nvSpPr>
          <p:cNvPr id="8" name="Text 6"/>
          <p:cNvSpPr/>
          <p:nvPr/>
        </p:nvSpPr>
        <p:spPr>
          <a:xfrm>
            <a:off x="666750" y="3508474"/>
            <a:ext cx="4469130" cy="500063"/>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她还培训了</a:t>
            </a:r>
            <a:pPr algn="l" indent="0" marL="0">
              <a:lnSpc>
                <a:spcPts val="1969"/>
              </a:lnSpc>
              <a:spcAft>
                <a:spcPts val="900"/>
              </a:spcAft>
              <a:buNone/>
            </a:pPr>
            <a:r>
              <a:rPr lang="en-US" sz="1125" b="1" dirty="0">
                <a:solidFill>
                  <a:srgbClr val="8A5A1A"/>
                </a:solidFill>
                <a:latin typeface="Noto Sans CJK SC" pitchFamily="34" charset="0"/>
                <a:ea typeface="Noto Sans CJK SC" pitchFamily="34" charset="-122"/>
                <a:cs typeface="Noto Sans CJK SC" pitchFamily="34" charset="-120"/>
              </a:rPr>
              <a:t>150名女性放射技师</a:t>
            </a:r>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，在战地与后方医院为伤兵施行 X 光检查。据估计，约百万名伤员因此得到更精准的救治。</a:t>
            </a:r>
            <a:endParaRPr lang="en-US" sz="1125" dirty="0"/>
          </a:p>
        </p:txBody>
      </p:sp>
      <p:sp>
        <p:nvSpPr>
          <p:cNvPr id="9" name="Text 7"/>
          <p:cNvSpPr/>
          <p:nvPr/>
        </p:nvSpPr>
        <p:spPr>
          <a:xfrm>
            <a:off x="666750" y="4122837"/>
            <a:ext cx="4469130" cy="500063"/>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长女伊蕾娜彼时仅17岁，亦随母上前线学习放射学，母女二人在炮火中并肩工作。</a:t>
            </a:r>
            <a:endParaRPr lang="en-US" sz="1125" dirty="0"/>
          </a:p>
        </p:txBody>
      </p:sp>
      <p:sp>
        <p:nvSpPr>
          <p:cNvPr id="10" name="Text 8"/>
          <p:cNvSpPr/>
          <p:nvPr/>
        </p:nvSpPr>
        <p:spPr>
          <a:xfrm>
            <a:off x="5143500" y="1857375"/>
            <a:ext cx="3333750" cy="3429000"/>
          </a:xfrm>
          <a:prstGeom prst="rect">
            <a:avLst/>
          </a:prstGeom>
          <a:noFill/>
          <a:ln w="38100">
            <a:solidFill>
              <a:srgbClr val="FFFFFF"/>
            </a:solidFill>
          </a:ln>
          <a:effectLst>
            <a:outerShdw sx="100000" sy="100000" kx="0" ky="0" algn="bl" rotWithShape="0" blurRad="228600" dist="76200" dir="5400000">
              <a:srgbClr val="000000">
                <a:alpha val="18000"/>
              </a:srgbClr>
            </a:outerShdw>
          </a:effectLst>
        </p:spPr>
        <p:txBody>
          <a:bodyPr wrap="square" rtlCol="0" anchor="ctr"/>
          <a:lstStyle/>
          <a:p>
            <a:pPr indent="0" marL="0">
              <a:buNone/>
            </a:pPr>
            <a:endParaRPr lang="en-US" dirty="0"/>
          </a:p>
        </p:txBody>
      </p:sp>
      <p:pic>
        <p:nvPicPr>
          <p:cNvPr id="11" name="Image 0" descr="/tmp/html2pptx-OVz9Yc/html2pptx-bg-1786384802879-2d90d5cf35fe2.png">    </p:cNvPr>
          <p:cNvPicPr>
            <a:picLocks noChangeAspect="1"/>
          </p:cNvPicPr>
          <p:nvPr/>
        </p:nvPicPr>
        <p:blipFill>
          <a:blip r:embed="rId1"/>
          <a:stretch>
            <a:fillRect/>
          </a:stretch>
        </p:blipFill>
        <p:spPr>
          <a:xfrm>
            <a:off x="5181600" y="1895475"/>
            <a:ext cx="3257550" cy="3352800"/>
          </a:xfrm>
          <a:prstGeom prst="rect">
            <a:avLst/>
          </a:prstGeom>
        </p:spPr>
      </p:pic>
      <p:sp>
        <p:nvSpPr>
          <p:cNvPr id="12" name="Text 9"/>
          <p:cNvSpPr/>
          <p:nvPr/>
        </p:nvSpPr>
        <p:spPr>
          <a:xfrm>
            <a:off x="5076825" y="5381625"/>
            <a:ext cx="3400425" cy="180975"/>
          </a:xfrm>
          <a:prstGeom prst="rect">
            <a:avLst/>
          </a:prstGeom>
          <a:noFill/>
          <a:ln/>
        </p:spPr>
        <p:txBody>
          <a:bodyPr wrap="square" lIns="0" tIns="0" rIns="0" bIns="0" rtlCol="0" anchor="t"/>
          <a:lstStyle/>
          <a:p>
            <a:pPr algn="r" indent="0" marL="0">
              <a:buNone/>
            </a:pPr>
            <a:r>
              <a:rPr lang="en-US" sz="975" dirty="0">
                <a:solidFill>
                  <a:srgbClr val="8A8A8A"/>
                </a:solidFill>
                <a:latin typeface="Noto Sans CJK SC" pitchFamily="34" charset="0"/>
                <a:ea typeface="Noto Sans CJK SC" pitchFamily="34" charset="-122"/>
                <a:cs typeface="Noto Sans CJK SC" pitchFamily="34" charset="-120"/>
              </a:rPr>
              <a:t>一战期间"小居里"移动 X 光救护车</a:t>
            </a:r>
            <a:endParaRPr lang="en-US" sz="975" dirty="0"/>
          </a:p>
        </p:txBody>
      </p:sp>
      <p:sp>
        <p:nvSpPr>
          <p:cNvPr id="13" name="Text 10"/>
          <p:cNvSpPr/>
          <p:nvPr/>
        </p:nvSpPr>
        <p:spPr>
          <a:xfrm>
            <a:off x="666750" y="5210175"/>
            <a:ext cx="1824038" cy="885825"/>
          </a:xfrm>
          <a:prstGeom prst="rect">
            <a:avLst/>
          </a:prstGeom>
          <a:solidFill>
            <a:srgbClr val="1A1D2E"/>
          </a:solidFill>
          <a:ln/>
        </p:spPr>
        <p:txBody>
          <a:bodyPr wrap="square" rtlCol="0" anchor="ctr"/>
          <a:lstStyle/>
          <a:p>
            <a:pPr indent="0" marL="0">
              <a:buNone/>
            </a:pPr>
            <a:endParaRPr lang="en-US" dirty="0"/>
          </a:p>
        </p:txBody>
      </p:sp>
      <p:sp>
        <p:nvSpPr>
          <p:cNvPr id="14" name="Text 11"/>
          <p:cNvSpPr/>
          <p:nvPr/>
        </p:nvSpPr>
        <p:spPr>
          <a:xfrm>
            <a:off x="784527" y="5362575"/>
            <a:ext cx="1588484" cy="381000"/>
          </a:xfrm>
          <a:prstGeom prst="rect">
            <a:avLst/>
          </a:prstGeom>
          <a:noFill/>
          <a:ln/>
        </p:spPr>
        <p:txBody>
          <a:bodyPr wrap="square" lIns="0" tIns="0" rIns="0" bIns="0" rtlCol="0" anchor="t"/>
          <a:lstStyle/>
          <a:p>
            <a:pPr algn="ctr" indent="0" marL="0">
              <a:buNone/>
            </a:pPr>
            <a:r>
              <a:rPr lang="en-US" sz="2100" b="1" dirty="0">
                <a:solidFill>
                  <a:srgbClr val="D4AF37"/>
                </a:solidFill>
                <a:latin typeface="Noto Sans CJK SC" pitchFamily="34" charset="0"/>
                <a:ea typeface="Noto Sans CJK SC" pitchFamily="34" charset="-122"/>
                <a:cs typeface="Noto Sans CJK SC" pitchFamily="34" charset="-120"/>
              </a:rPr>
              <a:t>20</a:t>
            </a:r>
            <a:endParaRPr lang="en-US" sz="2100" dirty="0"/>
          </a:p>
        </p:txBody>
      </p:sp>
      <p:sp>
        <p:nvSpPr>
          <p:cNvPr id="15" name="Text 12"/>
          <p:cNvSpPr/>
          <p:nvPr/>
        </p:nvSpPr>
        <p:spPr>
          <a:xfrm>
            <a:off x="784527" y="5781675"/>
            <a:ext cx="1588484" cy="161925"/>
          </a:xfrm>
          <a:prstGeom prst="rect">
            <a:avLst/>
          </a:prstGeom>
          <a:noFill/>
          <a:ln/>
        </p:spPr>
        <p:txBody>
          <a:bodyPr wrap="square" lIns="0" tIns="0" rIns="0" bIns="0" rtlCol="0" anchor="t"/>
          <a:lstStyle/>
          <a:p>
            <a:pPr algn="ctr" indent="0" marL="0">
              <a:spcBef>
                <a:spcPts val="300"/>
              </a:spcBef>
              <a:buNone/>
            </a:pPr>
            <a:r>
              <a:rPr lang="en-US" sz="900" dirty="0">
                <a:solidFill>
                  <a:srgbClr val="B8B3A3"/>
                </a:solidFill>
                <a:latin typeface="Noto Sans CJK SC" pitchFamily="34" charset="0"/>
                <a:ea typeface="Noto Sans CJK SC" pitchFamily="34" charset="-122"/>
                <a:cs typeface="Noto Sans CJK SC" pitchFamily="34" charset="-120"/>
              </a:rPr>
              <a:t>辆移动放射车</a:t>
            </a:r>
            <a:endParaRPr lang="en-US" sz="900" dirty="0"/>
          </a:p>
        </p:txBody>
      </p:sp>
      <p:sp>
        <p:nvSpPr>
          <p:cNvPr id="16" name="Text 13"/>
          <p:cNvSpPr/>
          <p:nvPr/>
        </p:nvSpPr>
        <p:spPr>
          <a:xfrm>
            <a:off x="2662238" y="5210175"/>
            <a:ext cx="1824038" cy="885825"/>
          </a:xfrm>
          <a:prstGeom prst="rect">
            <a:avLst/>
          </a:prstGeom>
          <a:solidFill>
            <a:srgbClr val="1A1D2E"/>
          </a:solidFill>
          <a:ln/>
        </p:spPr>
        <p:txBody>
          <a:bodyPr wrap="square" rtlCol="0" anchor="ctr"/>
          <a:lstStyle/>
          <a:p>
            <a:pPr indent="0" marL="0">
              <a:buNone/>
            </a:pPr>
            <a:endParaRPr lang="en-US" dirty="0"/>
          </a:p>
        </p:txBody>
      </p:sp>
      <p:sp>
        <p:nvSpPr>
          <p:cNvPr id="17" name="Text 14"/>
          <p:cNvSpPr/>
          <p:nvPr/>
        </p:nvSpPr>
        <p:spPr>
          <a:xfrm>
            <a:off x="2780014" y="5362575"/>
            <a:ext cx="1588484" cy="381000"/>
          </a:xfrm>
          <a:prstGeom prst="rect">
            <a:avLst/>
          </a:prstGeom>
          <a:noFill/>
          <a:ln/>
        </p:spPr>
        <p:txBody>
          <a:bodyPr wrap="square" lIns="0" tIns="0" rIns="0" bIns="0" rtlCol="0" anchor="t"/>
          <a:lstStyle/>
          <a:p>
            <a:pPr algn="ctr" indent="0" marL="0">
              <a:buNone/>
            </a:pPr>
            <a:r>
              <a:rPr lang="en-US" sz="2100" b="1" dirty="0">
                <a:solidFill>
                  <a:srgbClr val="D4AF37"/>
                </a:solidFill>
                <a:latin typeface="Noto Sans CJK SC" pitchFamily="34" charset="0"/>
                <a:ea typeface="Noto Sans CJK SC" pitchFamily="34" charset="-122"/>
                <a:cs typeface="Noto Sans CJK SC" pitchFamily="34" charset="-120"/>
              </a:rPr>
              <a:t>150</a:t>
            </a:r>
            <a:endParaRPr lang="en-US" sz="2100" dirty="0"/>
          </a:p>
        </p:txBody>
      </p:sp>
      <p:sp>
        <p:nvSpPr>
          <p:cNvPr id="18" name="Text 15"/>
          <p:cNvSpPr/>
          <p:nvPr/>
        </p:nvSpPr>
        <p:spPr>
          <a:xfrm>
            <a:off x="2780014" y="5781675"/>
            <a:ext cx="1588484" cy="161925"/>
          </a:xfrm>
          <a:prstGeom prst="rect">
            <a:avLst/>
          </a:prstGeom>
          <a:noFill/>
          <a:ln/>
        </p:spPr>
        <p:txBody>
          <a:bodyPr wrap="square" lIns="0" tIns="0" rIns="0" bIns="0" rtlCol="0" anchor="t"/>
          <a:lstStyle/>
          <a:p>
            <a:pPr algn="ctr" indent="0" marL="0">
              <a:spcBef>
                <a:spcPts val="300"/>
              </a:spcBef>
              <a:buNone/>
            </a:pPr>
            <a:r>
              <a:rPr lang="en-US" sz="900" dirty="0">
                <a:solidFill>
                  <a:srgbClr val="B8B3A3"/>
                </a:solidFill>
                <a:latin typeface="Noto Sans CJK SC" pitchFamily="34" charset="0"/>
                <a:ea typeface="Noto Sans CJK SC" pitchFamily="34" charset="-122"/>
                <a:cs typeface="Noto Sans CJK SC" pitchFamily="34" charset="-120"/>
              </a:rPr>
              <a:t>名受训女技师</a:t>
            </a:r>
            <a:endParaRPr lang="en-US" sz="900" dirty="0"/>
          </a:p>
        </p:txBody>
      </p:sp>
      <p:sp>
        <p:nvSpPr>
          <p:cNvPr id="19" name="Text 16"/>
          <p:cNvSpPr/>
          <p:nvPr/>
        </p:nvSpPr>
        <p:spPr>
          <a:xfrm>
            <a:off x="4657725" y="5210175"/>
            <a:ext cx="1824038" cy="885825"/>
          </a:xfrm>
          <a:prstGeom prst="rect">
            <a:avLst/>
          </a:prstGeom>
          <a:solidFill>
            <a:srgbClr val="1A1D2E"/>
          </a:solidFill>
          <a:ln/>
        </p:spPr>
        <p:txBody>
          <a:bodyPr wrap="square" rtlCol="0" anchor="ctr"/>
          <a:lstStyle/>
          <a:p>
            <a:pPr indent="0" marL="0">
              <a:buNone/>
            </a:pPr>
            <a:endParaRPr lang="en-US" dirty="0"/>
          </a:p>
        </p:txBody>
      </p:sp>
      <p:sp>
        <p:nvSpPr>
          <p:cNvPr id="20" name="Text 17"/>
          <p:cNvSpPr/>
          <p:nvPr/>
        </p:nvSpPr>
        <p:spPr>
          <a:xfrm>
            <a:off x="4775502" y="5362575"/>
            <a:ext cx="1588484" cy="381000"/>
          </a:xfrm>
          <a:prstGeom prst="rect">
            <a:avLst/>
          </a:prstGeom>
          <a:noFill/>
          <a:ln/>
        </p:spPr>
        <p:txBody>
          <a:bodyPr wrap="square" lIns="0" tIns="0" rIns="0" bIns="0" rtlCol="0" anchor="t"/>
          <a:lstStyle/>
          <a:p>
            <a:pPr algn="ctr" indent="0" marL="0">
              <a:buNone/>
            </a:pPr>
            <a:r>
              <a:rPr lang="en-US" sz="2100" b="1" dirty="0">
                <a:solidFill>
                  <a:srgbClr val="D4AF37"/>
                </a:solidFill>
                <a:latin typeface="Noto Sans CJK SC" pitchFamily="34" charset="0"/>
                <a:ea typeface="Noto Sans CJK SC" pitchFamily="34" charset="-122"/>
                <a:cs typeface="Noto Sans CJK SC" pitchFamily="34" charset="-120"/>
              </a:rPr>
              <a:t>≈100万</a:t>
            </a:r>
            <a:endParaRPr lang="en-US" sz="2100" dirty="0"/>
          </a:p>
        </p:txBody>
      </p:sp>
      <p:sp>
        <p:nvSpPr>
          <p:cNvPr id="21" name="Text 18"/>
          <p:cNvSpPr/>
          <p:nvPr/>
        </p:nvSpPr>
        <p:spPr>
          <a:xfrm>
            <a:off x="4775502" y="5781675"/>
            <a:ext cx="1588484" cy="161925"/>
          </a:xfrm>
          <a:prstGeom prst="rect">
            <a:avLst/>
          </a:prstGeom>
          <a:noFill/>
          <a:ln/>
        </p:spPr>
        <p:txBody>
          <a:bodyPr wrap="square" lIns="0" tIns="0" rIns="0" bIns="0" rtlCol="0" anchor="t"/>
          <a:lstStyle/>
          <a:p>
            <a:pPr algn="ctr" indent="0" marL="0">
              <a:spcBef>
                <a:spcPts val="300"/>
              </a:spcBef>
              <a:buNone/>
            </a:pPr>
            <a:r>
              <a:rPr lang="en-US" sz="900" dirty="0">
                <a:solidFill>
                  <a:srgbClr val="B8B3A3"/>
                </a:solidFill>
                <a:latin typeface="Noto Sans CJK SC" pitchFamily="34" charset="0"/>
                <a:ea typeface="Noto Sans CJK SC" pitchFamily="34" charset="-122"/>
                <a:cs typeface="Noto Sans CJK SC" pitchFamily="34" charset="-120"/>
              </a:rPr>
              <a:t>受救治伤员</a:t>
            </a:r>
            <a:endParaRPr lang="en-US" sz="900" dirty="0"/>
          </a:p>
        </p:txBody>
      </p:sp>
      <p:sp>
        <p:nvSpPr>
          <p:cNvPr id="22" name="Text 19"/>
          <p:cNvSpPr/>
          <p:nvPr/>
        </p:nvSpPr>
        <p:spPr>
          <a:xfrm>
            <a:off x="6653213" y="5210175"/>
            <a:ext cx="1824038" cy="885825"/>
          </a:xfrm>
          <a:prstGeom prst="rect">
            <a:avLst/>
          </a:prstGeom>
          <a:solidFill>
            <a:srgbClr val="1A1D2E"/>
          </a:solidFill>
          <a:ln/>
        </p:spPr>
        <p:txBody>
          <a:bodyPr wrap="square" rtlCol="0" anchor="ctr"/>
          <a:lstStyle/>
          <a:p>
            <a:pPr indent="0" marL="0">
              <a:buNone/>
            </a:pPr>
            <a:endParaRPr lang="en-US" dirty="0"/>
          </a:p>
        </p:txBody>
      </p:sp>
      <p:sp>
        <p:nvSpPr>
          <p:cNvPr id="23" name="Text 20"/>
          <p:cNvSpPr/>
          <p:nvPr/>
        </p:nvSpPr>
        <p:spPr>
          <a:xfrm>
            <a:off x="6770989" y="5362575"/>
            <a:ext cx="1588484" cy="381000"/>
          </a:xfrm>
          <a:prstGeom prst="rect">
            <a:avLst/>
          </a:prstGeom>
          <a:noFill/>
          <a:ln/>
        </p:spPr>
        <p:txBody>
          <a:bodyPr wrap="square" lIns="0" tIns="0" rIns="0" bIns="0" rtlCol="0" anchor="t"/>
          <a:lstStyle/>
          <a:p>
            <a:pPr algn="ctr" indent="0" marL="0">
              <a:buNone/>
            </a:pPr>
            <a:r>
              <a:rPr lang="en-US" sz="2100" b="1" dirty="0">
                <a:solidFill>
                  <a:srgbClr val="D4AF37"/>
                </a:solidFill>
                <a:latin typeface="Noto Sans CJK SC" pitchFamily="34" charset="0"/>
                <a:ea typeface="Noto Sans CJK SC" pitchFamily="34" charset="-122"/>
                <a:cs typeface="Noto Sans CJK SC" pitchFamily="34" charset="-120"/>
              </a:rPr>
              <a:t>200</a:t>
            </a:r>
            <a:endParaRPr lang="en-US" sz="2100" dirty="0"/>
          </a:p>
        </p:txBody>
      </p:sp>
      <p:sp>
        <p:nvSpPr>
          <p:cNvPr id="24" name="Text 21"/>
          <p:cNvSpPr/>
          <p:nvPr/>
        </p:nvSpPr>
        <p:spPr>
          <a:xfrm>
            <a:off x="6770989" y="5781675"/>
            <a:ext cx="1588484" cy="161925"/>
          </a:xfrm>
          <a:prstGeom prst="rect">
            <a:avLst/>
          </a:prstGeom>
          <a:noFill/>
          <a:ln/>
        </p:spPr>
        <p:txBody>
          <a:bodyPr wrap="square" lIns="0" tIns="0" rIns="0" bIns="0" rtlCol="0" anchor="t"/>
          <a:lstStyle/>
          <a:p>
            <a:pPr algn="ctr" indent="0" marL="0">
              <a:spcBef>
                <a:spcPts val="300"/>
              </a:spcBef>
              <a:buNone/>
            </a:pPr>
            <a:r>
              <a:rPr lang="en-US" sz="900" dirty="0">
                <a:solidFill>
                  <a:srgbClr val="B8B3A3"/>
                </a:solidFill>
                <a:latin typeface="Noto Sans CJK SC" pitchFamily="34" charset="0"/>
                <a:ea typeface="Noto Sans CJK SC" pitchFamily="34" charset="-122"/>
                <a:cs typeface="Noto Sans CJK SC" pitchFamily="34" charset="-120"/>
              </a:rPr>
              <a:t>处战地放射点</a:t>
            </a:r>
            <a:endParaRPr lang="en-US" sz="900" dirty="0"/>
          </a:p>
        </p:txBody>
      </p:sp>
      <p:sp>
        <p:nvSpPr>
          <p:cNvPr id="25" name="Text 22"/>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26" name="Text 23"/>
          <p:cNvSpPr/>
          <p:nvPr/>
        </p:nvSpPr>
        <p:spPr>
          <a:xfrm>
            <a:off x="7180213" y="6315075"/>
            <a:ext cx="1297037" cy="257175"/>
          </a:xfrm>
          <a:prstGeom prst="rect">
            <a:avLst/>
          </a:prstGeom>
          <a:solidFill>
            <a:srgbClr val="1A1D2E"/>
          </a:solidFill>
          <a:ln/>
        </p:spPr>
        <p:txBody>
          <a:bodyPr wrap="square" lIns="133350" tIns="38100" rIns="133350" bIns="38100" rtlCol="0" anchor="ctr"/>
          <a:lstStyle/>
          <a:p>
            <a:pPr algn="l" indent="0" marL="0">
              <a:buNone/>
            </a:pPr>
            <a:r>
              <a:rPr lang="en-US" sz="975" dirty="0">
                <a:solidFill>
                  <a:srgbClr val="F5F1E6"/>
                </a:solidFill>
                <a:latin typeface="Noto Sans CJK SC" pitchFamily="34" charset="0"/>
                <a:ea typeface="Noto Sans CJK SC" pitchFamily="34" charset="-122"/>
                <a:cs typeface="Noto Sans CJK SC" pitchFamily="34" charset="-120"/>
              </a:rPr>
              <a:t>1914 — 1918</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666750" y="476250"/>
            <a:ext cx="733824" cy="609600"/>
          </a:xfrm>
          <a:prstGeom prst="rect">
            <a:avLst/>
          </a:prstGeom>
          <a:noFill/>
          <a:ln/>
        </p:spPr>
        <p:txBody>
          <a:bodyPr wrap="square" lIns="0" tIns="0" rIns="0" bIns="0" rtlCol="0" anchor="t"/>
          <a:lstStyle/>
          <a:p>
            <a:pPr algn="l" indent="0" marL="0">
              <a:lnSpc>
                <a:spcPts val="4800"/>
              </a:lnSpc>
              <a:buNone/>
            </a:pPr>
            <a:r>
              <a:rPr lang="en-US" sz="4800" b="1" dirty="0">
                <a:solidFill>
                  <a:srgbClr val="D4AF37"/>
                </a:solidFill>
                <a:latin typeface="Noto Sans CJK SC" pitchFamily="34" charset="0"/>
                <a:ea typeface="Noto Sans CJK SC" pitchFamily="34" charset="-122"/>
                <a:cs typeface="Noto Sans CJK SC" pitchFamily="34" charset="-120"/>
              </a:rPr>
              <a:t>09</a:t>
            </a:r>
            <a:endParaRPr lang="en-US" sz="4800" dirty="0"/>
          </a:p>
        </p:txBody>
      </p:sp>
      <p:sp>
        <p:nvSpPr>
          <p:cNvPr id="3" name="Text 1"/>
          <p:cNvSpPr/>
          <p:nvPr/>
        </p:nvSpPr>
        <p:spPr>
          <a:xfrm>
            <a:off x="1595735" y="895350"/>
            <a:ext cx="2584475" cy="190500"/>
          </a:xfrm>
          <a:prstGeom prst="rect">
            <a:avLst/>
          </a:prstGeom>
          <a:noFill/>
          <a:ln/>
        </p:spPr>
        <p:txBody>
          <a:bodyPr wrap="square" lIns="0" tIns="0" rIns="0" bIns="0" rtlCol="0" anchor="t"/>
          <a:lstStyle/>
          <a:p>
            <a:pPr algn="l" indent="0" marL="0">
              <a:buNone/>
            </a:pPr>
            <a:r>
              <a:rPr lang="en-US" sz="1050" dirty="0">
                <a:solidFill>
                  <a:srgbClr val="8A8A8A"/>
                </a:solidFill>
                <a:latin typeface="Noto Sans CJK SC" pitchFamily="34" charset="0"/>
                <a:ea typeface="Noto Sans CJK SC" pitchFamily="34" charset="-122"/>
                <a:cs typeface="Noto Sans CJK SC" pitchFamily="34" charset="-120"/>
              </a:rPr>
              <a:t>CHAPTER · 1920–1934</a:t>
            </a:r>
            <a:endParaRPr lang="en-US" sz="1050" dirty="0"/>
          </a:p>
        </p:txBody>
      </p:sp>
      <p:sp>
        <p:nvSpPr>
          <p:cNvPr id="4" name="Text 2"/>
          <p:cNvSpPr/>
          <p:nvPr/>
        </p:nvSpPr>
        <p:spPr>
          <a:xfrm>
            <a:off x="1595735" y="1123950"/>
            <a:ext cx="2584475" cy="495300"/>
          </a:xfrm>
          <a:prstGeom prst="rect">
            <a:avLst/>
          </a:prstGeom>
          <a:noFill/>
          <a:ln/>
        </p:spPr>
        <p:txBody>
          <a:bodyPr wrap="square" lIns="0" tIns="0" rIns="0" bIns="0" rtlCol="0" anchor="t"/>
          <a:lstStyle/>
          <a:p>
            <a:pPr algn="l" indent="0" marL="0">
              <a:spcBef>
                <a:spcPts val="300"/>
              </a:spcBef>
              <a:buNone/>
            </a:pPr>
            <a:r>
              <a:rPr lang="en-US" sz="2700" b="1" dirty="0">
                <a:solidFill>
                  <a:srgbClr val="1A1D2E"/>
                </a:solidFill>
                <a:latin typeface="Noto Sans CJK SC" pitchFamily="34" charset="0"/>
                <a:ea typeface="Noto Sans CJK SC" pitchFamily="34" charset="-122"/>
                <a:cs typeface="Noto Sans CJK SC" pitchFamily="34" charset="-120"/>
              </a:rPr>
              <a:t>晚年与精神遗产</a:t>
            </a:r>
            <a:endParaRPr lang="en-US" sz="2700" dirty="0"/>
          </a:p>
        </p:txBody>
      </p:sp>
      <p:sp>
        <p:nvSpPr>
          <p:cNvPr id="5" name="Text 3"/>
          <p:cNvSpPr/>
          <p:nvPr/>
        </p:nvSpPr>
        <p:spPr>
          <a:xfrm>
            <a:off x="666750" y="1381125"/>
            <a:ext cx="1047750" cy="28575"/>
          </a:xfrm>
          <a:prstGeom prst="rect">
            <a:avLst/>
          </a:prstGeom>
          <a:solidFill>
            <a:srgbClr val="D4AF37"/>
          </a:solidFill>
          <a:ln/>
        </p:spPr>
        <p:txBody>
          <a:bodyPr wrap="square" rtlCol="0" anchor="ctr"/>
          <a:lstStyle/>
          <a:p>
            <a:pPr indent="0" marL="0">
              <a:buNone/>
            </a:pPr>
            <a:endParaRPr lang="en-US" dirty="0"/>
          </a:p>
        </p:txBody>
      </p:sp>
      <p:sp>
        <p:nvSpPr>
          <p:cNvPr id="6" name="Text 4"/>
          <p:cNvSpPr/>
          <p:nvPr/>
        </p:nvSpPr>
        <p:spPr>
          <a:xfrm>
            <a:off x="666750" y="1857375"/>
            <a:ext cx="4566285" cy="615255"/>
          </a:xfrm>
          <a:prstGeom prst="rect">
            <a:avLst/>
          </a:prstGeom>
          <a:noFill/>
          <a:ln/>
        </p:spPr>
        <p:txBody>
          <a:bodyPr wrap="square" lIns="0" tIns="0" rIns="0" bIns="0" rtlCol="0" anchor="t"/>
          <a:lstStyle/>
          <a:p>
            <a:pPr algn="l" indent="0" marL="0">
              <a:lnSpc>
                <a:spcPts val="2423"/>
              </a:lnSpc>
              <a:spcAft>
                <a:spcPts val="1350"/>
              </a:spcAft>
              <a:buNone/>
            </a:pPr>
            <a:r>
              <a:rPr lang="en-US" sz="1425" dirty="0">
                <a:solidFill>
                  <a:srgbClr val="1A1D2E"/>
                </a:solidFill>
                <a:latin typeface="Noto Sans CJK SC Medium" pitchFamily="34" charset="0"/>
                <a:ea typeface="Noto Sans CJK SC Medium" pitchFamily="34" charset="-122"/>
                <a:cs typeface="Noto Sans CJK SC Medium" pitchFamily="34" charset="-120"/>
              </a:rPr>
              <a:t>战后，玛丽回到巴黎镭学研究院，继续培养来自世界各地的青年科学家，并两度出访美国筹集研究用镭。</a:t>
            </a:r>
            <a:endParaRPr lang="en-US" sz="1425" dirty="0"/>
          </a:p>
        </p:txBody>
      </p:sp>
      <p:sp>
        <p:nvSpPr>
          <p:cNvPr id="7" name="Text 5"/>
          <p:cNvSpPr/>
          <p:nvPr/>
        </p:nvSpPr>
        <p:spPr>
          <a:xfrm>
            <a:off x="666750" y="2644080"/>
            <a:ext cx="4566285" cy="750094"/>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1921年与1929年，她在美国女性主义者的捐助下先后获得</a:t>
            </a:r>
            <a:pPr algn="l" indent="0" marL="0">
              <a:lnSpc>
                <a:spcPts val="1969"/>
              </a:lnSpc>
              <a:spcAft>
                <a:spcPts val="900"/>
              </a:spcAft>
              <a:buNone/>
            </a:pPr>
            <a:r>
              <a:rPr lang="en-US" sz="1125" b="1" dirty="0">
                <a:solidFill>
                  <a:srgbClr val="8A5A1A"/>
                </a:solidFill>
                <a:latin typeface="Noto Sans CJK SC" pitchFamily="34" charset="0"/>
                <a:ea typeface="Noto Sans CJK SC" pitchFamily="34" charset="-122"/>
                <a:cs typeface="Noto Sans CJK SC" pitchFamily="34" charset="-120"/>
              </a:rPr>
              <a:t>两克镭</a:t>
            </a:r>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，分别用于巴黎与华沙两座镭学研究院的研究。华沙研究院由她与长女伊蕾娜共同推动建立。</a:t>
            </a:r>
            <a:endParaRPr lang="en-US" sz="1125" dirty="0"/>
          </a:p>
        </p:txBody>
      </p:sp>
      <p:sp>
        <p:nvSpPr>
          <p:cNvPr id="8" name="Text 6"/>
          <p:cNvSpPr/>
          <p:nvPr/>
        </p:nvSpPr>
        <p:spPr>
          <a:xfrm>
            <a:off x="666750" y="3508474"/>
            <a:ext cx="4566285" cy="500063"/>
          </a:xfrm>
          <a:prstGeom prst="rect">
            <a:avLst/>
          </a:prstGeom>
          <a:noFill/>
          <a:ln/>
        </p:spPr>
        <p:txBody>
          <a:bodyPr wrap="square" lIns="0" tIns="0" rIns="0" bIns="0" rtlCol="0" anchor="t"/>
          <a:lstStyle/>
          <a:p>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1934年7月4日，玛丽因</a:t>
            </a:r>
            <a:pPr algn="l" indent="0" marL="0">
              <a:lnSpc>
                <a:spcPts val="1969"/>
              </a:lnSpc>
              <a:spcAft>
                <a:spcPts val="900"/>
              </a:spcAft>
              <a:buNone/>
            </a:pPr>
            <a:r>
              <a:rPr lang="en-US" sz="1125" b="1" dirty="0">
                <a:solidFill>
                  <a:srgbClr val="8A5A1A"/>
                </a:solidFill>
                <a:latin typeface="Noto Sans CJK SC" pitchFamily="34" charset="0"/>
                <a:ea typeface="Noto Sans CJK SC" pitchFamily="34" charset="-122"/>
                <a:cs typeface="Noto Sans CJK SC" pitchFamily="34" charset="-120"/>
              </a:rPr>
              <a:t>长期辐射所致的再生障碍性贫血</a:t>
            </a:r>
            <a:pPr algn="l" indent="0" marL="0">
              <a:lnSpc>
                <a:spcPts val="1969"/>
              </a:lnSpc>
              <a:spcAft>
                <a:spcPts val="900"/>
              </a:spcAft>
              <a:buNone/>
            </a:pPr>
            <a:r>
              <a:rPr lang="en-US" sz="1125" dirty="0">
                <a:solidFill>
                  <a:srgbClr val="3A3A3A"/>
                </a:solidFill>
                <a:latin typeface="Noto Sans CJK SC" pitchFamily="34" charset="0"/>
                <a:ea typeface="Noto Sans CJK SC" pitchFamily="34" charset="-122"/>
                <a:cs typeface="Noto Sans CJK SC" pitchFamily="34" charset="-120"/>
              </a:rPr>
              <a:t>在法国桑塞勒穆兹疗养院去世，享年66岁。她以生命验证了自己研究的代价。</a:t>
            </a:r>
            <a:endParaRPr lang="en-US" sz="1125" dirty="0"/>
          </a:p>
        </p:txBody>
      </p:sp>
      <p:sp>
        <p:nvSpPr>
          <p:cNvPr id="9" name="Text 7"/>
          <p:cNvSpPr/>
          <p:nvPr/>
        </p:nvSpPr>
        <p:spPr>
          <a:xfrm>
            <a:off x="666750" y="4160937"/>
            <a:ext cx="4476750" cy="1223963"/>
          </a:xfrm>
          <a:prstGeom prst="rect">
            <a:avLst/>
          </a:prstGeom>
          <a:solidFill>
            <a:srgbClr val="ECE3CD"/>
          </a:solidFill>
          <a:ln/>
        </p:spPr>
        <p:txBody>
          <a:bodyPr wrap="square" rtlCol="0" anchor="ctr"/>
          <a:lstStyle/>
          <a:p>
            <a:pPr indent="0" marL="0">
              <a:buNone/>
            </a:pPr>
            <a:endParaRPr lang="en-US" dirty="0"/>
          </a:p>
        </p:txBody>
      </p:sp>
      <p:sp>
        <p:nvSpPr>
          <p:cNvPr id="10" name="Shape 8"/>
          <p:cNvSpPr/>
          <p:nvPr/>
        </p:nvSpPr>
        <p:spPr>
          <a:xfrm>
            <a:off x="685800" y="4294287"/>
            <a:ext cx="0" cy="957263"/>
          </a:xfrm>
          <a:prstGeom prst="line">
            <a:avLst/>
          </a:prstGeom>
          <a:noFill/>
          <a:ln w="38100">
            <a:solidFill>
              <a:srgbClr val="D4AF37"/>
            </a:solidFill>
            <a:prstDash val="solid"/>
          </a:ln>
        </p:spPr>
      </p:sp>
      <p:sp>
        <p:nvSpPr>
          <p:cNvPr id="11" name="Text 9"/>
          <p:cNvSpPr/>
          <p:nvPr/>
        </p:nvSpPr>
        <p:spPr>
          <a:xfrm>
            <a:off x="876300" y="4294287"/>
            <a:ext cx="4177665" cy="180975"/>
          </a:xfrm>
          <a:prstGeom prst="rect">
            <a:avLst/>
          </a:prstGeom>
          <a:noFill/>
          <a:ln/>
        </p:spPr>
        <p:txBody>
          <a:bodyPr wrap="square" lIns="0" tIns="0" rIns="0" bIns="0" rtlCol="0" anchor="t"/>
          <a:lstStyle/>
          <a:p>
            <a:pPr algn="l" indent="0" marL="0">
              <a:spcAft>
                <a:spcPts val="600"/>
              </a:spcAft>
              <a:buNone/>
            </a:pPr>
            <a:r>
              <a:rPr lang="en-US" sz="975" b="1" dirty="0">
                <a:solidFill>
                  <a:srgbClr val="8A5A1A"/>
                </a:solidFill>
                <a:latin typeface="Noto Sans CJK SC" pitchFamily="34" charset="0"/>
                <a:ea typeface="Noto Sans CJK SC" pitchFamily="34" charset="-122"/>
                <a:cs typeface="Noto Sans CJK SC" pitchFamily="34" charset="-120"/>
              </a:rPr>
              <a:t>持久遗产</a:t>
            </a:r>
            <a:endParaRPr lang="en-US" sz="975" dirty="0"/>
          </a:p>
        </p:txBody>
      </p:sp>
      <p:sp>
        <p:nvSpPr>
          <p:cNvPr id="12" name="Text 10"/>
          <p:cNvSpPr/>
          <p:nvPr/>
        </p:nvSpPr>
        <p:spPr>
          <a:xfrm>
            <a:off x="876300" y="4551462"/>
            <a:ext cx="4095750" cy="700088"/>
          </a:xfrm>
          <a:prstGeom prst="rect">
            <a:avLst/>
          </a:prstGeom>
          <a:noFill/>
          <a:ln/>
        </p:spPr>
        <p:txBody>
          <a:bodyPr wrap="square" lIns="0" tIns="0" rIns="0" bIns="0" rtlCol="0" anchor="t"/>
          <a:lstStyle/>
          <a:p>
            <a:pPr algn="l" marL="133350" indent="-133350">
              <a:lnSpc>
                <a:spcPts val="1838"/>
              </a:lnSpc>
              <a:buSzPct val="100000"/>
              <a:buChar char="●"/>
            </a:pPr>
            <a:r>
              <a:rPr lang="en-US" sz="1050" dirty="0">
                <a:solidFill>
                  <a:srgbClr val="2B2B2B"/>
                </a:solidFill>
                <a:latin typeface="Noto Sans CJK SC" pitchFamily="34" charset="0"/>
                <a:ea typeface="Noto Sans CJK SC" pitchFamily="34" charset="-122"/>
                <a:cs typeface="Noto Sans CJK SC" pitchFamily="34" charset="-120"/>
              </a:rPr>
              <a:t>伊蕾娜·约里奥-居里于1935年再获诺贝尔化学奖</a:t>
            </a:r>
            <a:endParaRPr lang="en-US" sz="1050" dirty="0"/>
          </a:p>
          <a:p>
            <a:pPr algn="l" marL="133350" indent="-133350">
              <a:lnSpc>
                <a:spcPts val="1838"/>
              </a:lnSpc>
              <a:buSzPct val="100000"/>
              <a:buChar char="●"/>
            </a:pPr>
            <a:r>
              <a:rPr lang="en-US" sz="1050" dirty="0">
                <a:solidFill>
                  <a:srgbClr val="2B2B2B"/>
                </a:solidFill>
                <a:latin typeface="Noto Sans CJK SC" pitchFamily="34" charset="0"/>
                <a:ea typeface="Noto Sans CJK SC" pitchFamily="34" charset="-122"/>
                <a:cs typeface="Noto Sans CJK SC" pitchFamily="34" charset="-120"/>
              </a:rPr>
              <a:t>居里家族至今累计获五次诺贝尔奖</a:t>
            </a:r>
            <a:endParaRPr lang="en-US" sz="1050" dirty="0"/>
          </a:p>
          <a:p>
            <a:pPr algn="l" marL="133350" indent="-133350">
              <a:lnSpc>
                <a:spcPts val="1838"/>
              </a:lnSpc>
              <a:buSzPct val="100000"/>
              <a:buChar char="●"/>
            </a:pPr>
            <a:r>
              <a:rPr lang="en-US" sz="1050" dirty="0">
                <a:solidFill>
                  <a:srgbClr val="2B2B2B"/>
                </a:solidFill>
                <a:latin typeface="Noto Sans CJK SC" pitchFamily="34" charset="0"/>
                <a:ea typeface="Noto Sans CJK SC" pitchFamily="34" charset="-122"/>
                <a:cs typeface="Noto Sans CJK SC" pitchFamily="34" charset="-120"/>
              </a:rPr>
              <a:t>1995年她的灵柩迁入巴黎先贤祠</a:t>
            </a:r>
            <a:endParaRPr lang="en-US" sz="1050" dirty="0"/>
          </a:p>
        </p:txBody>
      </p:sp>
      <p:sp>
        <p:nvSpPr>
          <p:cNvPr id="13" name="Text 11"/>
          <p:cNvSpPr/>
          <p:nvPr/>
        </p:nvSpPr>
        <p:spPr>
          <a:xfrm>
            <a:off x="5143500" y="1857375"/>
            <a:ext cx="3333750" cy="3429000"/>
          </a:xfrm>
          <a:prstGeom prst="rect">
            <a:avLst/>
          </a:prstGeom>
          <a:noFill/>
          <a:ln w="38100">
            <a:solidFill>
              <a:srgbClr val="FFFFFF"/>
            </a:solidFill>
          </a:ln>
          <a:effectLst>
            <a:outerShdw sx="100000" sy="100000" kx="0" ky="0" algn="bl" rotWithShape="0" blurRad="228600" dist="76200" dir="5400000">
              <a:srgbClr val="000000">
                <a:alpha val="18000"/>
              </a:srgbClr>
            </a:outerShdw>
          </a:effectLst>
        </p:spPr>
        <p:txBody>
          <a:bodyPr wrap="square" rtlCol="0" anchor="ctr"/>
          <a:lstStyle/>
          <a:p>
            <a:pPr indent="0" marL="0">
              <a:buNone/>
            </a:pPr>
            <a:endParaRPr lang="en-US" dirty="0"/>
          </a:p>
        </p:txBody>
      </p:sp>
      <p:pic>
        <p:nvPicPr>
          <p:cNvPr id="14" name="Image 0" descr="/tmp/html2pptx-BTBdDB/html2pptx-bg-1786384803784-71168dd692eb9.png">    </p:cNvPr>
          <p:cNvPicPr>
            <a:picLocks noChangeAspect="1"/>
          </p:cNvPicPr>
          <p:nvPr/>
        </p:nvPicPr>
        <p:blipFill>
          <a:blip r:embed="rId1"/>
          <a:stretch>
            <a:fillRect/>
          </a:stretch>
        </p:blipFill>
        <p:spPr>
          <a:xfrm>
            <a:off x="5181600" y="1895475"/>
            <a:ext cx="3257550" cy="3352800"/>
          </a:xfrm>
          <a:prstGeom prst="rect">
            <a:avLst/>
          </a:prstGeom>
        </p:spPr>
      </p:pic>
      <p:sp>
        <p:nvSpPr>
          <p:cNvPr id="15" name="Text 12"/>
          <p:cNvSpPr/>
          <p:nvPr/>
        </p:nvSpPr>
        <p:spPr>
          <a:xfrm>
            <a:off x="5076825" y="5381625"/>
            <a:ext cx="3400425" cy="180975"/>
          </a:xfrm>
          <a:prstGeom prst="rect">
            <a:avLst/>
          </a:prstGeom>
          <a:noFill/>
          <a:ln/>
        </p:spPr>
        <p:txBody>
          <a:bodyPr wrap="square" lIns="0" tIns="0" rIns="0" bIns="0" rtlCol="0" anchor="t"/>
          <a:lstStyle/>
          <a:p>
            <a:pPr algn="r" indent="0" marL="0">
              <a:buNone/>
            </a:pPr>
            <a:r>
              <a:rPr lang="en-US" sz="975" dirty="0">
                <a:solidFill>
                  <a:srgbClr val="8A8A8A"/>
                </a:solidFill>
                <a:latin typeface="Noto Sans CJK SC" pitchFamily="34" charset="0"/>
                <a:ea typeface="Noto Sans CJK SC" pitchFamily="34" charset="-122"/>
                <a:cs typeface="Noto Sans CJK SC" pitchFamily="34" charset="-120"/>
              </a:rPr>
              <a:t>巴黎居里研究所 · 玛丽事业的延续</a:t>
            </a:r>
            <a:endParaRPr lang="en-US" sz="975" dirty="0"/>
          </a:p>
        </p:txBody>
      </p:sp>
      <p:sp>
        <p:nvSpPr>
          <p:cNvPr id="16" name="Text 13"/>
          <p:cNvSpPr/>
          <p:nvPr/>
        </p:nvSpPr>
        <p:spPr>
          <a:xfrm>
            <a:off x="666750" y="5695950"/>
            <a:ext cx="7810500" cy="495300"/>
          </a:xfrm>
          <a:prstGeom prst="rect">
            <a:avLst/>
          </a:prstGeom>
          <a:solidFill>
            <a:srgbClr val="1A1D2E"/>
          </a:solidFill>
          <a:ln/>
        </p:spPr>
        <p:txBody>
          <a:bodyPr wrap="square" rtlCol="0" anchor="ctr"/>
          <a:lstStyle/>
          <a:p>
            <a:pPr indent="0" marL="0">
              <a:buNone/>
            </a:pPr>
            <a:endParaRPr lang="en-US" dirty="0"/>
          </a:p>
        </p:txBody>
      </p:sp>
      <p:sp>
        <p:nvSpPr>
          <p:cNvPr id="17" name="Text 14"/>
          <p:cNvSpPr/>
          <p:nvPr/>
        </p:nvSpPr>
        <p:spPr>
          <a:xfrm>
            <a:off x="876300" y="5829300"/>
            <a:ext cx="2470318" cy="228600"/>
          </a:xfrm>
          <a:prstGeom prst="rect">
            <a:avLst/>
          </a:prstGeom>
          <a:noFill/>
          <a:ln/>
        </p:spPr>
        <p:txBody>
          <a:bodyPr wrap="square" lIns="0" tIns="0" rIns="0" bIns="0" rtlCol="0" anchor="t"/>
          <a:lstStyle/>
          <a:p>
            <a:pPr algn="l" indent="0" marL="0">
              <a:lnSpc>
                <a:spcPts val="1800"/>
              </a:lnSpc>
              <a:buNone/>
            </a:pPr>
            <a:r>
              <a:rPr lang="en-US" sz="1125" i="1" dirty="0">
                <a:solidFill>
                  <a:srgbClr val="F0E6C8"/>
                </a:solidFill>
                <a:latin typeface="Noto Sans CJK SC" pitchFamily="34" charset="0"/>
                <a:ea typeface="Noto Sans CJK SC" pitchFamily="34" charset="-122"/>
                <a:cs typeface="Noto Sans CJK SC" pitchFamily="34" charset="-120"/>
              </a:rPr>
              <a:t>"在科学事业中，应当关注事而非人。"</a:t>
            </a:r>
            <a:endParaRPr lang="en-US" sz="1125" dirty="0"/>
          </a:p>
        </p:txBody>
      </p:sp>
      <p:sp>
        <p:nvSpPr>
          <p:cNvPr id="18" name="Text 15"/>
          <p:cNvSpPr/>
          <p:nvPr/>
        </p:nvSpPr>
        <p:spPr>
          <a:xfrm>
            <a:off x="7468195" y="5853113"/>
            <a:ext cx="815495" cy="180975"/>
          </a:xfrm>
          <a:prstGeom prst="rect">
            <a:avLst/>
          </a:prstGeom>
          <a:noFill/>
          <a:ln/>
        </p:spPr>
        <p:txBody>
          <a:bodyPr wrap="square" lIns="0" tIns="0" rIns="0" bIns="0" rtlCol="0" anchor="t"/>
          <a:lstStyle/>
          <a:p>
            <a:pPr algn="l" indent="0" marL="0">
              <a:buNone/>
            </a:pPr>
            <a:r>
              <a:rPr lang="en-US" sz="975" b="1" dirty="0">
                <a:solidFill>
                  <a:srgbClr val="D4AF37"/>
                </a:solidFill>
                <a:latin typeface="Noto Sans CJK SC" pitchFamily="34" charset="0"/>
                <a:ea typeface="Noto Sans CJK SC" pitchFamily="34" charset="-122"/>
                <a:cs typeface="Noto Sans CJK SC" pitchFamily="34" charset="-120"/>
              </a:rPr>
              <a:t>THE END</a:t>
            </a:r>
            <a:endParaRPr lang="en-US" sz="975" dirty="0"/>
          </a:p>
        </p:txBody>
      </p:sp>
      <p:sp>
        <p:nvSpPr>
          <p:cNvPr id="19" name="Text 16"/>
          <p:cNvSpPr/>
          <p:nvPr/>
        </p:nvSpPr>
        <p:spPr>
          <a:xfrm>
            <a:off x="666750" y="6353175"/>
            <a:ext cx="1987731" cy="180975"/>
          </a:xfrm>
          <a:prstGeom prst="rect">
            <a:avLst/>
          </a:prstGeom>
          <a:noFill/>
          <a:ln/>
        </p:spPr>
        <p:txBody>
          <a:bodyPr wrap="square" lIns="0" tIns="0" rIns="0" bIns="0" rtlCol="0" anchor="t"/>
          <a:lstStyle/>
          <a:p>
            <a:pPr algn="l" indent="0" marL="0">
              <a:buNone/>
            </a:pPr>
            <a:r>
              <a:rPr lang="en-US" sz="975" b="1" dirty="0">
                <a:solidFill>
                  <a:srgbClr val="1A1D2E"/>
                </a:solidFill>
                <a:latin typeface="Noto Sans CJK SC" pitchFamily="34" charset="0"/>
                <a:ea typeface="Noto Sans CJK SC" pitchFamily="34" charset="-122"/>
                <a:cs typeface="Noto Sans CJK SC" pitchFamily="34" charset="-120"/>
              </a:rPr>
              <a:t>MARIE CURIE · 居里夫人传</a:t>
            </a:r>
            <a:endParaRPr lang="en-US" sz="975" dirty="0"/>
          </a:p>
        </p:txBody>
      </p:sp>
      <p:sp>
        <p:nvSpPr>
          <p:cNvPr id="20" name="Text 17"/>
          <p:cNvSpPr/>
          <p:nvPr/>
        </p:nvSpPr>
        <p:spPr>
          <a:xfrm>
            <a:off x="7180213" y="6315075"/>
            <a:ext cx="1297037" cy="257175"/>
          </a:xfrm>
          <a:prstGeom prst="rect">
            <a:avLst/>
          </a:prstGeom>
          <a:solidFill>
            <a:srgbClr val="1A1D2E"/>
          </a:solidFill>
          <a:ln/>
        </p:spPr>
        <p:txBody>
          <a:bodyPr wrap="square" lIns="133350" tIns="38100" rIns="133350" bIns="38100" rtlCol="0" anchor="ctr"/>
          <a:lstStyle/>
          <a:p>
            <a:pPr algn="l" indent="0" marL="0">
              <a:buNone/>
            </a:pPr>
            <a:r>
              <a:rPr lang="en-US" sz="975" dirty="0">
                <a:solidFill>
                  <a:srgbClr val="F5F1E6"/>
                </a:solidFill>
                <a:latin typeface="Noto Sans CJK SC" pitchFamily="34" charset="0"/>
                <a:ea typeface="Noto Sans CJK SC" pitchFamily="34" charset="-122"/>
                <a:cs typeface="Noto Sans CJK SC" pitchFamily="34" charset="-120"/>
              </a:rPr>
              <a:t>1867 — 1934</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DeepPresenter</cp:lastModifiedBy>
  <cp:revision>1</cp:revision>
  <dcterms:created xsi:type="dcterms:W3CDTF">2026-08-10T18:00:04Z</dcterms:created>
  <dcterms:modified xsi:type="dcterms:W3CDTF">2026-08-10T18:00:04Z</dcterms:modified>
</cp:coreProperties>
</file>