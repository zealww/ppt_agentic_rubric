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YS7KCQ/html2pptx-bg-1786380903980-32ae9195e1ca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YS7KCQ/html2pptx-bg-1786380904437-04842117307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-1714500"/>
            <a:ext cx="4953000" cy="4953000"/>
          </a:xfrm>
          <a:prstGeom prst="rect">
            <a:avLst/>
          </a:prstGeom>
        </p:spPr>
      </p:pic>
      <p:pic>
        <p:nvPicPr>
          <p:cNvPr id="4" name="Image 2" descr="/tmp/html2pptx-YS7KCQ/html2pptx-bg-1786380904595-3f1cb7d0dfb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7250" y="4953000"/>
            <a:ext cx="2667000" cy="2667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104775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1047750" y="1047750"/>
            <a:ext cx="228602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FD0FF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HR 专题 · 组织文化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762000" y="1571625"/>
            <a:ext cx="7383780" cy="619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75"/>
              </a:lnSpc>
              <a:buNone/>
            </a:pPr>
            <a:r>
              <a:rPr lang="en-US" sz="3900" b="1" dirty="0">
                <a:solidFill>
                  <a:srgbClr val="F4F7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解锁健康的工作关系</a:t>
            </a:r>
            <a:endParaRPr lang="en-US" sz="3900" dirty="0"/>
          </a:p>
        </p:txBody>
      </p:sp>
      <p:sp>
        <p:nvSpPr>
          <p:cNvPr id="8" name="Text 3"/>
          <p:cNvSpPr/>
          <p:nvPr/>
        </p:nvSpPr>
        <p:spPr>
          <a:xfrm>
            <a:off x="781050" y="3429000"/>
            <a:ext cx="6995160" cy="6494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通过库克-梅德利敌意量表等个性评估工具</a:t>
            </a:r>
            <a:endParaRPr lang="en-US" sz="165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转变企业文化，重塑招聘、沟通与领导力发展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781050" y="5962650"/>
            <a:ext cx="371739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面向人力资源专业人士 </a:t>
            </a:r>
            <a:r>
              <a:rPr lang="en-US" sz="1200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内部培训 / 管理层会议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92613" y="5810250"/>
            <a:ext cx="3284637" cy="47625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9FD0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411688" y="5953125"/>
            <a:ext cx="290341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</a:t>
            </a:r>
            <a:r>
              <a:rPr lang="en-US" sz="105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Cook-Medley Hostility Scale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NWyXjg/html2pptx-bg-1786380907925-0a6cec379c6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67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571500"/>
            <a:ext cx="202082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050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42900" y="933450"/>
            <a:ext cx="2020824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本次内容概览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42900" y="1647825"/>
            <a:ext cx="2020824" cy="7286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Bef>
                <a:spcPts val="2700"/>
              </a:spcBef>
              <a:buNone/>
            </a:pPr>
            <a:r>
              <a:rPr lang="en-US" sz="112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从量表原理到落地路径，系统了解如何用个性评估工具驱动组织文化转型。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42900" y="6200775"/>
            <a:ext cx="199486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7FA9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· WORKPLACE 2026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238500" y="666750"/>
            <a:ext cx="544068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七个模块，构建完整认知与行动框架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238500" y="1985963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38500" y="13716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54586" y="1504950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05250" y="1371600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量表概述与原理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05250" y="1657350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什么是库克-梅德利敌意量表，它的来源与测量目标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3238500" y="2733675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38500" y="211931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54586" y="2252663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905250" y="2119313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六大敌意维度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905250" y="2405063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愤世嫉俗、敌意归因、敌意情绪等核心子量表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3238500" y="3481388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38500" y="2867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354586" y="3000375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05250" y="2867025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企业应用场景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905250" y="3152775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招聘、团队沟通、领导力发展、员工保留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3238500" y="4229100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38500" y="3614738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354586" y="3748087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905250" y="3614738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实施最佳实践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3905250" y="3900488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综合策略、保密性、反馈机制、文化影响监测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3238500" y="4976813"/>
            <a:ext cx="533400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38500" y="43624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354586" y="4495800"/>
            <a:ext cx="22937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905250" y="4362450"/>
            <a:ext cx="476059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总结与行动建议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3905250" y="4648200"/>
            <a:ext cx="4760595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面向HR的关键洞察与下一步落地路径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6750" y="476250"/>
            <a:ext cx="796671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01 · 概述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6750" y="762000"/>
            <a:ext cx="796671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27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什么是库克-梅德利敌意量表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6750" y="13906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36591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库克-梅德利敌意量表（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Cook-Medley Hostility Scale，简称 CMHS / Ho 量表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）源自明尼苏达多相人格测验（MMPI），由 Cook 与 Medley 于 1954 年提出，最初用于测量个体在 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敌意、愤世嫉俗与攻击性反应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方面的稳定倾向。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750" y="3238500"/>
            <a:ext cx="36591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在企业环境中，CMHS 不再被视为"医学诊断"，而是作为一种 </a:t>
            </a: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性格与人际风格评估工具</a:t>
            </a:r>
            <a:r>
              <a:rPr lang="en-US" sz="120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，帮助 HR 识别那些可能影响团队氛围、沟通质量与领导有效性的认知-情感模式。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97003" y="1771650"/>
            <a:ext cx="3880247" cy="2743200"/>
          </a:xfrm>
          <a:prstGeom prst="roundRect">
            <a:avLst>
              <a:gd name="adj" fmla="val 4861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20816" y="2038350"/>
            <a:ext cx="0" cy="2209800"/>
          </a:xfrm>
          <a:prstGeom prst="line">
            <a:avLst/>
          </a:prstGeom>
          <a:noFill/>
          <a:ln w="47625">
            <a:solidFill>
              <a:srgbClr val="1D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0378" y="2038350"/>
            <a:ext cx="332634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关键参数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0378" y="2767013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930378" y="248602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78128" y="248602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Cook &amp; Medley (1954)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0378" y="3138488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930378" y="2857500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来源量表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78128" y="2857500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MMPI（明尼苏达多相人格测验）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0378" y="3509963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930378" y="322897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原始题量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78128" y="322897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 道自陈题项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0378" y="3881438"/>
            <a:ext cx="3261122" cy="0"/>
          </a:xfrm>
          <a:prstGeom prst="line">
            <a:avLst/>
          </a:prstGeom>
          <a:noFill/>
          <a:ln w="9525">
            <a:solidFill>
              <a:srgbClr val="CDDDE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0378" y="3600450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测量对象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78128" y="3600450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敌意人格倾向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0378" y="3971925"/>
            <a:ext cx="10687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企业定位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78128" y="3971925"/>
            <a:ext cx="22576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人际风格与文化适配</a:t>
            </a:r>
            <a:endParaRPr lang="en-US" sz="1050" dirty="0"/>
          </a:p>
        </p:txBody>
      </p:sp>
      <p:pic>
        <p:nvPicPr>
          <p:cNvPr id="25" name="Image 0" descr="/tmp/html2pptx-EbNRJP/html2pptx-bg-1786380910538-7b91128e0a49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5810250"/>
            <a:ext cx="7810500" cy="6667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52500" y="5953125"/>
            <a:ext cx="376324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492895" y="6043613"/>
            <a:ext cx="67446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通过识别敌意倾向，HR 可在招聘、团队组建与领导力发展中作出更明智的决策，从而推动健康工作关系的构建。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02 · 维度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的六大敌意子量表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050" y="155257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105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愤世嫉俗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8105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Cynicism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8105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对人性的普遍负面看法，倾向于认为他人自私、不可信任。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29565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05200" y="155257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20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520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敌意归因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350520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Hostile Attributions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50520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将他人中性行为解释为带有敌意或贬低意图的认知偏差。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19800" y="153352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29350" y="155257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9350" y="176212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9350" y="198120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敌意情绪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6229350" y="226695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Hostile Affect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29350" y="253365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容易体验愤怒、烦躁、不耐烦等负面情绪反应。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7150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81050" y="343852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05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105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攻击性反应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78105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Aggressive Responding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8105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倾向于以言语或行为反击回应冲突或挫折。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29565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505200" y="3438525"/>
            <a:ext cx="2133600" cy="0"/>
          </a:xfrm>
          <a:prstGeom prst="line">
            <a:avLst/>
          </a:prstGeom>
          <a:noFill/>
          <a:ln w="38100">
            <a:solidFill>
              <a:srgbClr val="1D4E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520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0520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社交回避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50520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Social Avoidance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50520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在人际互动中退缩、回避，降低团队连接与协作质量。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019800" y="3419475"/>
            <a:ext cx="25527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2A44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229350" y="3438525"/>
            <a:ext cx="2133600" cy="0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9350" y="3648075"/>
            <a:ext cx="21762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9350" y="3867150"/>
            <a:ext cx="217627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42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其他维度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6229350" y="4152900"/>
            <a:ext cx="21762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82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Other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229350" y="4419600"/>
            <a:ext cx="2176272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4154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与人际信任、合作意愿相关的补充性指标。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571500" y="6419850"/>
            <a:ext cx="816102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解读提示：</a:t>
            </a:r>
            <a:r>
              <a:rPr lang="en-US" sz="90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六维度共同构成敌意人格画像。HR 在使用时应关注</a:t>
            </a:r>
            <a:r>
              <a:rPr lang="en-US" sz="90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整体模式</a:t>
            </a:r>
            <a:r>
              <a:rPr lang="en-US" sz="900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而非单一维度高分，避免标签化候选人或员工。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企业中的目的与应用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478002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HR 要引入 CMHS？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933575"/>
            <a:ext cx="4780026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在组织层面，敌意倾向会直接侵蚀 </a:t>
            </a: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心理安全感、协作质量与领导信任</a:t>
            </a: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。CMHS 的价值不在于"筛掉人"，而在于 </a:t>
            </a: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提前识别风险、精准匹配支持</a:t>
            </a: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，将个性数据纳入人才决策与文化建设的闭环。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708821"/>
            <a:ext cx="4780026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通过结构化使用，HR 可获得一套客观、可追踪的人际风格基线，为招聘、团队组建与领导力发展提供数据支撑。</a:t>
            </a:r>
            <a:endParaRPr lang="en-US" sz="1050" dirty="0"/>
          </a:p>
        </p:txBody>
      </p:sp>
      <p:pic>
        <p:nvPicPr>
          <p:cNvPr id="9" name="Image 0" descr="/tmp/html2pptx-V8RtYp/html2pptx-bg-1786380914336-aa91f45f2f1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1552575"/>
            <a:ext cx="30480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23900" y="5500688"/>
            <a:ext cx="1595438" cy="0"/>
          </a:xfrm>
          <a:prstGeom prst="line">
            <a:avLst/>
          </a:prstGeom>
          <a:noFill/>
          <a:ln w="28575">
            <a:solidFill>
              <a:srgbClr val="1D4E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00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8526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3900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招聘筛选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900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识别文化适配风险，补充结构化面试盲区。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05088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757488" y="5500688"/>
            <a:ext cx="1595438" cy="0"/>
          </a:xfrm>
          <a:prstGeom prst="line">
            <a:avLst/>
          </a:prstGeom>
          <a:noFill/>
          <a:ln w="28575">
            <a:solidFill>
              <a:srgbClr val="2A6F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57488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862114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57488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团队沟通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57488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诊断冲突根源，设计针对性沟通训练。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38675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91075" y="5500688"/>
            <a:ext cx="1595438" cy="0"/>
          </a:xfrm>
          <a:prstGeom prst="line">
            <a:avLst/>
          </a:prstGeom>
          <a:noFill/>
          <a:ln w="28575">
            <a:solidFill>
              <a:srgbClr val="1D4E7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91075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95701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91075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91075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帮助管理者觉察自身风格对团队的影响。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2263" y="4086225"/>
            <a:ext cx="1900238" cy="1428750"/>
          </a:xfrm>
          <a:prstGeom prst="roundRect">
            <a:avLst>
              <a:gd name="adj" fmla="val 8000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824663" y="5500688"/>
            <a:ext cx="1595438" cy="0"/>
          </a:xfrm>
          <a:prstGeom prst="line">
            <a:avLst/>
          </a:prstGeom>
          <a:noFill/>
          <a:ln w="28575">
            <a:solidFill>
              <a:srgbClr val="2A6FA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24663" y="42576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929289" y="4324350"/>
            <a:ext cx="155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24663" y="4714875"/>
            <a:ext cx="162734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2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员工保留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24663" y="5000625"/>
            <a:ext cx="162734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264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降低敌意氛围导致的离职与倦怠。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1500" y="6151811"/>
            <a:ext cx="8001000" cy="458539"/>
          </a:xfrm>
          <a:prstGeom prst="roundRect">
            <a:avLst>
              <a:gd name="adj" fmla="val 16618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81050" y="6285161"/>
            <a:ext cx="7733538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核心定位：</a:t>
            </a:r>
            <a:r>
              <a:rPr lang="en-US" sz="97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是企业文化诊断与人才决策的"测量仪"，而非单一淘汰工具。其价值在于将主观感受转化为可干预的数据信号。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应用一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招聘与团队沟通中的应用优势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50" y="1781175"/>
            <a:ext cx="1297037" cy="257175"/>
          </a:xfrm>
          <a:prstGeom prst="roundRect">
            <a:avLst>
              <a:gd name="adj" fmla="val 74074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52500" y="1828800"/>
            <a:ext cx="105094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RECRUITMENT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9150" y="2171700"/>
            <a:ext cx="344900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招聘筛选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9150" y="2514600"/>
            <a:ext cx="344900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作为结构化评估的一部分，识别潜在人际风险信号。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19150" y="2871788"/>
            <a:ext cx="344900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9150" y="3138488"/>
            <a:ext cx="338137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与认知能力、岗位胜任力评估联合使用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关注敌意归因与攻击性反应维度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结合行为面试交叉验证关键事件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仅作为参考信号，不设单一淘汰线</a:t>
            </a:r>
            <a:endParaRPr lang="en-US" sz="1015" dirty="0"/>
          </a:p>
        </p:txBody>
      </p:sp>
      <p:sp>
        <p:nvSpPr>
          <p:cNvPr id="13" name="Text 11"/>
          <p:cNvSpPr/>
          <p:nvPr/>
        </p:nvSpPr>
        <p:spPr>
          <a:xfrm>
            <a:off x="819150" y="4304109"/>
            <a:ext cx="3381375" cy="612279"/>
          </a:xfrm>
          <a:prstGeom prst="roundRect">
            <a:avLst>
              <a:gd name="adj" fmla="val 12445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2500" y="4418409"/>
            <a:ext cx="3176969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降低"高能但高冲突"候选人的误聘风险，提升团队稳定性与文化适配度。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95825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3475" y="1781175"/>
            <a:ext cx="1498997" cy="257175"/>
          </a:xfrm>
          <a:prstGeom prst="roundRect">
            <a:avLst>
              <a:gd name="adj" fmla="val 74074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6825" y="1828800"/>
            <a:ext cx="125694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43475" y="2171700"/>
            <a:ext cx="344900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团队沟通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43475" y="2514600"/>
            <a:ext cx="3449002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诊断团队整体氛围，定位冲突与协作障碍的根源。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43475" y="2871788"/>
            <a:ext cx="344900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1050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核心做法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43475" y="3138488"/>
            <a:ext cx="338137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以团队为单位进行匿名化聚合分析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识别敌意情绪与社交回避高发区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设计针对性沟通与冲突管理训练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▸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追踪干预前后维度得分变化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4943475" y="4304109"/>
            <a:ext cx="3381375" cy="612279"/>
          </a:xfrm>
          <a:prstGeom prst="roundRect">
            <a:avLst>
              <a:gd name="adj" fmla="val 12445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6825" y="4418409"/>
            <a:ext cx="3176969" cy="383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将"气氛不好"的模糊感受转化为可量化的诊断指标，让干预有的放矢。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03 · 应用二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领导力发展与员工保留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html2pptx-41VIH5/html2pptx-bg-1786380919391-a5e97f027d8d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33525"/>
            <a:ext cx="3876675" cy="1480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9150" y="3242667"/>
            <a:ext cx="1069479" cy="228600"/>
          </a:xfrm>
          <a:prstGeom prst="roundRect">
            <a:avLst>
              <a:gd name="adj" fmla="val 66667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33450" y="3280767"/>
            <a:ext cx="8576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LEADERSHIP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19150" y="3566517"/>
            <a:ext cx="3449002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5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领导力发展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819150" y="3880842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让管理者看见自己的风格如何影响团队。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819150" y="4195167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关键举措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19150" y="4433292"/>
            <a:ext cx="3381375" cy="881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将敌意维度纳入 360° 反馈基线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为高分管理者设计情绪智力辅导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追踪领导行为与团队敬业度关联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建立个性化发展计划与跟踪复盘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819150" y="5429250"/>
            <a:ext cx="344900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900"/>
              </a:spcBef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提升领导自我觉察，降低命令式风格对团队心理安全感的侵蚀。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695825" y="1533525"/>
            <a:ext cx="3876675" cy="4476750"/>
          </a:xfrm>
          <a:prstGeom prst="roundRect">
            <a:avLst>
              <a:gd name="adj" fmla="val 3440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/tmp/html2pptx-41VIH5/html2pptx-bg-1786380919507-a22f1cf39add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1533525"/>
            <a:ext cx="3876675" cy="14805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43475" y="3242667"/>
            <a:ext cx="1003697" cy="228600"/>
          </a:xfrm>
          <a:prstGeom prst="roundRect">
            <a:avLst>
              <a:gd name="adj" fmla="val 66667"/>
            </a:avLst>
          </a:prstGeom>
          <a:solidFill>
            <a:srgbClr val="2A6FA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057775" y="3280767"/>
            <a:ext cx="7905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RETENTION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4943475" y="3566517"/>
            <a:ext cx="3449002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15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员工保留</a:t>
            </a:r>
            <a:endParaRPr lang="en-US" sz="1575" dirty="0"/>
          </a:p>
        </p:txBody>
      </p:sp>
      <p:sp>
        <p:nvSpPr>
          <p:cNvPr id="20" name="Text 16"/>
          <p:cNvSpPr/>
          <p:nvPr/>
        </p:nvSpPr>
        <p:spPr>
          <a:xfrm>
            <a:off x="4943475" y="3880842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5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把"敌意氛围"变成可干预的离职预警。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4943475" y="4195167"/>
            <a:ext cx="34490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关键举措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4943475" y="4433292"/>
            <a:ext cx="3381375" cy="881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定期监测团队敌意聚合得分趋势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对高敌意部门启动专项关怀与调解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结合敬业度调查识别流失风险点</a:t>
            </a:r>
            <a:endParaRPr lang="en-US" sz="975" dirty="0"/>
          </a:p>
          <a:p>
            <a:pPr marL="152400" indent="-152400" algn="l">
              <a:lnSpc>
                <a:spcPts val="1510"/>
              </a:lnSpc>
              <a:spcAft>
                <a:spcPts val="300"/>
              </a:spcAft>
              <a:buSzPct val="100000"/>
              <a:buChar char="●"/>
            </a:pPr>
            <a:r>
              <a:rPr lang="en-US" sz="97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为新员工匹配合适风格的支持导师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4943475" y="5429250"/>
            <a:ext cx="344900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900"/>
              </a:spcBef>
              <a:buNone/>
            </a:pPr>
            <a:r>
              <a:rPr lang="en-US" sz="975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</a:t>
            </a:r>
            <a:r>
              <a:rPr lang="en-US" sz="975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降低因人际冲突引发的离职与倦怠，保留关键人才与组织记忆。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04 · 最佳实践 1/2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综合评估策略与保密性保障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9975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AF2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67001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D4E78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01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38200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INTEGRATED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作为综合评估策略的一部分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200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不应单独决定人事决策，必须嵌入多维评估体系。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38200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与认知能力、岗位胜任力、价值观测评联用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结合结构化面试与情境模拟交叉验证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设置多评估官加权打分机制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明确不同维度的决策权重与红线</a:t>
            </a:r>
            <a:endParaRPr lang="en-US" sz="1015" dirty="0"/>
          </a:p>
        </p:txBody>
      </p:sp>
      <p:sp>
        <p:nvSpPr>
          <p:cNvPr id="14" name="Text 12"/>
          <p:cNvSpPr/>
          <p:nvPr/>
        </p:nvSpPr>
        <p:spPr>
          <a:xfrm>
            <a:off x="838200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1550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评估工具组合化、决策权重透明化，避免单一量表独断人事去留。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676775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effectLst>
            <a:outerShdw blurRad="76200" dist="19050" dir="5400000" algn="bl" rotWithShape="0">
              <a:srgbClr val="0F2A44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5250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3EE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72276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A6FAE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4943475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CONFIDENTIALITY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3475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确保数据保密性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43475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保密是建立信任与合法合规的前提。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43475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43475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明确告知数据用途、存储与销毁周期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访问权限最小化，仅限授权 HR 角色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团队层面仅输出聚合结果，不暴露个人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✓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符合个人信息保护法与劳动法要求</a:t>
            </a:r>
            <a:endParaRPr lang="en-US" sz="1015" dirty="0"/>
          </a:p>
        </p:txBody>
      </p:sp>
      <p:sp>
        <p:nvSpPr>
          <p:cNvPr id="24" name="Text 22"/>
          <p:cNvSpPr/>
          <p:nvPr/>
        </p:nvSpPr>
        <p:spPr>
          <a:xfrm>
            <a:off x="4943475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6825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个人数据"用而不露"，团队诊断"聚而不指"，守住伦理底线。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419100"/>
            <a:ext cx="816102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04 · 最佳实践 2/2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提供反馈与监测文化影响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28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F1F6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9975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E3EEF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67001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A6FAE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38200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6F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FEEDBACK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8200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0F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提供专业反馈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200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A7C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反馈是评估工具产生价值的关键环节。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38200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1D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38200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由受过训练的 HR 或心理咨询师解读结果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聚焦行为模式而非人格标签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结合岗位场景给出可执行的发展建议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314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允许被评估者提问、补充与申诉</a:t>
            </a:r>
            <a:endParaRPr lang="en-US" sz="1015" dirty="0"/>
          </a:p>
        </p:txBody>
      </p:sp>
      <p:sp>
        <p:nvSpPr>
          <p:cNvPr id="14" name="Text 12"/>
          <p:cNvSpPr/>
          <p:nvPr/>
        </p:nvSpPr>
        <p:spPr>
          <a:xfrm>
            <a:off x="838200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1550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反馈应建设性、情境化、可行动，避免诊断化与污名化。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676775" y="1552575"/>
            <a:ext cx="3895725" cy="4381500"/>
          </a:xfrm>
          <a:prstGeom prst="roundRect">
            <a:avLst>
              <a:gd name="adj" fmla="val 3423"/>
            </a:avLst>
          </a:prstGeom>
          <a:solidFill>
            <a:srgbClr val="0F2A4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5250" y="1362075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72276" y="1571625"/>
            <a:ext cx="544372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9FD0FF">
                    <a:alpha val="5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4943475" y="1800225"/>
            <a:ext cx="342957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CULTURE IMPACT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43475" y="2019300"/>
            <a:ext cx="342957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监测文化影响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43475" y="2381250"/>
            <a:ext cx="3429572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A9C8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用长期数据验证评估策略的有效性。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43475" y="2744539"/>
            <a:ext cx="342957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关键做法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43475" y="3001714"/>
            <a:ext cx="3362325" cy="994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建立团队级敌意指标季度追踪基线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关联敬业度、离职率、冲突事件数据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定期复盘评估策略对文化的净影响</a:t>
            </a:r>
            <a:endParaRPr lang="en-US" sz="1015" dirty="0"/>
          </a:p>
          <a:p>
            <a:pPr marL="171450" indent="-171450" algn="l">
              <a:lnSpc>
                <a:spcPts val="1620"/>
              </a:lnSpc>
              <a:spcAft>
                <a:spcPts val="450"/>
              </a:spcAft>
              <a:buSzPct val="100000"/>
              <a:buChar char="→"/>
            </a:pPr>
            <a:r>
              <a:rPr lang="en-US" sz="1015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根据数据迭代工具组合与干预方案</a:t>
            </a:r>
            <a:endParaRPr lang="en-US" sz="1015" dirty="0"/>
          </a:p>
        </p:txBody>
      </p:sp>
      <p:sp>
        <p:nvSpPr>
          <p:cNvPr id="24" name="Text 22"/>
          <p:cNvSpPr/>
          <p:nvPr/>
        </p:nvSpPr>
        <p:spPr>
          <a:xfrm>
            <a:off x="4943475" y="5176838"/>
            <a:ext cx="3362325" cy="547688"/>
          </a:xfrm>
          <a:prstGeom prst="roundRect">
            <a:avLst>
              <a:gd name="adj" fmla="val 13913"/>
            </a:avLst>
          </a:prstGeom>
          <a:solidFill>
            <a:srgbClr val="1D4E7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6825" y="5272088"/>
            <a:ext cx="3157538" cy="357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buNone/>
            </a:pPr>
            <a:r>
              <a:rPr lang="en-US" sz="94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</a:t>
            </a:r>
            <a:r>
              <a:rPr lang="en-US" sz="94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把评估当作持续的文化诊断系统，而非一次性筛查动作。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W8h3eX/html2pptx-bg-1786380928678-0e9b28de632d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/tmp/html2pptx-W8h3eX/html2pptx-bg-1786380929025-53c0cb868d3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00500"/>
            <a:ext cx="4381500" cy="4381500"/>
          </a:xfrm>
          <a:prstGeom prst="rect">
            <a:avLst/>
          </a:prstGeom>
        </p:spPr>
      </p:pic>
      <p:pic>
        <p:nvPicPr>
          <p:cNvPr id="4" name="Image 2" descr="/tmp/html2pptx-W8h3eX/html2pptx-bg-1786380929132-7ba5b29d31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0" y="-666750"/>
            <a:ext cx="22860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6750" y="476250"/>
            <a:ext cx="796671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05 · 总结</a:t>
            </a:r>
            <a:endParaRPr lang="en-US" sz="975" dirty="0"/>
          </a:p>
        </p:txBody>
      </p:sp>
      <p:sp>
        <p:nvSpPr>
          <p:cNvPr id="6" name="Text 1"/>
          <p:cNvSpPr/>
          <p:nvPr/>
        </p:nvSpPr>
        <p:spPr>
          <a:xfrm>
            <a:off x="666750" y="733425"/>
            <a:ext cx="796671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从测量到文化：HR 的行动起点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666750" y="13430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5FB3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666750" y="1647825"/>
            <a:ext cx="393219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66750" y="2009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779711" y="2066925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1104900" y="2009775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敌意是可测量的人格倾向</a:t>
            </a:r>
            <a:endParaRPr lang="en-US" sz="1125" dirty="0"/>
          </a:p>
        </p:txBody>
      </p:sp>
      <p:sp>
        <p:nvSpPr>
          <p:cNvPr id="12" name="Text 7"/>
          <p:cNvSpPr/>
          <p:nvPr/>
        </p:nvSpPr>
        <p:spPr>
          <a:xfrm>
            <a:off x="1104900" y="2238375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CMHS 提供结构化、可追踪的认知-情感画像。</a:t>
            </a:r>
            <a:endParaRPr lang="en-US" sz="940" dirty="0"/>
          </a:p>
        </p:txBody>
      </p:sp>
      <p:sp>
        <p:nvSpPr>
          <p:cNvPr id="13" name="Text 8"/>
          <p:cNvSpPr/>
          <p:nvPr/>
        </p:nvSpPr>
        <p:spPr>
          <a:xfrm>
            <a:off x="666750" y="255031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79711" y="2607469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04900" y="2550319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价值在于干预，而非筛选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1104900" y="2778919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将数据用于团队诊断、辅导与发展，而非简单淘汰。</a:t>
            </a:r>
            <a:endParaRPr lang="en-US" sz="940" dirty="0"/>
          </a:p>
        </p:txBody>
      </p:sp>
      <p:sp>
        <p:nvSpPr>
          <p:cNvPr id="17" name="Text 12"/>
          <p:cNvSpPr/>
          <p:nvPr/>
        </p:nvSpPr>
        <p:spPr>
          <a:xfrm>
            <a:off x="666750" y="30908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9FD0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79711" y="3148013"/>
            <a:ext cx="8030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04900" y="3090863"/>
            <a:ext cx="348528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合规与伦理是底线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1104900" y="3319463"/>
            <a:ext cx="3485284" cy="178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5"/>
              </a:lnSpc>
              <a:spcBef>
                <a:spcPts val="225"/>
              </a:spcBef>
              <a:buNone/>
            </a:pPr>
            <a:r>
              <a:rPr lang="en-US" sz="940" dirty="0">
                <a:solidFill>
                  <a:srgbClr val="CFE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保密、反馈、综合评估共同构成可信使用框架。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4788545" y="1647825"/>
            <a:ext cx="3688705" cy="2257127"/>
          </a:xfrm>
          <a:prstGeom prst="roundRect">
            <a:avLst>
              <a:gd name="adj" fmla="val 590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FD0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026670" y="1866900"/>
            <a:ext cx="327670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下一步行动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6670" y="2228850"/>
            <a:ext cx="3212455" cy="1371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组建跨部门小组评估 CMHS 适用性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1-2 个团队进行试点测评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制定反馈流程与数据治理规范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建立季度文化指标追踪看板</a:t>
            </a:r>
            <a:endParaRPr lang="en-US" sz="1015" dirty="0"/>
          </a:p>
          <a:p>
            <a:pPr marL="190500" indent="-190500" algn="l">
              <a:lnSpc>
                <a:spcPts val="1620"/>
              </a:lnSpc>
              <a:spcAft>
                <a:spcPts val="675"/>
              </a:spcAft>
              <a:buSzPct val="100000"/>
              <a:buChar char="▸"/>
            </a:pPr>
            <a:r>
              <a:rPr lang="en-US" sz="1015" dirty="0">
                <a:solidFill>
                  <a:srgbClr val="E3EEF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将结果纳入年度人才与文化复盘</a:t>
            </a:r>
            <a:endParaRPr lang="en-US" sz="1015" dirty="0"/>
          </a:p>
        </p:txBody>
      </p:sp>
      <p:sp>
        <p:nvSpPr>
          <p:cNvPr id="24" name="Text 19"/>
          <p:cNvSpPr/>
          <p:nvPr/>
        </p:nvSpPr>
        <p:spPr>
          <a:xfrm>
            <a:off x="666750" y="6041827"/>
            <a:ext cx="7810500" cy="473273"/>
          </a:xfrm>
          <a:prstGeom prst="roundRect">
            <a:avLst>
              <a:gd name="adj" fmla="val 20126"/>
            </a:avLst>
          </a:prstGeom>
          <a:solidFill>
            <a:srgbClr val="0F2A44">
              <a:alpha val="5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685800" y="6175177"/>
            <a:ext cx="0" cy="206573"/>
          </a:xfrm>
          <a:prstGeom prst="line">
            <a:avLst/>
          </a:prstGeom>
          <a:noFill/>
          <a:ln w="38100">
            <a:solidFill>
              <a:srgbClr val="5FB3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3450" y="6175177"/>
            <a:ext cx="7461504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9FD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核心信念：</a:t>
            </a:r>
            <a:r>
              <a:rPr lang="en-US" sz="1050" dirty="0">
                <a:solidFill>
                  <a:srgbClr val="D7E7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健康的工作关系不是天赋，而是可被设计、测量与持续培养的组织能力——CMHS 是 HR 手中一把关键的尺子。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2841</Words>
  <Application>WPS 演示</Application>
  <PresentationFormat>On-screen Show (16:9)</PresentationFormat>
  <Paragraphs>353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Noto Sans CJK SC Medium</vt:lpstr>
      <vt:lpstr>Segoe Print</vt:lpstr>
      <vt:lpstr>Noto Sans CJK SC Medium</vt:lpstr>
      <vt:lpstr>Noto Sans CJK SC Medium</vt:lpstr>
      <vt:lpstr>Noto Sans CJK SC</vt:lpstr>
      <vt:lpstr>Noto Sans CJK SC</vt:lpstr>
      <vt:lpstr>Noto Sans CJK SC</vt:lpstr>
      <vt:lpstr>Noto Sans CJK SC Black</vt:lpstr>
      <vt:lpstr>Noto Sans CJK SC Black</vt:lpstr>
      <vt:lpstr>Noto Sans CJK SC Black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2026-08-10T16:55:00Z</dcterms:created>
  <dcterms:modified xsi:type="dcterms:W3CDTF">2026-08-17T07:29:43Z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E1F44B5CE9B44FE5BA8ACBE77F1F5AE6_12</vt:lpwstr>
  </property>
  <property fmtid="{D5CDD505-2E9C-101B-9397-08002B2CF9AE}" pid="3" name="KSOProductBuildVer">
    <vt:lpwstr>2052-12.1.0.28022</vt:lpwstr>
  </property>
</Properties>
</file>