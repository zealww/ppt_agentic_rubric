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nm6dXX/html2pptx-bg-1786384793937-0d69506c81f88.pn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nm6dXX/html2pptx-bg-1786384794320-22434222b06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857250"/>
            <a:ext cx="77724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100"/>
              </a:spcAft>
              <a:buNone/>
            </a:pPr>
            <a:r>
              <a:rPr lang="en-US" sz="135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LIFE IN SCIENCE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762000" y="1371600"/>
            <a:ext cx="7772400" cy="92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45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居里dasd夫人传</a:t>
            </a:r>
            <a:endParaRPr lang="en-US" sz="6900" dirty="0"/>
          </a:p>
        </p:txBody>
      </p:sp>
      <p:sp>
        <p:nvSpPr>
          <p:cNvPr id="6" name="Text 2"/>
          <p:cNvSpPr/>
          <p:nvPr/>
        </p:nvSpPr>
        <p:spPr>
          <a:xfrm>
            <a:off x="762000" y="2501205"/>
            <a:ext cx="77724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buNone/>
            </a:pPr>
            <a:r>
              <a:rPr lang="en-US" sz="1950" i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Skdsadłodowska-Curie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62000" y="3215580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62000" y="3510855"/>
            <a:ext cx="6606540" cy="7313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E8E2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从华沙到巴</a:t>
            </a:r>
            <a:r>
              <a:rPr lang="en-US" sz="1800" dirty="0">
                <a:solidFill>
                  <a:srgbClr val="E8E2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dwads黎，从实验室到战场——</a:t>
            </a:r>
            <a:endParaRPr lang="en-US" sz="1800" dirty="0"/>
          </a:p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E8E2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一位两次获得诺贝尔奖的女性科学家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2000" y="6115050"/>
            <a:ext cx="266538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生平简介 · 科学贡献 · 历史遗产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88336" y="6076950"/>
            <a:ext cx="172753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1867 — 1934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58447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1867–1885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58447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华沙的童年时光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4566285" cy="615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6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1867年11月7日，玛丽亚·斯克沃多夫斯卡出生于俄国统治下的华沙，她是家dasd五个孩子中最小的一个。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2682180"/>
            <a:ext cx="456628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父亲乌拉狄斯拉asd夫是一名中学物理与数学教师，母亲布罗尼斯瓦娃经营着一所声asd誉颇佳的女子寄宿学校。在知识氛围浓厚的家庭里，玛丽亚自幼便展现出过人的记sadas忆力与学习热情。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6750" y="3615630"/>
            <a:ext cx="456628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然而命运多舛：母亲在她ddsa被列强瓜分后的政治压迫，使她的童年蒙上了一层凝重底dasd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6750" y="4549080"/>
            <a:ext cx="456628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尽管如此，玛丽亚以优异成绩从中学毕业，并获得金质奖章——这是她日后科学之路的dsa印记。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1857375"/>
            <a:ext cx="3333750" cy="390525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/tmp/html2pptx-wacnZB/html2pptx-bg-1786384795590-74c1feee4c5e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1895475"/>
            <a:ext cx="3257550" cy="3829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76825" y="59531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spcBef>
                <a:spcPts val="750"/>
              </a:spcBef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华沙老城集市广场 · 玛丽亚出生与成长的城市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7180213" y="6315075"/>
            <a:ext cx="1297037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1867 — 1885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58022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1891–1893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58022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巴黎求学之路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3333750" cy="390525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html2pptx-6ddRGD/html2pptx-bg-1786384796962-4221e69964c6f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895475"/>
            <a:ext cx="3257550" cy="3829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6750" y="59531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巴黎索邦大学 · 玛丽亚完成高等教育之所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000500" y="1857375"/>
            <a:ext cx="4566285" cy="9228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6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为了继续深造，玛丽亚在dsad姐布罗妮斯拉娃的邀请下，于1891年告别华dsada自前往巴黎，进入索邦大学学习。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4000500" y="2989808"/>
            <a:ext cx="456628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她以"玛丽"之dasd学，主修物理学，次年又修数学。她住在一间狭小寒冷的阁楼里，常以面包和das</a:t>
            </a:r>
            <a:r>
              <a:rPr lang="en-US" sz="1200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饥饿与劳累而晕倒</a:t>
            </a: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在课堂上。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00500" y="3923258"/>
            <a:ext cx="456628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尽管生活清苦，她的asd极为出色：1893年她以全班第一名的成绩获得物理学学士asd二名获得数学学士学位。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00500" y="4932908"/>
            <a:ext cx="1352550" cy="819150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42423" y="5066258"/>
            <a:ext cx="106870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1891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142423" y="5456783"/>
            <a:ext cx="106870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抵达巴黎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62600" y="4932908"/>
            <a:ext cx="1352550" cy="819150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04523" y="5066258"/>
            <a:ext cx="106870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名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5704523" y="5456783"/>
            <a:ext cx="106870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物理学士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24700" y="4932908"/>
            <a:ext cx="1352550" cy="819150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266622" y="5066258"/>
            <a:ext cx="106870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名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7266622" y="5456783"/>
            <a:ext cx="106870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数学学士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7180213" y="6315075"/>
            <a:ext cx="1297037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1891 — 1893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95366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1894–1895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95366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皮埃尔·居里相遇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4566285" cy="9228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6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1894年，玛丽在研究钢铁磁性时急需更大的实验空间，波兰物理学家约瑟夫·科dsa斯基把她介绍给了皮埃尔·居里。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2989808"/>
            <a:ext cx="456628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皮埃尔当时已dasdsasd</a:t>
            </a:r>
            <a:r>
              <a:rPr lang="en-US" sz="1200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对科学的共同热忱而迅速相知</a:t>
            </a: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6750" y="3656558"/>
            <a:ext cx="456628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最初玛丽计划毕业后返回波兰任教，但皮埃尔用一封封真挚的书信挽留她，并承诺为她awd年7月26日，二人在巴黎结婚，没有婚纱、没有戒指，</a:t>
            </a:r>
            <a:r>
              <a:rPr lang="en-US" sz="1200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只用两辆自行车踏上了蜜月之旅</a:t>
            </a:r>
            <a:r>
              <a:rPr lang="en-US" sz="120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6750" y="4666208"/>
            <a:ext cx="4476750" cy="1012031"/>
          </a:xfrm>
          <a:prstGeom prst="rect">
            <a:avLst/>
          </a:prstGeom>
          <a:solidFill>
            <a:srgbClr val="ECE3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85800" y="4818608"/>
            <a:ext cx="0" cy="707231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50" y="4818608"/>
            <a:ext cx="4138803" cy="471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125" i="1" dirty="0">
                <a:solidFill>
                  <a:srgbClr val="5A40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"我们彼此视为对方生命中最为亲密的伙伴——既是爱人，也是科学的合作者。"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95350" y="5290096"/>
            <a:ext cx="4138803" cy="235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125" i="1" dirty="0">
                <a:solidFill>
                  <a:srgbClr val="5A40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 居里夫人回忆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143500" y="1857375"/>
            <a:ext cx="3333750" cy="390525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tmp/html2pptx-a160wY/html2pptx-bg-1786384797876-e1551f8186e2f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1895475"/>
            <a:ext cx="3257550" cy="38290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6825" y="59531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spcBef>
                <a:spcPts val="750"/>
              </a:spcBef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皮埃尔与玛丽·居里在巴黎实验室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7180213" y="6315075"/>
            <a:ext cx="1297037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1894 — 1895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7Cd1Z9/html2pptx-bg-1786384799024-25a61be87bf3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7Cd1Z9/html2pptx-bg-1786384799200-5a7db50c54c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-1143000"/>
            <a:ext cx="3619500" cy="3619500"/>
          </a:xfrm>
          <a:prstGeom prst="rect">
            <a:avLst/>
          </a:prstGeom>
        </p:spPr>
      </p:pic>
      <p:pic>
        <p:nvPicPr>
          <p:cNvPr id="4" name="Image 2" descr="/tmp/html2pptx-7Cd1Z9/html2pptx-bg-1786384799287-61d56f22702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00" y="4762500"/>
            <a:ext cx="3048000" cy="304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1595735" y="895350"/>
            <a:ext cx="295366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1897–1898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1595735" y="1123950"/>
            <a:ext cx="295366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放射性现象的发现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66750" y="1857375"/>
            <a:ext cx="7383780" cy="647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1950"/>
              </a:spcAft>
              <a:buNone/>
            </a:pPr>
            <a:r>
              <a:rPr lang="en-US" sz="1500" dirty="0">
                <a:solidFill>
                  <a:srgbClr val="F5F1E6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1897年，玛丽选择贝克勒尔新近发现的"铀射线"作为博士论文选题，成为首位系统研究这一现象的科学家。</a:t>
            </a:r>
            <a:endParaRPr lang="en-US" sz="1500" dirty="0"/>
          </a:p>
        </p:txBody>
      </p:sp>
      <p:sp>
        <p:nvSpPr>
          <p:cNvPr id="10" name="Text 5"/>
          <p:cNvSpPr/>
          <p:nvPr>
            <p:custDataLst>
              <p:tags r:id="rId4"/>
            </p:custDataLst>
          </p:nvPr>
        </p:nvSpPr>
        <p:spPr>
          <a:xfrm>
            <a:off x="666750" y="2752725"/>
            <a:ext cx="2463850" cy="1680121"/>
          </a:xfrm>
          <a:prstGeom prst="roundRect">
            <a:avLst>
              <a:gd name="adj" fmla="val 226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>
            <p:custDataLst>
              <p:tags r:id="rId5"/>
            </p:custDataLst>
          </p:nvPr>
        </p:nvSpPr>
        <p:spPr>
          <a:xfrm>
            <a:off x="847725" y="2952750"/>
            <a:ext cx="214393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0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01</a:t>
            </a:r>
            <a:endParaRPr lang="en-US" sz="900" dirty="0"/>
          </a:p>
        </p:txBody>
      </p:sp>
      <p:sp>
        <p:nvSpPr>
          <p:cNvPr id="12" name="Text 7"/>
          <p:cNvSpPr/>
          <p:nvPr>
            <p:custDataLst>
              <p:tags r:id="rId6"/>
            </p:custDataLst>
          </p:nvPr>
        </p:nvSpPr>
        <p:spPr>
          <a:xfrm>
            <a:off x="847725" y="3209925"/>
            <a:ext cx="21439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精密测量</a:t>
            </a:r>
            <a:endParaRPr lang="en-US" sz="1350" dirty="0"/>
          </a:p>
        </p:txBody>
      </p:sp>
      <p:sp>
        <p:nvSpPr>
          <p:cNvPr id="13" name="Text 8"/>
          <p:cNvSpPr/>
          <p:nvPr>
            <p:custDataLst>
              <p:tags r:id="rId7"/>
            </p:custDataLst>
          </p:nvPr>
        </p:nvSpPr>
        <p:spPr>
          <a:xfrm>
            <a:off x="847725" y="3552825"/>
            <a:ext cx="2143938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她改造了皮埃尔设计的</a:t>
            </a:r>
            <a:r>
              <a:rPr lang="en-US" sz="10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压电石英静电计</a:t>
            </a:r>
            <a:r>
              <a:rPr lang="en-US" sz="1050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，精确测量铀dasd气电离的程度，开创了定量放射学方法。</a:t>
            </a:r>
            <a:endParaRPr lang="en-US" sz="1050" dirty="0"/>
          </a:p>
        </p:txBody>
      </p:sp>
      <p:sp>
        <p:nvSpPr>
          <p:cNvPr id="14" name="Text 9"/>
          <p:cNvSpPr/>
          <p:nvPr>
            <p:custDataLst>
              <p:tags r:id="rId8"/>
            </p:custDataLst>
          </p:nvPr>
        </p:nvSpPr>
        <p:spPr>
          <a:xfrm>
            <a:off x="3340150" y="2752725"/>
            <a:ext cx="2463850" cy="1680121"/>
          </a:xfrm>
          <a:prstGeom prst="roundRect">
            <a:avLst>
              <a:gd name="adj" fmla="val 226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>
            <p:custDataLst>
              <p:tags r:id="rId9"/>
            </p:custDataLst>
          </p:nvPr>
        </p:nvSpPr>
        <p:spPr>
          <a:xfrm>
            <a:off x="3521125" y="2952750"/>
            <a:ext cx="214393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0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</a:t>
            </a:r>
            <a:endParaRPr lang="en-US" sz="900" dirty="0"/>
          </a:p>
        </p:txBody>
      </p:sp>
      <p:sp>
        <p:nvSpPr>
          <p:cNvPr id="16" name="Text 11"/>
          <p:cNvSpPr/>
          <p:nvPr>
            <p:custDataLst>
              <p:tags r:id="rId10"/>
            </p:custDataLst>
          </p:nvPr>
        </p:nvSpPr>
        <p:spPr>
          <a:xfrm>
            <a:off x="3521125" y="3209925"/>
            <a:ext cx="21439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系统筛查</a:t>
            </a:r>
            <a:endParaRPr lang="en-US" sz="1350" dirty="0"/>
          </a:p>
        </p:txBody>
      </p:sp>
      <p:sp>
        <p:nvSpPr>
          <p:cNvPr id="17" name="Text 12"/>
          <p:cNvSpPr/>
          <p:nvPr>
            <p:custDataLst>
              <p:tags r:id="rId11"/>
            </p:custDataLst>
          </p:nvPr>
        </p:nvSpPr>
        <p:spPr>
          <a:xfrm>
            <a:off x="3521125" y="3552825"/>
            <a:ext cx="2143938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她逐一检测大量元素与矿物，发现</a:t>
            </a:r>
            <a:r>
              <a:rPr lang="en-US" sz="10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钍也具有类似射dsad</a:t>
            </a:r>
            <a:r>
              <a:rPr lang="en-US" sz="1050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并首次提出"放射性"（radioactivity）这一术语。</a:t>
            </a:r>
            <a:endParaRPr lang="en-US" sz="1050" dirty="0"/>
          </a:p>
        </p:txBody>
      </p:sp>
      <p:sp>
        <p:nvSpPr>
          <p:cNvPr id="18" name="Text 13"/>
          <p:cNvSpPr/>
          <p:nvPr>
            <p:custDataLst>
              <p:tags r:id="rId12"/>
            </p:custDataLst>
          </p:nvPr>
        </p:nvSpPr>
        <p:spPr>
          <a:xfrm>
            <a:off x="6013549" y="2752725"/>
            <a:ext cx="2463850" cy="1680121"/>
          </a:xfrm>
          <a:prstGeom prst="roundRect">
            <a:avLst>
              <a:gd name="adj" fmla="val 226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>
            <p:custDataLst>
              <p:tags r:id="rId13"/>
            </p:custDataLst>
          </p:nvPr>
        </p:nvSpPr>
        <p:spPr>
          <a:xfrm>
            <a:off x="6194524" y="2952750"/>
            <a:ext cx="214393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0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03</a:t>
            </a:r>
            <a:endParaRPr lang="en-US" sz="900" dirty="0"/>
          </a:p>
        </p:txBody>
      </p:sp>
      <p:sp>
        <p:nvSpPr>
          <p:cNvPr id="20" name="Text 15"/>
          <p:cNvSpPr/>
          <p:nvPr>
            <p:custDataLst>
              <p:tags r:id="rId14"/>
            </p:custDataLst>
          </p:nvPr>
        </p:nvSpPr>
        <p:spPr>
          <a:xfrm>
            <a:off x="6194524" y="3209925"/>
            <a:ext cx="21439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异常信号</a:t>
            </a:r>
            <a:endParaRPr lang="en-US" sz="1350" dirty="0"/>
          </a:p>
        </p:txBody>
      </p:sp>
      <p:sp>
        <p:nvSpPr>
          <p:cNvPr id="21" name="Text 16"/>
          <p:cNvSpPr/>
          <p:nvPr>
            <p:custDataLst>
              <p:tags r:id="rId15"/>
            </p:custDataLst>
          </p:nvPr>
        </p:nvSpPr>
        <p:spPr>
          <a:xfrm>
            <a:off x="6194524" y="3552825"/>
            <a:ext cx="2143938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沥青铀矿的放射dasd远超铀含量所能解释——</a:t>
            </a:r>
            <a:r>
              <a:rPr lang="en-US" sz="10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必定存dasdasd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66750" y="5334000"/>
            <a:ext cx="7810500" cy="762000"/>
          </a:xfrm>
          <a:prstGeom prst="rect">
            <a:avLst/>
          </a:prstGeom>
          <a:solidFill>
            <a:srgbClr val="D4AF37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685800" y="5486400"/>
            <a:ext cx="0" cy="4572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5486400"/>
            <a:ext cx="750036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0E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"放射性不是原子分das某种排列所致，而sdad自身的内部结构。"——这一洞见动摇了"原子不可分"的古老信条。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7143006" y="6315075"/>
            <a:ext cx="1334244" cy="257175"/>
          </a:xfrm>
          <a:prstGeom prst="rect">
            <a:avLst/>
          </a:prstGeom>
          <a:solidFill>
            <a:srgbClr val="D4AF37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1897 — 1898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21528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1898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215286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钋与镭的发现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7966710" cy="291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1898年，玛丽与皮埃尔从沥青asdaw铀矿中分离出两种新的dsada性元素，并以故乡与新光芒为它们命名。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2571750"/>
            <a:ext cx="3790950" cy="2362051"/>
          </a:xfrm>
          <a:prstGeom prst="rect">
            <a:avLst/>
          </a:prstGeom>
          <a:solidFill>
            <a:srgbClr val="FFFFFF"/>
          </a:solidFill>
          <a:effectLst>
            <a:outerShdw blurRad="171450" dist="571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6750" y="2595563"/>
            <a:ext cx="3790950" cy="0"/>
          </a:xfrm>
          <a:prstGeom prst="line">
            <a:avLst/>
          </a:prstGeom>
          <a:noFill/>
          <a:ln w="47625">
            <a:solidFill>
              <a:srgbClr val="1A1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" y="2619375"/>
            <a:ext cx="3790950" cy="82867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750" y="2619375"/>
            <a:ext cx="3866769" cy="828675"/>
          </a:xfrm>
          <a:prstGeom prst="rect">
            <a:avLst/>
          </a:prstGeom>
          <a:noFill/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2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 = 84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7250" y="3619500"/>
            <a:ext cx="3478149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钋 Polonium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7250" y="4000500"/>
            <a:ext cx="3478149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1898 · 7 月宣布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7250" y="4309021"/>
            <a:ext cx="3478149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为纪念彼时仍被瓜dasd将新元素命名wdadsa为</a:t>
            </a:r>
            <a:r>
              <a:rPr lang="en-US" sz="1050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"钋"</a:t>
            </a:r>
            <a:r>
              <a:rPr lang="en-US" sz="105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——这是首次以国家政治含义命名dsad的化学元素。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2571750"/>
            <a:ext cx="3790950" cy="2362051"/>
          </a:xfrm>
          <a:prstGeom prst="rect">
            <a:avLst/>
          </a:prstGeom>
          <a:solidFill>
            <a:srgbClr val="FFFFFF"/>
          </a:solidFill>
          <a:effectLst>
            <a:outerShdw blurRad="171450" dist="571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86300" y="2595563"/>
            <a:ext cx="3790950" cy="0"/>
          </a:xfrm>
          <a:prstGeom prst="line">
            <a:avLst/>
          </a:prstGeom>
          <a:noFill/>
          <a:ln w="47625">
            <a:solidFill>
              <a:srgbClr val="1A1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6300" y="2619375"/>
            <a:ext cx="3790950" cy="82867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86300" y="2619375"/>
            <a:ext cx="3866769" cy="828675"/>
          </a:xfrm>
          <a:prstGeom prst="rect">
            <a:avLst/>
          </a:prstGeom>
          <a:noFill/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2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 = 88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6800" y="3619500"/>
            <a:ext cx="3478149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镭 Radium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76800" y="4000500"/>
            <a:ext cx="3478149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1898 · 12 月宣布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6800" y="4309021"/>
            <a:ext cx="3478149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同dadawds"，dsa为 225.97。</a:t>
            </a:r>
            <a:endParaRPr lang="en-US" sz="1050" dirty="0"/>
          </a:p>
        </p:txBody>
      </p:sp>
      <p:pic>
        <p:nvPicPr>
          <p:cNvPr id="21" name="Image 0" descr="/tmp/html2pptx-Gbwg9i/html2pptx-bg-1786384800072-8cdd44ed6504f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5286375"/>
            <a:ext cx="1295400" cy="914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995487" y="5501729"/>
            <a:ext cx="0" cy="426541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43125" y="5501729"/>
            <a:ext cx="6460808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5A40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为获得可称量的纯镭，居里wadsd夫妇在wad简陋棚屋里</a:t>
            </a:r>
            <a:r>
              <a:rPr lang="en-US" sz="1050" b="1" dirty="0">
                <a:solidFill>
                  <a:srgbClr val="5A40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耗时四年处理近八吨沥青铀矿废渣</a:t>
            </a:r>
            <a:r>
              <a:rPr lang="en-US" sz="1050" dirty="0">
                <a:solidFill>
                  <a:srgbClr val="5A40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，最终于 1910 年分离出 0.1 克纯氯化镭。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7821216" y="6315075"/>
            <a:ext cx="656034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1898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590550" y="5295900"/>
            <a:ext cx="1295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6425" y="5286375"/>
            <a:ext cx="0" cy="914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0550" y="6191250"/>
            <a:ext cx="1295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0075" y="5286375"/>
            <a:ext cx="0" cy="914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58447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1903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58447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诺贝尔物理学奖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3333750" cy="36195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html2pptx-soETcJ/html2pptx-bg-1786384800805-d65a6e96ac95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895475"/>
            <a:ext cx="3257550" cy="3543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6750" y="55721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瑞典斯德哥尔摩诺贝尔奖颁奖典礼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000500" y="1857375"/>
            <a:ext cx="3350568" cy="295275"/>
          </a:xfrm>
          <a:prstGeom prst="rect">
            <a:avLst/>
          </a:prstGeom>
          <a:solidFill>
            <a:srgbClr val="1A1D2E"/>
          </a:solidFill>
        </p:spPr>
        <p:txBody>
          <a:bodyPr wrap="square" lIns="152400" tIns="57150" rIns="152400" bIns="5715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NOBEL PRIZE · PHYSICS · 1903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000500" y="2305050"/>
            <a:ext cx="4566285" cy="615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3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1903年，瑞典皇家科学dawd尔物理学奖授予对放射性与贝克勒尔射线研究的dasd者。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4000500" y="3091755"/>
            <a:ext cx="4566285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玛丽起初并未列入候dwad员会以"女性不宜"为由仅提名了贝克勒尔与皮埃尔。皮埃尔获悉后</a:t>
            </a:r>
            <a:r>
              <a:rPr lang="en-US" sz="112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坚决要求将妻子列入共同获奖者</a:t>
            </a: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，评审方才改写名单。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4000500" y="3956149"/>
            <a:ext cx="4566285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12月10日的颁奖典礼上，玛丽因身体原因未能亲赴wda究"作为新学科的世界舞台。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4000500" y="4877693"/>
            <a:ext cx="4476750" cy="1203871"/>
          </a:xfrm>
          <a:prstGeom prst="rect">
            <a:avLst/>
          </a:prstGeom>
          <a:solidFill>
            <a:srgbClr val="ECE3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19550" y="5011043"/>
            <a:ext cx="0" cy="937171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0050" y="5011043"/>
            <a:ext cx="417766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共同获奖者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210050" y="5268218"/>
            <a:ext cx="409575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亨利·贝克勒尔（Henri Becquerel）</a:t>
            </a:r>
            <a:endParaRPr lang="en-US" sz="1050" dirty="0"/>
          </a:p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皮埃尔·居里（Pierre Curie）</a:t>
            </a:r>
            <a:endParaRPr lang="en-US" sz="1050" dirty="0"/>
          </a:p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玛丽·居里（Marie Curie）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821216" y="6315075"/>
            <a:ext cx="656034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1903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tv8DLu/html2pptx-bg-1786384801766-ec0ef896d61d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tv8DLu/html2pptx-bg-1786384801961-01b7906e774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-1143000"/>
            <a:ext cx="3619500" cy="3619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1595735" y="895350"/>
            <a:ext cx="221528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1911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595735" y="1123950"/>
            <a:ext cx="2215286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诺贝尔化学奖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66750" y="1857375"/>
            <a:ext cx="2667000" cy="3429000"/>
          </a:xfrm>
          <a:prstGeom prst="rect">
            <a:avLst/>
          </a:prstGeom>
          <a:noFill/>
          <a:ln w="38100">
            <a:solidFill>
              <a:srgbClr val="D4AF37"/>
            </a:solidFill>
          </a:ln>
          <a:effectLst>
            <a:outerShdw blurRad="228600" dist="7620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/tmp/html2pptx-tv8DLu/html2pptx-bg-1786384802054-39efb49a7427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895475"/>
            <a:ext cx="2590800" cy="3352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6750" y="5381625"/>
            <a:ext cx="27203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玛丽·居里 1920 年代肖像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714750" y="1857375"/>
            <a:ext cx="3612654" cy="295275"/>
          </a:xfrm>
          <a:prstGeom prst="rect">
            <a:avLst/>
          </a:prstGeom>
          <a:solidFill>
            <a:srgbClr val="D4AF37"/>
          </a:solidFill>
        </p:spPr>
        <p:txBody>
          <a:bodyPr wrap="square" lIns="152400" tIns="57150" rIns="152400" bIns="5715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NOBEL PRIZE · CHEMISTRY · 1911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3714750" y="2305050"/>
            <a:ext cx="4857750" cy="615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200"/>
              </a:spcAft>
              <a:buNone/>
            </a:pPr>
            <a:r>
              <a:rPr lang="en-US" sz="1425" dirty="0">
                <a:solidFill>
                  <a:srgbClr val="F5F1E6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1911年，玛丽·居里因发现钋与镭、分离出纯金属镭并研究其性质，第二次获得das奖。</a:t>
            </a:r>
            <a:endParaRPr lang="en-US" sz="1425" dirty="0"/>
          </a:p>
        </p:txBody>
      </p:sp>
      <p:sp>
        <p:nvSpPr>
          <p:cNvPr id="13" name="Text 8"/>
          <p:cNvSpPr/>
          <p:nvPr/>
        </p:nvSpPr>
        <p:spPr>
          <a:xfrm>
            <a:off x="3714750" y="3072705"/>
            <a:ext cx="4857750" cy="500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此时距她首次获奖仅八dsad年。她</a:t>
            </a:r>
            <a:r>
              <a:rPr lang="en-US" sz="1125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独自一人</a:t>
            </a:r>
            <a:r>
              <a:rPr lang="en-US" sz="1125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完成了纯镭的提取与原子量精确测定，从根本上验证了新元素的存在。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3714750" y="3687068"/>
            <a:ext cx="4857750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颁奖典礼前，法das国科学院曾因她身为女性与外籍身份而</a:t>
            </a:r>
            <a:r>
              <a:rPr lang="en-US" sz="1125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一度拒绝接纳她为院士</a:t>
            </a:r>
            <a:r>
              <a:rPr lang="en-US" sz="1125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，但瑞典皇家科学院依dsad然坚持授奖。她由此成为</a:t>
            </a:r>
            <a:r>
              <a:rPr lang="en-US" sz="1125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史上首位两次获得诺贝尔奖的人</a:t>
            </a:r>
            <a:r>
              <a:rPr lang="en-US" sz="1125" dirty="0">
                <a:solidFill>
                  <a:srgbClr val="D8D2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3714750" y="4589562"/>
            <a:ext cx="4762500" cy="1203871"/>
          </a:xfrm>
          <a:prstGeom prst="rect">
            <a:avLst/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895725" y="4732437"/>
            <a:ext cx="44885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历史地位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895725" y="4970562"/>
            <a:ext cx="440055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F0E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首位两次获得诺wqq贝尔奖的科学家</a:t>
            </a:r>
            <a:endParaRPr lang="en-US" sz="1050" dirty="0"/>
          </a:p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F0E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至今唯一在两个不dsad同学科领域获奖者</a:t>
            </a:r>
            <a:endParaRPr lang="en-US" sz="1050" dirty="0"/>
          </a:p>
          <a:p>
            <a:pPr marL="133350" indent="-133350" algn="l">
              <a:lnSpc>
                <a:spcPts val="1785"/>
              </a:lnSpc>
              <a:buSzPct val="100000"/>
              <a:buChar char="●"/>
            </a:pPr>
            <a:r>
              <a:rPr lang="en-US" sz="1050" dirty="0">
                <a:solidFill>
                  <a:srgbClr val="F0E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放射化学与qwdq放射医学的奠基人之一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7803952" y="6315075"/>
            <a:ext cx="673298" cy="257175"/>
          </a:xfrm>
          <a:prstGeom prst="rect">
            <a:avLst/>
          </a:prstGeom>
          <a:solidFill>
            <a:srgbClr val="D4AF37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1911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302683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1914–1918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302683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战火中的"小居里"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4469130" cy="615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3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dqdq1914年一战爆发，前线伤员急需精确定位弹片。玛丽毅然放下实验室工作，将放射学搬上战场。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2644080"/>
            <a:ext cx="4469130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她筹款改装汽车，将 X 光机、发电设备dwqdq与暗房集于一身，组建了</a:t>
            </a:r>
            <a:r>
              <a:rPr lang="en-US" sz="112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20辆"小居里"（petites Curie）</a:t>
            </a: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移动放射车，亲自驾车往返于各战区医院。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66750" y="3508474"/>
            <a:ext cx="4469130" cy="500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她还培训了</a:t>
            </a:r>
            <a:r>
              <a:rPr lang="en-US" sz="112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150名女wdq性放射技师</a:t>
            </a: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，在战地与后方医院为伤兵施行 X 光检查。据估计，约百dwq万名伤员因此得到更精准的救治。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66750" y="4122837"/>
            <a:ext cx="4469130" cy="500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长女伊蕾娜彼时仅17岁，wdq亦随母上前线学习放射学，母女二人在炮火中并肩工作。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143500" y="1857375"/>
            <a:ext cx="3333750" cy="3429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/tmp/html2pptx-OVz9Yc/html2pptx-bg-1786384802879-2d90d5cf35f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1895475"/>
            <a:ext cx="3257550" cy="3352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76825" y="53816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一战期间"小居里"移动 X 光救护车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66750" y="5210175"/>
            <a:ext cx="1824038" cy="88582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4527" y="5362575"/>
            <a:ext cx="158848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84527" y="5781675"/>
            <a:ext cx="1588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辆移动放射车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62238" y="5210175"/>
            <a:ext cx="1824038" cy="88582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80014" y="5362575"/>
            <a:ext cx="158848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780014" y="5781675"/>
            <a:ext cx="1588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名受训女技师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57725" y="5210175"/>
            <a:ext cx="1824038" cy="88582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75502" y="5362575"/>
            <a:ext cx="158848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≈100万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775502" y="5781675"/>
            <a:ext cx="1588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受救治伤员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53213" y="5210175"/>
            <a:ext cx="1824038" cy="885825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770989" y="5362575"/>
            <a:ext cx="158848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770989" y="5781675"/>
            <a:ext cx="1588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B8B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处战地放射点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7180213" y="6315075"/>
            <a:ext cx="1297037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1914 — 1918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33824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5735" y="895350"/>
            <a:ext cx="258447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· 1920–1934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95735" y="1123950"/>
            <a:ext cx="258447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晚年与精神遗产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81125"/>
            <a:ext cx="1047750" cy="28575"/>
          </a:xfrm>
          <a:prstGeom prst="rect">
            <a:avLst/>
          </a:prstGeom>
          <a:solidFill>
            <a:srgbClr val="D4A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57375"/>
            <a:ext cx="4566285" cy="615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5"/>
              </a:lnSpc>
              <a:spcAft>
                <a:spcPts val="1350"/>
              </a:spcAft>
              <a:buNone/>
            </a:pPr>
            <a:r>
              <a:rPr lang="en-US" sz="1425" dirty="0">
                <a:solidFill>
                  <a:srgbClr val="1A1D2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战后，玛丽回到巴黎镭学研究院，dwqd继续培养来自世界各地的青年科学家，并两度出访美国筹集研究用镭。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2644080"/>
            <a:ext cx="4566285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1921年与1929年，她在美国女性主义者dqwd的捐助下先后获得</a:t>
            </a:r>
            <a:r>
              <a:rPr lang="en-US" sz="112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两克镭</a:t>
            </a: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，分别用于巴黎与华沙两座镭学研究院的研究。华沙研究院由她与长女伊蕾娜共同推动建立。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66750" y="3508474"/>
            <a:ext cx="4566285" cy="500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0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1934年7月4日，玛丽因</a:t>
            </a:r>
            <a:r>
              <a:rPr lang="en-US" sz="112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长期辐射所致的das再生障碍性贫血</a:t>
            </a:r>
            <a:r>
              <a:rPr lang="en-US" sz="1125" dirty="0">
                <a:solidFill>
                  <a:srgbClr val="3A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在法国桑塞勒穆兹疗养院去世，享年66岁。她以生命验证了自己研究的代价。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66750" y="4160937"/>
            <a:ext cx="4476750" cy="1223963"/>
          </a:xfrm>
          <a:prstGeom prst="rect">
            <a:avLst/>
          </a:prstGeom>
          <a:solidFill>
            <a:srgbClr val="ECE3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85800" y="4294287"/>
            <a:ext cx="0" cy="957263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300" y="4294287"/>
            <a:ext cx="417766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A5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持久遗产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76300" y="4551462"/>
            <a:ext cx="4095750" cy="7000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3350" indent="-133350" algn="l">
              <a:lnSpc>
                <a:spcPts val="1840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伊蕾娜·约里奥-居da里于1935年再获诺贝尔化学奖</a:t>
            </a:r>
            <a:endParaRPr lang="en-US" sz="1050" dirty="0"/>
          </a:p>
          <a:p>
            <a:pPr marL="133350" indent="-133350" algn="l">
              <a:lnSpc>
                <a:spcPts val="1840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居里家族至今累dsa计获五次诺贝尔奖</a:t>
            </a:r>
            <a:endParaRPr lang="en-US" sz="1050" dirty="0"/>
          </a:p>
          <a:p>
            <a:pPr marL="133350" indent="-133350" algn="l">
              <a:lnSpc>
                <a:spcPts val="1840"/>
              </a:lnSpc>
              <a:buSzPct val="100000"/>
              <a:buChar char="●"/>
            </a:pPr>
            <a:r>
              <a:rPr lang="en-US" sz="1050" dirty="0">
                <a:solidFill>
                  <a:srgbClr val="2B2B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1995年她的灵柩wd迁入巴黎先贤祠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43500" y="1857375"/>
            <a:ext cx="3333750" cy="3429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>
            <a:outerShdw blurRad="228600" dist="7620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tmp/html2pptx-BTBdDB/html2pptx-bg-1786384803784-71168dd692eb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1895475"/>
            <a:ext cx="3257550" cy="3352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6825" y="538162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巴黎居里研究所 · 玛丽事业的延续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66750" y="5695950"/>
            <a:ext cx="7810500" cy="495300"/>
          </a:xfrm>
          <a:prstGeom prst="rect">
            <a:avLst/>
          </a:prstGeom>
          <a:solidFill>
            <a:srgbClr val="1A1D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76300" y="5829300"/>
            <a:ext cx="247031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F0E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"在科学事业中，应当qdsad关注事而非人。"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468195" y="5853113"/>
            <a:ext cx="81549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END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66750" y="6353175"/>
            <a:ext cx="19877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A1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MARIE CURIE · 居里夫人传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7180213" y="6315075"/>
            <a:ext cx="1297037" cy="257175"/>
          </a:xfrm>
          <a:prstGeom prst="rect">
            <a:avLst/>
          </a:prstGeom>
          <a:solidFill>
            <a:srgbClr val="1A1D2E"/>
          </a:solidFill>
        </p:spPr>
        <p:txBody>
          <a:bodyPr wrap="square" lIns="133350" tIns="38100" rIns="133350" bIns="3810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5F1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1867 — 1934</a:t>
            </a:r>
            <a:endParaRPr lang="en-US" sz="97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2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3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4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5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6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7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8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9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10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11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ags/tag12.xml><?xml version="1.0" encoding="utf-8"?>
<p:tagLst xmlns:p="http://schemas.openxmlformats.org/presentationml/2006/main">
  <p:tag name="KSO_WM_DIAGRAM_VIRTUALLY_FRAME" val="{&quot;height&quot;:132.29299212598426,&quot;left&quot;:52.5,&quot;top&quot;:216.75,&quot;width&quot;:615.01173228346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2948</Words>
  <Application>WPS 演示</Application>
  <PresentationFormat>On-screen Show (16:9)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 Medium</vt:lpstr>
      <vt:lpstr>Noto Sans CJK SC Medium</vt:lpstr>
      <vt:lpstr>Noto Sans CJK SC Medium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2026-08-10T18:00:00Z</dcterms:created>
  <dcterms:modified xsi:type="dcterms:W3CDTF">2026-08-17T08:11:33Z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B803DD73246E43FC954462F61CAFF952_12</vt:lpwstr>
  </property>
  <property fmtid="{D5CDD505-2E9C-101B-9397-08002B2CF9AE}" pid="3" name="KSOProductBuildVer">
    <vt:lpwstr>2052-12.1.0.28022</vt:lpwstr>
  </property>
</Properties>
</file>